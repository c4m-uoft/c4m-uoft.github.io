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2"/>
  </p:notesMasterIdLst>
  <p:handoutMasterIdLst>
    <p:handoutMasterId r:id="rId73"/>
  </p:handoutMasterIdLst>
  <p:sldIdLst>
    <p:sldId id="960" r:id="rId2"/>
    <p:sldId id="961" r:id="rId3"/>
    <p:sldId id="1022" r:id="rId4"/>
    <p:sldId id="1067" r:id="rId5"/>
    <p:sldId id="965" r:id="rId6"/>
    <p:sldId id="1023" r:id="rId7"/>
    <p:sldId id="974" r:id="rId8"/>
    <p:sldId id="1024" r:id="rId9"/>
    <p:sldId id="1025" r:id="rId10"/>
    <p:sldId id="973" r:id="rId11"/>
    <p:sldId id="1051" r:id="rId12"/>
    <p:sldId id="1018" r:id="rId13"/>
    <p:sldId id="967" r:id="rId14"/>
    <p:sldId id="981" r:id="rId15"/>
    <p:sldId id="1033" r:id="rId16"/>
    <p:sldId id="1055" r:id="rId17"/>
    <p:sldId id="1016" r:id="rId18"/>
    <p:sldId id="1063" r:id="rId19"/>
    <p:sldId id="1064" r:id="rId20"/>
    <p:sldId id="1019" r:id="rId21"/>
    <p:sldId id="1062" r:id="rId22"/>
    <p:sldId id="1066" r:id="rId23"/>
    <p:sldId id="1020" r:id="rId24"/>
    <p:sldId id="1032" r:id="rId25"/>
    <p:sldId id="996" r:id="rId26"/>
    <p:sldId id="997" r:id="rId27"/>
    <p:sldId id="1003" r:id="rId28"/>
    <p:sldId id="1004" r:id="rId29"/>
    <p:sldId id="1005" r:id="rId30"/>
    <p:sldId id="1007" r:id="rId31"/>
    <p:sldId id="1040" r:id="rId32"/>
    <p:sldId id="1041" r:id="rId33"/>
    <p:sldId id="1043" r:id="rId34"/>
    <p:sldId id="1045" r:id="rId35"/>
    <p:sldId id="1047" r:id="rId36"/>
    <p:sldId id="1048" r:id="rId37"/>
    <p:sldId id="1056" r:id="rId38"/>
    <p:sldId id="1053" r:id="rId39"/>
    <p:sldId id="1034" r:id="rId40"/>
    <p:sldId id="976" r:id="rId41"/>
    <p:sldId id="980" r:id="rId42"/>
    <p:sldId id="983" r:id="rId43"/>
    <p:sldId id="986" r:id="rId44"/>
    <p:sldId id="987" r:id="rId45"/>
    <p:sldId id="984" r:id="rId46"/>
    <p:sldId id="985" r:id="rId47"/>
    <p:sldId id="975" r:id="rId48"/>
    <p:sldId id="1035" r:id="rId49"/>
    <p:sldId id="994" r:id="rId50"/>
    <p:sldId id="1054" r:id="rId51"/>
    <p:sldId id="1038" r:id="rId52"/>
    <p:sldId id="1039" r:id="rId53"/>
    <p:sldId id="1052" r:id="rId54"/>
    <p:sldId id="1021" r:id="rId55"/>
    <p:sldId id="1057" r:id="rId56"/>
    <p:sldId id="1002" r:id="rId57"/>
    <p:sldId id="1036" r:id="rId58"/>
    <p:sldId id="978" r:id="rId59"/>
    <p:sldId id="1068" r:id="rId60"/>
    <p:sldId id="979" r:id="rId61"/>
    <p:sldId id="1012" r:id="rId62"/>
    <p:sldId id="1013" r:id="rId63"/>
    <p:sldId id="1014" r:id="rId64"/>
    <p:sldId id="1069" r:id="rId65"/>
    <p:sldId id="1010" r:id="rId66"/>
    <p:sldId id="1037" r:id="rId67"/>
    <p:sldId id="1060" r:id="rId68"/>
    <p:sldId id="1059" r:id="rId69"/>
    <p:sldId id="1046" r:id="rId70"/>
    <p:sldId id="963"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6A3C7B4-4419-B648-BEF4-24AD3A0E4FBC}">
          <p14:sldIdLst>
            <p14:sldId id="960"/>
            <p14:sldId id="961"/>
            <p14:sldId id="1022"/>
            <p14:sldId id="1067"/>
          </p14:sldIdLst>
        </p14:section>
        <p14:section name="1. Problem Definition" id="{E18470C3-817C-264C-89AB-D691C0FDD3FE}">
          <p14:sldIdLst>
            <p14:sldId id="965"/>
            <p14:sldId id="1023"/>
            <p14:sldId id="974"/>
            <p14:sldId id="1024"/>
            <p14:sldId id="1025"/>
          </p14:sldIdLst>
        </p14:section>
        <p14:section name="2. Feature Creation" id="{3C8F7528-AAE2-0042-B259-89C7656B64A7}">
          <p14:sldIdLst>
            <p14:sldId id="973"/>
            <p14:sldId id="1051"/>
            <p14:sldId id="1018"/>
            <p14:sldId id="967"/>
            <p14:sldId id="981"/>
          </p14:sldIdLst>
        </p14:section>
        <p14:section name="3. Splitting Data" id="{9CAEE71C-9056-9E47-9DB8-96BC6A2829B7}">
          <p14:sldIdLst>
            <p14:sldId id="1033"/>
            <p14:sldId id="1055"/>
            <p14:sldId id="1016"/>
            <p14:sldId id="1063"/>
            <p14:sldId id="1064"/>
            <p14:sldId id="1019"/>
            <p14:sldId id="1062"/>
            <p14:sldId id="1066"/>
            <p14:sldId id="1020"/>
          </p14:sldIdLst>
        </p14:section>
        <p14:section name="4. Feature Selection" id="{6E455AE7-824A-5F40-BA63-B93EC8536268}">
          <p14:sldIdLst>
            <p14:sldId id="1032"/>
            <p14:sldId id="996"/>
            <p14:sldId id="997"/>
            <p14:sldId id="1003"/>
            <p14:sldId id="1004"/>
            <p14:sldId id="1005"/>
            <p14:sldId id="1007"/>
          </p14:sldIdLst>
        </p14:section>
        <p14:section name="5. Label Distribution" id="{7657A371-2EB6-5341-AB07-E92692D3181D}">
          <p14:sldIdLst>
            <p14:sldId id="1040"/>
            <p14:sldId id="1041"/>
            <p14:sldId id="1043"/>
            <p14:sldId id="1045"/>
            <p14:sldId id="1047"/>
            <p14:sldId id="1048"/>
            <p14:sldId id="1056"/>
            <p14:sldId id="1053"/>
          </p14:sldIdLst>
        </p14:section>
        <p14:section name="6. Model Selection" id="{11B36B08-91DF-9F4A-8EC3-4DA872097408}">
          <p14:sldIdLst>
            <p14:sldId id="1034"/>
            <p14:sldId id="976"/>
            <p14:sldId id="980"/>
            <p14:sldId id="983"/>
            <p14:sldId id="986"/>
            <p14:sldId id="987"/>
            <p14:sldId id="984"/>
            <p14:sldId id="985"/>
            <p14:sldId id="975"/>
          </p14:sldIdLst>
        </p14:section>
        <p14:section name="7. Hyperparameters" id="{2CFF871A-D608-A141-BF6A-5E9703FBF3BB}">
          <p14:sldIdLst>
            <p14:sldId id="1035"/>
            <p14:sldId id="994"/>
            <p14:sldId id="1054"/>
          </p14:sldIdLst>
        </p14:section>
        <p14:section name="8. Train and Test" id="{9BEDADDA-C13B-7444-8980-F2D4B44CC42B}">
          <p14:sldIdLst>
            <p14:sldId id="1038"/>
            <p14:sldId id="1039"/>
            <p14:sldId id="1052"/>
            <p14:sldId id="1021"/>
            <p14:sldId id="1057"/>
            <p14:sldId id="1002"/>
          </p14:sldIdLst>
        </p14:section>
        <p14:section name="9. Result Interpretation" id="{D08E5929-4715-944A-A29A-A2214A0D6DA5}">
          <p14:sldIdLst>
            <p14:sldId id="1036"/>
            <p14:sldId id="978"/>
            <p14:sldId id="1068"/>
            <p14:sldId id="979"/>
            <p14:sldId id="1012"/>
            <p14:sldId id="1013"/>
            <p14:sldId id="1014"/>
            <p14:sldId id="1069"/>
            <p14:sldId id="1010"/>
          </p14:sldIdLst>
        </p14:section>
        <p14:section name="Conclusion" id="{8B157A07-96DE-DA4B-A5B3-BDD3C9B229B8}">
          <p14:sldIdLst>
            <p14:sldId id="1037"/>
            <p14:sldId id="1060"/>
            <p14:sldId id="1059"/>
            <p14:sldId id="1046"/>
            <p14:sldId id="96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dward Wang" initials="EW [7]" lastIdx="1" clrIdx="6"/>
  <p:cmAuthor id="1" name="Edward Wang" initials="EW" lastIdx="1" clrIdx="0"/>
  <p:cmAuthor id="8" name="atm" initials="atm" lastIdx="0" clrIdx="7"/>
  <p:cmAuthor id="2" name="Edward Wang" initials="EW [2]" lastIdx="1" clrIdx="1"/>
  <p:cmAuthor id="3" name="Edward Wang" initials="EW [3]" lastIdx="1" clrIdx="2"/>
  <p:cmAuthor id="4" name="Edward Wang" initials="EW [4]" lastIdx="1" clrIdx="3"/>
  <p:cmAuthor id="5" name="Edward Wang" initials="EW [5]" lastIdx="1" clrIdx="4"/>
  <p:cmAuthor id="6" name="Edward Wang" initials="EW [6]"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A801"/>
    <a:srgbClr val="E7E7E7"/>
    <a:srgbClr val="FA810F"/>
    <a:srgbClr val="FF40FF"/>
    <a:srgbClr val="D582C2"/>
    <a:srgbClr val="393939"/>
    <a:srgbClr val="01FF01"/>
    <a:srgbClr val="262626"/>
    <a:srgbClr val="F60000"/>
    <a:srgbClr val="FDD1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94" autoAdjust="0"/>
    <p:restoredTop sz="95652" autoAdjust="0"/>
  </p:normalViewPr>
  <p:slideViewPr>
    <p:cSldViewPr>
      <p:cViewPr varScale="1">
        <p:scale>
          <a:sx n="58" d="100"/>
          <a:sy n="58" d="100"/>
        </p:scale>
        <p:origin x="216" y="1312"/>
      </p:cViewPr>
      <p:guideLst>
        <p:guide orient="horz" pos="2160"/>
        <p:guide pos="3840"/>
      </p:guideLst>
    </p:cSldViewPr>
  </p:slideViewPr>
  <p:outlineViewPr>
    <p:cViewPr>
      <p:scale>
        <a:sx n="33" d="100"/>
        <a:sy n="33" d="100"/>
      </p:scale>
      <p:origin x="0" y="-26096"/>
    </p:cViewPr>
  </p:outlineViewPr>
  <p:notesTextViewPr>
    <p:cViewPr>
      <p:scale>
        <a:sx n="105" d="100"/>
        <a:sy n="105" d="100"/>
      </p:scale>
      <p:origin x="0" y="0"/>
    </p:cViewPr>
  </p:notesTextViewPr>
  <p:sorterViewPr>
    <p:cViewPr>
      <p:scale>
        <a:sx n="100" d="100"/>
        <a:sy n="100" d="100"/>
      </p:scale>
      <p:origin x="0" y="0"/>
    </p:cViewPr>
  </p:sorterViewPr>
  <p:notesViewPr>
    <p:cSldViewPr>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Label Distribution</c:v>
                </c:pt>
              </c:strCache>
            </c:strRef>
          </c:tx>
          <c:explosion val="1"/>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56D-E44C-BE44-E3FB124BDB9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56D-E44C-BE44-E3FB124BDB9F}"/>
              </c:ext>
            </c:extLst>
          </c:dPt>
          <c:cat>
            <c:strRef>
              <c:f>Sheet1!$A$2:$A$3</c:f>
              <c:strCache>
                <c:ptCount val="2"/>
                <c:pt idx="0">
                  <c:v>Healthy</c:v>
                </c:pt>
                <c:pt idx="1">
                  <c:v>Sick</c:v>
                </c:pt>
              </c:strCache>
            </c:strRef>
          </c:cat>
          <c:val>
            <c:numRef>
              <c:f>Sheet1!$B$2:$B$3</c:f>
              <c:numCache>
                <c:formatCode>General</c:formatCode>
                <c:ptCount val="2"/>
                <c:pt idx="0">
                  <c:v>98</c:v>
                </c:pt>
                <c:pt idx="1">
                  <c:v>2</c:v>
                </c:pt>
              </c:numCache>
            </c:numRef>
          </c:val>
          <c:extLst>
            <c:ext xmlns:c16="http://schemas.microsoft.com/office/drawing/2014/chart" uri="{C3380CC4-5D6E-409C-BE32-E72D297353CC}">
              <c16:uniqueId val="{00000004-956D-E44C-BE44-E3FB124BDB9F}"/>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726099-4093-438C-A350-C6029252D52E}" type="datetimeFigureOut">
              <a:rPr lang="en-US" smtClean="0"/>
              <a:t>4/22/26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5EA61A-28DB-48B5-8202-524F772BA7AF}" type="slidenum">
              <a:rPr lang="en-US" smtClean="0"/>
              <a:t>‹#›</a:t>
            </a:fld>
            <a:endParaRPr lang="en-US" dirty="0"/>
          </a:p>
        </p:txBody>
      </p:sp>
    </p:spTree>
    <p:extLst>
      <p:ext uri="{BB962C8B-B14F-4D97-AF65-F5344CB8AC3E}">
        <p14:creationId xmlns:p14="http://schemas.microsoft.com/office/powerpoint/2010/main" val="5848961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73A497-1B9D-48B5-95DD-45F8A7220D6F}" type="datetimeFigureOut">
              <a:rPr lang="en-US" smtClean="0"/>
              <a:t>4/22/26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A5BF89-87CA-4D31-B6F1-3E4AF738408D}" type="slidenum">
              <a:rPr lang="en-US" smtClean="0"/>
              <a:t>‹#›</a:t>
            </a:fld>
            <a:endParaRPr lang="en-US" dirty="0"/>
          </a:p>
        </p:txBody>
      </p:sp>
    </p:spTree>
    <p:extLst>
      <p:ext uri="{BB962C8B-B14F-4D97-AF65-F5344CB8AC3E}">
        <p14:creationId xmlns:p14="http://schemas.microsoft.com/office/powerpoint/2010/main" val="3114924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2A5BF89-87CA-4D31-B6F1-3E4AF738408D}" type="slidenum">
              <a:rPr lang="en-US" smtClean="0"/>
              <a:t>1</a:t>
            </a:fld>
            <a:endParaRPr lang="en-US" dirty="0"/>
          </a:p>
        </p:txBody>
      </p:sp>
    </p:spTree>
    <p:extLst>
      <p:ext uri="{BB962C8B-B14F-4D97-AF65-F5344CB8AC3E}">
        <p14:creationId xmlns:p14="http://schemas.microsoft.com/office/powerpoint/2010/main" val="3752934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A5BF89-87CA-4D31-B6F1-3E4AF738408D}" type="slidenum">
              <a:rPr lang="en-US" smtClean="0"/>
              <a:t>2</a:t>
            </a:fld>
            <a:endParaRPr lang="en-US" dirty="0"/>
          </a:p>
        </p:txBody>
      </p:sp>
    </p:spTree>
    <p:extLst>
      <p:ext uri="{BB962C8B-B14F-4D97-AF65-F5344CB8AC3E}">
        <p14:creationId xmlns:p14="http://schemas.microsoft.com/office/powerpoint/2010/main" val="647548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A5BF89-87CA-4D31-B6F1-3E4AF738408D}" type="slidenum">
              <a:rPr lang="en-US" smtClean="0"/>
              <a:t>21</a:t>
            </a:fld>
            <a:endParaRPr lang="en-US" dirty="0"/>
          </a:p>
        </p:txBody>
      </p:sp>
    </p:spTree>
    <p:extLst>
      <p:ext uri="{BB962C8B-B14F-4D97-AF65-F5344CB8AC3E}">
        <p14:creationId xmlns:p14="http://schemas.microsoft.com/office/powerpoint/2010/main" val="3869138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A5BF89-87CA-4D31-B6F1-3E4AF738408D}" type="slidenum">
              <a:rPr lang="en-US" smtClean="0"/>
              <a:t>26</a:t>
            </a:fld>
            <a:endParaRPr lang="en-US" dirty="0"/>
          </a:p>
        </p:txBody>
      </p:sp>
    </p:spTree>
    <p:extLst>
      <p:ext uri="{BB962C8B-B14F-4D97-AF65-F5344CB8AC3E}">
        <p14:creationId xmlns:p14="http://schemas.microsoft.com/office/powerpoint/2010/main" val="3050438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A5BF89-87CA-4D31-B6F1-3E4AF738408D}" type="slidenum">
              <a:rPr lang="en-US" smtClean="0"/>
              <a:t>27</a:t>
            </a:fld>
            <a:endParaRPr lang="en-US" dirty="0"/>
          </a:p>
        </p:txBody>
      </p:sp>
    </p:spTree>
    <p:extLst>
      <p:ext uri="{BB962C8B-B14F-4D97-AF65-F5344CB8AC3E}">
        <p14:creationId xmlns:p14="http://schemas.microsoft.com/office/powerpoint/2010/main" val="824681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A5BF89-87CA-4D31-B6F1-3E4AF738408D}" type="slidenum">
              <a:rPr lang="en-US" smtClean="0"/>
              <a:t>49</a:t>
            </a:fld>
            <a:endParaRPr lang="en-US" dirty="0"/>
          </a:p>
        </p:txBody>
      </p:sp>
    </p:spTree>
    <p:extLst>
      <p:ext uri="{BB962C8B-B14F-4D97-AF65-F5344CB8AC3E}">
        <p14:creationId xmlns:p14="http://schemas.microsoft.com/office/powerpoint/2010/main" val="1223659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A5BF89-87CA-4D31-B6F1-3E4AF738408D}" type="slidenum">
              <a:rPr lang="en-US" smtClean="0"/>
              <a:t>55</a:t>
            </a:fld>
            <a:endParaRPr lang="en-US" dirty="0"/>
          </a:p>
        </p:txBody>
      </p:sp>
    </p:spTree>
    <p:extLst>
      <p:ext uri="{BB962C8B-B14F-4D97-AF65-F5344CB8AC3E}">
        <p14:creationId xmlns:p14="http://schemas.microsoft.com/office/powerpoint/2010/main" val="3011515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AC701-E3FC-C745-24BC-DCE3E3781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96BE8-277C-8BE9-0E93-1C13F1BEA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14AA8-B5C7-03FE-E994-A5721DF768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4E8938-7B1E-4361-98A0-BAC75AAB8924}"/>
              </a:ext>
            </a:extLst>
          </p:cNvPr>
          <p:cNvSpPr>
            <a:spLocks noGrp="1"/>
          </p:cNvSpPr>
          <p:nvPr>
            <p:ph type="sldNum" sz="quarter" idx="5"/>
          </p:nvPr>
        </p:nvSpPr>
        <p:spPr/>
        <p:txBody>
          <a:bodyPr/>
          <a:lstStyle/>
          <a:p>
            <a:fld id="{E2A5BF89-87CA-4D31-B6F1-3E4AF738408D}" type="slidenum">
              <a:rPr lang="en-US" smtClean="0"/>
              <a:t>56</a:t>
            </a:fld>
            <a:endParaRPr lang="en-US" dirty="0"/>
          </a:p>
        </p:txBody>
      </p:sp>
    </p:spTree>
    <p:extLst>
      <p:ext uri="{BB962C8B-B14F-4D97-AF65-F5344CB8AC3E}">
        <p14:creationId xmlns:p14="http://schemas.microsoft.com/office/powerpoint/2010/main" val="26499267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A5BF89-87CA-4D31-B6F1-3E4AF738408D}" type="slidenum">
              <a:rPr lang="en-US" smtClean="0"/>
              <a:t>65</a:t>
            </a:fld>
            <a:endParaRPr lang="en-US" dirty="0"/>
          </a:p>
        </p:txBody>
      </p:sp>
    </p:spTree>
    <p:extLst>
      <p:ext uri="{BB962C8B-B14F-4D97-AF65-F5344CB8AC3E}">
        <p14:creationId xmlns:p14="http://schemas.microsoft.com/office/powerpoint/2010/main" val="2828686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524001"/>
            <a:ext cx="10363200" cy="1470025"/>
          </a:xfrm>
        </p:spPr>
        <p:txBody>
          <a:bodyPr>
            <a:noAutofit/>
          </a:bodyPr>
          <a:lstStyle>
            <a:lvl1pPr>
              <a:defRPr sz="7200"/>
            </a:lvl1pPr>
          </a:lstStyle>
          <a:p>
            <a:r>
              <a:rPr lang="en-US" dirty="0"/>
              <a:t>Click to edit Master title style</a:t>
            </a:r>
          </a:p>
        </p:txBody>
      </p:sp>
      <p:sp>
        <p:nvSpPr>
          <p:cNvPr id="3" name="Subtitle 2"/>
          <p:cNvSpPr>
            <a:spLocks noGrp="1"/>
          </p:cNvSpPr>
          <p:nvPr>
            <p:ph type="subTitle" idx="1"/>
          </p:nvPr>
        </p:nvSpPr>
        <p:spPr>
          <a:xfrm>
            <a:off x="1828800" y="33528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E8A6586-9C5F-9D4B-8C84-142601FDE6B5}" type="datetime1">
              <a:rPr lang="en-US" smtClean="0"/>
              <a:t>4/22/26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177496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atin typeface="Avenir Book" charset="0"/>
                <a:ea typeface="Avenir Book" charset="0"/>
                <a:cs typeface="Avenir Book"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Avenir Book" charset="0"/>
                <a:ea typeface="Avenir Book" charset="0"/>
                <a:cs typeface="Avenir Book" charset="0"/>
              </a:defRPr>
            </a:lvl1pPr>
            <a:lvl2pPr>
              <a:defRPr>
                <a:latin typeface="Avenir Book" charset="0"/>
                <a:ea typeface="Avenir Book" charset="0"/>
                <a:cs typeface="Avenir Book" charset="0"/>
              </a:defRPr>
            </a:lvl2pPr>
            <a:lvl3pPr>
              <a:defRPr>
                <a:latin typeface="Avenir Book" charset="0"/>
                <a:ea typeface="Avenir Book" charset="0"/>
                <a:cs typeface="Avenir Book" charset="0"/>
              </a:defRPr>
            </a:lvl3pPr>
            <a:lvl4pPr>
              <a:defRPr>
                <a:latin typeface="Avenir Book" charset="0"/>
                <a:ea typeface="Avenir Book" charset="0"/>
                <a:cs typeface="Avenir Book" charset="0"/>
              </a:defRPr>
            </a:lvl4pPr>
            <a:lvl5pPr>
              <a:defRPr>
                <a:latin typeface="Avenir Book" charset="0"/>
                <a:ea typeface="Avenir Book" charset="0"/>
                <a:cs typeface="Avenir Book"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D9789A1-9E21-464C-91B2-56AF992F588D}" type="datetime1">
              <a:rPr lang="en-US" smtClean="0"/>
              <a:t>4/22/26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1701962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5D5638-870A-8448-91F2-566053E5D542}" type="datetime1">
              <a:rPr lang="en-US" smtClean="0"/>
              <a:t>4/22/26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248754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4EB3FF-D90D-4641-BFFE-C1266ED84317}" type="datetime1">
              <a:rPr lang="en-US" smtClean="0"/>
              <a:t>4/22/26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405193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A6FF5A-6A3C-864F-A131-633AC5ED65F3}" type="datetime1">
              <a:rPr lang="en-US" smtClean="0"/>
              <a:t>4/22/26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848629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7F9507C-E0E4-9D48-B07D-A33F1036A906}" type="datetime1">
              <a:rPr lang="en-US" smtClean="0"/>
              <a:t>4/22/26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1221769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59FFB9-EF8B-134D-BB3A-25AF2B742CAF}" type="datetime1">
              <a:rPr lang="en-US" smtClean="0"/>
              <a:t>4/22/26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3112557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2A637F-E426-784C-887F-03635AB0F66F}" type="datetime1">
              <a:rPr lang="en-US" smtClean="0"/>
              <a:t>4/22/26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360810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28BFA0-5693-0F4F-9655-65B23B82690F}" type="datetime1">
              <a:rPr lang="en-US" smtClean="0"/>
              <a:t>4/22/26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310660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6129EC-9980-C446-B461-9FF391B35689}" type="datetime1">
              <a:rPr lang="en-US" smtClean="0"/>
              <a:t>4/22/26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4251503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F5D00C-2D45-4F4D-BC8A-330D574CCB97}" type="datetime1">
              <a:rPr lang="en-US" smtClean="0"/>
              <a:t>4/22/26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02EB531-D3C9-4F70-B23B-3589F4933B03}" type="slidenum">
              <a:rPr lang="en-US" smtClean="0"/>
              <a:t>‹#›</a:t>
            </a:fld>
            <a:endParaRPr lang="en-US" dirty="0"/>
          </a:p>
        </p:txBody>
      </p:sp>
    </p:spTree>
    <p:extLst>
      <p:ext uri="{BB962C8B-B14F-4D97-AF65-F5344CB8AC3E}">
        <p14:creationId xmlns:p14="http://schemas.microsoft.com/office/powerpoint/2010/main" val="1588936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Avenir" panose="02000503020000020003" pitchFamily="2" charset="0"/>
              </a:defRPr>
            </a:lvl1pPr>
          </a:lstStyle>
          <a:p>
            <a:fld id="{8418A49E-1D6F-9345-9D8B-98F8F33DE1D2}" type="datetime1">
              <a:rPr lang="en-US" smtClean="0"/>
              <a:t>4/22/26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venir" panose="02000503020000020003" pitchFamily="2" charset="0"/>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Avenir" panose="02000503020000020003" pitchFamily="2" charset="0"/>
              </a:defRPr>
            </a:lvl1pPr>
          </a:lstStyle>
          <a:p>
            <a:fld id="{E02EB531-D3C9-4F70-B23B-3589F4933B03}" type="slidenum">
              <a:rPr lang="en-US" smtClean="0"/>
              <a:pPr/>
              <a:t>‹#›</a:t>
            </a:fld>
            <a:endParaRPr lang="en-US" dirty="0"/>
          </a:p>
        </p:txBody>
      </p:sp>
    </p:spTree>
    <p:extLst>
      <p:ext uri="{BB962C8B-B14F-4D97-AF65-F5344CB8AC3E}">
        <p14:creationId xmlns:p14="http://schemas.microsoft.com/office/powerpoint/2010/main" val="2334259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Avenir" panose="02000503020000020003" pitchFamily="2" charset="0"/>
          <a:ea typeface="+mj-ea"/>
          <a:cs typeface="+mj-cs"/>
        </a:defRPr>
      </a:lvl1pPr>
    </p:titleStyle>
    <p:bodyStyle>
      <a:lvl1pPr marL="0" indent="0" algn="l" defTabSz="914400" rtl="0" eaLnBrk="1" latinLnBrk="0" hangingPunct="1">
        <a:spcBef>
          <a:spcPct val="20000"/>
        </a:spcBef>
        <a:buFont typeface="Arial" pitchFamily="34" charset="0"/>
        <a:buNone/>
        <a:defRPr sz="3200" kern="1200">
          <a:solidFill>
            <a:schemeClr val="tx1"/>
          </a:solidFill>
          <a:latin typeface="Avenir" panose="02000503020000020003" pitchFamily="2"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panose="02000503020000020003" pitchFamily="2"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panose="02000503020000020003" pitchFamily="2"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panose="02000503020000020003" pitchFamily="2"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panose="02000503020000020003"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31.png"/></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6.png"/><Relationship Id="rId7"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2.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machinelearningmastery.com/start-here/" TargetMode="External"/><Relationship Id="rId2" Type="http://schemas.openxmlformats.org/officeDocument/2006/relationships/hyperlink" Target="https://developers.google.com/machine-learning/glossar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66106"/>
            <a:ext cx="10668000" cy="1676400"/>
          </a:xfrm>
        </p:spPr>
        <p:txBody>
          <a:bodyPr/>
          <a:lstStyle/>
          <a:p>
            <a:r>
              <a:rPr lang="en-US" sz="4400" dirty="0">
                <a:latin typeface="Avenir Book" charset="0"/>
                <a:ea typeface="Avenir Book" charset="0"/>
                <a:cs typeface="Avenir Book" charset="0"/>
              </a:rPr>
              <a:t>Crash Course on Machine Learning</a:t>
            </a:r>
          </a:p>
        </p:txBody>
      </p:sp>
      <p:sp>
        <p:nvSpPr>
          <p:cNvPr id="3" name="Subtitle 2"/>
          <p:cNvSpPr>
            <a:spLocks noGrp="1"/>
          </p:cNvSpPr>
          <p:nvPr>
            <p:ph type="subTitle" idx="1"/>
          </p:nvPr>
        </p:nvSpPr>
        <p:spPr>
          <a:xfrm>
            <a:off x="3504818" y="2460680"/>
            <a:ext cx="5182364" cy="2523002"/>
          </a:xfrm>
        </p:spPr>
        <p:txBody>
          <a:bodyPr anchor="ctr">
            <a:normAutofit/>
          </a:bodyPr>
          <a:lstStyle/>
          <a:p>
            <a:r>
              <a:rPr lang="en-US" dirty="0">
                <a:solidFill>
                  <a:schemeClr val="tx1"/>
                </a:solidFill>
                <a:latin typeface="Avenir Book" charset="0"/>
                <a:ea typeface="Avenir Book" charset="0"/>
                <a:cs typeface="Avenir Book" charset="0"/>
              </a:rPr>
              <a:t>Alex Mariakakis</a:t>
            </a:r>
            <a:endParaRPr lang="en-US" sz="2000" dirty="0">
              <a:solidFill>
                <a:schemeClr val="tx1"/>
              </a:solidFill>
              <a:latin typeface="Avenir Book" charset="0"/>
              <a:ea typeface="Avenir Book" charset="0"/>
              <a:cs typeface="Avenir Book" charset="0"/>
            </a:endParaRPr>
          </a:p>
          <a:p>
            <a:r>
              <a:rPr lang="en-US" sz="2000" dirty="0">
                <a:solidFill>
                  <a:schemeClr val="tx1"/>
                </a:solidFill>
                <a:latin typeface="Avenir Book" charset="0"/>
                <a:ea typeface="Avenir Book" charset="0"/>
                <a:cs typeface="Avenir Book" charset="0"/>
              </a:rPr>
              <a:t>University of Toronto</a:t>
            </a:r>
          </a:p>
          <a:p>
            <a:r>
              <a:rPr lang="en-US" sz="2000" dirty="0">
                <a:solidFill>
                  <a:schemeClr val="tx1"/>
                </a:solidFill>
                <a:latin typeface="Avenir Book" charset="0"/>
                <a:ea typeface="Avenir Book" charset="0"/>
                <a:cs typeface="Avenir Book" charset="0"/>
              </a:rPr>
              <a:t>Department of Computer Science</a:t>
            </a:r>
          </a:p>
        </p:txBody>
      </p:sp>
      <p:pic>
        <p:nvPicPr>
          <p:cNvPr id="15" name="Picture 2" descr="See the source image">
            <a:extLst>
              <a:ext uri="{FF2B5EF4-FFF2-40B4-BE49-F238E27FC236}">
                <a16:creationId xmlns:a16="http://schemas.microsoft.com/office/drawing/2014/main" id="{DF0B9597-6882-4144-A42D-955C0D66C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5238637"/>
            <a:ext cx="3810000" cy="15641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6368C83-0E44-AABE-C9BA-9C9516184F8E}"/>
              </a:ext>
            </a:extLst>
          </p:cNvPr>
          <p:cNvPicPr>
            <a:picLocks noChangeAspect="1"/>
          </p:cNvPicPr>
          <p:nvPr/>
        </p:nvPicPr>
        <p:blipFill>
          <a:blip r:embed="rId4"/>
          <a:stretch>
            <a:fillRect/>
          </a:stretch>
        </p:blipFill>
        <p:spPr>
          <a:xfrm>
            <a:off x="9144000" y="3352800"/>
            <a:ext cx="2860416" cy="3429000"/>
          </a:xfrm>
          <a:prstGeom prst="rect">
            <a:avLst/>
          </a:prstGeom>
        </p:spPr>
      </p:pic>
    </p:spTree>
    <p:extLst>
      <p:ext uri="{BB962C8B-B14F-4D97-AF65-F5344CB8AC3E}">
        <p14:creationId xmlns:p14="http://schemas.microsoft.com/office/powerpoint/2010/main" val="1122661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EC051-DB28-6831-1A3B-7BBEFF18C1BC}"/>
              </a:ext>
            </a:extLst>
          </p:cNvPr>
          <p:cNvSpPr>
            <a:spLocks noGrp="1"/>
          </p:cNvSpPr>
          <p:nvPr>
            <p:ph type="title"/>
          </p:nvPr>
        </p:nvSpPr>
        <p:spPr/>
        <p:txBody>
          <a:bodyPr/>
          <a:lstStyle/>
          <a:p>
            <a:pPr algn="l"/>
            <a:r>
              <a:rPr lang="en-US" dirty="0"/>
              <a:t>Outline</a:t>
            </a:r>
          </a:p>
        </p:txBody>
      </p:sp>
      <p:sp>
        <p:nvSpPr>
          <p:cNvPr id="4" name="Text Placeholder 3">
            <a:extLst>
              <a:ext uri="{FF2B5EF4-FFF2-40B4-BE49-F238E27FC236}">
                <a16:creationId xmlns:a16="http://schemas.microsoft.com/office/drawing/2014/main" id="{967B42B2-AC18-AC60-CC33-9F01B9CA053F}"/>
              </a:ext>
            </a:extLst>
          </p:cNvPr>
          <p:cNvSpPr>
            <a:spLocks noGrp="1"/>
          </p:cNvSpPr>
          <p:nvPr>
            <p:ph type="body" idx="1"/>
          </p:nvPr>
        </p:nvSpPr>
        <p:spPr/>
        <p:txBody>
          <a:bodyPr>
            <a:normAutofit/>
          </a:bodyPr>
          <a:lstStyle/>
          <a:p>
            <a:r>
              <a:rPr lang="en-US" sz="2800" dirty="0"/>
              <a:t>What is covered</a:t>
            </a:r>
          </a:p>
        </p:txBody>
      </p:sp>
      <p:sp>
        <p:nvSpPr>
          <p:cNvPr id="5" name="Content Placeholder 4">
            <a:extLst>
              <a:ext uri="{FF2B5EF4-FFF2-40B4-BE49-F238E27FC236}">
                <a16:creationId xmlns:a16="http://schemas.microsoft.com/office/drawing/2014/main" id="{3416648D-745C-EF95-3579-12BB993286BA}"/>
              </a:ext>
            </a:extLst>
          </p:cNvPr>
          <p:cNvSpPr>
            <a:spLocks noGrp="1"/>
          </p:cNvSpPr>
          <p:nvPr>
            <p:ph sz="half" idx="2"/>
          </p:nvPr>
        </p:nvSpPr>
        <p:spPr/>
        <p:txBody>
          <a:bodyPr anchor="t">
            <a:normAutofit/>
          </a:bodyPr>
          <a:lstStyle/>
          <a:p>
            <a:pPr marL="342900" indent="-342900">
              <a:buFont typeface="Arial" panose="020B0604020202020204" pitchFamily="34" charset="0"/>
              <a:buChar char="•"/>
            </a:pPr>
            <a:r>
              <a:rPr lang="en-US" sz="2800" dirty="0"/>
              <a:t>High-level terms and definitions</a:t>
            </a:r>
          </a:p>
          <a:p>
            <a:pPr marL="342900" indent="-342900">
              <a:buFont typeface="Arial" panose="020B0604020202020204" pitchFamily="34" charset="0"/>
              <a:buChar char="•"/>
            </a:pPr>
            <a:r>
              <a:rPr lang="en-US" sz="2800" dirty="0"/>
              <a:t>Conceptual walkthrough of how to approach machine learning problems</a:t>
            </a:r>
          </a:p>
          <a:p>
            <a:pPr marL="342900" indent="-342900">
              <a:buFont typeface="Arial" panose="020B0604020202020204" pitchFamily="34" charset="0"/>
              <a:buChar char="•"/>
            </a:pPr>
            <a:r>
              <a:rPr lang="en-US" sz="2800" dirty="0"/>
              <a:t>Supervised machine learning on simple tabular data</a:t>
            </a:r>
          </a:p>
        </p:txBody>
      </p:sp>
      <p:sp>
        <p:nvSpPr>
          <p:cNvPr id="6" name="Text Placeholder 5">
            <a:extLst>
              <a:ext uri="{FF2B5EF4-FFF2-40B4-BE49-F238E27FC236}">
                <a16:creationId xmlns:a16="http://schemas.microsoft.com/office/drawing/2014/main" id="{961D091C-24CF-580A-E62C-E404D7AA53E6}"/>
              </a:ext>
            </a:extLst>
          </p:cNvPr>
          <p:cNvSpPr>
            <a:spLocks noGrp="1"/>
          </p:cNvSpPr>
          <p:nvPr>
            <p:ph type="body" sz="quarter" idx="3"/>
          </p:nvPr>
        </p:nvSpPr>
        <p:spPr/>
        <p:txBody>
          <a:bodyPr>
            <a:normAutofit/>
          </a:bodyPr>
          <a:lstStyle/>
          <a:p>
            <a:r>
              <a:rPr lang="en-US" sz="2800" dirty="0"/>
              <a:t>What is not covered</a:t>
            </a:r>
          </a:p>
        </p:txBody>
      </p:sp>
      <p:sp>
        <p:nvSpPr>
          <p:cNvPr id="7" name="Content Placeholder 6">
            <a:extLst>
              <a:ext uri="{FF2B5EF4-FFF2-40B4-BE49-F238E27FC236}">
                <a16:creationId xmlns:a16="http://schemas.microsoft.com/office/drawing/2014/main" id="{A0FF6547-1CAB-DF82-99FB-A13C4530A945}"/>
              </a:ext>
            </a:extLst>
          </p:cNvPr>
          <p:cNvSpPr>
            <a:spLocks noGrp="1"/>
          </p:cNvSpPr>
          <p:nvPr>
            <p:ph sz="quarter" idx="4"/>
          </p:nvPr>
        </p:nvSpPr>
        <p:spPr/>
        <p:txBody>
          <a:bodyPr anchor="t">
            <a:normAutofit/>
          </a:bodyPr>
          <a:lstStyle/>
          <a:p>
            <a:pPr marL="342900" indent="-342900">
              <a:buFont typeface="Arial" panose="020B0604020202020204" pitchFamily="34" charset="0"/>
              <a:buChar char="•"/>
            </a:pPr>
            <a:r>
              <a:rPr lang="en-US" sz="2800" dirty="0"/>
              <a:t>Underlying math</a:t>
            </a:r>
          </a:p>
          <a:p>
            <a:pPr marL="342900" indent="-342900">
              <a:buFont typeface="Arial" panose="020B0604020202020204" pitchFamily="34" charset="0"/>
              <a:buChar char="•"/>
            </a:pPr>
            <a:r>
              <a:rPr lang="en-US" sz="2800" dirty="0"/>
              <a:t>Machine learning directly on sequences, images, and text</a:t>
            </a:r>
          </a:p>
          <a:p>
            <a:pPr marL="342900" indent="-342900">
              <a:buFont typeface="Arial" panose="020B0604020202020204" pitchFamily="34" charset="0"/>
              <a:buChar char="•"/>
            </a:pPr>
            <a:r>
              <a:rPr lang="en-US" sz="2800" dirty="0"/>
              <a:t>Unsupervised learning</a:t>
            </a:r>
          </a:p>
          <a:p>
            <a:pPr marL="342900" indent="-342900">
              <a:buFont typeface="Arial" panose="020B0604020202020204" pitchFamily="34" charset="0"/>
              <a:buChar char="•"/>
            </a:pPr>
            <a:r>
              <a:rPr lang="en-US" sz="2800" dirty="0"/>
              <a:t>Deep learning</a:t>
            </a:r>
          </a:p>
          <a:p>
            <a:pPr marL="342900" indent="-342900">
              <a:buFont typeface="Arial" panose="020B0604020202020204" pitchFamily="34" charset="0"/>
              <a:buChar char="•"/>
            </a:pPr>
            <a:r>
              <a:rPr lang="en-US" sz="2800" dirty="0"/>
              <a:t>Code examples</a:t>
            </a:r>
          </a:p>
          <a:p>
            <a:pPr marL="1085850" lvl="1" indent="-342900">
              <a:buFont typeface="Arial" panose="020B0604020202020204" pitchFamily="34" charset="0"/>
              <a:buChar char="•"/>
            </a:pPr>
            <a:r>
              <a:rPr lang="en-US" sz="2400" dirty="0"/>
              <a:t>Scikit-learn for Python</a:t>
            </a:r>
          </a:p>
          <a:p>
            <a:pPr marL="1085850" lvl="1" indent="-342900">
              <a:buFont typeface="Arial" panose="020B0604020202020204" pitchFamily="34" charset="0"/>
              <a:buChar char="•"/>
            </a:pPr>
            <a:r>
              <a:rPr lang="en-US" sz="2400" dirty="0"/>
              <a:t>Weka for Java</a:t>
            </a:r>
          </a:p>
          <a:p>
            <a:pPr marL="1085850" lvl="1"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09918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500"/>
                                        <p:tgtEl>
                                          <p:spTgt spid="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Effect transition="in" filter="fade">
                                      <p:cBhvr>
                                        <p:cTn id="33" dur="500"/>
                                        <p:tgtEl>
                                          <p:spTgt spid="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2" end="2"/>
                                            </p:txEl>
                                          </p:spTgt>
                                        </p:tgtEl>
                                        <p:attrNameLst>
                                          <p:attrName>style.visibility</p:attrName>
                                        </p:attrNameLst>
                                      </p:cBhvr>
                                      <p:to>
                                        <p:strVal val="visible"/>
                                      </p:to>
                                    </p:set>
                                    <p:animEffect transition="in" filter="fade">
                                      <p:cBhvr>
                                        <p:cTn id="38" dur="500"/>
                                        <p:tgtEl>
                                          <p:spTgt spid="7">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animEffect transition="in" filter="fade">
                                      <p:cBhvr>
                                        <p:cTn id="43" dur="500"/>
                                        <p:tgtEl>
                                          <p:spTgt spid="7">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
                                            <p:txEl>
                                              <p:pRg st="4" end="4"/>
                                            </p:txEl>
                                          </p:spTgt>
                                        </p:tgtEl>
                                        <p:attrNameLst>
                                          <p:attrName>style.visibility</p:attrName>
                                        </p:attrNameLst>
                                      </p:cBhvr>
                                      <p:to>
                                        <p:strVal val="visible"/>
                                      </p:to>
                                    </p:set>
                                    <p:animEffect transition="in" filter="fade">
                                      <p:cBhvr>
                                        <p:cTn id="48" dur="500"/>
                                        <p:tgtEl>
                                          <p:spTgt spid="7">
                                            <p:txEl>
                                              <p:pRg st="4" end="4"/>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
                                            <p:txEl>
                                              <p:pRg st="5" end="5"/>
                                            </p:txEl>
                                          </p:spTgt>
                                        </p:tgtEl>
                                        <p:attrNameLst>
                                          <p:attrName>style.visibility</p:attrName>
                                        </p:attrNameLst>
                                      </p:cBhvr>
                                      <p:to>
                                        <p:strVal val="visible"/>
                                      </p:to>
                                    </p:set>
                                    <p:animEffect transition="in" filter="fade">
                                      <p:cBhvr>
                                        <p:cTn id="51" dur="500"/>
                                        <p:tgtEl>
                                          <p:spTgt spid="7">
                                            <p:txEl>
                                              <p:pRg st="5" end="5"/>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7">
                                            <p:txEl>
                                              <p:pRg st="6" end="6"/>
                                            </p:txEl>
                                          </p:spTgt>
                                        </p:tgtEl>
                                        <p:attrNameLst>
                                          <p:attrName>style.visibility</p:attrName>
                                        </p:attrNameLst>
                                      </p:cBhvr>
                                      <p:to>
                                        <p:strVal val="visible"/>
                                      </p:to>
                                    </p:set>
                                    <p:animEffect transition="in" filter="fade">
                                      <p:cBhvr>
                                        <p:cTn id="5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uiExpand="1" build="p"/>
      <p:bldP spid="6" grpId="0" build="p"/>
      <p:bldP spid="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0E068-2A04-ECED-59CC-9967FAFE1789}"/>
              </a:ext>
            </a:extLst>
          </p:cNvPr>
          <p:cNvSpPr>
            <a:spLocks noGrp="1"/>
          </p:cNvSpPr>
          <p:nvPr>
            <p:ph type="title"/>
          </p:nvPr>
        </p:nvSpPr>
        <p:spPr/>
        <p:txBody>
          <a:bodyPr/>
          <a:lstStyle/>
          <a:p>
            <a:r>
              <a:rPr lang="en-US" dirty="0"/>
              <a:t>What Is Machine Learning?</a:t>
            </a:r>
          </a:p>
        </p:txBody>
      </p:sp>
      <p:sp>
        <p:nvSpPr>
          <p:cNvPr id="10" name="Rectangle 9">
            <a:extLst>
              <a:ext uri="{FF2B5EF4-FFF2-40B4-BE49-F238E27FC236}">
                <a16:creationId xmlns:a16="http://schemas.microsoft.com/office/drawing/2014/main" id="{E7F00B81-4532-1786-A3EE-CF5B3353F757}"/>
              </a:ext>
            </a:extLst>
          </p:cNvPr>
          <p:cNvSpPr/>
          <p:nvPr/>
        </p:nvSpPr>
        <p:spPr>
          <a:xfrm>
            <a:off x="2139042" y="1924165"/>
            <a:ext cx="2204358" cy="37146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Traditional Programming</a:t>
            </a:r>
          </a:p>
        </p:txBody>
      </p:sp>
      <p:grpSp>
        <p:nvGrpSpPr>
          <p:cNvPr id="21" name="Group 20">
            <a:extLst>
              <a:ext uri="{FF2B5EF4-FFF2-40B4-BE49-F238E27FC236}">
                <a16:creationId xmlns:a16="http://schemas.microsoft.com/office/drawing/2014/main" id="{9B837B96-9EB8-DFDB-C62C-A0E7A3A1A0DB}"/>
              </a:ext>
            </a:extLst>
          </p:cNvPr>
          <p:cNvGrpSpPr/>
          <p:nvPr/>
        </p:nvGrpSpPr>
        <p:grpSpPr>
          <a:xfrm>
            <a:off x="609599" y="2598003"/>
            <a:ext cx="1429128" cy="1412079"/>
            <a:chOff x="609599" y="2598003"/>
            <a:chExt cx="1429128" cy="1412079"/>
          </a:xfrm>
        </p:grpSpPr>
        <p:sp>
          <p:nvSpPr>
            <p:cNvPr id="5" name="TextBox 4">
              <a:extLst>
                <a:ext uri="{FF2B5EF4-FFF2-40B4-BE49-F238E27FC236}">
                  <a16:creationId xmlns:a16="http://schemas.microsoft.com/office/drawing/2014/main" id="{4C0F0E6A-1C70-A444-90EA-505EB20EBBFE}"/>
                </a:ext>
              </a:extLst>
            </p:cNvPr>
            <p:cNvSpPr txBox="1"/>
            <p:nvPr/>
          </p:nvSpPr>
          <p:spPr>
            <a:xfrm>
              <a:off x="609599" y="2598003"/>
              <a:ext cx="1429127" cy="830997"/>
            </a:xfrm>
            <a:prstGeom prst="rect">
              <a:avLst/>
            </a:prstGeom>
            <a:noFill/>
          </p:spPr>
          <p:txBody>
            <a:bodyPr wrap="square" rtlCol="0" anchor="ctr">
              <a:spAutoFit/>
            </a:bodyPr>
            <a:lstStyle/>
            <a:p>
              <a:pPr algn="ctr"/>
              <a:r>
                <a:rPr lang="en-US" sz="2400" dirty="0">
                  <a:latin typeface="Avenir" panose="02000503020000020003" pitchFamily="2" charset="0"/>
                </a:rPr>
                <a:t>Inputs</a:t>
              </a:r>
            </a:p>
            <a:p>
              <a:pPr algn="ctr"/>
              <a:r>
                <a:rPr lang="en-US" sz="2400" dirty="0">
                  <a:latin typeface="Avenir" panose="02000503020000020003" pitchFamily="2" charset="0"/>
                </a:rPr>
                <a:t>Program</a:t>
              </a:r>
            </a:p>
          </p:txBody>
        </p:sp>
        <p:sp>
          <p:nvSpPr>
            <p:cNvPr id="12" name="Right Arrow 11">
              <a:extLst>
                <a:ext uri="{FF2B5EF4-FFF2-40B4-BE49-F238E27FC236}">
                  <a16:creationId xmlns:a16="http://schemas.microsoft.com/office/drawing/2014/main" id="{EB71DA03-97FC-7315-778D-D1FC46A05CEA}"/>
                </a:ext>
              </a:extLst>
            </p:cNvPr>
            <p:cNvSpPr/>
            <p:nvPr/>
          </p:nvSpPr>
          <p:spPr>
            <a:xfrm>
              <a:off x="609600" y="3552882"/>
              <a:ext cx="1429127" cy="4572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7A0391D-F9A7-C163-0379-B009A2D6CA2F}"/>
              </a:ext>
            </a:extLst>
          </p:cNvPr>
          <p:cNvGrpSpPr/>
          <p:nvPr/>
        </p:nvGrpSpPr>
        <p:grpSpPr>
          <a:xfrm>
            <a:off x="4438273" y="2782669"/>
            <a:ext cx="1429127" cy="1224298"/>
            <a:chOff x="4438273" y="2782669"/>
            <a:chExt cx="1429127" cy="1224298"/>
          </a:xfrm>
        </p:grpSpPr>
        <p:sp>
          <p:nvSpPr>
            <p:cNvPr id="18" name="Right Arrow 17">
              <a:extLst>
                <a:ext uri="{FF2B5EF4-FFF2-40B4-BE49-F238E27FC236}">
                  <a16:creationId xmlns:a16="http://schemas.microsoft.com/office/drawing/2014/main" id="{D5B0B126-F110-2E00-2BBB-011520A856B9}"/>
                </a:ext>
              </a:extLst>
            </p:cNvPr>
            <p:cNvSpPr/>
            <p:nvPr/>
          </p:nvSpPr>
          <p:spPr>
            <a:xfrm>
              <a:off x="4438273" y="3549767"/>
              <a:ext cx="1429127" cy="4572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ADB780B-3C67-1A49-FA55-C84F6B246DB3}"/>
                </a:ext>
              </a:extLst>
            </p:cNvPr>
            <p:cNvSpPr txBox="1"/>
            <p:nvPr/>
          </p:nvSpPr>
          <p:spPr>
            <a:xfrm>
              <a:off x="4438273" y="2782669"/>
              <a:ext cx="1429127" cy="461665"/>
            </a:xfrm>
            <a:prstGeom prst="rect">
              <a:avLst/>
            </a:prstGeom>
            <a:noFill/>
          </p:spPr>
          <p:txBody>
            <a:bodyPr wrap="square" rtlCol="0" anchor="ctr">
              <a:spAutoFit/>
            </a:bodyPr>
            <a:lstStyle/>
            <a:p>
              <a:pPr algn="ctr"/>
              <a:r>
                <a:rPr lang="en-US" sz="2400" dirty="0">
                  <a:latin typeface="Avenir" panose="02000503020000020003" pitchFamily="2" charset="0"/>
                </a:rPr>
                <a:t>Outputs</a:t>
              </a:r>
            </a:p>
          </p:txBody>
        </p:sp>
      </p:grpSp>
      <p:sp>
        <p:nvSpPr>
          <p:cNvPr id="29" name="Rectangle 28">
            <a:extLst>
              <a:ext uri="{FF2B5EF4-FFF2-40B4-BE49-F238E27FC236}">
                <a16:creationId xmlns:a16="http://schemas.microsoft.com/office/drawing/2014/main" id="{A0CEDCFC-0CC3-D872-3E3D-09D1581666FA}"/>
              </a:ext>
            </a:extLst>
          </p:cNvPr>
          <p:cNvSpPr/>
          <p:nvPr/>
        </p:nvSpPr>
        <p:spPr>
          <a:xfrm>
            <a:off x="7848600" y="1924165"/>
            <a:ext cx="2204358" cy="37146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Machine Learning</a:t>
            </a:r>
          </a:p>
        </p:txBody>
      </p:sp>
      <p:grpSp>
        <p:nvGrpSpPr>
          <p:cNvPr id="30" name="Group 29">
            <a:extLst>
              <a:ext uri="{FF2B5EF4-FFF2-40B4-BE49-F238E27FC236}">
                <a16:creationId xmlns:a16="http://schemas.microsoft.com/office/drawing/2014/main" id="{940711D6-3AB7-AD79-6A9F-FDFE4305473E}"/>
              </a:ext>
            </a:extLst>
          </p:cNvPr>
          <p:cNvGrpSpPr/>
          <p:nvPr/>
        </p:nvGrpSpPr>
        <p:grpSpPr>
          <a:xfrm>
            <a:off x="6319157" y="2598003"/>
            <a:ext cx="1429128" cy="1412079"/>
            <a:chOff x="609599" y="2598003"/>
            <a:chExt cx="1429128" cy="1412079"/>
          </a:xfrm>
        </p:grpSpPr>
        <p:sp>
          <p:nvSpPr>
            <p:cNvPr id="31" name="TextBox 30">
              <a:extLst>
                <a:ext uri="{FF2B5EF4-FFF2-40B4-BE49-F238E27FC236}">
                  <a16:creationId xmlns:a16="http://schemas.microsoft.com/office/drawing/2014/main" id="{6E4D69DC-F55A-E688-5874-6D78FFF53C25}"/>
                </a:ext>
              </a:extLst>
            </p:cNvPr>
            <p:cNvSpPr txBox="1"/>
            <p:nvPr/>
          </p:nvSpPr>
          <p:spPr>
            <a:xfrm>
              <a:off x="609599" y="2598003"/>
              <a:ext cx="1429127" cy="830997"/>
            </a:xfrm>
            <a:prstGeom prst="rect">
              <a:avLst/>
            </a:prstGeom>
            <a:noFill/>
          </p:spPr>
          <p:txBody>
            <a:bodyPr wrap="square" rtlCol="0" anchor="ctr">
              <a:spAutoFit/>
            </a:bodyPr>
            <a:lstStyle/>
            <a:p>
              <a:pPr algn="ctr"/>
              <a:r>
                <a:rPr lang="en-US" sz="2400" dirty="0">
                  <a:latin typeface="Avenir" panose="02000503020000020003" pitchFamily="2" charset="0"/>
                </a:rPr>
                <a:t>Inputs</a:t>
              </a:r>
            </a:p>
            <a:p>
              <a:pPr algn="ctr"/>
              <a:r>
                <a:rPr lang="en-US" sz="2400" dirty="0">
                  <a:latin typeface="Avenir" panose="02000503020000020003" pitchFamily="2" charset="0"/>
                </a:rPr>
                <a:t>Outputs</a:t>
              </a:r>
            </a:p>
          </p:txBody>
        </p:sp>
        <p:sp>
          <p:nvSpPr>
            <p:cNvPr id="32" name="Right Arrow 31">
              <a:extLst>
                <a:ext uri="{FF2B5EF4-FFF2-40B4-BE49-F238E27FC236}">
                  <a16:creationId xmlns:a16="http://schemas.microsoft.com/office/drawing/2014/main" id="{E4125F0D-513C-BE55-8C9B-CBD608762ACC}"/>
                </a:ext>
              </a:extLst>
            </p:cNvPr>
            <p:cNvSpPr/>
            <p:nvPr/>
          </p:nvSpPr>
          <p:spPr>
            <a:xfrm>
              <a:off x="609600" y="3552882"/>
              <a:ext cx="1429127" cy="4572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9888897A-2230-A504-EE6C-E90C7BA4DFE3}"/>
              </a:ext>
            </a:extLst>
          </p:cNvPr>
          <p:cNvGrpSpPr/>
          <p:nvPr/>
        </p:nvGrpSpPr>
        <p:grpSpPr>
          <a:xfrm>
            <a:off x="10147831" y="2782669"/>
            <a:ext cx="1429127" cy="1224298"/>
            <a:chOff x="4438273" y="2782669"/>
            <a:chExt cx="1429127" cy="1224298"/>
          </a:xfrm>
        </p:grpSpPr>
        <p:sp>
          <p:nvSpPr>
            <p:cNvPr id="34" name="Right Arrow 33">
              <a:extLst>
                <a:ext uri="{FF2B5EF4-FFF2-40B4-BE49-F238E27FC236}">
                  <a16:creationId xmlns:a16="http://schemas.microsoft.com/office/drawing/2014/main" id="{DD095D5C-B9FE-1236-7085-B33FE2348BDE}"/>
                </a:ext>
              </a:extLst>
            </p:cNvPr>
            <p:cNvSpPr/>
            <p:nvPr/>
          </p:nvSpPr>
          <p:spPr>
            <a:xfrm>
              <a:off x="4438273" y="3549767"/>
              <a:ext cx="1429127" cy="4572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FAA026D9-8AEC-04D5-3881-EAAC3A9207D4}"/>
                </a:ext>
              </a:extLst>
            </p:cNvPr>
            <p:cNvSpPr txBox="1"/>
            <p:nvPr/>
          </p:nvSpPr>
          <p:spPr>
            <a:xfrm>
              <a:off x="4438273" y="2782669"/>
              <a:ext cx="1429127" cy="461665"/>
            </a:xfrm>
            <a:prstGeom prst="rect">
              <a:avLst/>
            </a:prstGeom>
            <a:noFill/>
          </p:spPr>
          <p:txBody>
            <a:bodyPr wrap="square" rtlCol="0" anchor="ctr">
              <a:spAutoFit/>
            </a:bodyPr>
            <a:lstStyle/>
            <a:p>
              <a:pPr algn="ctr"/>
              <a:r>
                <a:rPr lang="en-US" sz="2400" dirty="0">
                  <a:latin typeface="Avenir" panose="02000503020000020003" pitchFamily="2" charset="0"/>
                </a:rPr>
                <a:t>Program</a:t>
              </a:r>
            </a:p>
          </p:txBody>
        </p:sp>
      </p:grpSp>
      <p:sp>
        <p:nvSpPr>
          <p:cNvPr id="43" name="TextBox 42">
            <a:extLst>
              <a:ext uri="{FF2B5EF4-FFF2-40B4-BE49-F238E27FC236}">
                <a16:creationId xmlns:a16="http://schemas.microsoft.com/office/drawing/2014/main" id="{30F169E7-52A9-9A80-C526-BD24C2E38D80}"/>
              </a:ext>
            </a:extLst>
          </p:cNvPr>
          <p:cNvSpPr txBox="1"/>
          <p:nvPr/>
        </p:nvSpPr>
        <p:spPr>
          <a:xfrm>
            <a:off x="609600" y="5911378"/>
            <a:ext cx="10972800" cy="461665"/>
          </a:xfrm>
          <a:prstGeom prst="rect">
            <a:avLst/>
          </a:prstGeom>
          <a:noFill/>
        </p:spPr>
        <p:txBody>
          <a:bodyPr wrap="square" rtlCol="0" anchor="ctr">
            <a:spAutoFit/>
          </a:bodyPr>
          <a:lstStyle/>
          <a:p>
            <a:pPr algn="ctr"/>
            <a:r>
              <a:rPr lang="en-US" sz="2400" dirty="0">
                <a:latin typeface="Avenir" panose="02000503020000020003" pitchFamily="2" charset="0"/>
              </a:rPr>
              <a:t>Machine learning learns programs from data!</a:t>
            </a:r>
          </a:p>
        </p:txBody>
      </p:sp>
      <p:cxnSp>
        <p:nvCxnSpPr>
          <p:cNvPr id="4" name="Straight Connector 3">
            <a:extLst>
              <a:ext uri="{FF2B5EF4-FFF2-40B4-BE49-F238E27FC236}">
                <a16:creationId xmlns:a16="http://schemas.microsoft.com/office/drawing/2014/main" id="{4C33B2B0-5357-5C46-F1EE-28A733019074}"/>
              </a:ext>
            </a:extLst>
          </p:cNvPr>
          <p:cNvCxnSpPr>
            <a:stCxn id="2" idx="2"/>
            <a:endCxn id="43" idx="0"/>
          </p:cNvCxnSpPr>
          <p:nvPr/>
        </p:nvCxnSpPr>
        <p:spPr>
          <a:xfrm>
            <a:off x="6096000" y="1417638"/>
            <a:ext cx="0" cy="4493740"/>
          </a:xfrm>
          <a:prstGeom prst="line">
            <a:avLst/>
          </a:prstGeom>
          <a:ln w="38100">
            <a:solidFill>
              <a:schemeClr val="tx1"/>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53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5" presetID="10"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1"/>
                                        </p:tgtEl>
                                      </p:cBhvr>
                                    </p:animEffect>
                                    <p:set>
                                      <p:cBhvr>
                                        <p:cTn id="40" dur="1" fill="hold">
                                          <p:stCondLst>
                                            <p:cond delay="499"/>
                                          </p:stCondLst>
                                        </p:cTn>
                                        <p:tgtEl>
                                          <p:spTgt spid="21"/>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22"/>
                                        </p:tgtEl>
                                      </p:cBhvr>
                                    </p:animEffect>
                                    <p:set>
                                      <p:cBhvr>
                                        <p:cTn id="43" dur="1" fill="hold">
                                          <p:stCondLst>
                                            <p:cond delay="499"/>
                                          </p:stCondLst>
                                        </p:cTn>
                                        <p:tgtEl>
                                          <p:spTgt spid="22"/>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29"/>
                                        </p:tgtEl>
                                      </p:cBhvr>
                                    </p:animEffect>
                                    <p:set>
                                      <p:cBhvr>
                                        <p:cTn id="46" dur="1" fill="hold">
                                          <p:stCondLst>
                                            <p:cond delay="499"/>
                                          </p:stCondLst>
                                        </p:cTn>
                                        <p:tgtEl>
                                          <p:spTgt spid="29"/>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30"/>
                                        </p:tgtEl>
                                      </p:cBhvr>
                                    </p:animEffect>
                                    <p:set>
                                      <p:cBhvr>
                                        <p:cTn id="49" dur="1" fill="hold">
                                          <p:stCondLst>
                                            <p:cond delay="499"/>
                                          </p:stCondLst>
                                        </p:cTn>
                                        <p:tgtEl>
                                          <p:spTgt spid="30"/>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33"/>
                                        </p:tgtEl>
                                      </p:cBhvr>
                                    </p:animEffect>
                                    <p:set>
                                      <p:cBhvr>
                                        <p:cTn id="52" dur="1" fill="hold">
                                          <p:stCondLst>
                                            <p:cond delay="499"/>
                                          </p:stCondLst>
                                        </p:cTn>
                                        <p:tgtEl>
                                          <p:spTgt spid="33"/>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4"/>
                                        </p:tgtEl>
                                      </p:cBhvr>
                                    </p:animEffect>
                                    <p:set>
                                      <p:cBhvr>
                                        <p:cTn id="55"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29" grpId="0" animBg="1"/>
      <p:bldP spid="29" grpId="1" animBg="1"/>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D32C8-FBD1-4B31-D6A5-467BB4D45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DBD31-8151-F4E9-694E-1022FDD5230F}"/>
              </a:ext>
            </a:extLst>
          </p:cNvPr>
          <p:cNvSpPr>
            <a:spLocks noGrp="1"/>
          </p:cNvSpPr>
          <p:nvPr>
            <p:ph type="title"/>
          </p:nvPr>
        </p:nvSpPr>
        <p:spPr/>
        <p:txBody>
          <a:bodyPr/>
          <a:lstStyle/>
          <a:p>
            <a:r>
              <a:rPr lang="en-US" dirty="0"/>
              <a:t>What is Machine Learning?</a:t>
            </a:r>
          </a:p>
        </p:txBody>
      </p:sp>
      <p:graphicFrame>
        <p:nvGraphicFramePr>
          <p:cNvPr id="4" name="Table 4">
            <a:extLst>
              <a:ext uri="{FF2B5EF4-FFF2-40B4-BE49-F238E27FC236}">
                <a16:creationId xmlns:a16="http://schemas.microsoft.com/office/drawing/2014/main" id="{0A625CAE-F15D-8635-3743-6CAFA36A4DC4}"/>
              </a:ext>
            </a:extLst>
          </p:cNvPr>
          <p:cNvGraphicFramePr>
            <a:graphicFrameLocks noGrp="1"/>
          </p:cNvGraphicFramePr>
          <p:nvPr>
            <p:extLst>
              <p:ext uri="{D42A27DB-BD31-4B8C-83A1-F6EECF244321}">
                <p14:modId xmlns:p14="http://schemas.microsoft.com/office/powerpoint/2010/main" val="3515224073"/>
              </p:ext>
            </p:extLst>
          </p:nvPr>
        </p:nvGraphicFramePr>
        <p:xfrm>
          <a:off x="1276349" y="2046215"/>
          <a:ext cx="9639303" cy="1314764"/>
        </p:xfrm>
        <a:graphic>
          <a:graphicData uri="http://schemas.openxmlformats.org/drawingml/2006/table">
            <a:tbl>
              <a:tblPr firstRow="1" bandRow="1">
                <a:tableStyleId>{073A0DAA-6AF3-43AB-8588-CEC1D06C72B9}</a:tableStyleId>
              </a:tblPr>
              <a:tblGrid>
                <a:gridCol w="1024547">
                  <a:extLst>
                    <a:ext uri="{9D8B030D-6E8A-4147-A177-3AD203B41FA5}">
                      <a16:colId xmlns:a16="http://schemas.microsoft.com/office/drawing/2014/main" val="1941834303"/>
                    </a:ext>
                  </a:extLst>
                </a:gridCol>
                <a:gridCol w="1219788">
                  <a:extLst>
                    <a:ext uri="{9D8B030D-6E8A-4147-A177-3AD203B41FA5}">
                      <a16:colId xmlns:a16="http://schemas.microsoft.com/office/drawing/2014/main" val="779822208"/>
                    </a:ext>
                  </a:extLst>
                </a:gridCol>
                <a:gridCol w="2134630">
                  <a:extLst>
                    <a:ext uri="{9D8B030D-6E8A-4147-A177-3AD203B41FA5}">
                      <a16:colId xmlns:a16="http://schemas.microsoft.com/office/drawing/2014/main" val="1616683273"/>
                    </a:ext>
                  </a:extLst>
                </a:gridCol>
                <a:gridCol w="2314993">
                  <a:extLst>
                    <a:ext uri="{9D8B030D-6E8A-4147-A177-3AD203B41FA5}">
                      <a16:colId xmlns:a16="http://schemas.microsoft.com/office/drawing/2014/main" val="1733815723"/>
                    </a:ext>
                  </a:extLst>
                </a:gridCol>
                <a:gridCol w="1377046">
                  <a:extLst>
                    <a:ext uri="{9D8B030D-6E8A-4147-A177-3AD203B41FA5}">
                      <a16:colId xmlns:a16="http://schemas.microsoft.com/office/drawing/2014/main" val="3103063089"/>
                    </a:ext>
                  </a:extLst>
                </a:gridCol>
                <a:gridCol w="1568299">
                  <a:extLst>
                    <a:ext uri="{9D8B030D-6E8A-4147-A177-3AD203B41FA5}">
                      <a16:colId xmlns:a16="http://schemas.microsoft.com/office/drawing/2014/main" val="3439709919"/>
                    </a:ext>
                  </a:extLst>
                </a:gridCol>
              </a:tblGrid>
              <a:tr h="313703">
                <a:tc>
                  <a:txBody>
                    <a:bodyPr/>
                    <a:lstStyle/>
                    <a:p>
                      <a:pPr algn="ctr"/>
                      <a:r>
                        <a:rPr lang="en-US" sz="2000" dirty="0"/>
                        <a:t>Age</a:t>
                      </a:r>
                    </a:p>
                  </a:txBody>
                  <a:tcPr anchor="ctr"/>
                </a:tc>
                <a:tc>
                  <a:txBody>
                    <a:bodyPr/>
                    <a:lstStyle/>
                    <a:p>
                      <a:pPr algn="ctr"/>
                      <a:r>
                        <a:rPr lang="en-US" sz="2000" dirty="0"/>
                        <a:t>Heart Rate</a:t>
                      </a:r>
                    </a:p>
                  </a:txBody>
                  <a:tcPr anchor="ctr"/>
                </a:tc>
                <a:tc>
                  <a:txBody>
                    <a:bodyPr/>
                    <a:lstStyle/>
                    <a:p>
                      <a:pPr algn="ctr"/>
                      <a:r>
                        <a:rPr lang="en-US" sz="2000" dirty="0"/>
                        <a:t>Systolic Blood Pressure</a:t>
                      </a:r>
                    </a:p>
                  </a:txBody>
                  <a:tcPr anchor="ctr"/>
                </a:tc>
                <a:tc>
                  <a:txBody>
                    <a:bodyPr/>
                    <a:lstStyle/>
                    <a:p>
                      <a:pPr algn="ctr"/>
                      <a:r>
                        <a:rPr lang="en-US" sz="2000" dirty="0"/>
                        <a:t>Diastolic Blood Pressure</a:t>
                      </a:r>
                    </a:p>
                  </a:txBody>
                  <a:tcPr anchor="ctr"/>
                </a:tc>
                <a:tc>
                  <a:txBody>
                    <a:bodyPr/>
                    <a:lstStyle/>
                    <a:p>
                      <a:pPr algn="ctr"/>
                      <a:r>
                        <a:rPr lang="en-US" sz="2000" dirty="0"/>
                        <a:t>SpO</a:t>
                      </a:r>
                      <a:r>
                        <a:rPr lang="en-US" sz="2000" baseline="-25000" dirty="0"/>
                        <a:t>2</a:t>
                      </a:r>
                      <a:endParaRPr lang="en-US" sz="2000" dirty="0"/>
                    </a:p>
                  </a:txBody>
                  <a:tcPr anchor="ctr"/>
                </a:tc>
                <a:tc>
                  <a:txBody>
                    <a:bodyPr/>
                    <a:lstStyle/>
                    <a:p>
                      <a:pPr algn="ctr"/>
                      <a:r>
                        <a:rPr lang="en-US" sz="2000" dirty="0"/>
                        <a:t>Has Sepsis?</a:t>
                      </a:r>
                    </a:p>
                  </a:txBody>
                  <a:tcPr anchor="ctr"/>
                </a:tc>
                <a:extLst>
                  <a:ext uri="{0D108BD9-81ED-4DB2-BD59-A6C34878D82A}">
                    <a16:rowId xmlns:a16="http://schemas.microsoft.com/office/drawing/2014/main" val="3267054158"/>
                  </a:ext>
                </a:extLst>
              </a:tr>
              <a:tr h="613724">
                <a:tc>
                  <a:txBody>
                    <a:bodyPr/>
                    <a:lstStyle/>
                    <a:p>
                      <a:pPr algn="ctr"/>
                      <a:r>
                        <a:rPr lang="en-US" sz="2000" dirty="0"/>
                        <a:t>34</a:t>
                      </a:r>
                    </a:p>
                  </a:txBody>
                  <a:tcPr anchor="ctr"/>
                </a:tc>
                <a:tc>
                  <a:txBody>
                    <a:bodyPr/>
                    <a:lstStyle/>
                    <a:p>
                      <a:pPr algn="ctr"/>
                      <a:r>
                        <a:rPr lang="en-US" sz="2000" dirty="0"/>
                        <a:t>77</a:t>
                      </a:r>
                    </a:p>
                  </a:txBody>
                  <a:tcPr anchor="ctr"/>
                </a:tc>
                <a:tc>
                  <a:txBody>
                    <a:bodyPr/>
                    <a:lstStyle/>
                    <a:p>
                      <a:pPr algn="ctr"/>
                      <a:r>
                        <a:rPr lang="en-US" sz="2000" dirty="0"/>
                        <a:t>117</a:t>
                      </a:r>
                    </a:p>
                  </a:txBody>
                  <a:tcPr anchor="ctr"/>
                </a:tc>
                <a:tc>
                  <a:txBody>
                    <a:bodyPr/>
                    <a:lstStyle/>
                    <a:p>
                      <a:pPr algn="ctr"/>
                      <a:r>
                        <a:rPr lang="en-US" sz="2000" dirty="0"/>
                        <a:t>72</a:t>
                      </a:r>
                    </a:p>
                  </a:txBody>
                  <a:tcPr anchor="ctr"/>
                </a:tc>
                <a:tc>
                  <a:txBody>
                    <a:bodyPr/>
                    <a:lstStyle/>
                    <a:p>
                      <a:pPr algn="ctr"/>
                      <a:r>
                        <a:rPr lang="en-US" sz="2000" dirty="0"/>
                        <a:t>100.0</a:t>
                      </a:r>
                    </a:p>
                  </a:txBody>
                  <a:tcPr anchor="ctr"/>
                </a:tc>
                <a:tc>
                  <a:txBody>
                    <a:bodyPr/>
                    <a:lstStyle/>
                    <a:p>
                      <a:pPr algn="ctr"/>
                      <a:r>
                        <a:rPr lang="en-US" sz="2000" dirty="0"/>
                        <a:t>No</a:t>
                      </a:r>
                    </a:p>
                  </a:txBody>
                  <a:tcPr anchor="ctr"/>
                </a:tc>
                <a:extLst>
                  <a:ext uri="{0D108BD9-81ED-4DB2-BD59-A6C34878D82A}">
                    <a16:rowId xmlns:a16="http://schemas.microsoft.com/office/drawing/2014/main" val="3671171536"/>
                  </a:ext>
                </a:extLst>
              </a:tr>
            </a:tbl>
          </a:graphicData>
        </a:graphic>
      </p:graphicFrame>
      <p:graphicFrame>
        <p:nvGraphicFramePr>
          <p:cNvPr id="8" name="Table 4">
            <a:extLst>
              <a:ext uri="{FF2B5EF4-FFF2-40B4-BE49-F238E27FC236}">
                <a16:creationId xmlns:a16="http://schemas.microsoft.com/office/drawing/2014/main" id="{A51F00ED-97AA-BF43-4BBE-140D2F50488E}"/>
              </a:ext>
            </a:extLst>
          </p:cNvPr>
          <p:cNvGraphicFramePr>
            <a:graphicFrameLocks noGrp="1"/>
          </p:cNvGraphicFramePr>
          <p:nvPr>
            <p:extLst>
              <p:ext uri="{D42A27DB-BD31-4B8C-83A1-F6EECF244321}">
                <p14:modId xmlns:p14="http://schemas.microsoft.com/office/powerpoint/2010/main" val="2271671294"/>
              </p:ext>
            </p:extLst>
          </p:nvPr>
        </p:nvGraphicFramePr>
        <p:xfrm>
          <a:off x="1276349" y="4589776"/>
          <a:ext cx="9639303" cy="613724"/>
        </p:xfrm>
        <a:graphic>
          <a:graphicData uri="http://schemas.openxmlformats.org/drawingml/2006/table">
            <a:tbl>
              <a:tblPr bandRow="1">
                <a:tableStyleId>{073A0DAA-6AF3-43AB-8588-CEC1D06C72B9}</a:tableStyleId>
              </a:tblPr>
              <a:tblGrid>
                <a:gridCol w="1024547">
                  <a:extLst>
                    <a:ext uri="{9D8B030D-6E8A-4147-A177-3AD203B41FA5}">
                      <a16:colId xmlns:a16="http://schemas.microsoft.com/office/drawing/2014/main" val="1941834303"/>
                    </a:ext>
                  </a:extLst>
                </a:gridCol>
                <a:gridCol w="1219788">
                  <a:extLst>
                    <a:ext uri="{9D8B030D-6E8A-4147-A177-3AD203B41FA5}">
                      <a16:colId xmlns:a16="http://schemas.microsoft.com/office/drawing/2014/main" val="779822208"/>
                    </a:ext>
                  </a:extLst>
                </a:gridCol>
                <a:gridCol w="2134630">
                  <a:extLst>
                    <a:ext uri="{9D8B030D-6E8A-4147-A177-3AD203B41FA5}">
                      <a16:colId xmlns:a16="http://schemas.microsoft.com/office/drawing/2014/main" val="1616683273"/>
                    </a:ext>
                  </a:extLst>
                </a:gridCol>
                <a:gridCol w="2314993">
                  <a:extLst>
                    <a:ext uri="{9D8B030D-6E8A-4147-A177-3AD203B41FA5}">
                      <a16:colId xmlns:a16="http://schemas.microsoft.com/office/drawing/2014/main" val="1733815723"/>
                    </a:ext>
                  </a:extLst>
                </a:gridCol>
                <a:gridCol w="1377046">
                  <a:extLst>
                    <a:ext uri="{9D8B030D-6E8A-4147-A177-3AD203B41FA5}">
                      <a16:colId xmlns:a16="http://schemas.microsoft.com/office/drawing/2014/main" val="3103063089"/>
                    </a:ext>
                  </a:extLst>
                </a:gridCol>
                <a:gridCol w="1568299">
                  <a:extLst>
                    <a:ext uri="{9D8B030D-6E8A-4147-A177-3AD203B41FA5}">
                      <a16:colId xmlns:a16="http://schemas.microsoft.com/office/drawing/2014/main" val="3439709919"/>
                    </a:ext>
                  </a:extLst>
                </a:gridCol>
              </a:tblGrid>
              <a:tr h="613724">
                <a:tc>
                  <a:txBody>
                    <a:bodyPr/>
                    <a:lstStyle/>
                    <a:p>
                      <a:pPr algn="ctr"/>
                      <a:r>
                        <a:rPr lang="en-US" sz="2000" dirty="0"/>
                        <a:t>23</a:t>
                      </a:r>
                    </a:p>
                  </a:txBody>
                  <a:tcPr anchor="ctr">
                    <a:solidFill>
                      <a:srgbClr val="E7E7E7"/>
                    </a:solidFill>
                  </a:tcPr>
                </a:tc>
                <a:tc>
                  <a:txBody>
                    <a:bodyPr/>
                    <a:lstStyle/>
                    <a:p>
                      <a:pPr algn="ctr"/>
                      <a:r>
                        <a:rPr lang="en-US" sz="2000" dirty="0"/>
                        <a:t>93</a:t>
                      </a:r>
                    </a:p>
                  </a:txBody>
                  <a:tcPr anchor="ctr">
                    <a:solidFill>
                      <a:srgbClr val="E7E7E7"/>
                    </a:solidFill>
                  </a:tcPr>
                </a:tc>
                <a:tc>
                  <a:txBody>
                    <a:bodyPr/>
                    <a:lstStyle/>
                    <a:p>
                      <a:pPr algn="ctr"/>
                      <a:r>
                        <a:rPr lang="en-US" sz="2000" dirty="0"/>
                        <a:t>167</a:t>
                      </a:r>
                    </a:p>
                  </a:txBody>
                  <a:tcPr anchor="ctr">
                    <a:solidFill>
                      <a:srgbClr val="E7E7E7"/>
                    </a:solidFill>
                  </a:tcPr>
                </a:tc>
                <a:tc>
                  <a:txBody>
                    <a:bodyPr/>
                    <a:lstStyle/>
                    <a:p>
                      <a:pPr algn="ctr"/>
                      <a:r>
                        <a:rPr lang="en-US" sz="2000" dirty="0"/>
                        <a:t>94</a:t>
                      </a:r>
                    </a:p>
                  </a:txBody>
                  <a:tcPr anchor="ctr">
                    <a:solidFill>
                      <a:srgbClr val="E7E7E7"/>
                    </a:solidFill>
                  </a:tcPr>
                </a:tc>
                <a:tc>
                  <a:txBody>
                    <a:bodyPr/>
                    <a:lstStyle/>
                    <a:p>
                      <a:pPr algn="ctr"/>
                      <a:r>
                        <a:rPr lang="en-US" sz="2000" dirty="0"/>
                        <a:t>94.0</a:t>
                      </a:r>
                    </a:p>
                  </a:txBody>
                  <a:tcPr anchor="ctr">
                    <a:solidFill>
                      <a:srgbClr val="E7E7E7"/>
                    </a:solidFill>
                  </a:tcPr>
                </a:tc>
                <a:tc>
                  <a:txBody>
                    <a:bodyPr/>
                    <a:lstStyle/>
                    <a:p>
                      <a:pPr algn="ctr"/>
                      <a:r>
                        <a:rPr lang="en-US" sz="2000" b="1" dirty="0">
                          <a:solidFill>
                            <a:srgbClr val="FF0000"/>
                          </a:solidFill>
                        </a:rPr>
                        <a:t>???</a:t>
                      </a:r>
                    </a:p>
                  </a:txBody>
                  <a:tcPr anchor="ctr">
                    <a:solidFill>
                      <a:srgbClr val="E7E7E7"/>
                    </a:solidFill>
                  </a:tcPr>
                </a:tc>
                <a:extLst>
                  <a:ext uri="{0D108BD9-81ED-4DB2-BD59-A6C34878D82A}">
                    <a16:rowId xmlns:a16="http://schemas.microsoft.com/office/drawing/2014/main" val="2173934539"/>
                  </a:ext>
                </a:extLst>
              </a:tr>
            </a:tbl>
          </a:graphicData>
        </a:graphic>
      </p:graphicFrame>
      <p:graphicFrame>
        <p:nvGraphicFramePr>
          <p:cNvPr id="11" name="Table 4">
            <a:extLst>
              <a:ext uri="{FF2B5EF4-FFF2-40B4-BE49-F238E27FC236}">
                <a16:creationId xmlns:a16="http://schemas.microsoft.com/office/drawing/2014/main" id="{07A806E5-4B83-3568-E263-77BA1351E134}"/>
              </a:ext>
            </a:extLst>
          </p:cNvPr>
          <p:cNvGraphicFramePr>
            <a:graphicFrameLocks noGrp="1"/>
          </p:cNvGraphicFramePr>
          <p:nvPr>
            <p:extLst>
              <p:ext uri="{D42A27DB-BD31-4B8C-83A1-F6EECF244321}">
                <p14:modId xmlns:p14="http://schemas.microsoft.com/office/powerpoint/2010/main" val="3304711402"/>
              </p:ext>
            </p:extLst>
          </p:nvPr>
        </p:nvGraphicFramePr>
        <p:xfrm>
          <a:off x="1276349" y="5198223"/>
          <a:ext cx="9639303" cy="613724"/>
        </p:xfrm>
        <a:graphic>
          <a:graphicData uri="http://schemas.openxmlformats.org/drawingml/2006/table">
            <a:tbl>
              <a:tblPr bandRow="1">
                <a:tableStyleId>{073A0DAA-6AF3-43AB-8588-CEC1D06C72B9}</a:tableStyleId>
              </a:tblPr>
              <a:tblGrid>
                <a:gridCol w="1024547">
                  <a:extLst>
                    <a:ext uri="{9D8B030D-6E8A-4147-A177-3AD203B41FA5}">
                      <a16:colId xmlns:a16="http://schemas.microsoft.com/office/drawing/2014/main" val="1941834303"/>
                    </a:ext>
                  </a:extLst>
                </a:gridCol>
                <a:gridCol w="1219788">
                  <a:extLst>
                    <a:ext uri="{9D8B030D-6E8A-4147-A177-3AD203B41FA5}">
                      <a16:colId xmlns:a16="http://schemas.microsoft.com/office/drawing/2014/main" val="779822208"/>
                    </a:ext>
                  </a:extLst>
                </a:gridCol>
                <a:gridCol w="2134630">
                  <a:extLst>
                    <a:ext uri="{9D8B030D-6E8A-4147-A177-3AD203B41FA5}">
                      <a16:colId xmlns:a16="http://schemas.microsoft.com/office/drawing/2014/main" val="1616683273"/>
                    </a:ext>
                  </a:extLst>
                </a:gridCol>
                <a:gridCol w="2314993">
                  <a:extLst>
                    <a:ext uri="{9D8B030D-6E8A-4147-A177-3AD203B41FA5}">
                      <a16:colId xmlns:a16="http://schemas.microsoft.com/office/drawing/2014/main" val="1733815723"/>
                    </a:ext>
                  </a:extLst>
                </a:gridCol>
                <a:gridCol w="1377046">
                  <a:extLst>
                    <a:ext uri="{9D8B030D-6E8A-4147-A177-3AD203B41FA5}">
                      <a16:colId xmlns:a16="http://schemas.microsoft.com/office/drawing/2014/main" val="3103063089"/>
                    </a:ext>
                  </a:extLst>
                </a:gridCol>
                <a:gridCol w="1568299">
                  <a:extLst>
                    <a:ext uri="{9D8B030D-6E8A-4147-A177-3AD203B41FA5}">
                      <a16:colId xmlns:a16="http://schemas.microsoft.com/office/drawing/2014/main" val="3439709919"/>
                    </a:ext>
                  </a:extLst>
                </a:gridCol>
              </a:tblGrid>
              <a:tr h="613724">
                <a:tc>
                  <a:txBody>
                    <a:bodyPr/>
                    <a:lstStyle/>
                    <a:p>
                      <a:pPr algn="ctr"/>
                      <a:r>
                        <a:rPr lang="en-US" sz="2000" dirty="0"/>
                        <a:t>81</a:t>
                      </a:r>
                    </a:p>
                  </a:txBody>
                  <a:tcPr anchor="ctr"/>
                </a:tc>
                <a:tc>
                  <a:txBody>
                    <a:bodyPr/>
                    <a:lstStyle/>
                    <a:p>
                      <a:pPr algn="ctr"/>
                      <a:r>
                        <a:rPr lang="en-US" sz="2000" dirty="0"/>
                        <a:t>90</a:t>
                      </a:r>
                    </a:p>
                  </a:txBody>
                  <a:tcPr anchor="ctr"/>
                </a:tc>
                <a:tc>
                  <a:txBody>
                    <a:bodyPr/>
                    <a:lstStyle/>
                    <a:p>
                      <a:pPr algn="ctr"/>
                      <a:r>
                        <a:rPr lang="en-US" sz="2000" dirty="0"/>
                        <a:t>123</a:t>
                      </a:r>
                    </a:p>
                  </a:txBody>
                  <a:tcPr anchor="ctr"/>
                </a:tc>
                <a:tc>
                  <a:txBody>
                    <a:bodyPr/>
                    <a:lstStyle/>
                    <a:p>
                      <a:pPr algn="ctr"/>
                      <a:r>
                        <a:rPr lang="en-US" sz="2000" dirty="0"/>
                        <a:t>86</a:t>
                      </a:r>
                    </a:p>
                  </a:txBody>
                  <a:tcPr anchor="ctr"/>
                </a:tc>
                <a:tc>
                  <a:txBody>
                    <a:bodyPr/>
                    <a:lstStyle/>
                    <a:p>
                      <a:pPr algn="ctr"/>
                      <a:r>
                        <a:rPr lang="en-US" sz="2000" dirty="0"/>
                        <a:t>99.7</a:t>
                      </a:r>
                    </a:p>
                  </a:txBody>
                  <a:tcPr anchor="ctr"/>
                </a:tc>
                <a:tc>
                  <a:txBody>
                    <a:bodyPr/>
                    <a:lstStyle/>
                    <a:p>
                      <a:pPr algn="ctr"/>
                      <a:r>
                        <a:rPr lang="en-US" sz="2000" b="1" dirty="0">
                          <a:solidFill>
                            <a:srgbClr val="FF0000"/>
                          </a:solidFill>
                        </a:rPr>
                        <a:t>???</a:t>
                      </a:r>
                    </a:p>
                  </a:txBody>
                  <a:tcPr anchor="ctr"/>
                </a:tc>
                <a:extLst>
                  <a:ext uri="{0D108BD9-81ED-4DB2-BD59-A6C34878D82A}">
                    <a16:rowId xmlns:a16="http://schemas.microsoft.com/office/drawing/2014/main" val="3311920804"/>
                  </a:ext>
                </a:extLst>
              </a:tr>
            </a:tbl>
          </a:graphicData>
        </a:graphic>
      </p:graphicFrame>
      <p:graphicFrame>
        <p:nvGraphicFramePr>
          <p:cNvPr id="12" name="Table 4">
            <a:extLst>
              <a:ext uri="{FF2B5EF4-FFF2-40B4-BE49-F238E27FC236}">
                <a16:creationId xmlns:a16="http://schemas.microsoft.com/office/drawing/2014/main" id="{5B44BADB-8609-6FEF-B698-9834A7A05E21}"/>
              </a:ext>
            </a:extLst>
          </p:cNvPr>
          <p:cNvGraphicFramePr>
            <a:graphicFrameLocks noGrp="1"/>
          </p:cNvGraphicFramePr>
          <p:nvPr>
            <p:extLst>
              <p:ext uri="{D42A27DB-BD31-4B8C-83A1-F6EECF244321}">
                <p14:modId xmlns:p14="http://schemas.microsoft.com/office/powerpoint/2010/main" val="3682059800"/>
              </p:ext>
            </p:extLst>
          </p:nvPr>
        </p:nvGraphicFramePr>
        <p:xfrm>
          <a:off x="1276348" y="3972739"/>
          <a:ext cx="9639303" cy="613724"/>
        </p:xfrm>
        <a:graphic>
          <a:graphicData uri="http://schemas.openxmlformats.org/drawingml/2006/table">
            <a:tbl>
              <a:tblPr bandRow="1">
                <a:tableStyleId>{073A0DAA-6AF3-43AB-8588-CEC1D06C72B9}</a:tableStyleId>
              </a:tblPr>
              <a:tblGrid>
                <a:gridCol w="1024547">
                  <a:extLst>
                    <a:ext uri="{9D8B030D-6E8A-4147-A177-3AD203B41FA5}">
                      <a16:colId xmlns:a16="http://schemas.microsoft.com/office/drawing/2014/main" val="1941834303"/>
                    </a:ext>
                  </a:extLst>
                </a:gridCol>
                <a:gridCol w="1219788">
                  <a:extLst>
                    <a:ext uri="{9D8B030D-6E8A-4147-A177-3AD203B41FA5}">
                      <a16:colId xmlns:a16="http://schemas.microsoft.com/office/drawing/2014/main" val="779822208"/>
                    </a:ext>
                  </a:extLst>
                </a:gridCol>
                <a:gridCol w="2134630">
                  <a:extLst>
                    <a:ext uri="{9D8B030D-6E8A-4147-A177-3AD203B41FA5}">
                      <a16:colId xmlns:a16="http://schemas.microsoft.com/office/drawing/2014/main" val="1616683273"/>
                    </a:ext>
                  </a:extLst>
                </a:gridCol>
                <a:gridCol w="2314993">
                  <a:extLst>
                    <a:ext uri="{9D8B030D-6E8A-4147-A177-3AD203B41FA5}">
                      <a16:colId xmlns:a16="http://schemas.microsoft.com/office/drawing/2014/main" val="1733815723"/>
                    </a:ext>
                  </a:extLst>
                </a:gridCol>
                <a:gridCol w="1377046">
                  <a:extLst>
                    <a:ext uri="{9D8B030D-6E8A-4147-A177-3AD203B41FA5}">
                      <a16:colId xmlns:a16="http://schemas.microsoft.com/office/drawing/2014/main" val="3103063089"/>
                    </a:ext>
                  </a:extLst>
                </a:gridCol>
                <a:gridCol w="1568299">
                  <a:extLst>
                    <a:ext uri="{9D8B030D-6E8A-4147-A177-3AD203B41FA5}">
                      <a16:colId xmlns:a16="http://schemas.microsoft.com/office/drawing/2014/main" val="3439709919"/>
                    </a:ext>
                  </a:extLst>
                </a:gridCol>
              </a:tblGrid>
              <a:tr h="613724">
                <a:tc>
                  <a:txBody>
                    <a:bodyPr/>
                    <a:lstStyle/>
                    <a:p>
                      <a:pPr algn="ctr"/>
                      <a:r>
                        <a:rPr lang="en-US" sz="2000" dirty="0"/>
                        <a:t>57</a:t>
                      </a:r>
                    </a:p>
                  </a:txBody>
                  <a:tcPr anchor="ctr"/>
                </a:tc>
                <a:tc>
                  <a:txBody>
                    <a:bodyPr/>
                    <a:lstStyle/>
                    <a:p>
                      <a:pPr algn="ctr"/>
                      <a:r>
                        <a:rPr lang="en-US" sz="2000" dirty="0"/>
                        <a:t>66</a:t>
                      </a:r>
                    </a:p>
                  </a:txBody>
                  <a:tcPr anchor="ctr"/>
                </a:tc>
                <a:tc>
                  <a:txBody>
                    <a:bodyPr/>
                    <a:lstStyle/>
                    <a:p>
                      <a:pPr algn="ctr"/>
                      <a:r>
                        <a:rPr lang="en-US" sz="2000" dirty="0"/>
                        <a:t>144</a:t>
                      </a:r>
                    </a:p>
                  </a:txBody>
                  <a:tcPr anchor="ctr"/>
                </a:tc>
                <a:tc>
                  <a:txBody>
                    <a:bodyPr/>
                    <a:lstStyle/>
                    <a:p>
                      <a:pPr algn="ctr"/>
                      <a:r>
                        <a:rPr lang="en-US" sz="2000" dirty="0"/>
                        <a:t>81</a:t>
                      </a:r>
                    </a:p>
                  </a:txBody>
                  <a:tcPr anchor="ctr"/>
                </a:tc>
                <a:tc>
                  <a:txBody>
                    <a:bodyPr/>
                    <a:lstStyle/>
                    <a:p>
                      <a:pPr algn="ctr"/>
                      <a:r>
                        <a:rPr lang="en-US" sz="2000" dirty="0"/>
                        <a:t>97.6</a:t>
                      </a:r>
                    </a:p>
                  </a:txBody>
                  <a:tcPr anchor="ctr"/>
                </a:tc>
                <a:tc>
                  <a:txBody>
                    <a:bodyPr/>
                    <a:lstStyle/>
                    <a:p>
                      <a:pPr algn="ctr"/>
                      <a:r>
                        <a:rPr lang="en-US" sz="2000" dirty="0"/>
                        <a:t>No</a:t>
                      </a:r>
                    </a:p>
                  </a:txBody>
                  <a:tcPr anchor="ctr"/>
                </a:tc>
                <a:extLst>
                  <a:ext uri="{0D108BD9-81ED-4DB2-BD59-A6C34878D82A}">
                    <a16:rowId xmlns:a16="http://schemas.microsoft.com/office/drawing/2014/main" val="3723279564"/>
                  </a:ext>
                </a:extLst>
              </a:tr>
            </a:tbl>
          </a:graphicData>
        </a:graphic>
      </p:graphicFrame>
      <p:graphicFrame>
        <p:nvGraphicFramePr>
          <p:cNvPr id="17" name="Table 4">
            <a:extLst>
              <a:ext uri="{FF2B5EF4-FFF2-40B4-BE49-F238E27FC236}">
                <a16:creationId xmlns:a16="http://schemas.microsoft.com/office/drawing/2014/main" id="{3D0AA409-DFF4-1849-4B82-688922C97FD3}"/>
              </a:ext>
            </a:extLst>
          </p:cNvPr>
          <p:cNvGraphicFramePr>
            <a:graphicFrameLocks noGrp="1"/>
          </p:cNvGraphicFramePr>
          <p:nvPr>
            <p:extLst>
              <p:ext uri="{D42A27DB-BD31-4B8C-83A1-F6EECF244321}">
                <p14:modId xmlns:p14="http://schemas.microsoft.com/office/powerpoint/2010/main" val="697553975"/>
              </p:ext>
            </p:extLst>
          </p:nvPr>
        </p:nvGraphicFramePr>
        <p:xfrm>
          <a:off x="1276349" y="3355702"/>
          <a:ext cx="9639303" cy="613724"/>
        </p:xfrm>
        <a:graphic>
          <a:graphicData uri="http://schemas.openxmlformats.org/drawingml/2006/table">
            <a:tbl>
              <a:tblPr bandRow="1">
                <a:tableStyleId>{073A0DAA-6AF3-43AB-8588-CEC1D06C72B9}</a:tableStyleId>
              </a:tblPr>
              <a:tblGrid>
                <a:gridCol w="1024547">
                  <a:extLst>
                    <a:ext uri="{9D8B030D-6E8A-4147-A177-3AD203B41FA5}">
                      <a16:colId xmlns:a16="http://schemas.microsoft.com/office/drawing/2014/main" val="1941834303"/>
                    </a:ext>
                  </a:extLst>
                </a:gridCol>
                <a:gridCol w="1219788">
                  <a:extLst>
                    <a:ext uri="{9D8B030D-6E8A-4147-A177-3AD203B41FA5}">
                      <a16:colId xmlns:a16="http://schemas.microsoft.com/office/drawing/2014/main" val="779822208"/>
                    </a:ext>
                  </a:extLst>
                </a:gridCol>
                <a:gridCol w="2134630">
                  <a:extLst>
                    <a:ext uri="{9D8B030D-6E8A-4147-A177-3AD203B41FA5}">
                      <a16:colId xmlns:a16="http://schemas.microsoft.com/office/drawing/2014/main" val="1616683273"/>
                    </a:ext>
                  </a:extLst>
                </a:gridCol>
                <a:gridCol w="2314993">
                  <a:extLst>
                    <a:ext uri="{9D8B030D-6E8A-4147-A177-3AD203B41FA5}">
                      <a16:colId xmlns:a16="http://schemas.microsoft.com/office/drawing/2014/main" val="1733815723"/>
                    </a:ext>
                  </a:extLst>
                </a:gridCol>
                <a:gridCol w="1377046">
                  <a:extLst>
                    <a:ext uri="{9D8B030D-6E8A-4147-A177-3AD203B41FA5}">
                      <a16:colId xmlns:a16="http://schemas.microsoft.com/office/drawing/2014/main" val="3103063089"/>
                    </a:ext>
                  </a:extLst>
                </a:gridCol>
                <a:gridCol w="1568299">
                  <a:extLst>
                    <a:ext uri="{9D8B030D-6E8A-4147-A177-3AD203B41FA5}">
                      <a16:colId xmlns:a16="http://schemas.microsoft.com/office/drawing/2014/main" val="3439709919"/>
                    </a:ext>
                  </a:extLst>
                </a:gridCol>
              </a:tblGrid>
              <a:tr h="613724">
                <a:tc>
                  <a:txBody>
                    <a:bodyPr/>
                    <a:lstStyle/>
                    <a:p>
                      <a:pPr algn="ctr"/>
                      <a:r>
                        <a:rPr lang="en-US" sz="2000" dirty="0"/>
                        <a:t>78</a:t>
                      </a:r>
                    </a:p>
                  </a:txBody>
                  <a:tcPr anchor="ctr">
                    <a:solidFill>
                      <a:srgbClr val="E7E7E7"/>
                    </a:solidFill>
                  </a:tcPr>
                </a:tc>
                <a:tc>
                  <a:txBody>
                    <a:bodyPr/>
                    <a:lstStyle/>
                    <a:p>
                      <a:pPr algn="ctr"/>
                      <a:r>
                        <a:rPr lang="en-US" sz="2000" dirty="0"/>
                        <a:t>87</a:t>
                      </a:r>
                    </a:p>
                  </a:txBody>
                  <a:tcPr anchor="ctr">
                    <a:solidFill>
                      <a:srgbClr val="E7E7E7"/>
                    </a:solidFill>
                  </a:tcPr>
                </a:tc>
                <a:tc>
                  <a:txBody>
                    <a:bodyPr/>
                    <a:lstStyle/>
                    <a:p>
                      <a:pPr algn="ctr"/>
                      <a:r>
                        <a:rPr lang="en-US" sz="2000" dirty="0"/>
                        <a:t>163</a:t>
                      </a:r>
                    </a:p>
                  </a:txBody>
                  <a:tcPr anchor="ctr">
                    <a:solidFill>
                      <a:srgbClr val="E7E7E7"/>
                    </a:solidFill>
                  </a:tcPr>
                </a:tc>
                <a:tc>
                  <a:txBody>
                    <a:bodyPr/>
                    <a:lstStyle/>
                    <a:p>
                      <a:pPr algn="ctr"/>
                      <a:r>
                        <a:rPr lang="en-US" sz="2000" dirty="0"/>
                        <a:t>79</a:t>
                      </a:r>
                    </a:p>
                  </a:txBody>
                  <a:tcPr anchor="ctr">
                    <a:solidFill>
                      <a:srgbClr val="E7E7E7"/>
                    </a:solidFill>
                  </a:tcPr>
                </a:tc>
                <a:tc>
                  <a:txBody>
                    <a:bodyPr/>
                    <a:lstStyle/>
                    <a:p>
                      <a:pPr algn="ctr"/>
                      <a:r>
                        <a:rPr lang="en-US" sz="2000" dirty="0"/>
                        <a:t>95.9</a:t>
                      </a:r>
                    </a:p>
                  </a:txBody>
                  <a:tcPr anchor="ctr">
                    <a:solidFill>
                      <a:srgbClr val="E7E7E7"/>
                    </a:solidFill>
                  </a:tcPr>
                </a:tc>
                <a:tc>
                  <a:txBody>
                    <a:bodyPr/>
                    <a:lstStyle/>
                    <a:p>
                      <a:pPr algn="ctr"/>
                      <a:r>
                        <a:rPr lang="en-US" sz="2000" dirty="0"/>
                        <a:t>Yes</a:t>
                      </a:r>
                    </a:p>
                  </a:txBody>
                  <a:tcPr anchor="ctr">
                    <a:solidFill>
                      <a:srgbClr val="E7E7E7"/>
                    </a:solidFill>
                  </a:tcPr>
                </a:tc>
                <a:extLst>
                  <a:ext uri="{0D108BD9-81ED-4DB2-BD59-A6C34878D82A}">
                    <a16:rowId xmlns:a16="http://schemas.microsoft.com/office/drawing/2014/main" val="3970411501"/>
                  </a:ext>
                </a:extLst>
              </a:tr>
            </a:tbl>
          </a:graphicData>
        </a:graphic>
      </p:graphicFrame>
      <p:grpSp>
        <p:nvGrpSpPr>
          <p:cNvPr id="18" name="Group 17">
            <a:extLst>
              <a:ext uri="{FF2B5EF4-FFF2-40B4-BE49-F238E27FC236}">
                <a16:creationId xmlns:a16="http://schemas.microsoft.com/office/drawing/2014/main" id="{14AE5CB2-C580-F949-7F07-65C61D2FF057}"/>
              </a:ext>
            </a:extLst>
          </p:cNvPr>
          <p:cNvGrpSpPr/>
          <p:nvPr/>
        </p:nvGrpSpPr>
        <p:grpSpPr>
          <a:xfrm>
            <a:off x="1325880" y="1143000"/>
            <a:ext cx="8013428" cy="886475"/>
            <a:chOff x="3365237" y="4887568"/>
            <a:chExt cx="8013428" cy="886475"/>
          </a:xfrm>
        </p:grpSpPr>
        <p:sp>
          <p:nvSpPr>
            <p:cNvPr id="19" name="TextBox 18">
              <a:extLst>
                <a:ext uri="{FF2B5EF4-FFF2-40B4-BE49-F238E27FC236}">
                  <a16:creationId xmlns:a16="http://schemas.microsoft.com/office/drawing/2014/main" id="{512783BE-F587-5239-6DC9-B93E668EC197}"/>
                </a:ext>
              </a:extLst>
            </p:cNvPr>
            <p:cNvSpPr txBox="1"/>
            <p:nvPr/>
          </p:nvSpPr>
          <p:spPr>
            <a:xfrm>
              <a:off x="6856424" y="4887568"/>
              <a:ext cx="1031051" cy="461665"/>
            </a:xfrm>
            <a:prstGeom prst="rect">
              <a:avLst/>
            </a:prstGeom>
            <a:noFill/>
          </p:spPr>
          <p:txBody>
            <a:bodyPr wrap="none" rtlCol="0" anchor="ctr">
              <a:spAutoFit/>
            </a:bodyPr>
            <a:lstStyle/>
            <a:p>
              <a:pPr algn="ctr"/>
              <a:r>
                <a:rPr lang="en-US" sz="2400" dirty="0"/>
                <a:t>Inputs</a:t>
              </a:r>
            </a:p>
          </p:txBody>
        </p:sp>
        <p:sp>
          <p:nvSpPr>
            <p:cNvPr id="20" name="Left Brace 19">
              <a:extLst>
                <a:ext uri="{FF2B5EF4-FFF2-40B4-BE49-F238E27FC236}">
                  <a16:creationId xmlns:a16="http://schemas.microsoft.com/office/drawing/2014/main" id="{684E1D75-738D-12C1-0DCB-A7808BB92FBE}"/>
                </a:ext>
              </a:extLst>
            </p:cNvPr>
            <p:cNvSpPr/>
            <p:nvPr/>
          </p:nvSpPr>
          <p:spPr>
            <a:xfrm rot="5400000" flipV="1">
              <a:off x="7160374" y="1555753"/>
              <a:ext cx="423153" cy="8013428"/>
            </a:xfrm>
            <a:prstGeom prst="leftBrac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venir Book" panose="02000503020000020003" pitchFamily="2" charset="0"/>
              </a:endParaRPr>
            </a:p>
          </p:txBody>
        </p:sp>
      </p:grpSp>
      <p:grpSp>
        <p:nvGrpSpPr>
          <p:cNvPr id="24" name="Group 23">
            <a:extLst>
              <a:ext uri="{FF2B5EF4-FFF2-40B4-BE49-F238E27FC236}">
                <a16:creationId xmlns:a16="http://schemas.microsoft.com/office/drawing/2014/main" id="{5A30219B-A40F-62F5-41C4-0E5BE6BCD7AF}"/>
              </a:ext>
            </a:extLst>
          </p:cNvPr>
          <p:cNvGrpSpPr/>
          <p:nvPr/>
        </p:nvGrpSpPr>
        <p:grpSpPr>
          <a:xfrm>
            <a:off x="9525000" y="1143000"/>
            <a:ext cx="1176925" cy="857539"/>
            <a:chOff x="9525000" y="1657849"/>
            <a:chExt cx="1176925" cy="857539"/>
          </a:xfrm>
        </p:grpSpPr>
        <p:sp>
          <p:nvSpPr>
            <p:cNvPr id="25" name="TextBox 24">
              <a:extLst>
                <a:ext uri="{FF2B5EF4-FFF2-40B4-BE49-F238E27FC236}">
                  <a16:creationId xmlns:a16="http://schemas.microsoft.com/office/drawing/2014/main" id="{E703D143-94BF-01D5-D363-7D810326F0EA}"/>
                </a:ext>
              </a:extLst>
            </p:cNvPr>
            <p:cNvSpPr txBox="1"/>
            <p:nvPr/>
          </p:nvSpPr>
          <p:spPr>
            <a:xfrm>
              <a:off x="9525000" y="1657849"/>
              <a:ext cx="1176925" cy="461665"/>
            </a:xfrm>
            <a:prstGeom prst="rect">
              <a:avLst/>
            </a:prstGeom>
            <a:noFill/>
          </p:spPr>
          <p:txBody>
            <a:bodyPr wrap="none" rtlCol="0" anchor="ctr">
              <a:spAutoFit/>
            </a:bodyPr>
            <a:lstStyle/>
            <a:p>
              <a:pPr algn="ctr"/>
              <a:r>
                <a:rPr lang="en-US" sz="2400" dirty="0"/>
                <a:t>Output</a:t>
              </a:r>
            </a:p>
          </p:txBody>
        </p:sp>
        <p:cxnSp>
          <p:nvCxnSpPr>
            <p:cNvPr id="26" name="Straight Arrow Connector 25">
              <a:extLst>
                <a:ext uri="{FF2B5EF4-FFF2-40B4-BE49-F238E27FC236}">
                  <a16:creationId xmlns:a16="http://schemas.microsoft.com/office/drawing/2014/main" id="{C4B1B08A-A1A2-F2EC-0439-6FBC3CBF9CDA}"/>
                </a:ext>
              </a:extLst>
            </p:cNvPr>
            <p:cNvCxnSpPr>
              <a:cxnSpLocks/>
              <a:stCxn id="25" idx="2"/>
            </p:cNvCxnSpPr>
            <p:nvPr/>
          </p:nvCxnSpPr>
          <p:spPr>
            <a:xfrm flipH="1">
              <a:off x="10113462" y="2119514"/>
              <a:ext cx="1" cy="395874"/>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282B986B-CC59-6BDE-ED12-683E68CB9418}"/>
              </a:ext>
            </a:extLst>
          </p:cNvPr>
          <p:cNvSpPr txBox="1"/>
          <p:nvPr/>
        </p:nvSpPr>
        <p:spPr>
          <a:xfrm>
            <a:off x="609600" y="5911378"/>
            <a:ext cx="10972800" cy="461665"/>
          </a:xfrm>
          <a:prstGeom prst="rect">
            <a:avLst/>
          </a:prstGeom>
          <a:noFill/>
        </p:spPr>
        <p:txBody>
          <a:bodyPr wrap="square" rtlCol="0" anchor="ctr">
            <a:spAutoFit/>
          </a:bodyPr>
          <a:lstStyle/>
          <a:p>
            <a:pPr algn="ctr"/>
            <a:r>
              <a:rPr lang="en-US" sz="2400" dirty="0">
                <a:latin typeface="Avenir" panose="02000503020000020003" pitchFamily="2" charset="0"/>
              </a:rPr>
              <a:t>Machine learning learns programs from data!</a:t>
            </a:r>
          </a:p>
        </p:txBody>
      </p:sp>
    </p:spTree>
    <p:extLst>
      <p:ext uri="{BB962C8B-B14F-4D97-AF65-F5344CB8AC3E}">
        <p14:creationId xmlns:p14="http://schemas.microsoft.com/office/powerpoint/2010/main" val="3273516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426722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mph" presetSubtype="0" grpId="1" nodeType="clickEffect">
                                  <p:stCondLst>
                                    <p:cond delay="0"/>
                                  </p:stCondLst>
                                  <p:childTnLst>
                                    <p:set>
                                      <p:cBhvr>
                                        <p:cTn id="35" dur="indefinite"/>
                                        <p:tgtEl>
                                          <p:spTgt spid="3">
                                            <p:txEl>
                                              <p:pRg st="1" end="1"/>
                                            </p:txEl>
                                          </p:spTgt>
                                        </p:tgtEl>
                                        <p:attrNameLst>
                                          <p:attrName>style.opacity</p:attrName>
                                        </p:attrNameLst>
                                      </p:cBhvr>
                                      <p:to>
                                        <p:strVal val="0.25"/>
                                      </p:to>
                                    </p:set>
                                    <p:animEffect filter="image" prLst="opacity: 0.25">
                                      <p:cBhvr rctx="IE">
                                        <p:cTn id="36" dur="indefinite"/>
                                        <p:tgtEl>
                                          <p:spTgt spid="3">
                                            <p:txEl>
                                              <p:pRg st="1" end="1"/>
                                            </p:txEl>
                                          </p:spTgt>
                                        </p:tgtEl>
                                      </p:cBhvr>
                                    </p:animEffect>
                                  </p:childTnLst>
                                </p:cTn>
                              </p:par>
                              <p:par>
                                <p:cTn id="37" presetID="9" presetClass="emph" presetSubtype="0" grpId="1" nodeType="withEffect">
                                  <p:stCondLst>
                                    <p:cond delay="0"/>
                                  </p:stCondLst>
                                  <p:childTnLst>
                                    <p:set>
                                      <p:cBhvr>
                                        <p:cTn id="38" dur="indefinite"/>
                                        <p:tgtEl>
                                          <p:spTgt spid="3">
                                            <p:txEl>
                                              <p:pRg st="2" end="2"/>
                                            </p:txEl>
                                          </p:spTgt>
                                        </p:tgtEl>
                                        <p:attrNameLst>
                                          <p:attrName>style.opacity</p:attrName>
                                        </p:attrNameLst>
                                      </p:cBhvr>
                                      <p:to>
                                        <p:strVal val="0.25"/>
                                      </p:to>
                                    </p:set>
                                    <p:animEffect filter="image" prLst="opacity: 0.25">
                                      <p:cBhvr rctx="IE">
                                        <p:cTn id="39" dur="indefinite"/>
                                        <p:tgtEl>
                                          <p:spTgt spid="3">
                                            <p:txEl>
                                              <p:pRg st="2" end="2"/>
                                            </p:txEl>
                                          </p:spTgt>
                                        </p:tgtEl>
                                      </p:cBhvr>
                                    </p:animEffect>
                                  </p:childTnLst>
                                </p:cTn>
                              </p:par>
                              <p:par>
                                <p:cTn id="40" presetID="9" presetClass="emph" presetSubtype="0" grpId="1" nodeType="withEffect">
                                  <p:stCondLst>
                                    <p:cond delay="0"/>
                                  </p:stCondLst>
                                  <p:childTnLst>
                                    <p:set>
                                      <p:cBhvr>
                                        <p:cTn id="41" dur="indefinite"/>
                                        <p:tgtEl>
                                          <p:spTgt spid="3">
                                            <p:txEl>
                                              <p:pRg st="3" end="3"/>
                                            </p:txEl>
                                          </p:spTgt>
                                        </p:tgtEl>
                                        <p:attrNameLst>
                                          <p:attrName>style.opacity</p:attrName>
                                        </p:attrNameLst>
                                      </p:cBhvr>
                                      <p:to>
                                        <p:strVal val="0.25"/>
                                      </p:to>
                                    </p:set>
                                    <p:animEffect filter="image" prLst="opacity: 0.25">
                                      <p:cBhvr rctx="IE">
                                        <p:cTn id="42" dur="indefinite"/>
                                        <p:tgtEl>
                                          <p:spTgt spid="3">
                                            <p:txEl>
                                              <p:pRg st="3" end="3"/>
                                            </p:txEl>
                                          </p:spTgt>
                                        </p:tgtEl>
                                      </p:cBhvr>
                                    </p:animEffect>
                                  </p:childTnLst>
                                </p:cTn>
                              </p:par>
                              <p:par>
                                <p:cTn id="43" presetID="9" presetClass="emph" presetSubtype="0" grpId="1" nodeType="withEffect">
                                  <p:stCondLst>
                                    <p:cond delay="0"/>
                                  </p:stCondLst>
                                  <p:childTnLst>
                                    <p:set>
                                      <p:cBhvr>
                                        <p:cTn id="44" dur="indefinite"/>
                                        <p:tgtEl>
                                          <p:spTgt spid="3">
                                            <p:txEl>
                                              <p:pRg st="4" end="4"/>
                                            </p:txEl>
                                          </p:spTgt>
                                        </p:tgtEl>
                                        <p:attrNameLst>
                                          <p:attrName>style.opacity</p:attrName>
                                        </p:attrNameLst>
                                      </p:cBhvr>
                                      <p:to>
                                        <p:strVal val="0.25"/>
                                      </p:to>
                                    </p:set>
                                    <p:animEffect filter="image" prLst="opacity: 0.25">
                                      <p:cBhvr rctx="IE">
                                        <p:cTn id="45" dur="indefinite"/>
                                        <p:tgtEl>
                                          <p:spTgt spid="3">
                                            <p:txEl>
                                              <p:pRg st="4" end="4"/>
                                            </p:txEl>
                                          </p:spTgt>
                                        </p:tgtEl>
                                      </p:cBhvr>
                                    </p:animEffect>
                                  </p:childTnLst>
                                </p:cTn>
                              </p:par>
                              <p:par>
                                <p:cTn id="46" presetID="9" presetClass="emph" presetSubtype="0" grpId="1" nodeType="withEffect">
                                  <p:stCondLst>
                                    <p:cond delay="0"/>
                                  </p:stCondLst>
                                  <p:childTnLst>
                                    <p:set>
                                      <p:cBhvr>
                                        <p:cTn id="47" dur="indefinite"/>
                                        <p:tgtEl>
                                          <p:spTgt spid="3">
                                            <p:txEl>
                                              <p:pRg st="5" end="5"/>
                                            </p:txEl>
                                          </p:spTgt>
                                        </p:tgtEl>
                                        <p:attrNameLst>
                                          <p:attrName>style.opacity</p:attrName>
                                        </p:attrNameLst>
                                      </p:cBhvr>
                                      <p:to>
                                        <p:strVal val="0.25"/>
                                      </p:to>
                                    </p:set>
                                    <p:animEffect filter="image" prLst="opacity: 0.25">
                                      <p:cBhvr rctx="IE">
                                        <p:cTn id="48" dur="indefinite"/>
                                        <p:tgtEl>
                                          <p:spTgt spid="3">
                                            <p:txEl>
                                              <p:pRg st="5" end="5"/>
                                            </p:txEl>
                                          </p:spTgt>
                                        </p:tgtEl>
                                      </p:cBhvr>
                                    </p:animEffect>
                                  </p:childTnLst>
                                </p:cTn>
                              </p:par>
                              <p:par>
                                <p:cTn id="49" presetID="9" presetClass="emph" presetSubtype="0" grpId="1" nodeType="withEffect">
                                  <p:stCondLst>
                                    <p:cond delay="0"/>
                                  </p:stCondLst>
                                  <p:childTnLst>
                                    <p:set>
                                      <p:cBhvr>
                                        <p:cTn id="50" dur="indefinite"/>
                                        <p:tgtEl>
                                          <p:spTgt spid="3">
                                            <p:txEl>
                                              <p:pRg st="6" end="6"/>
                                            </p:txEl>
                                          </p:spTgt>
                                        </p:tgtEl>
                                        <p:attrNameLst>
                                          <p:attrName>style.opacity</p:attrName>
                                        </p:attrNameLst>
                                      </p:cBhvr>
                                      <p:to>
                                        <p:strVal val="0.25"/>
                                      </p:to>
                                    </p:set>
                                    <p:animEffect filter="image" prLst="opacity: 0.25">
                                      <p:cBhvr rctx="IE">
                                        <p:cTn id="51" dur="indefinite"/>
                                        <p:tgtEl>
                                          <p:spTgt spid="3">
                                            <p:txEl>
                                              <p:pRg st="6" end="6"/>
                                            </p:txEl>
                                          </p:spTgt>
                                        </p:tgtEl>
                                      </p:cBhvr>
                                    </p:animEffect>
                                  </p:childTnLst>
                                </p:cTn>
                              </p:par>
                              <p:par>
                                <p:cTn id="52" presetID="9" presetClass="emph" presetSubtype="0" grpId="1" nodeType="withEffect">
                                  <p:stCondLst>
                                    <p:cond delay="0"/>
                                  </p:stCondLst>
                                  <p:childTnLst>
                                    <p:set>
                                      <p:cBhvr>
                                        <p:cTn id="53" dur="indefinite"/>
                                        <p:tgtEl>
                                          <p:spTgt spid="3">
                                            <p:txEl>
                                              <p:pRg st="7" end="7"/>
                                            </p:txEl>
                                          </p:spTgt>
                                        </p:tgtEl>
                                        <p:attrNameLst>
                                          <p:attrName>style.opacity</p:attrName>
                                        </p:attrNameLst>
                                      </p:cBhvr>
                                      <p:to>
                                        <p:strVal val="0.25"/>
                                      </p:to>
                                    </p:set>
                                    <p:animEffect filter="image" prLst="opacity: 0.25">
                                      <p:cBhvr rctx="IE">
                                        <p:cTn id="54" dur="indefinite"/>
                                        <p:tgtEl>
                                          <p:spTgt spid="3">
                                            <p:txEl>
                                              <p:pRg st="7" end="7"/>
                                            </p:txEl>
                                          </p:spTgt>
                                        </p:tgtEl>
                                      </p:cBhvr>
                                    </p:animEffect>
                                  </p:childTnLst>
                                </p:cTn>
                              </p:par>
                              <p:par>
                                <p:cTn id="55" presetID="9" presetClass="emph" presetSubtype="0" grpId="1" nodeType="withEffect">
                                  <p:stCondLst>
                                    <p:cond delay="0"/>
                                  </p:stCondLst>
                                  <p:childTnLst>
                                    <p:set>
                                      <p:cBhvr>
                                        <p:cTn id="56" dur="indefinite"/>
                                        <p:tgtEl>
                                          <p:spTgt spid="3">
                                            <p:txEl>
                                              <p:pRg st="8" end="8"/>
                                            </p:txEl>
                                          </p:spTgt>
                                        </p:tgtEl>
                                        <p:attrNameLst>
                                          <p:attrName>style.opacity</p:attrName>
                                        </p:attrNameLst>
                                      </p:cBhvr>
                                      <p:to>
                                        <p:strVal val="0.25"/>
                                      </p:to>
                                    </p:set>
                                    <p:animEffect filter="image" prLst="opacity: 0.25">
                                      <p:cBhvr rctx="IE">
                                        <p:cTn id="57" dur="indefinite"/>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F25DB-2115-EE22-0332-428FAC42FE1F}"/>
              </a:ext>
            </a:extLst>
          </p:cNvPr>
          <p:cNvSpPr>
            <a:spLocks noGrp="1"/>
          </p:cNvSpPr>
          <p:nvPr>
            <p:ph type="title"/>
          </p:nvPr>
        </p:nvSpPr>
        <p:spPr/>
        <p:txBody>
          <a:bodyPr/>
          <a:lstStyle/>
          <a:p>
            <a:pPr algn="l"/>
            <a:r>
              <a:rPr lang="en-US" dirty="0"/>
              <a:t>Types of Learning</a:t>
            </a:r>
          </a:p>
        </p:txBody>
      </p:sp>
      <p:sp>
        <p:nvSpPr>
          <p:cNvPr id="3" name="Text Placeholder 2">
            <a:extLst>
              <a:ext uri="{FF2B5EF4-FFF2-40B4-BE49-F238E27FC236}">
                <a16:creationId xmlns:a16="http://schemas.microsoft.com/office/drawing/2014/main" id="{2F78A248-53F2-3D57-229C-673CFF8BEC72}"/>
              </a:ext>
            </a:extLst>
          </p:cNvPr>
          <p:cNvSpPr>
            <a:spLocks noGrp="1"/>
          </p:cNvSpPr>
          <p:nvPr>
            <p:ph type="body" idx="1"/>
          </p:nvPr>
        </p:nvSpPr>
        <p:spPr>
          <a:xfrm>
            <a:off x="609600" y="1309424"/>
            <a:ext cx="5386917" cy="639762"/>
          </a:xfrm>
        </p:spPr>
        <p:txBody>
          <a:bodyPr/>
          <a:lstStyle/>
          <a:p>
            <a:r>
              <a:rPr lang="en-US" dirty="0"/>
              <a:t>Supervised Learning</a:t>
            </a:r>
          </a:p>
        </p:txBody>
      </p:sp>
      <p:sp>
        <p:nvSpPr>
          <p:cNvPr id="4" name="Content Placeholder 3">
            <a:extLst>
              <a:ext uri="{FF2B5EF4-FFF2-40B4-BE49-F238E27FC236}">
                <a16:creationId xmlns:a16="http://schemas.microsoft.com/office/drawing/2014/main" id="{A1FDC404-03DE-1F2A-5473-B4878C4C27C9}"/>
              </a:ext>
            </a:extLst>
          </p:cNvPr>
          <p:cNvSpPr>
            <a:spLocks noGrp="1"/>
          </p:cNvSpPr>
          <p:nvPr>
            <p:ph sz="half" idx="2"/>
          </p:nvPr>
        </p:nvSpPr>
        <p:spPr>
          <a:xfrm>
            <a:off x="609600" y="1949186"/>
            <a:ext cx="5386917" cy="3951288"/>
          </a:xfrm>
        </p:spPr>
        <p:txBody>
          <a:bodyPr anchor="t"/>
          <a:lstStyle/>
          <a:p>
            <a:r>
              <a:rPr lang="en-US" dirty="0"/>
              <a:t>The goal is for the model to produce the desired output based on known examples with information about expected outcomes</a:t>
            </a:r>
          </a:p>
        </p:txBody>
      </p:sp>
      <p:sp>
        <p:nvSpPr>
          <p:cNvPr id="5" name="Text Placeholder 4">
            <a:extLst>
              <a:ext uri="{FF2B5EF4-FFF2-40B4-BE49-F238E27FC236}">
                <a16:creationId xmlns:a16="http://schemas.microsoft.com/office/drawing/2014/main" id="{976A195C-2F27-AE08-F0CA-3F1D10C58D9C}"/>
              </a:ext>
            </a:extLst>
          </p:cNvPr>
          <p:cNvSpPr>
            <a:spLocks noGrp="1"/>
          </p:cNvSpPr>
          <p:nvPr>
            <p:ph type="body" sz="quarter" idx="3"/>
          </p:nvPr>
        </p:nvSpPr>
        <p:spPr>
          <a:xfrm>
            <a:off x="6193368" y="1309424"/>
            <a:ext cx="5389033" cy="639762"/>
          </a:xfrm>
        </p:spPr>
        <p:txBody>
          <a:bodyPr/>
          <a:lstStyle/>
          <a:p>
            <a:r>
              <a:rPr lang="en-US" dirty="0"/>
              <a:t>Unsupervised Learning</a:t>
            </a:r>
          </a:p>
        </p:txBody>
      </p:sp>
      <p:sp>
        <p:nvSpPr>
          <p:cNvPr id="6" name="Content Placeholder 5">
            <a:extLst>
              <a:ext uri="{FF2B5EF4-FFF2-40B4-BE49-F238E27FC236}">
                <a16:creationId xmlns:a16="http://schemas.microsoft.com/office/drawing/2014/main" id="{8BE6A6FA-A96E-BBE9-2303-7C9374961AE6}"/>
              </a:ext>
            </a:extLst>
          </p:cNvPr>
          <p:cNvSpPr>
            <a:spLocks noGrp="1"/>
          </p:cNvSpPr>
          <p:nvPr>
            <p:ph sz="quarter" idx="4"/>
          </p:nvPr>
        </p:nvSpPr>
        <p:spPr>
          <a:xfrm>
            <a:off x="6193368" y="1949186"/>
            <a:ext cx="5389033" cy="3951288"/>
          </a:xfrm>
        </p:spPr>
        <p:txBody>
          <a:bodyPr anchor="t"/>
          <a:lstStyle/>
          <a:p>
            <a:r>
              <a:rPr lang="en-US" dirty="0"/>
              <a:t>The goal is for the model to extract meaningful trends or associations </a:t>
            </a:r>
            <a:br>
              <a:rPr lang="en-US" dirty="0"/>
            </a:br>
            <a:r>
              <a:rPr lang="en-US" dirty="0"/>
              <a:t>in the data without having access to the expected outcomes (or assuming they do not exist)</a:t>
            </a:r>
          </a:p>
        </p:txBody>
      </p:sp>
      <p:grpSp>
        <p:nvGrpSpPr>
          <p:cNvPr id="22" name="Group 21">
            <a:extLst>
              <a:ext uri="{FF2B5EF4-FFF2-40B4-BE49-F238E27FC236}">
                <a16:creationId xmlns:a16="http://schemas.microsoft.com/office/drawing/2014/main" id="{7F534770-A1C9-2DA3-B808-D3F945D45C54}"/>
              </a:ext>
            </a:extLst>
          </p:cNvPr>
          <p:cNvGrpSpPr/>
          <p:nvPr/>
        </p:nvGrpSpPr>
        <p:grpSpPr>
          <a:xfrm>
            <a:off x="612760" y="4211977"/>
            <a:ext cx="1558002" cy="1423986"/>
            <a:chOff x="612760" y="3844927"/>
            <a:chExt cx="1558002" cy="1423986"/>
          </a:xfrm>
        </p:grpSpPr>
        <p:pic>
          <p:nvPicPr>
            <p:cNvPr id="8" name="Graphic 7">
              <a:extLst>
                <a:ext uri="{FF2B5EF4-FFF2-40B4-BE49-F238E27FC236}">
                  <a16:creationId xmlns:a16="http://schemas.microsoft.com/office/drawing/2014/main" id="{8CC5432C-666B-5286-7F6B-0E4B415C96DB}"/>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612760" y="3844927"/>
              <a:ext cx="779001" cy="666749"/>
            </a:xfrm>
            <a:prstGeom prst="rect">
              <a:avLst/>
            </a:prstGeom>
          </p:spPr>
        </p:pic>
        <p:pic>
          <p:nvPicPr>
            <p:cNvPr id="11" name="Graphic 10">
              <a:extLst>
                <a:ext uri="{FF2B5EF4-FFF2-40B4-BE49-F238E27FC236}">
                  <a16:creationId xmlns:a16="http://schemas.microsoft.com/office/drawing/2014/main" id="{4753FB7C-EE5C-A315-98C7-2BC2FC205DD4}"/>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1391761" y="3844927"/>
              <a:ext cx="779001" cy="666749"/>
            </a:xfrm>
            <a:prstGeom prst="rect">
              <a:avLst/>
            </a:prstGeom>
          </p:spPr>
        </p:pic>
        <p:pic>
          <p:nvPicPr>
            <p:cNvPr id="13" name="Graphic 12">
              <a:extLst>
                <a:ext uri="{FF2B5EF4-FFF2-40B4-BE49-F238E27FC236}">
                  <a16:creationId xmlns:a16="http://schemas.microsoft.com/office/drawing/2014/main" id="{88B3139A-1A20-1650-D71E-4995A52BB4AA}"/>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612760" y="4602164"/>
              <a:ext cx="779001" cy="666749"/>
            </a:xfrm>
            <a:prstGeom prst="rect">
              <a:avLst/>
            </a:prstGeom>
          </p:spPr>
        </p:pic>
        <p:pic>
          <p:nvPicPr>
            <p:cNvPr id="14" name="Graphic 13">
              <a:extLst>
                <a:ext uri="{FF2B5EF4-FFF2-40B4-BE49-F238E27FC236}">
                  <a16:creationId xmlns:a16="http://schemas.microsoft.com/office/drawing/2014/main" id="{A61E5DEF-02F3-0EA3-BA44-47F84511C275}"/>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1391761" y="4602164"/>
              <a:ext cx="779001" cy="666749"/>
            </a:xfrm>
            <a:prstGeom prst="rect">
              <a:avLst/>
            </a:prstGeom>
          </p:spPr>
        </p:pic>
      </p:grpSp>
      <p:grpSp>
        <p:nvGrpSpPr>
          <p:cNvPr id="23" name="Group 22">
            <a:extLst>
              <a:ext uri="{FF2B5EF4-FFF2-40B4-BE49-F238E27FC236}">
                <a16:creationId xmlns:a16="http://schemas.microsoft.com/office/drawing/2014/main" id="{F018E71C-86D6-9BC8-9631-0FF7FD4E3388}"/>
              </a:ext>
            </a:extLst>
          </p:cNvPr>
          <p:cNvGrpSpPr/>
          <p:nvPr/>
        </p:nvGrpSpPr>
        <p:grpSpPr>
          <a:xfrm>
            <a:off x="2446025" y="4209788"/>
            <a:ext cx="1511122" cy="1426175"/>
            <a:chOff x="2446025" y="3842738"/>
            <a:chExt cx="1511122" cy="1426175"/>
          </a:xfrm>
        </p:grpSpPr>
        <p:pic>
          <p:nvPicPr>
            <p:cNvPr id="15" name="Graphic 14">
              <a:extLst>
                <a:ext uri="{FF2B5EF4-FFF2-40B4-BE49-F238E27FC236}">
                  <a16:creationId xmlns:a16="http://schemas.microsoft.com/office/drawing/2014/main" id="{ACA0D209-8C7B-ADB7-1ADB-79AC2B79B879}"/>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b="14410"/>
            <a:stretch/>
          </p:blipFill>
          <p:spPr>
            <a:xfrm>
              <a:off x="2446025" y="3842738"/>
              <a:ext cx="779001" cy="666749"/>
            </a:xfrm>
            <a:prstGeom prst="rect">
              <a:avLst/>
            </a:prstGeom>
          </p:spPr>
        </p:pic>
        <p:pic>
          <p:nvPicPr>
            <p:cNvPr id="16" name="Graphic 15">
              <a:extLst>
                <a:ext uri="{FF2B5EF4-FFF2-40B4-BE49-F238E27FC236}">
                  <a16:creationId xmlns:a16="http://schemas.microsoft.com/office/drawing/2014/main" id="{2FAD8ACF-A8EE-F9DB-9E97-BCD1B47E29D0}"/>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b="14410"/>
            <a:stretch/>
          </p:blipFill>
          <p:spPr>
            <a:xfrm>
              <a:off x="2786914" y="4559075"/>
              <a:ext cx="829344" cy="709838"/>
            </a:xfrm>
            <a:prstGeom prst="rect">
              <a:avLst/>
            </a:prstGeom>
          </p:spPr>
        </p:pic>
        <p:pic>
          <p:nvPicPr>
            <p:cNvPr id="17" name="Graphic 16">
              <a:extLst>
                <a:ext uri="{FF2B5EF4-FFF2-40B4-BE49-F238E27FC236}">
                  <a16:creationId xmlns:a16="http://schemas.microsoft.com/office/drawing/2014/main" id="{47F59D7B-E877-848E-EC40-EC33649E4A55}"/>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b="14410"/>
            <a:stretch/>
          </p:blipFill>
          <p:spPr>
            <a:xfrm>
              <a:off x="3178146" y="3848350"/>
              <a:ext cx="779001" cy="666749"/>
            </a:xfrm>
            <a:prstGeom prst="rect">
              <a:avLst/>
            </a:prstGeom>
          </p:spPr>
        </p:pic>
      </p:grpSp>
      <p:sp>
        <p:nvSpPr>
          <p:cNvPr id="19" name="TextBox 18">
            <a:extLst>
              <a:ext uri="{FF2B5EF4-FFF2-40B4-BE49-F238E27FC236}">
                <a16:creationId xmlns:a16="http://schemas.microsoft.com/office/drawing/2014/main" id="{C37D2049-B3D2-345D-EB33-749A23E069D4}"/>
              </a:ext>
            </a:extLst>
          </p:cNvPr>
          <p:cNvSpPr txBox="1"/>
          <p:nvPr/>
        </p:nvSpPr>
        <p:spPr>
          <a:xfrm>
            <a:off x="4629872" y="5689937"/>
            <a:ext cx="554960" cy="1015663"/>
          </a:xfrm>
          <a:prstGeom prst="rect">
            <a:avLst/>
          </a:prstGeom>
          <a:noFill/>
        </p:spPr>
        <p:txBody>
          <a:bodyPr wrap="none" rtlCol="0" anchor="ctr">
            <a:spAutoFit/>
          </a:bodyPr>
          <a:lstStyle/>
          <a:p>
            <a:pPr algn="ctr"/>
            <a:r>
              <a:rPr lang="en-US" sz="6000" dirty="0"/>
              <a:t>?</a:t>
            </a:r>
          </a:p>
        </p:txBody>
      </p:sp>
      <p:pic>
        <p:nvPicPr>
          <p:cNvPr id="21" name="Graphic 20">
            <a:extLst>
              <a:ext uri="{FF2B5EF4-FFF2-40B4-BE49-F238E27FC236}">
                <a16:creationId xmlns:a16="http://schemas.microsoft.com/office/drawing/2014/main" id="{686EFC4E-F0BE-B58E-53B8-21D06534AD62}"/>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4235786" y="4394419"/>
            <a:ext cx="1343132" cy="1149590"/>
          </a:xfrm>
          <a:prstGeom prst="rect">
            <a:avLst/>
          </a:prstGeom>
        </p:spPr>
      </p:pic>
      <p:sp>
        <p:nvSpPr>
          <p:cNvPr id="29" name="TextBox 28">
            <a:extLst>
              <a:ext uri="{FF2B5EF4-FFF2-40B4-BE49-F238E27FC236}">
                <a16:creationId xmlns:a16="http://schemas.microsoft.com/office/drawing/2014/main" id="{DE1522D0-35C4-8E73-CD37-DDF2704F5B9B}"/>
              </a:ext>
            </a:extLst>
          </p:cNvPr>
          <p:cNvSpPr txBox="1"/>
          <p:nvPr/>
        </p:nvSpPr>
        <p:spPr>
          <a:xfrm>
            <a:off x="828755" y="5936158"/>
            <a:ext cx="1350049" cy="523220"/>
          </a:xfrm>
          <a:prstGeom prst="rect">
            <a:avLst/>
          </a:prstGeom>
          <a:noFill/>
        </p:spPr>
        <p:txBody>
          <a:bodyPr wrap="none" rtlCol="0" anchor="ctr">
            <a:spAutoFit/>
          </a:bodyPr>
          <a:lstStyle/>
          <a:p>
            <a:pPr algn="ctr"/>
            <a:r>
              <a:rPr lang="en-US" sz="2800" dirty="0"/>
              <a:t>healthy</a:t>
            </a:r>
          </a:p>
        </p:txBody>
      </p:sp>
      <p:sp>
        <p:nvSpPr>
          <p:cNvPr id="30" name="TextBox 29">
            <a:extLst>
              <a:ext uri="{FF2B5EF4-FFF2-40B4-BE49-F238E27FC236}">
                <a16:creationId xmlns:a16="http://schemas.microsoft.com/office/drawing/2014/main" id="{715B586F-FF4C-482E-A4C5-4433B4AE01B7}"/>
              </a:ext>
            </a:extLst>
          </p:cNvPr>
          <p:cNvSpPr txBox="1"/>
          <p:nvPr/>
        </p:nvSpPr>
        <p:spPr>
          <a:xfrm>
            <a:off x="2812024" y="5936158"/>
            <a:ext cx="769763" cy="523220"/>
          </a:xfrm>
          <a:prstGeom prst="rect">
            <a:avLst/>
          </a:prstGeom>
          <a:noFill/>
        </p:spPr>
        <p:txBody>
          <a:bodyPr wrap="none" rtlCol="0" anchor="ctr">
            <a:spAutoFit/>
          </a:bodyPr>
          <a:lstStyle/>
          <a:p>
            <a:pPr algn="ctr"/>
            <a:r>
              <a:rPr lang="en-US" sz="2800" dirty="0"/>
              <a:t>sick</a:t>
            </a:r>
          </a:p>
        </p:txBody>
      </p:sp>
      <p:sp>
        <p:nvSpPr>
          <p:cNvPr id="31" name="TextBox 30">
            <a:extLst>
              <a:ext uri="{FF2B5EF4-FFF2-40B4-BE49-F238E27FC236}">
                <a16:creationId xmlns:a16="http://schemas.microsoft.com/office/drawing/2014/main" id="{0079A11C-5D2A-47C6-2E2D-0A4CEFB9A6A6}"/>
              </a:ext>
            </a:extLst>
          </p:cNvPr>
          <p:cNvSpPr txBox="1"/>
          <p:nvPr/>
        </p:nvSpPr>
        <p:spPr>
          <a:xfrm>
            <a:off x="6545666" y="5936158"/>
            <a:ext cx="1508683" cy="523220"/>
          </a:xfrm>
          <a:prstGeom prst="rect">
            <a:avLst/>
          </a:prstGeom>
          <a:noFill/>
        </p:spPr>
        <p:txBody>
          <a:bodyPr wrap="none" rtlCol="0" anchor="ctr">
            <a:spAutoFit/>
          </a:bodyPr>
          <a:lstStyle/>
          <a:p>
            <a:pPr algn="ctr"/>
            <a:r>
              <a:rPr lang="en-US" sz="2800" dirty="0"/>
              <a:t>Group 1</a:t>
            </a:r>
          </a:p>
        </p:txBody>
      </p:sp>
      <p:sp>
        <p:nvSpPr>
          <p:cNvPr id="32" name="TextBox 31">
            <a:extLst>
              <a:ext uri="{FF2B5EF4-FFF2-40B4-BE49-F238E27FC236}">
                <a16:creationId xmlns:a16="http://schemas.microsoft.com/office/drawing/2014/main" id="{B4FE10AE-E718-D12D-6A54-5352E97034D4}"/>
              </a:ext>
            </a:extLst>
          </p:cNvPr>
          <p:cNvSpPr txBox="1"/>
          <p:nvPr/>
        </p:nvSpPr>
        <p:spPr>
          <a:xfrm>
            <a:off x="9000419" y="5936158"/>
            <a:ext cx="1508683" cy="523220"/>
          </a:xfrm>
          <a:prstGeom prst="rect">
            <a:avLst/>
          </a:prstGeom>
          <a:noFill/>
        </p:spPr>
        <p:txBody>
          <a:bodyPr wrap="none" rtlCol="0" anchor="ctr">
            <a:spAutoFit/>
          </a:bodyPr>
          <a:lstStyle/>
          <a:p>
            <a:pPr algn="ctr"/>
            <a:r>
              <a:rPr lang="en-US" sz="2800" dirty="0"/>
              <a:t>Group 2</a:t>
            </a:r>
          </a:p>
        </p:txBody>
      </p:sp>
      <p:grpSp>
        <p:nvGrpSpPr>
          <p:cNvPr id="40" name="Group 39">
            <a:extLst>
              <a:ext uri="{FF2B5EF4-FFF2-40B4-BE49-F238E27FC236}">
                <a16:creationId xmlns:a16="http://schemas.microsoft.com/office/drawing/2014/main" id="{F816DBA8-B346-913D-2AA5-9E7FE4FAF381}"/>
              </a:ext>
            </a:extLst>
          </p:cNvPr>
          <p:cNvGrpSpPr/>
          <p:nvPr/>
        </p:nvGrpSpPr>
        <p:grpSpPr>
          <a:xfrm>
            <a:off x="6521007" y="4232275"/>
            <a:ext cx="1608345" cy="1460501"/>
            <a:chOff x="6521007" y="4232275"/>
            <a:chExt cx="1608345" cy="1460501"/>
          </a:xfrm>
        </p:grpSpPr>
        <p:pic>
          <p:nvPicPr>
            <p:cNvPr id="25" name="Graphic 24">
              <a:extLst>
                <a:ext uri="{FF2B5EF4-FFF2-40B4-BE49-F238E27FC236}">
                  <a16:creationId xmlns:a16="http://schemas.microsoft.com/office/drawing/2014/main" id="{C81E7A81-79BE-6974-65E1-AA39015CCC1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6521007" y="4232275"/>
              <a:ext cx="779001" cy="666749"/>
            </a:xfrm>
            <a:prstGeom prst="rect">
              <a:avLst/>
            </a:prstGeom>
          </p:spPr>
        </p:pic>
        <p:pic>
          <p:nvPicPr>
            <p:cNvPr id="26" name="Graphic 25">
              <a:extLst>
                <a:ext uri="{FF2B5EF4-FFF2-40B4-BE49-F238E27FC236}">
                  <a16:creationId xmlns:a16="http://schemas.microsoft.com/office/drawing/2014/main" id="{3D40C34D-64A3-0984-8E50-6ECA23C3998C}"/>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7300008" y="4232275"/>
              <a:ext cx="779001" cy="666749"/>
            </a:xfrm>
            <a:prstGeom prst="rect">
              <a:avLst/>
            </a:prstGeom>
          </p:spPr>
        </p:pic>
        <p:pic>
          <p:nvPicPr>
            <p:cNvPr id="27" name="Graphic 26">
              <a:extLst>
                <a:ext uri="{FF2B5EF4-FFF2-40B4-BE49-F238E27FC236}">
                  <a16:creationId xmlns:a16="http://schemas.microsoft.com/office/drawing/2014/main" id="{6D33DC24-29DA-C6F5-A0BA-3F47D56102BF}"/>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6521007" y="4989512"/>
              <a:ext cx="779001" cy="666749"/>
            </a:xfrm>
            <a:prstGeom prst="rect">
              <a:avLst/>
            </a:prstGeom>
          </p:spPr>
        </p:pic>
        <p:pic>
          <p:nvPicPr>
            <p:cNvPr id="33" name="Graphic 32">
              <a:extLst>
                <a:ext uri="{FF2B5EF4-FFF2-40B4-BE49-F238E27FC236}">
                  <a16:creationId xmlns:a16="http://schemas.microsoft.com/office/drawing/2014/main" id="{B6099A89-7544-2AB6-FCA6-D3F9820293FA}"/>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b="14410"/>
            <a:stretch/>
          </p:blipFill>
          <p:spPr>
            <a:xfrm>
              <a:off x="7300008" y="4982938"/>
              <a:ext cx="829344" cy="709838"/>
            </a:xfrm>
            <a:prstGeom prst="rect">
              <a:avLst/>
            </a:prstGeom>
          </p:spPr>
        </p:pic>
      </p:grpSp>
      <p:grpSp>
        <p:nvGrpSpPr>
          <p:cNvPr id="39" name="Group 38">
            <a:extLst>
              <a:ext uri="{FF2B5EF4-FFF2-40B4-BE49-F238E27FC236}">
                <a16:creationId xmlns:a16="http://schemas.microsoft.com/office/drawing/2014/main" id="{01CD604D-8ABF-A670-AAC6-D1116685DEE5}"/>
              </a:ext>
            </a:extLst>
          </p:cNvPr>
          <p:cNvGrpSpPr/>
          <p:nvPr/>
        </p:nvGrpSpPr>
        <p:grpSpPr>
          <a:xfrm>
            <a:off x="8982852" y="4213037"/>
            <a:ext cx="1511122" cy="1401381"/>
            <a:chOff x="8982852" y="4213037"/>
            <a:chExt cx="1511122" cy="1401381"/>
          </a:xfrm>
        </p:grpSpPr>
        <p:pic>
          <p:nvPicPr>
            <p:cNvPr id="35" name="Graphic 34">
              <a:extLst>
                <a:ext uri="{FF2B5EF4-FFF2-40B4-BE49-F238E27FC236}">
                  <a16:creationId xmlns:a16="http://schemas.microsoft.com/office/drawing/2014/main" id="{FF73F9E3-C2C4-B835-3AE0-EA318448EF04}"/>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b="14410"/>
            <a:stretch/>
          </p:blipFill>
          <p:spPr>
            <a:xfrm>
              <a:off x="8982852" y="4213037"/>
              <a:ext cx="779001" cy="666749"/>
            </a:xfrm>
            <a:prstGeom prst="rect">
              <a:avLst/>
            </a:prstGeom>
          </p:spPr>
        </p:pic>
        <p:pic>
          <p:nvPicPr>
            <p:cNvPr id="37" name="Graphic 36">
              <a:extLst>
                <a:ext uri="{FF2B5EF4-FFF2-40B4-BE49-F238E27FC236}">
                  <a16:creationId xmlns:a16="http://schemas.microsoft.com/office/drawing/2014/main" id="{4D5E2EAC-5BEE-9EDC-2B4A-E1EDF2BBEF73}"/>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b="14410"/>
            <a:stretch/>
          </p:blipFill>
          <p:spPr>
            <a:xfrm>
              <a:off x="9714973" y="4218649"/>
              <a:ext cx="779001" cy="666749"/>
            </a:xfrm>
            <a:prstGeom prst="rect">
              <a:avLst/>
            </a:prstGeom>
          </p:spPr>
        </p:pic>
        <p:pic>
          <p:nvPicPr>
            <p:cNvPr id="38" name="Graphic 37">
              <a:extLst>
                <a:ext uri="{FF2B5EF4-FFF2-40B4-BE49-F238E27FC236}">
                  <a16:creationId xmlns:a16="http://schemas.microsoft.com/office/drawing/2014/main" id="{A85C6E7E-D96E-48A9-E4FB-EAF6B2C9C617}"/>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9365259" y="4947669"/>
              <a:ext cx="779001" cy="666749"/>
            </a:xfrm>
            <a:prstGeom prst="rect">
              <a:avLst/>
            </a:prstGeom>
          </p:spPr>
        </p:pic>
      </p:grpSp>
    </p:spTree>
    <p:extLst>
      <p:ext uri="{BB962C8B-B14F-4D97-AF65-F5344CB8AC3E}">
        <p14:creationId xmlns:p14="http://schemas.microsoft.com/office/powerpoint/2010/main" val="3698061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animEffect transition="in" filter="fade">
                                      <p:cBhvr>
                                        <p:cTn id="39" dur="500"/>
                                        <p:tgtEl>
                                          <p:spTgt spid="6">
                                            <p:txEl>
                                              <p:pRg st="0" end="0"/>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fade">
                                      <p:cBhvr>
                                        <p:cTn id="42" dur="500"/>
                                        <p:tgtEl>
                                          <p:spTgt spid="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childTnLst>
                          </p:cTn>
                        </p:par>
                        <p:par>
                          <p:cTn id="51" fill="hold">
                            <p:stCondLst>
                              <p:cond delay="500"/>
                            </p:stCondLst>
                            <p:childTnLst>
                              <p:par>
                                <p:cTn id="52" presetID="10" presetClass="entr" presetSubtype="0" fill="hold"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500"/>
                                        <p:tgtEl>
                                          <p:spTgt spid="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P spid="19" grpId="0"/>
      <p:bldP spid="29" grpId="0"/>
      <p:bldP spid="30" grpId="0"/>
      <p:bldP spid="31" grpId="0"/>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F25DB-2115-EE22-0332-428FAC42FE1F}"/>
              </a:ext>
            </a:extLst>
          </p:cNvPr>
          <p:cNvSpPr>
            <a:spLocks noGrp="1"/>
          </p:cNvSpPr>
          <p:nvPr>
            <p:ph type="title"/>
          </p:nvPr>
        </p:nvSpPr>
        <p:spPr/>
        <p:txBody>
          <a:bodyPr/>
          <a:lstStyle/>
          <a:p>
            <a:pPr algn="l"/>
            <a:r>
              <a:rPr lang="en-US" dirty="0"/>
              <a:t>Types of Supervised Learning</a:t>
            </a:r>
          </a:p>
        </p:txBody>
      </p:sp>
      <p:sp>
        <p:nvSpPr>
          <p:cNvPr id="3" name="Text Placeholder 2">
            <a:extLst>
              <a:ext uri="{FF2B5EF4-FFF2-40B4-BE49-F238E27FC236}">
                <a16:creationId xmlns:a16="http://schemas.microsoft.com/office/drawing/2014/main" id="{2F78A248-53F2-3D57-229C-673CFF8BEC72}"/>
              </a:ext>
            </a:extLst>
          </p:cNvPr>
          <p:cNvSpPr>
            <a:spLocks noGrp="1"/>
          </p:cNvSpPr>
          <p:nvPr>
            <p:ph type="body" idx="1"/>
          </p:nvPr>
        </p:nvSpPr>
        <p:spPr/>
        <p:txBody>
          <a:bodyPr/>
          <a:lstStyle/>
          <a:p>
            <a:r>
              <a:rPr lang="en-US" dirty="0"/>
              <a:t>Regression</a:t>
            </a:r>
          </a:p>
        </p:txBody>
      </p:sp>
      <p:sp>
        <p:nvSpPr>
          <p:cNvPr id="4" name="Content Placeholder 3">
            <a:extLst>
              <a:ext uri="{FF2B5EF4-FFF2-40B4-BE49-F238E27FC236}">
                <a16:creationId xmlns:a16="http://schemas.microsoft.com/office/drawing/2014/main" id="{A1FDC404-03DE-1F2A-5473-B4878C4C27C9}"/>
              </a:ext>
            </a:extLst>
          </p:cNvPr>
          <p:cNvSpPr>
            <a:spLocks noGrp="1"/>
          </p:cNvSpPr>
          <p:nvPr>
            <p:ph sz="half" idx="2"/>
          </p:nvPr>
        </p:nvSpPr>
        <p:spPr/>
        <p:txBody>
          <a:bodyPr anchor="t"/>
          <a:lstStyle/>
          <a:p>
            <a:r>
              <a:rPr lang="en-US" dirty="0"/>
              <a:t>Questions that can be answered with a continuous output</a:t>
            </a:r>
          </a:p>
          <a:p>
            <a:pPr marL="342900" indent="-342900">
              <a:buFont typeface="Arial" panose="020B0604020202020204" pitchFamily="34" charset="0"/>
              <a:buChar char="•"/>
            </a:pPr>
            <a:r>
              <a:rPr lang="en-US" dirty="0"/>
              <a:t>What will the patient’s heart rate be in one hour?</a:t>
            </a:r>
          </a:p>
          <a:p>
            <a:pPr marL="342900" indent="-342900">
              <a:buFont typeface="Arial" panose="020B0604020202020204" pitchFamily="34" charset="0"/>
              <a:buChar char="•"/>
            </a:pPr>
            <a:r>
              <a:rPr lang="en-US" dirty="0"/>
              <a:t>For how long will the patient experience symptoms?</a:t>
            </a:r>
          </a:p>
        </p:txBody>
      </p:sp>
      <p:sp>
        <p:nvSpPr>
          <p:cNvPr id="5" name="Text Placeholder 4">
            <a:extLst>
              <a:ext uri="{FF2B5EF4-FFF2-40B4-BE49-F238E27FC236}">
                <a16:creationId xmlns:a16="http://schemas.microsoft.com/office/drawing/2014/main" id="{976A195C-2F27-AE08-F0CA-3F1D10C58D9C}"/>
              </a:ext>
            </a:extLst>
          </p:cNvPr>
          <p:cNvSpPr>
            <a:spLocks noGrp="1"/>
          </p:cNvSpPr>
          <p:nvPr>
            <p:ph type="body" sz="quarter" idx="3"/>
          </p:nvPr>
        </p:nvSpPr>
        <p:spPr/>
        <p:txBody>
          <a:bodyPr/>
          <a:lstStyle/>
          <a:p>
            <a:r>
              <a:rPr lang="en-US" dirty="0"/>
              <a:t>Classification</a:t>
            </a:r>
          </a:p>
        </p:txBody>
      </p:sp>
      <p:sp>
        <p:nvSpPr>
          <p:cNvPr id="6" name="Content Placeholder 5">
            <a:extLst>
              <a:ext uri="{FF2B5EF4-FFF2-40B4-BE49-F238E27FC236}">
                <a16:creationId xmlns:a16="http://schemas.microsoft.com/office/drawing/2014/main" id="{8BE6A6FA-A96E-BBE9-2303-7C9374961AE6}"/>
              </a:ext>
            </a:extLst>
          </p:cNvPr>
          <p:cNvSpPr>
            <a:spLocks noGrp="1"/>
          </p:cNvSpPr>
          <p:nvPr>
            <p:ph sz="quarter" idx="4"/>
          </p:nvPr>
        </p:nvSpPr>
        <p:spPr/>
        <p:txBody>
          <a:bodyPr anchor="t"/>
          <a:lstStyle/>
          <a:p>
            <a:r>
              <a:rPr lang="en-US" dirty="0"/>
              <a:t>Questions that can be answered with a categorical answer</a:t>
            </a:r>
          </a:p>
          <a:p>
            <a:pPr marL="342900" indent="-342900">
              <a:buFont typeface="Arial" panose="020B0604020202020204" pitchFamily="34" charset="0"/>
              <a:buChar char="•"/>
            </a:pPr>
            <a:r>
              <a:rPr lang="en-US" dirty="0"/>
              <a:t>Is this person sick or not?</a:t>
            </a:r>
          </a:p>
          <a:p>
            <a:pPr marL="342900" indent="-342900">
              <a:buFont typeface="Arial" panose="020B0604020202020204" pitchFamily="34" charset="0"/>
              <a:buChar char="•"/>
            </a:pPr>
            <a:r>
              <a:rPr lang="en-US" dirty="0"/>
              <a:t>Is this person going to become sick in the future?</a:t>
            </a:r>
          </a:p>
          <a:p>
            <a:pPr marL="342900" indent="-342900">
              <a:buFont typeface="Arial" panose="020B0604020202020204" pitchFamily="34" charset="0"/>
              <a:buChar char="•"/>
            </a:pPr>
            <a:endParaRPr lang="en-US" dirty="0"/>
          </a:p>
        </p:txBody>
      </p:sp>
      <p:pic>
        <p:nvPicPr>
          <p:cNvPr id="24" name="Graphic 23">
            <a:extLst>
              <a:ext uri="{FF2B5EF4-FFF2-40B4-BE49-F238E27FC236}">
                <a16:creationId xmlns:a16="http://schemas.microsoft.com/office/drawing/2014/main" id="{1CE99C21-57F5-7034-FABB-42A1CEBA3E7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8480" y="4654062"/>
            <a:ext cx="3669156" cy="2037250"/>
          </a:xfrm>
          <a:prstGeom prst="rect">
            <a:avLst/>
          </a:prstGeom>
        </p:spPr>
      </p:pic>
      <p:grpSp>
        <p:nvGrpSpPr>
          <p:cNvPr id="44" name="Group 43">
            <a:extLst>
              <a:ext uri="{FF2B5EF4-FFF2-40B4-BE49-F238E27FC236}">
                <a16:creationId xmlns:a16="http://schemas.microsoft.com/office/drawing/2014/main" id="{227A75EC-2F0C-CF76-3F44-015BA2F39ED8}"/>
              </a:ext>
            </a:extLst>
          </p:cNvPr>
          <p:cNvGrpSpPr/>
          <p:nvPr/>
        </p:nvGrpSpPr>
        <p:grpSpPr>
          <a:xfrm>
            <a:off x="7298024" y="4893755"/>
            <a:ext cx="3179720" cy="1557863"/>
            <a:chOff x="228600" y="2720498"/>
            <a:chExt cx="4283246" cy="2098522"/>
          </a:xfrm>
        </p:grpSpPr>
        <p:sp>
          <p:nvSpPr>
            <p:cNvPr id="46" name="Diamond 45">
              <a:extLst>
                <a:ext uri="{FF2B5EF4-FFF2-40B4-BE49-F238E27FC236}">
                  <a16:creationId xmlns:a16="http://schemas.microsoft.com/office/drawing/2014/main" id="{230C1676-CFC0-32D7-33BB-E9E09ECC9227}"/>
                </a:ext>
              </a:extLst>
            </p:cNvPr>
            <p:cNvSpPr>
              <a:spLocks/>
            </p:cNvSpPr>
            <p:nvPr/>
          </p:nvSpPr>
          <p:spPr>
            <a:xfrm>
              <a:off x="1923132" y="2720498"/>
              <a:ext cx="914400" cy="6858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47" name="Diamond 46">
              <a:extLst>
                <a:ext uri="{FF2B5EF4-FFF2-40B4-BE49-F238E27FC236}">
                  <a16:creationId xmlns:a16="http://schemas.microsoft.com/office/drawing/2014/main" id="{CAD3B500-8608-8B3B-69F9-995D08E14074}"/>
                </a:ext>
              </a:extLst>
            </p:cNvPr>
            <p:cNvSpPr>
              <a:spLocks/>
            </p:cNvSpPr>
            <p:nvPr/>
          </p:nvSpPr>
          <p:spPr>
            <a:xfrm>
              <a:off x="772088" y="3454737"/>
              <a:ext cx="914400" cy="6858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48" name="Oval 47">
              <a:extLst>
                <a:ext uri="{FF2B5EF4-FFF2-40B4-BE49-F238E27FC236}">
                  <a16:creationId xmlns:a16="http://schemas.microsoft.com/office/drawing/2014/main" id="{35B722E2-E5CD-CC8F-81EE-EE706EC21669}"/>
                </a:ext>
              </a:extLst>
            </p:cNvPr>
            <p:cNvSpPr>
              <a:spLocks/>
            </p:cNvSpPr>
            <p:nvPr/>
          </p:nvSpPr>
          <p:spPr>
            <a:xfrm>
              <a:off x="228600" y="4247218"/>
              <a:ext cx="576072" cy="5718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49" name="Oval 48">
              <a:extLst>
                <a:ext uri="{FF2B5EF4-FFF2-40B4-BE49-F238E27FC236}">
                  <a16:creationId xmlns:a16="http://schemas.microsoft.com/office/drawing/2014/main" id="{7C4B8440-770E-687D-AAEC-91CA292644B3}"/>
                </a:ext>
              </a:extLst>
            </p:cNvPr>
            <p:cNvSpPr>
              <a:spLocks/>
            </p:cNvSpPr>
            <p:nvPr/>
          </p:nvSpPr>
          <p:spPr>
            <a:xfrm>
              <a:off x="1649774" y="4247218"/>
              <a:ext cx="576072" cy="5718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cxnSp>
          <p:nvCxnSpPr>
            <p:cNvPr id="50" name="Elbow Connector 49">
              <a:extLst>
                <a:ext uri="{FF2B5EF4-FFF2-40B4-BE49-F238E27FC236}">
                  <a16:creationId xmlns:a16="http://schemas.microsoft.com/office/drawing/2014/main" id="{391B39C6-E92C-E752-CAFC-79E74A741E4C}"/>
                </a:ext>
              </a:extLst>
            </p:cNvPr>
            <p:cNvCxnSpPr>
              <a:stCxn id="46" idx="3"/>
              <a:endCxn id="54" idx="0"/>
            </p:cNvCxnSpPr>
            <p:nvPr/>
          </p:nvCxnSpPr>
          <p:spPr>
            <a:xfrm>
              <a:off x="2837532" y="3063398"/>
              <a:ext cx="674735" cy="38631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DA58FDF5-F6A0-75D4-3844-FBBB38E5C5BF}"/>
                </a:ext>
              </a:extLst>
            </p:cNvPr>
            <p:cNvCxnSpPr>
              <a:stCxn id="46" idx="1"/>
              <a:endCxn id="47" idx="0"/>
            </p:cNvCxnSpPr>
            <p:nvPr/>
          </p:nvCxnSpPr>
          <p:spPr>
            <a:xfrm rot="10800000" flipV="1">
              <a:off x="1229288" y="3063397"/>
              <a:ext cx="693844" cy="39133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5A73A2FA-04D7-BE66-FBC5-F2181478FA7A}"/>
                </a:ext>
              </a:extLst>
            </p:cNvPr>
            <p:cNvCxnSpPr>
              <a:stCxn id="47" idx="1"/>
              <a:endCxn id="48" idx="0"/>
            </p:cNvCxnSpPr>
            <p:nvPr/>
          </p:nvCxnSpPr>
          <p:spPr>
            <a:xfrm rot="10800000" flipV="1">
              <a:off x="516636" y="3797636"/>
              <a:ext cx="255452" cy="449581"/>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018D4AD2-DC17-F19B-A451-A344ABDA2CAE}"/>
                </a:ext>
              </a:extLst>
            </p:cNvPr>
            <p:cNvCxnSpPr>
              <a:stCxn id="47" idx="3"/>
              <a:endCxn id="49" idx="0"/>
            </p:cNvCxnSpPr>
            <p:nvPr/>
          </p:nvCxnSpPr>
          <p:spPr>
            <a:xfrm>
              <a:off x="1686488" y="3797637"/>
              <a:ext cx="251322" cy="449581"/>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Diamond 53">
              <a:extLst>
                <a:ext uri="{FF2B5EF4-FFF2-40B4-BE49-F238E27FC236}">
                  <a16:creationId xmlns:a16="http://schemas.microsoft.com/office/drawing/2014/main" id="{352990E4-83DF-556C-C479-696932A1E385}"/>
                </a:ext>
              </a:extLst>
            </p:cNvPr>
            <p:cNvSpPr>
              <a:spLocks/>
            </p:cNvSpPr>
            <p:nvPr/>
          </p:nvSpPr>
          <p:spPr>
            <a:xfrm>
              <a:off x="3055067" y="3449713"/>
              <a:ext cx="914400" cy="6858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55" name="Oval 54">
              <a:extLst>
                <a:ext uri="{FF2B5EF4-FFF2-40B4-BE49-F238E27FC236}">
                  <a16:creationId xmlns:a16="http://schemas.microsoft.com/office/drawing/2014/main" id="{A2592EAA-8468-3590-E61F-DCE132D676AF}"/>
                </a:ext>
              </a:extLst>
            </p:cNvPr>
            <p:cNvSpPr>
              <a:spLocks/>
            </p:cNvSpPr>
            <p:nvPr/>
          </p:nvSpPr>
          <p:spPr>
            <a:xfrm>
              <a:off x="2511251" y="4232218"/>
              <a:ext cx="576072" cy="5718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56" name="Oval 55">
              <a:extLst>
                <a:ext uri="{FF2B5EF4-FFF2-40B4-BE49-F238E27FC236}">
                  <a16:creationId xmlns:a16="http://schemas.microsoft.com/office/drawing/2014/main" id="{A8108329-3E83-6E4D-C8B2-6D7B536B071B}"/>
                </a:ext>
              </a:extLst>
            </p:cNvPr>
            <p:cNvSpPr>
              <a:spLocks/>
            </p:cNvSpPr>
            <p:nvPr/>
          </p:nvSpPr>
          <p:spPr>
            <a:xfrm>
              <a:off x="3935774" y="4235927"/>
              <a:ext cx="576072" cy="5718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cxnSp>
          <p:nvCxnSpPr>
            <p:cNvPr id="57" name="Elbow Connector 56">
              <a:extLst>
                <a:ext uri="{FF2B5EF4-FFF2-40B4-BE49-F238E27FC236}">
                  <a16:creationId xmlns:a16="http://schemas.microsoft.com/office/drawing/2014/main" id="{4A94BD97-A81C-D6B9-E5D6-6F3595C47BB0}"/>
                </a:ext>
              </a:extLst>
            </p:cNvPr>
            <p:cNvCxnSpPr>
              <a:stCxn id="54" idx="1"/>
              <a:endCxn id="55" idx="0"/>
            </p:cNvCxnSpPr>
            <p:nvPr/>
          </p:nvCxnSpPr>
          <p:spPr>
            <a:xfrm rot="10800000" flipV="1">
              <a:off x="2799287" y="3792612"/>
              <a:ext cx="255780" cy="43960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Elbow Connector 57">
              <a:extLst>
                <a:ext uri="{FF2B5EF4-FFF2-40B4-BE49-F238E27FC236}">
                  <a16:creationId xmlns:a16="http://schemas.microsoft.com/office/drawing/2014/main" id="{84FA308B-9ED9-0E36-CAD8-839E380A1933}"/>
                </a:ext>
              </a:extLst>
            </p:cNvPr>
            <p:cNvCxnSpPr>
              <a:stCxn id="54" idx="3"/>
              <a:endCxn id="56" idx="0"/>
            </p:cNvCxnSpPr>
            <p:nvPr/>
          </p:nvCxnSpPr>
          <p:spPr>
            <a:xfrm>
              <a:off x="3969467" y="3792613"/>
              <a:ext cx="254343" cy="44331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0556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500"/>
                                        <p:tgtEl>
                                          <p:spTgt spid="4">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500"/>
                                        <p:tgtEl>
                                          <p:spTgt spid="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500"/>
                                        <p:tgtEl>
                                          <p:spTgt spid="5">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500"/>
                                        <p:tgtEl>
                                          <p:spTgt spid="6">
                                            <p:txEl>
                                              <p:pRg st="0" end="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Effect transition="in" filter="fade">
                                      <p:cBhvr>
                                        <p:cTn id="37" dur="500"/>
                                        <p:tgtEl>
                                          <p:spTgt spid="6">
                                            <p:txEl>
                                              <p:pRg st="1" end="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Effect transition="in" filter="fade">
                                      <p:cBhvr>
                                        <p:cTn id="40"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F25DB-2115-EE22-0332-428FAC42FE1F}"/>
              </a:ext>
            </a:extLst>
          </p:cNvPr>
          <p:cNvSpPr>
            <a:spLocks noGrp="1"/>
          </p:cNvSpPr>
          <p:nvPr>
            <p:ph type="title"/>
          </p:nvPr>
        </p:nvSpPr>
        <p:spPr/>
        <p:txBody>
          <a:bodyPr/>
          <a:lstStyle/>
          <a:p>
            <a:pPr algn="l"/>
            <a:r>
              <a:rPr lang="en-US" dirty="0"/>
              <a:t>Example of Unsupervised Learning</a:t>
            </a:r>
          </a:p>
        </p:txBody>
      </p:sp>
      <p:sp>
        <p:nvSpPr>
          <p:cNvPr id="3" name="Text Placeholder 2">
            <a:extLst>
              <a:ext uri="{FF2B5EF4-FFF2-40B4-BE49-F238E27FC236}">
                <a16:creationId xmlns:a16="http://schemas.microsoft.com/office/drawing/2014/main" id="{2F78A248-53F2-3D57-229C-673CFF8BEC72}"/>
              </a:ext>
            </a:extLst>
          </p:cNvPr>
          <p:cNvSpPr>
            <a:spLocks noGrp="1"/>
          </p:cNvSpPr>
          <p:nvPr>
            <p:ph type="body" idx="1"/>
          </p:nvPr>
        </p:nvSpPr>
        <p:spPr/>
        <p:txBody>
          <a:bodyPr/>
          <a:lstStyle/>
          <a:p>
            <a:r>
              <a:rPr lang="en-US" dirty="0"/>
              <a:t>Clustering</a:t>
            </a:r>
          </a:p>
        </p:txBody>
      </p:sp>
      <p:sp>
        <p:nvSpPr>
          <p:cNvPr id="4" name="Content Placeholder 3">
            <a:extLst>
              <a:ext uri="{FF2B5EF4-FFF2-40B4-BE49-F238E27FC236}">
                <a16:creationId xmlns:a16="http://schemas.microsoft.com/office/drawing/2014/main" id="{A1FDC404-03DE-1F2A-5473-B4878C4C27C9}"/>
              </a:ext>
            </a:extLst>
          </p:cNvPr>
          <p:cNvSpPr>
            <a:spLocks noGrp="1"/>
          </p:cNvSpPr>
          <p:nvPr>
            <p:ph sz="half" idx="2"/>
          </p:nvPr>
        </p:nvSpPr>
        <p:spPr/>
        <p:txBody>
          <a:bodyPr anchor="t"/>
          <a:lstStyle/>
          <a:p>
            <a:pPr>
              <a:spcAft>
                <a:spcPts val="1800"/>
              </a:spcAft>
            </a:pPr>
            <a:r>
              <a:rPr lang="en-US" dirty="0"/>
              <a:t>Segregates the data into groups such that samples in the same group are more similar to other samples in the same group and dissimilar to samples in other groups</a:t>
            </a:r>
          </a:p>
          <a:p>
            <a:r>
              <a:rPr lang="en-US" dirty="0"/>
              <a:t>Since the clusters do not depend on outcomes of interest, the groups may or may not be related to meaningful distinctions in the data</a:t>
            </a:r>
          </a:p>
        </p:txBody>
      </p:sp>
      <p:grpSp>
        <p:nvGrpSpPr>
          <p:cNvPr id="11" name="Group 10">
            <a:extLst>
              <a:ext uri="{FF2B5EF4-FFF2-40B4-BE49-F238E27FC236}">
                <a16:creationId xmlns:a16="http://schemas.microsoft.com/office/drawing/2014/main" id="{27FCCD08-E017-3D69-D9A4-DD5435D19C5B}"/>
              </a:ext>
            </a:extLst>
          </p:cNvPr>
          <p:cNvGrpSpPr/>
          <p:nvPr/>
        </p:nvGrpSpPr>
        <p:grpSpPr>
          <a:xfrm>
            <a:off x="6447518" y="4810360"/>
            <a:ext cx="5412181" cy="461665"/>
            <a:chOff x="1066800" y="5331767"/>
            <a:chExt cx="7429152" cy="461665"/>
          </a:xfrm>
        </p:grpSpPr>
        <p:cxnSp>
          <p:nvCxnSpPr>
            <p:cNvPr id="12" name="Straight Connector 11">
              <a:extLst>
                <a:ext uri="{FF2B5EF4-FFF2-40B4-BE49-F238E27FC236}">
                  <a16:creationId xmlns:a16="http://schemas.microsoft.com/office/drawing/2014/main" id="{19B85FD0-925B-BB09-380E-803F6CF2827F}"/>
                </a:ext>
              </a:extLst>
            </p:cNvPr>
            <p:cNvCxnSpPr/>
            <p:nvPr/>
          </p:nvCxnSpPr>
          <p:spPr>
            <a:xfrm flipH="1">
              <a:off x="1066800" y="5562600"/>
              <a:ext cx="6781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F46D487-A4CD-9DB4-4612-04A47863CB82}"/>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1</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a:blip r:embed="rId3"/>
                  <a:stretch>
                    <a:fillRect l="-5263"/>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CF68A261-F8B0-E5CD-28C6-5B28B751F6FF}"/>
              </a:ext>
            </a:extLst>
          </p:cNvPr>
          <p:cNvGrpSpPr/>
          <p:nvPr/>
        </p:nvGrpSpPr>
        <p:grpSpPr>
          <a:xfrm>
            <a:off x="5983817" y="2009381"/>
            <a:ext cx="933248" cy="3044929"/>
            <a:chOff x="4105376" y="1980618"/>
            <a:chExt cx="933248" cy="4496382"/>
          </a:xfrm>
        </p:grpSpPr>
        <p:cxnSp>
          <p:nvCxnSpPr>
            <p:cNvPr id="15" name="Straight Connector 14">
              <a:extLst>
                <a:ext uri="{FF2B5EF4-FFF2-40B4-BE49-F238E27FC236}">
                  <a16:creationId xmlns:a16="http://schemas.microsoft.com/office/drawing/2014/main" id="{12C91E52-7192-70DE-5E17-8C46AC10C393}"/>
                </a:ext>
              </a:extLst>
            </p:cNvPr>
            <p:cNvCxnSpPr/>
            <p:nvPr/>
          </p:nvCxnSpPr>
          <p:spPr>
            <a:xfrm>
              <a:off x="4572000" y="2662347"/>
              <a:ext cx="0" cy="38146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D221104-F353-8508-F6F6-497144F8F82E}"/>
                    </a:ext>
                  </a:extLst>
                </p:cNvPr>
                <p:cNvSpPr txBox="1"/>
                <p:nvPr/>
              </p:nvSpPr>
              <p:spPr>
                <a:xfrm>
                  <a:off x="4105376" y="1980618"/>
                  <a:ext cx="933248" cy="6817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2</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105376" y="1980618"/>
                  <a:ext cx="933248" cy="681731"/>
                </a:xfrm>
                <a:prstGeom prst="rect">
                  <a:avLst/>
                </a:prstGeom>
                <a:blipFill>
                  <a:blip r:embed="rId4"/>
                  <a:stretch>
                    <a:fillRect/>
                  </a:stretch>
                </a:blipFill>
              </p:spPr>
              <p:txBody>
                <a:bodyPr/>
                <a:lstStyle/>
                <a:p>
                  <a:r>
                    <a:rPr lang="en-US">
                      <a:noFill/>
                    </a:rPr>
                    <a:t> </a:t>
                  </a:r>
                </a:p>
              </p:txBody>
            </p:sp>
          </mc:Fallback>
        </mc:AlternateContent>
      </p:grpSp>
      <p:grpSp>
        <p:nvGrpSpPr>
          <p:cNvPr id="18" name="Group 17">
            <a:extLst>
              <a:ext uri="{FF2B5EF4-FFF2-40B4-BE49-F238E27FC236}">
                <a16:creationId xmlns:a16="http://schemas.microsoft.com/office/drawing/2014/main" id="{D33BD7D9-0977-FE17-5CD5-9AD62556B459}"/>
              </a:ext>
            </a:extLst>
          </p:cNvPr>
          <p:cNvGrpSpPr/>
          <p:nvPr/>
        </p:nvGrpSpPr>
        <p:grpSpPr>
          <a:xfrm>
            <a:off x="6988628" y="2896709"/>
            <a:ext cx="1088572" cy="1843010"/>
            <a:chOff x="4343400" y="4121567"/>
            <a:chExt cx="1088572" cy="1843010"/>
          </a:xfrm>
          <a:solidFill>
            <a:srgbClr val="00B050"/>
          </a:solidFill>
        </p:grpSpPr>
        <p:sp>
          <p:nvSpPr>
            <p:cNvPr id="19" name="Oval 18">
              <a:extLst>
                <a:ext uri="{FF2B5EF4-FFF2-40B4-BE49-F238E27FC236}">
                  <a16:creationId xmlns:a16="http://schemas.microsoft.com/office/drawing/2014/main" id="{516036CD-5272-23FA-F398-F1DEC9A4217A}"/>
                </a:ext>
              </a:extLst>
            </p:cNvPr>
            <p:cNvSpPr/>
            <p:nvPr/>
          </p:nvSpPr>
          <p:spPr>
            <a:xfrm>
              <a:off x="4898572" y="5111058"/>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0" name="Oval 19">
              <a:extLst>
                <a:ext uri="{FF2B5EF4-FFF2-40B4-BE49-F238E27FC236}">
                  <a16:creationId xmlns:a16="http://schemas.microsoft.com/office/drawing/2014/main" id="{8CB103C2-2C12-FAF6-8B23-D87D0682EE7E}"/>
                </a:ext>
              </a:extLst>
            </p:cNvPr>
            <p:cNvSpPr/>
            <p:nvPr/>
          </p:nvSpPr>
          <p:spPr>
            <a:xfrm>
              <a:off x="4343400" y="4815284"/>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1" name="Oval 20">
              <a:extLst>
                <a:ext uri="{FF2B5EF4-FFF2-40B4-BE49-F238E27FC236}">
                  <a16:creationId xmlns:a16="http://schemas.microsoft.com/office/drawing/2014/main" id="{B578C93E-14E6-B937-640C-B2033B11FCAB}"/>
                </a:ext>
              </a:extLst>
            </p:cNvPr>
            <p:cNvSpPr/>
            <p:nvPr/>
          </p:nvSpPr>
          <p:spPr>
            <a:xfrm>
              <a:off x="4489037" y="4121567"/>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2" name="Oval 21">
              <a:extLst>
                <a:ext uri="{FF2B5EF4-FFF2-40B4-BE49-F238E27FC236}">
                  <a16:creationId xmlns:a16="http://schemas.microsoft.com/office/drawing/2014/main" id="{06E36B43-EC3F-AA38-8E1F-3FD67A2F8A4A}"/>
                </a:ext>
              </a:extLst>
            </p:cNvPr>
            <p:cNvSpPr/>
            <p:nvPr/>
          </p:nvSpPr>
          <p:spPr>
            <a:xfrm>
              <a:off x="4593772" y="5492058"/>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3" name="Oval 22">
              <a:extLst>
                <a:ext uri="{FF2B5EF4-FFF2-40B4-BE49-F238E27FC236}">
                  <a16:creationId xmlns:a16="http://schemas.microsoft.com/office/drawing/2014/main" id="{1E8E5817-7A34-0592-D4E9-9C6819807D54}"/>
                </a:ext>
              </a:extLst>
            </p:cNvPr>
            <p:cNvSpPr/>
            <p:nvPr/>
          </p:nvSpPr>
          <p:spPr>
            <a:xfrm>
              <a:off x="4898572" y="4577658"/>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4" name="Oval 23">
              <a:extLst>
                <a:ext uri="{FF2B5EF4-FFF2-40B4-BE49-F238E27FC236}">
                  <a16:creationId xmlns:a16="http://schemas.microsoft.com/office/drawing/2014/main" id="{D3A722C4-5D40-3E2F-0FB2-48CFB1D133E7}"/>
                </a:ext>
              </a:extLst>
            </p:cNvPr>
            <p:cNvSpPr/>
            <p:nvPr/>
          </p:nvSpPr>
          <p:spPr>
            <a:xfrm>
              <a:off x="5203372" y="5735977"/>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25" name="Group 24">
            <a:extLst>
              <a:ext uri="{FF2B5EF4-FFF2-40B4-BE49-F238E27FC236}">
                <a16:creationId xmlns:a16="http://schemas.microsoft.com/office/drawing/2014/main" id="{60F7D228-3946-C5F9-2189-D07D89DA4E99}"/>
              </a:ext>
            </a:extLst>
          </p:cNvPr>
          <p:cNvGrpSpPr/>
          <p:nvPr/>
        </p:nvGrpSpPr>
        <p:grpSpPr>
          <a:xfrm>
            <a:off x="8382000" y="2497104"/>
            <a:ext cx="1898426" cy="1160496"/>
            <a:chOff x="1875916" y="4009343"/>
            <a:chExt cx="1898426" cy="1160496"/>
          </a:xfrm>
          <a:solidFill>
            <a:srgbClr val="FF0000"/>
          </a:solidFill>
        </p:grpSpPr>
        <p:sp>
          <p:nvSpPr>
            <p:cNvPr id="26" name="Triangle 25">
              <a:extLst>
                <a:ext uri="{FF2B5EF4-FFF2-40B4-BE49-F238E27FC236}">
                  <a16:creationId xmlns:a16="http://schemas.microsoft.com/office/drawing/2014/main" id="{9A2C359E-0D0B-527B-6EC8-676569358915}"/>
                </a:ext>
              </a:extLst>
            </p:cNvPr>
            <p:cNvSpPr/>
            <p:nvPr/>
          </p:nvSpPr>
          <p:spPr>
            <a:xfrm>
              <a:off x="2231326" y="4435738"/>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7" name="Triangle 26">
              <a:extLst>
                <a:ext uri="{FF2B5EF4-FFF2-40B4-BE49-F238E27FC236}">
                  <a16:creationId xmlns:a16="http://schemas.microsoft.com/office/drawing/2014/main" id="{2530AEEC-5220-2455-8D7A-FDC94D2815F5}"/>
                </a:ext>
              </a:extLst>
            </p:cNvPr>
            <p:cNvSpPr/>
            <p:nvPr/>
          </p:nvSpPr>
          <p:spPr>
            <a:xfrm>
              <a:off x="2716524" y="4009343"/>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8" name="Triangle 27">
              <a:extLst>
                <a:ext uri="{FF2B5EF4-FFF2-40B4-BE49-F238E27FC236}">
                  <a16:creationId xmlns:a16="http://schemas.microsoft.com/office/drawing/2014/main" id="{500EE750-665F-4511-F89B-78965DB56E70}"/>
                </a:ext>
              </a:extLst>
            </p:cNvPr>
            <p:cNvSpPr/>
            <p:nvPr/>
          </p:nvSpPr>
          <p:spPr>
            <a:xfrm>
              <a:off x="2901296" y="4687544"/>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9" name="Triangle 28">
              <a:extLst>
                <a:ext uri="{FF2B5EF4-FFF2-40B4-BE49-F238E27FC236}">
                  <a16:creationId xmlns:a16="http://schemas.microsoft.com/office/drawing/2014/main" id="{8F6CF7B3-AFF9-06A3-9996-D13CD0695969}"/>
                </a:ext>
              </a:extLst>
            </p:cNvPr>
            <p:cNvSpPr/>
            <p:nvPr/>
          </p:nvSpPr>
          <p:spPr>
            <a:xfrm>
              <a:off x="1875916" y="4026839"/>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0" name="Triangle 29">
              <a:extLst>
                <a:ext uri="{FF2B5EF4-FFF2-40B4-BE49-F238E27FC236}">
                  <a16:creationId xmlns:a16="http://schemas.microsoft.com/office/drawing/2014/main" id="{1ABF4AF4-C0CA-1F8F-9B5B-568CDAE23C60}"/>
                </a:ext>
              </a:extLst>
            </p:cNvPr>
            <p:cNvSpPr/>
            <p:nvPr/>
          </p:nvSpPr>
          <p:spPr>
            <a:xfrm>
              <a:off x="2180716" y="4941239"/>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1" name="Triangle 30">
              <a:extLst>
                <a:ext uri="{FF2B5EF4-FFF2-40B4-BE49-F238E27FC236}">
                  <a16:creationId xmlns:a16="http://schemas.microsoft.com/office/drawing/2014/main" id="{AF3004E4-3128-E2B2-3877-11940D9FC8B5}"/>
                </a:ext>
              </a:extLst>
            </p:cNvPr>
            <p:cNvSpPr/>
            <p:nvPr/>
          </p:nvSpPr>
          <p:spPr>
            <a:xfrm>
              <a:off x="3509167" y="4101553"/>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35" name="Group 34">
            <a:extLst>
              <a:ext uri="{FF2B5EF4-FFF2-40B4-BE49-F238E27FC236}">
                <a16:creationId xmlns:a16="http://schemas.microsoft.com/office/drawing/2014/main" id="{E9D4A1A6-D9D8-1CE6-6F61-B45FE6F41AFA}"/>
              </a:ext>
            </a:extLst>
          </p:cNvPr>
          <p:cNvGrpSpPr/>
          <p:nvPr/>
        </p:nvGrpSpPr>
        <p:grpSpPr>
          <a:xfrm>
            <a:off x="10232880" y="3913391"/>
            <a:ext cx="760738" cy="811009"/>
            <a:chOff x="4343400" y="4121567"/>
            <a:chExt cx="760738" cy="811009"/>
          </a:xfrm>
          <a:solidFill>
            <a:srgbClr val="00B050"/>
          </a:solidFill>
        </p:grpSpPr>
        <p:sp>
          <p:nvSpPr>
            <p:cNvPr id="36" name="Oval 35">
              <a:extLst>
                <a:ext uri="{FF2B5EF4-FFF2-40B4-BE49-F238E27FC236}">
                  <a16:creationId xmlns:a16="http://schemas.microsoft.com/office/drawing/2014/main" id="{88BF079A-0188-A41F-7818-EFD92C88AB79}"/>
                </a:ext>
              </a:extLst>
            </p:cNvPr>
            <p:cNvSpPr/>
            <p:nvPr/>
          </p:nvSpPr>
          <p:spPr>
            <a:xfrm>
              <a:off x="4875538" y="4577621"/>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7" name="Oval 36">
              <a:extLst>
                <a:ext uri="{FF2B5EF4-FFF2-40B4-BE49-F238E27FC236}">
                  <a16:creationId xmlns:a16="http://schemas.microsoft.com/office/drawing/2014/main" id="{51B2E7B7-1FB6-5FBD-E580-3115356154E5}"/>
                </a:ext>
              </a:extLst>
            </p:cNvPr>
            <p:cNvSpPr/>
            <p:nvPr/>
          </p:nvSpPr>
          <p:spPr>
            <a:xfrm>
              <a:off x="4343400" y="4703976"/>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8" name="Oval 37">
              <a:extLst>
                <a:ext uri="{FF2B5EF4-FFF2-40B4-BE49-F238E27FC236}">
                  <a16:creationId xmlns:a16="http://schemas.microsoft.com/office/drawing/2014/main" id="{2E243BE7-B8A1-7D6F-74FA-C56AAD58A19D}"/>
                </a:ext>
              </a:extLst>
            </p:cNvPr>
            <p:cNvSpPr/>
            <p:nvPr/>
          </p:nvSpPr>
          <p:spPr>
            <a:xfrm>
              <a:off x="4489037" y="4121567"/>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sp>
        <p:nvSpPr>
          <p:cNvPr id="42" name="Freeform 41">
            <a:extLst>
              <a:ext uri="{FF2B5EF4-FFF2-40B4-BE49-F238E27FC236}">
                <a16:creationId xmlns:a16="http://schemas.microsoft.com/office/drawing/2014/main" id="{B2AF966A-7D37-27E7-33DB-EF870107485C}"/>
              </a:ext>
            </a:extLst>
          </p:cNvPr>
          <p:cNvSpPr/>
          <p:nvPr/>
        </p:nvSpPr>
        <p:spPr>
          <a:xfrm>
            <a:off x="8190497" y="2250892"/>
            <a:ext cx="2268531" cy="1662496"/>
          </a:xfrm>
          <a:custGeom>
            <a:avLst/>
            <a:gdLst>
              <a:gd name="connsiteX0" fmla="*/ 229603 w 2268531"/>
              <a:gd name="connsiteY0" fmla="*/ 162051 h 2075374"/>
              <a:gd name="connsiteX1" fmla="*/ 2198103 w 2268531"/>
              <a:gd name="connsiteY1" fmla="*/ 250951 h 2075374"/>
              <a:gd name="connsiteX2" fmla="*/ 1677403 w 2268531"/>
              <a:gd name="connsiteY2" fmla="*/ 1965451 h 2075374"/>
              <a:gd name="connsiteX3" fmla="*/ 204203 w 2268531"/>
              <a:gd name="connsiteY3" fmla="*/ 1711451 h 2075374"/>
              <a:gd name="connsiteX4" fmla="*/ 229603 w 2268531"/>
              <a:gd name="connsiteY4" fmla="*/ 162051 h 20753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8531" h="2075374">
                <a:moveTo>
                  <a:pt x="229603" y="162051"/>
                </a:moveTo>
                <a:cubicBezTo>
                  <a:pt x="561920" y="-81366"/>
                  <a:pt x="1956803" y="-49616"/>
                  <a:pt x="2198103" y="250951"/>
                </a:cubicBezTo>
                <a:cubicBezTo>
                  <a:pt x="2439403" y="551518"/>
                  <a:pt x="2009720" y="1722034"/>
                  <a:pt x="1677403" y="1965451"/>
                </a:cubicBezTo>
                <a:cubicBezTo>
                  <a:pt x="1345086" y="2208868"/>
                  <a:pt x="449736" y="2014134"/>
                  <a:pt x="204203" y="1711451"/>
                </a:cubicBezTo>
                <a:cubicBezTo>
                  <a:pt x="-41330" y="1408768"/>
                  <a:pt x="-102714" y="405468"/>
                  <a:pt x="229603" y="162051"/>
                </a:cubicBezTo>
                <a:close/>
              </a:path>
            </a:pathLst>
          </a:cu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a:extLst>
              <a:ext uri="{FF2B5EF4-FFF2-40B4-BE49-F238E27FC236}">
                <a16:creationId xmlns:a16="http://schemas.microsoft.com/office/drawing/2014/main" id="{627CD905-4A42-6DB2-C19F-AD756FDBAC75}"/>
              </a:ext>
            </a:extLst>
          </p:cNvPr>
          <p:cNvSpPr/>
          <p:nvPr/>
        </p:nvSpPr>
        <p:spPr>
          <a:xfrm>
            <a:off x="6802517" y="2791066"/>
            <a:ext cx="1423923" cy="2139181"/>
          </a:xfrm>
          <a:custGeom>
            <a:avLst/>
            <a:gdLst>
              <a:gd name="connsiteX0" fmla="*/ 229603 w 2268531"/>
              <a:gd name="connsiteY0" fmla="*/ 162051 h 2075374"/>
              <a:gd name="connsiteX1" fmla="*/ 2198103 w 2268531"/>
              <a:gd name="connsiteY1" fmla="*/ 250951 h 2075374"/>
              <a:gd name="connsiteX2" fmla="*/ 1677403 w 2268531"/>
              <a:gd name="connsiteY2" fmla="*/ 1965451 h 2075374"/>
              <a:gd name="connsiteX3" fmla="*/ 204203 w 2268531"/>
              <a:gd name="connsiteY3" fmla="*/ 1711451 h 2075374"/>
              <a:gd name="connsiteX4" fmla="*/ 229603 w 2268531"/>
              <a:gd name="connsiteY4" fmla="*/ 162051 h 2075374"/>
              <a:gd name="connsiteX0" fmla="*/ 189741 w 1806057"/>
              <a:gd name="connsiteY0" fmla="*/ 71352 h 1984675"/>
              <a:gd name="connsiteX1" fmla="*/ 1507083 w 1806057"/>
              <a:gd name="connsiteY1" fmla="*/ 423835 h 1984675"/>
              <a:gd name="connsiteX2" fmla="*/ 1637541 w 1806057"/>
              <a:gd name="connsiteY2" fmla="*/ 1874752 h 1984675"/>
              <a:gd name="connsiteX3" fmla="*/ 164341 w 1806057"/>
              <a:gd name="connsiteY3" fmla="*/ 1620752 h 1984675"/>
              <a:gd name="connsiteX4" fmla="*/ 189741 w 1806057"/>
              <a:gd name="connsiteY4" fmla="*/ 71352 h 1984675"/>
              <a:gd name="connsiteX0" fmla="*/ 232183 w 1763719"/>
              <a:gd name="connsiteY0" fmla="*/ 82675 h 1917746"/>
              <a:gd name="connsiteX1" fmla="*/ 1468130 w 1763719"/>
              <a:gd name="connsiteY1" fmla="*/ 359848 h 1917746"/>
              <a:gd name="connsiteX2" fmla="*/ 1598588 w 1763719"/>
              <a:gd name="connsiteY2" fmla="*/ 1810765 h 1917746"/>
              <a:gd name="connsiteX3" fmla="*/ 125388 w 1763719"/>
              <a:gd name="connsiteY3" fmla="*/ 1556765 h 1917746"/>
              <a:gd name="connsiteX4" fmla="*/ 232183 w 1763719"/>
              <a:gd name="connsiteY4" fmla="*/ 82675 h 1917746"/>
              <a:gd name="connsiteX0" fmla="*/ 242857 w 1890315"/>
              <a:gd name="connsiteY0" fmla="*/ 89719 h 2118925"/>
              <a:gd name="connsiteX1" fmla="*/ 1478804 w 1890315"/>
              <a:gd name="connsiteY1" fmla="*/ 366892 h 2118925"/>
              <a:gd name="connsiteX2" fmla="*/ 1755772 w 1890315"/>
              <a:gd name="connsiteY2" fmla="*/ 2043737 h 2118925"/>
              <a:gd name="connsiteX3" fmla="*/ 136062 w 1890315"/>
              <a:gd name="connsiteY3" fmla="*/ 1563809 h 2118925"/>
              <a:gd name="connsiteX4" fmla="*/ 242857 w 1890315"/>
              <a:gd name="connsiteY4" fmla="*/ 89719 h 2118925"/>
              <a:gd name="connsiteX0" fmla="*/ 177736 w 1825195"/>
              <a:gd name="connsiteY0" fmla="*/ 87868 h 2114181"/>
              <a:gd name="connsiteX1" fmla="*/ 1413683 w 1825195"/>
              <a:gd name="connsiteY1" fmla="*/ 365041 h 2114181"/>
              <a:gd name="connsiteX2" fmla="*/ 1690651 w 1825195"/>
              <a:gd name="connsiteY2" fmla="*/ 2041886 h 2114181"/>
              <a:gd name="connsiteX3" fmla="*/ 168615 w 1825195"/>
              <a:gd name="connsiteY3" fmla="*/ 1536855 h 2114181"/>
              <a:gd name="connsiteX4" fmla="*/ 177736 w 1825195"/>
              <a:gd name="connsiteY4" fmla="*/ 87868 h 2114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195" h="2114181">
                <a:moveTo>
                  <a:pt x="177736" y="87868"/>
                </a:moveTo>
                <a:cubicBezTo>
                  <a:pt x="385247" y="-107434"/>
                  <a:pt x="1161531" y="39371"/>
                  <a:pt x="1413683" y="365041"/>
                </a:cubicBezTo>
                <a:cubicBezTo>
                  <a:pt x="1665836" y="690711"/>
                  <a:pt x="2022968" y="1798469"/>
                  <a:pt x="1690651" y="2041886"/>
                </a:cubicBezTo>
                <a:cubicBezTo>
                  <a:pt x="1358334" y="2285303"/>
                  <a:pt x="420768" y="1862525"/>
                  <a:pt x="168615" y="1536855"/>
                </a:cubicBezTo>
                <a:cubicBezTo>
                  <a:pt x="-83538" y="1211185"/>
                  <a:pt x="-29775" y="283170"/>
                  <a:pt x="177736" y="87868"/>
                </a:cubicBezTo>
                <a:close/>
              </a:path>
            </a:pathLst>
          </a:cu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a:extLst>
              <a:ext uri="{FF2B5EF4-FFF2-40B4-BE49-F238E27FC236}">
                <a16:creationId xmlns:a16="http://schemas.microsoft.com/office/drawing/2014/main" id="{17050ABB-8D78-538B-A224-C02C0BC2C56E}"/>
              </a:ext>
            </a:extLst>
          </p:cNvPr>
          <p:cNvSpPr/>
          <p:nvPr/>
        </p:nvSpPr>
        <p:spPr>
          <a:xfrm>
            <a:off x="9982789" y="3842195"/>
            <a:ext cx="1150645" cy="1114924"/>
          </a:xfrm>
          <a:custGeom>
            <a:avLst/>
            <a:gdLst>
              <a:gd name="connsiteX0" fmla="*/ 229603 w 2268531"/>
              <a:gd name="connsiteY0" fmla="*/ 162051 h 2075374"/>
              <a:gd name="connsiteX1" fmla="*/ 2198103 w 2268531"/>
              <a:gd name="connsiteY1" fmla="*/ 250951 h 2075374"/>
              <a:gd name="connsiteX2" fmla="*/ 1677403 w 2268531"/>
              <a:gd name="connsiteY2" fmla="*/ 1965451 h 2075374"/>
              <a:gd name="connsiteX3" fmla="*/ 204203 w 2268531"/>
              <a:gd name="connsiteY3" fmla="*/ 1711451 h 2075374"/>
              <a:gd name="connsiteX4" fmla="*/ 229603 w 2268531"/>
              <a:gd name="connsiteY4" fmla="*/ 162051 h 2075374"/>
              <a:gd name="connsiteX0" fmla="*/ 731219 w 2042673"/>
              <a:gd name="connsiteY0" fmla="*/ 603508 h 1847145"/>
              <a:gd name="connsiteX1" fmla="*/ 2013919 w 2042673"/>
              <a:gd name="connsiteY1" fmla="*/ 42393 h 1847145"/>
              <a:gd name="connsiteX2" fmla="*/ 1493219 w 2042673"/>
              <a:gd name="connsiteY2" fmla="*/ 1756893 h 1847145"/>
              <a:gd name="connsiteX3" fmla="*/ 20019 w 2042673"/>
              <a:gd name="connsiteY3" fmla="*/ 1502893 h 1847145"/>
              <a:gd name="connsiteX4" fmla="*/ 731219 w 2042673"/>
              <a:gd name="connsiteY4" fmla="*/ 603508 h 1847145"/>
              <a:gd name="connsiteX0" fmla="*/ 348146 w 1659600"/>
              <a:gd name="connsiteY0" fmla="*/ 603824 h 1853237"/>
              <a:gd name="connsiteX1" fmla="*/ 1630846 w 1659600"/>
              <a:gd name="connsiteY1" fmla="*/ 42709 h 1853237"/>
              <a:gd name="connsiteX2" fmla="*/ 1110146 w 1659600"/>
              <a:gd name="connsiteY2" fmla="*/ 1757209 h 1853237"/>
              <a:gd name="connsiteX3" fmla="*/ 43346 w 1659600"/>
              <a:gd name="connsiteY3" fmla="*/ 1534917 h 1853237"/>
              <a:gd name="connsiteX4" fmla="*/ 348146 w 1659600"/>
              <a:gd name="connsiteY4" fmla="*/ 603824 h 1853237"/>
              <a:gd name="connsiteX0" fmla="*/ 340384 w 1319230"/>
              <a:gd name="connsiteY0" fmla="*/ 99389 h 1348802"/>
              <a:gd name="connsiteX1" fmla="*/ 1191284 w 1319230"/>
              <a:gd name="connsiteY1" fmla="*/ 156581 h 1348802"/>
              <a:gd name="connsiteX2" fmla="*/ 1102384 w 1319230"/>
              <a:gd name="connsiteY2" fmla="*/ 1252774 h 1348802"/>
              <a:gd name="connsiteX3" fmla="*/ 35584 w 1319230"/>
              <a:gd name="connsiteY3" fmla="*/ 1030482 h 1348802"/>
              <a:gd name="connsiteX4" fmla="*/ 340384 w 1319230"/>
              <a:gd name="connsiteY4" fmla="*/ 99389 h 1348802"/>
              <a:gd name="connsiteX0" fmla="*/ 308380 w 1287226"/>
              <a:gd name="connsiteY0" fmla="*/ 99389 h 1386098"/>
              <a:gd name="connsiteX1" fmla="*/ 1159280 w 1287226"/>
              <a:gd name="connsiteY1" fmla="*/ 156581 h 1386098"/>
              <a:gd name="connsiteX2" fmla="*/ 1070380 w 1287226"/>
              <a:gd name="connsiteY2" fmla="*/ 1252774 h 1386098"/>
              <a:gd name="connsiteX3" fmla="*/ 3580 w 1287226"/>
              <a:gd name="connsiteY3" fmla="*/ 1030482 h 1386098"/>
              <a:gd name="connsiteX4" fmla="*/ 308380 w 1287226"/>
              <a:gd name="connsiteY4" fmla="*/ 99389 h 1386098"/>
              <a:gd name="connsiteX0" fmla="*/ 156762 w 1135608"/>
              <a:gd name="connsiteY0" fmla="*/ 80407 h 1310158"/>
              <a:gd name="connsiteX1" fmla="*/ 1007662 w 1135608"/>
              <a:gd name="connsiteY1" fmla="*/ 137599 h 1310158"/>
              <a:gd name="connsiteX2" fmla="*/ 918762 w 1135608"/>
              <a:gd name="connsiteY2" fmla="*/ 1233792 h 1310158"/>
              <a:gd name="connsiteX3" fmla="*/ 4362 w 1135608"/>
              <a:gd name="connsiteY3" fmla="*/ 726128 h 1310158"/>
              <a:gd name="connsiteX4" fmla="*/ 156762 w 1135608"/>
              <a:gd name="connsiteY4" fmla="*/ 80407 h 1310158"/>
              <a:gd name="connsiteX0" fmla="*/ 190326 w 1075861"/>
              <a:gd name="connsiteY0" fmla="*/ 87210 h 1405250"/>
              <a:gd name="connsiteX1" fmla="*/ 1041226 w 1075861"/>
              <a:gd name="connsiteY1" fmla="*/ 144402 h 1405250"/>
              <a:gd name="connsiteX2" fmla="*/ 723726 w 1075861"/>
              <a:gd name="connsiteY2" fmla="*/ 1351573 h 1405250"/>
              <a:gd name="connsiteX3" fmla="*/ 37926 w 1075861"/>
              <a:gd name="connsiteY3" fmla="*/ 732931 h 1405250"/>
              <a:gd name="connsiteX4" fmla="*/ 190326 w 1075861"/>
              <a:gd name="connsiteY4" fmla="*/ 87210 h 1405250"/>
              <a:gd name="connsiteX0" fmla="*/ 190326 w 1075861"/>
              <a:gd name="connsiteY0" fmla="*/ 87210 h 1405249"/>
              <a:gd name="connsiteX1" fmla="*/ 1041226 w 1075861"/>
              <a:gd name="connsiteY1" fmla="*/ 144402 h 1405249"/>
              <a:gd name="connsiteX2" fmla="*/ 723726 w 1075861"/>
              <a:gd name="connsiteY2" fmla="*/ 1351573 h 1405249"/>
              <a:gd name="connsiteX3" fmla="*/ 37926 w 1075861"/>
              <a:gd name="connsiteY3" fmla="*/ 732931 h 1405249"/>
              <a:gd name="connsiteX4" fmla="*/ 190326 w 1075861"/>
              <a:gd name="connsiteY4" fmla="*/ 87210 h 1405249"/>
              <a:gd name="connsiteX0" fmla="*/ 190326 w 1075861"/>
              <a:gd name="connsiteY0" fmla="*/ 87210 h 1405249"/>
              <a:gd name="connsiteX1" fmla="*/ 1041226 w 1075861"/>
              <a:gd name="connsiteY1" fmla="*/ 144402 h 1405249"/>
              <a:gd name="connsiteX2" fmla="*/ 723726 w 1075861"/>
              <a:gd name="connsiteY2" fmla="*/ 1351573 h 1405249"/>
              <a:gd name="connsiteX3" fmla="*/ 37926 w 1075861"/>
              <a:gd name="connsiteY3" fmla="*/ 732931 h 1405249"/>
              <a:gd name="connsiteX4" fmla="*/ 190326 w 1075861"/>
              <a:gd name="connsiteY4" fmla="*/ 87210 h 1405249"/>
              <a:gd name="connsiteX0" fmla="*/ 190326 w 1060519"/>
              <a:gd name="connsiteY0" fmla="*/ 87210 h 1359445"/>
              <a:gd name="connsiteX1" fmla="*/ 1041226 w 1060519"/>
              <a:gd name="connsiteY1" fmla="*/ 144402 h 1359445"/>
              <a:gd name="connsiteX2" fmla="*/ 723726 w 1060519"/>
              <a:gd name="connsiteY2" fmla="*/ 1351573 h 1359445"/>
              <a:gd name="connsiteX3" fmla="*/ 37926 w 1060519"/>
              <a:gd name="connsiteY3" fmla="*/ 732931 h 1359445"/>
              <a:gd name="connsiteX4" fmla="*/ 190326 w 1060519"/>
              <a:gd name="connsiteY4" fmla="*/ 87210 h 1359445"/>
              <a:gd name="connsiteX0" fmla="*/ 210551 w 1080891"/>
              <a:gd name="connsiteY0" fmla="*/ 98363 h 1389194"/>
              <a:gd name="connsiteX1" fmla="*/ 1061451 w 1080891"/>
              <a:gd name="connsiteY1" fmla="*/ 155555 h 1389194"/>
              <a:gd name="connsiteX2" fmla="*/ 743951 w 1080891"/>
              <a:gd name="connsiteY2" fmla="*/ 1362726 h 1389194"/>
              <a:gd name="connsiteX3" fmla="*/ 34088 w 1080891"/>
              <a:gd name="connsiteY3" fmla="*/ 918311 h 1389194"/>
              <a:gd name="connsiteX4" fmla="*/ 210551 w 1080891"/>
              <a:gd name="connsiteY4" fmla="*/ 98363 h 1389194"/>
              <a:gd name="connsiteX0" fmla="*/ 212594 w 1156618"/>
              <a:gd name="connsiteY0" fmla="*/ 54459 h 1340046"/>
              <a:gd name="connsiteX1" fmla="*/ 1140496 w 1156618"/>
              <a:gd name="connsiteY1" fmla="*/ 213785 h 1340046"/>
              <a:gd name="connsiteX2" fmla="*/ 745994 w 1156618"/>
              <a:gd name="connsiteY2" fmla="*/ 1318822 h 1340046"/>
              <a:gd name="connsiteX3" fmla="*/ 36131 w 1156618"/>
              <a:gd name="connsiteY3" fmla="*/ 874407 h 1340046"/>
              <a:gd name="connsiteX4" fmla="*/ 212594 w 1156618"/>
              <a:gd name="connsiteY4" fmla="*/ 54459 h 1340046"/>
              <a:gd name="connsiteX0" fmla="*/ 364032 w 1122196"/>
              <a:gd name="connsiteY0" fmla="*/ 37761 h 1426288"/>
              <a:gd name="connsiteX1" fmla="*/ 1113867 w 1122196"/>
              <a:gd name="connsiteY1" fmla="*/ 299219 h 1426288"/>
              <a:gd name="connsiteX2" fmla="*/ 719365 w 1122196"/>
              <a:gd name="connsiteY2" fmla="*/ 1404256 h 1426288"/>
              <a:gd name="connsiteX3" fmla="*/ 9502 w 1122196"/>
              <a:gd name="connsiteY3" fmla="*/ 959841 h 1426288"/>
              <a:gd name="connsiteX4" fmla="*/ 364032 w 1122196"/>
              <a:gd name="connsiteY4" fmla="*/ 37761 h 1426288"/>
              <a:gd name="connsiteX0" fmla="*/ 363880 w 1122044"/>
              <a:gd name="connsiteY0" fmla="*/ 25556 h 1414083"/>
              <a:gd name="connsiteX1" fmla="*/ 1113715 w 1122044"/>
              <a:gd name="connsiteY1" fmla="*/ 287014 h 1414083"/>
              <a:gd name="connsiteX2" fmla="*/ 719213 w 1122044"/>
              <a:gd name="connsiteY2" fmla="*/ 1392051 h 1414083"/>
              <a:gd name="connsiteX3" fmla="*/ 9350 w 1122044"/>
              <a:gd name="connsiteY3" fmla="*/ 947636 h 1414083"/>
              <a:gd name="connsiteX4" fmla="*/ 363880 w 1122044"/>
              <a:gd name="connsiteY4" fmla="*/ 25556 h 1414083"/>
              <a:gd name="connsiteX0" fmla="*/ 364187 w 1150645"/>
              <a:gd name="connsiteY0" fmla="*/ 12502 h 1391814"/>
              <a:gd name="connsiteX1" fmla="*/ 1142898 w 1150645"/>
              <a:gd name="connsiteY1" fmla="*/ 466211 h 1391814"/>
              <a:gd name="connsiteX2" fmla="*/ 719520 w 1150645"/>
              <a:gd name="connsiteY2" fmla="*/ 1378997 h 1391814"/>
              <a:gd name="connsiteX3" fmla="*/ 9657 w 1150645"/>
              <a:gd name="connsiteY3" fmla="*/ 934582 h 1391814"/>
              <a:gd name="connsiteX4" fmla="*/ 364187 w 1150645"/>
              <a:gd name="connsiteY4" fmla="*/ 12502 h 139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45" h="1391814">
                <a:moveTo>
                  <a:pt x="364187" y="12502"/>
                </a:moveTo>
                <a:cubicBezTo>
                  <a:pt x="553060" y="-65560"/>
                  <a:pt x="1083676" y="238462"/>
                  <a:pt x="1142898" y="466211"/>
                </a:cubicBezTo>
                <a:cubicBezTo>
                  <a:pt x="1202120" y="693960"/>
                  <a:pt x="908393" y="1300935"/>
                  <a:pt x="719520" y="1378997"/>
                </a:cubicBezTo>
                <a:cubicBezTo>
                  <a:pt x="530647" y="1457059"/>
                  <a:pt x="68879" y="1162331"/>
                  <a:pt x="9657" y="934582"/>
                </a:cubicBezTo>
                <a:cubicBezTo>
                  <a:pt x="-49565" y="706833"/>
                  <a:pt x="175314" y="90564"/>
                  <a:pt x="364187" y="12502"/>
                </a:cubicBezTo>
                <a:close/>
              </a:path>
            </a:pathLst>
          </a:cu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549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500"/>
                                        <p:tgtEl>
                                          <p:spTgt spid="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00"/>
                                        <p:tgtEl>
                                          <p:spTgt spid="4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42" grpId="0" animBg="1"/>
      <p:bldP spid="43" grpId="0" animBg="1"/>
      <p:bldP spid="4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39335-DC71-CDB0-4EF3-23A2AC549208}"/>
              </a:ext>
            </a:extLst>
          </p:cNvPr>
          <p:cNvSpPr>
            <a:spLocks noGrp="1"/>
          </p:cNvSpPr>
          <p:nvPr>
            <p:ph type="title"/>
          </p:nvPr>
        </p:nvSpPr>
        <p:spPr/>
        <p:txBody>
          <a:bodyPr/>
          <a:lstStyle/>
          <a:p>
            <a:r>
              <a:rPr lang="en-US" dirty="0"/>
              <a:t>What We Will Cover</a:t>
            </a:r>
          </a:p>
        </p:txBody>
      </p:sp>
      <p:sp>
        <p:nvSpPr>
          <p:cNvPr id="3" name="Content Placeholder 2">
            <a:extLst>
              <a:ext uri="{FF2B5EF4-FFF2-40B4-BE49-F238E27FC236}">
                <a16:creationId xmlns:a16="http://schemas.microsoft.com/office/drawing/2014/main" id="{3EE478F0-4D41-149D-D40F-EF4E665D34C9}"/>
              </a:ext>
            </a:extLst>
          </p:cNvPr>
          <p:cNvSpPr>
            <a:spLocks noGrp="1"/>
          </p:cNvSpPr>
          <p:nvPr>
            <p:ph idx="1"/>
          </p:nvPr>
        </p:nvSpPr>
        <p:spPr/>
        <p:txBody>
          <a:bodyPr/>
          <a:lstStyle/>
          <a:p>
            <a:r>
              <a:rPr lang="en-US" dirty="0"/>
              <a:t>We are going to focus on supervised learning, which means that we can assume that our data comes with the expected outcome for each data sample</a:t>
            </a:r>
          </a:p>
        </p:txBody>
      </p:sp>
    </p:spTree>
    <p:extLst>
      <p:ext uri="{BB962C8B-B14F-4D97-AF65-F5344CB8AC3E}">
        <p14:creationId xmlns:p14="http://schemas.microsoft.com/office/powerpoint/2010/main" val="254532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365989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3">
                                            <p:txEl>
                                              <p:pRg st="1" end="1"/>
                                            </p:txEl>
                                          </p:spTgt>
                                        </p:tgtEl>
                                        <p:attrNameLst>
                                          <p:attrName>style.opacity</p:attrName>
                                        </p:attrNameLst>
                                      </p:cBhvr>
                                      <p:to>
                                        <p:strVal val="0.25"/>
                                      </p:to>
                                    </p:set>
                                    <p:animEffect filter="image" prLst="opacity: 0.25">
                                      <p:cBhvr rctx="IE">
                                        <p:cTn id="7" dur="indefinite"/>
                                        <p:tgtEl>
                                          <p:spTgt spid="3">
                                            <p:txEl>
                                              <p:pRg st="1" end="1"/>
                                            </p:txEl>
                                          </p:spTgt>
                                        </p:tgtEl>
                                      </p:cBhvr>
                                    </p:animEffect>
                                  </p:childTnLst>
                                </p:cTn>
                              </p:par>
                              <p:par>
                                <p:cTn id="8" presetID="9" presetClass="emph" presetSubtype="0" grpId="0" nodeType="withEffect">
                                  <p:stCondLst>
                                    <p:cond delay="0"/>
                                  </p:stCondLst>
                                  <p:childTnLst>
                                    <p:set>
                                      <p:cBhvr>
                                        <p:cTn id="9" dur="indefinite"/>
                                        <p:tgtEl>
                                          <p:spTgt spid="3">
                                            <p:txEl>
                                              <p:pRg st="2" end="2"/>
                                            </p:txEl>
                                          </p:spTgt>
                                        </p:tgtEl>
                                        <p:attrNameLst>
                                          <p:attrName>style.opacity</p:attrName>
                                        </p:attrNameLst>
                                      </p:cBhvr>
                                      <p:to>
                                        <p:strVal val="0.25"/>
                                      </p:to>
                                    </p:set>
                                    <p:animEffect filter="image" prLst="opacity: 0.25">
                                      <p:cBhvr rctx="IE">
                                        <p:cTn id="10" dur="indefinite"/>
                                        <p:tgtEl>
                                          <p:spTgt spid="3">
                                            <p:txEl>
                                              <p:pRg st="2" end="2"/>
                                            </p:txEl>
                                          </p:spTgt>
                                        </p:tgtEl>
                                      </p:cBhvr>
                                    </p:animEffect>
                                  </p:childTnLst>
                                </p:cTn>
                              </p:par>
                              <p:par>
                                <p:cTn id="11" presetID="9" presetClass="emph" presetSubtype="0" grpId="0" nodeType="withEffect">
                                  <p:stCondLst>
                                    <p:cond delay="0"/>
                                  </p:stCondLst>
                                  <p:childTnLst>
                                    <p:set>
                                      <p:cBhvr>
                                        <p:cTn id="12" dur="indefinite"/>
                                        <p:tgtEl>
                                          <p:spTgt spid="3">
                                            <p:txEl>
                                              <p:pRg st="3" end="3"/>
                                            </p:txEl>
                                          </p:spTgt>
                                        </p:tgtEl>
                                        <p:attrNameLst>
                                          <p:attrName>style.opacity</p:attrName>
                                        </p:attrNameLst>
                                      </p:cBhvr>
                                      <p:to>
                                        <p:strVal val="0.25"/>
                                      </p:to>
                                    </p:set>
                                    <p:animEffect filter="image" prLst="opacity: 0.25">
                                      <p:cBhvr rctx="IE">
                                        <p:cTn id="13" dur="indefinite"/>
                                        <p:tgtEl>
                                          <p:spTgt spid="3">
                                            <p:txEl>
                                              <p:pRg st="3" end="3"/>
                                            </p:txEl>
                                          </p:spTgt>
                                        </p:tgtEl>
                                      </p:cBhvr>
                                    </p:animEffect>
                                  </p:childTnLst>
                                </p:cTn>
                              </p:par>
                              <p:par>
                                <p:cTn id="14" presetID="9" presetClass="emph" presetSubtype="0" grpId="0" nodeType="withEffect">
                                  <p:stCondLst>
                                    <p:cond delay="0"/>
                                  </p:stCondLst>
                                  <p:childTnLst>
                                    <p:set>
                                      <p:cBhvr>
                                        <p:cTn id="15" dur="indefinite"/>
                                        <p:tgtEl>
                                          <p:spTgt spid="3">
                                            <p:txEl>
                                              <p:pRg st="4" end="4"/>
                                            </p:txEl>
                                          </p:spTgt>
                                        </p:tgtEl>
                                        <p:attrNameLst>
                                          <p:attrName>style.opacity</p:attrName>
                                        </p:attrNameLst>
                                      </p:cBhvr>
                                      <p:to>
                                        <p:strVal val="0.25"/>
                                      </p:to>
                                    </p:set>
                                    <p:animEffect filter="image" prLst="opacity: 0.25">
                                      <p:cBhvr rctx="IE">
                                        <p:cTn id="16" dur="indefinite"/>
                                        <p:tgtEl>
                                          <p:spTgt spid="3">
                                            <p:txEl>
                                              <p:pRg st="4" end="4"/>
                                            </p:txEl>
                                          </p:spTgt>
                                        </p:tgtEl>
                                      </p:cBhvr>
                                    </p:animEffect>
                                  </p:childTnLst>
                                </p:cTn>
                              </p:par>
                              <p:par>
                                <p:cTn id="17" presetID="9" presetClass="emph" presetSubtype="0" grpId="0" nodeType="withEffect">
                                  <p:stCondLst>
                                    <p:cond delay="0"/>
                                  </p:stCondLst>
                                  <p:childTnLst>
                                    <p:set>
                                      <p:cBhvr>
                                        <p:cTn id="18" dur="indefinite"/>
                                        <p:tgtEl>
                                          <p:spTgt spid="3">
                                            <p:txEl>
                                              <p:pRg st="5" end="5"/>
                                            </p:txEl>
                                          </p:spTgt>
                                        </p:tgtEl>
                                        <p:attrNameLst>
                                          <p:attrName>style.opacity</p:attrName>
                                        </p:attrNameLst>
                                      </p:cBhvr>
                                      <p:to>
                                        <p:strVal val="0.25"/>
                                      </p:to>
                                    </p:set>
                                    <p:animEffect filter="image" prLst="opacity: 0.25">
                                      <p:cBhvr rctx="IE">
                                        <p:cTn id="19" dur="indefinite"/>
                                        <p:tgtEl>
                                          <p:spTgt spid="3">
                                            <p:txEl>
                                              <p:pRg st="5" end="5"/>
                                            </p:txEl>
                                          </p:spTgt>
                                        </p:tgtEl>
                                      </p:cBhvr>
                                    </p:animEffect>
                                  </p:childTnLst>
                                </p:cTn>
                              </p:par>
                              <p:par>
                                <p:cTn id="20" presetID="9" presetClass="emph" presetSubtype="0" grpId="0" nodeType="withEffect">
                                  <p:stCondLst>
                                    <p:cond delay="0"/>
                                  </p:stCondLst>
                                  <p:childTnLst>
                                    <p:set>
                                      <p:cBhvr>
                                        <p:cTn id="21" dur="indefinite"/>
                                        <p:tgtEl>
                                          <p:spTgt spid="3">
                                            <p:txEl>
                                              <p:pRg st="6" end="6"/>
                                            </p:txEl>
                                          </p:spTgt>
                                        </p:tgtEl>
                                        <p:attrNameLst>
                                          <p:attrName>style.opacity</p:attrName>
                                        </p:attrNameLst>
                                      </p:cBhvr>
                                      <p:to>
                                        <p:strVal val="0.25"/>
                                      </p:to>
                                    </p:set>
                                    <p:animEffect filter="image" prLst="opacity: 0.25">
                                      <p:cBhvr rctx="IE">
                                        <p:cTn id="22" dur="indefinite"/>
                                        <p:tgtEl>
                                          <p:spTgt spid="3">
                                            <p:txEl>
                                              <p:pRg st="6" end="6"/>
                                            </p:txEl>
                                          </p:spTgt>
                                        </p:tgtEl>
                                      </p:cBhvr>
                                    </p:animEffect>
                                  </p:childTnLst>
                                </p:cTn>
                              </p:par>
                              <p:par>
                                <p:cTn id="23" presetID="9" presetClass="emph" presetSubtype="0" grpId="0" nodeType="withEffect">
                                  <p:stCondLst>
                                    <p:cond delay="0"/>
                                  </p:stCondLst>
                                  <p:childTnLst>
                                    <p:set>
                                      <p:cBhvr>
                                        <p:cTn id="24" dur="indefinite"/>
                                        <p:tgtEl>
                                          <p:spTgt spid="3">
                                            <p:txEl>
                                              <p:pRg st="7" end="7"/>
                                            </p:txEl>
                                          </p:spTgt>
                                        </p:tgtEl>
                                        <p:attrNameLst>
                                          <p:attrName>style.opacity</p:attrName>
                                        </p:attrNameLst>
                                      </p:cBhvr>
                                      <p:to>
                                        <p:strVal val="0.25"/>
                                      </p:to>
                                    </p:set>
                                    <p:animEffect filter="image" prLst="opacity: 0.25">
                                      <p:cBhvr rctx="IE">
                                        <p:cTn id="25" dur="indefinite"/>
                                        <p:tgtEl>
                                          <p:spTgt spid="3">
                                            <p:txEl>
                                              <p:pRg st="7" end="7"/>
                                            </p:txEl>
                                          </p:spTgt>
                                        </p:tgtEl>
                                      </p:cBhvr>
                                    </p:animEffect>
                                  </p:childTnLst>
                                </p:cTn>
                              </p:par>
                              <p:par>
                                <p:cTn id="26" presetID="9" presetClass="emph" presetSubtype="0" grpId="0" nodeType="withEffect">
                                  <p:stCondLst>
                                    <p:cond delay="0"/>
                                  </p:stCondLst>
                                  <p:childTnLst>
                                    <p:set>
                                      <p:cBhvr>
                                        <p:cTn id="27" dur="indefinite"/>
                                        <p:tgtEl>
                                          <p:spTgt spid="3">
                                            <p:txEl>
                                              <p:pRg st="8" end="8"/>
                                            </p:txEl>
                                          </p:spTgt>
                                        </p:tgtEl>
                                        <p:attrNameLst>
                                          <p:attrName>style.opacity</p:attrName>
                                        </p:attrNameLst>
                                      </p:cBhvr>
                                      <p:to>
                                        <p:strVal val="0.25"/>
                                      </p:to>
                                    </p:set>
                                    <p:animEffect filter="image" prLst="opacity: 0.25">
                                      <p:cBhvr rctx="IE">
                                        <p:cTn id="28" dur="indefinite"/>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1" nodeType="clickEffect">
                                  <p:stCondLst>
                                    <p:cond delay="0"/>
                                  </p:stCondLst>
                                  <p:childTnLst>
                                    <p:set>
                                      <p:cBhvr>
                                        <p:cTn id="32" dur="indefinite"/>
                                        <p:tgtEl>
                                          <p:spTgt spid="3">
                                            <p:txEl>
                                              <p:pRg st="0" end="0"/>
                                            </p:txEl>
                                          </p:spTgt>
                                        </p:tgtEl>
                                        <p:attrNameLst>
                                          <p:attrName>style.opacity</p:attrName>
                                        </p:attrNameLst>
                                      </p:cBhvr>
                                      <p:to>
                                        <p:strVal val="0.25"/>
                                      </p:to>
                                    </p:set>
                                    <p:animEffect filter="image" prLst="opacity: 0.25">
                                      <p:cBhvr rctx="IE">
                                        <p:cTn id="33" dur="indefinite"/>
                                        <p:tgtEl>
                                          <p:spTgt spid="3">
                                            <p:txEl>
                                              <p:pRg st="0" end="0"/>
                                            </p:txEl>
                                          </p:spTgt>
                                        </p:tgtEl>
                                      </p:cBhvr>
                                    </p:animEffect>
                                  </p:childTnLst>
                                </p:cTn>
                              </p:par>
                              <p:par>
                                <p:cTn id="34" presetID="9" presetClass="emph" presetSubtype="0" grpId="1" nodeType="withEffect">
                                  <p:stCondLst>
                                    <p:cond delay="0"/>
                                  </p:stCondLst>
                                  <p:childTnLst>
                                    <p:set>
                                      <p:cBhvr>
                                        <p:cTn id="35" dur="indefinite"/>
                                        <p:tgtEl>
                                          <p:spTgt spid="3">
                                            <p:txEl>
                                              <p:pRg st="1" end="1"/>
                                            </p:txEl>
                                          </p:spTgt>
                                        </p:tgtEl>
                                        <p:attrNameLst>
                                          <p:attrName>style.opacity</p:attrName>
                                        </p:attrNameLst>
                                      </p:cBhvr>
                                      <p:to>
                                        <p:strVal val="1"/>
                                      </p:to>
                                    </p:set>
                                    <p:animEffect filter="image" prLst="opacity: 1">
                                      <p:cBhvr rctx="IE">
                                        <p:cTn id="36" dur="indefinite"/>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82402-30D3-108B-21F8-2D8CB0145C75}"/>
              </a:ext>
            </a:extLst>
          </p:cNvPr>
          <p:cNvSpPr>
            <a:spLocks noGrp="1"/>
          </p:cNvSpPr>
          <p:nvPr>
            <p:ph type="title"/>
          </p:nvPr>
        </p:nvSpPr>
        <p:spPr/>
        <p:txBody>
          <a:bodyPr/>
          <a:lstStyle/>
          <a:p>
            <a:r>
              <a:rPr lang="en-US" dirty="0"/>
              <a:t>Identifying Features</a:t>
            </a:r>
          </a:p>
        </p:txBody>
      </p:sp>
      <p:sp>
        <p:nvSpPr>
          <p:cNvPr id="3" name="Content Placeholder 2">
            <a:extLst>
              <a:ext uri="{FF2B5EF4-FFF2-40B4-BE49-F238E27FC236}">
                <a16:creationId xmlns:a16="http://schemas.microsoft.com/office/drawing/2014/main" id="{C1AAFE7C-0C3B-1EA2-FA2A-E471890DC17D}"/>
              </a:ext>
            </a:extLst>
          </p:cNvPr>
          <p:cNvSpPr>
            <a:spLocks noGrp="1"/>
          </p:cNvSpPr>
          <p:nvPr>
            <p:ph idx="1"/>
          </p:nvPr>
        </p:nvSpPr>
        <p:spPr>
          <a:xfrm>
            <a:off x="609599" y="1600201"/>
            <a:ext cx="5707445" cy="4983156"/>
          </a:xfrm>
        </p:spPr>
        <p:txBody>
          <a:bodyPr>
            <a:noAutofit/>
          </a:bodyPr>
          <a:lstStyle/>
          <a:p>
            <a:pPr>
              <a:spcAft>
                <a:spcPts val="1800"/>
              </a:spcAft>
            </a:pPr>
            <a:r>
              <a:rPr lang="en-US" sz="2400" dirty="0"/>
              <a:t>Features are meaningful characteristics that describe our inputs</a:t>
            </a:r>
          </a:p>
          <a:p>
            <a:pPr>
              <a:spcAft>
                <a:spcPts val="1800"/>
              </a:spcAft>
            </a:pPr>
            <a:r>
              <a:rPr lang="en-US" sz="2400" dirty="0"/>
              <a:t>Basic machine learning models assume that features can be put in a tabular format</a:t>
            </a:r>
          </a:p>
          <a:p>
            <a:pPr>
              <a:spcAft>
                <a:spcPts val="1800"/>
              </a:spcAft>
            </a:pPr>
            <a:r>
              <a:rPr lang="en-US" sz="2400" dirty="0"/>
              <a:t>Deep learning can process time series and images directly</a:t>
            </a:r>
          </a:p>
          <a:p>
            <a:pPr>
              <a:spcAft>
                <a:spcPts val="1800"/>
              </a:spcAft>
            </a:pPr>
            <a:r>
              <a:rPr lang="en-US" sz="2400" dirty="0"/>
              <a:t>We can use the techniques we have discussed to process data into a tabular format</a:t>
            </a:r>
          </a:p>
        </p:txBody>
      </p:sp>
      <p:pic>
        <p:nvPicPr>
          <p:cNvPr id="4" name="Graphic 3">
            <a:extLst>
              <a:ext uri="{FF2B5EF4-FFF2-40B4-BE49-F238E27FC236}">
                <a16:creationId xmlns:a16="http://schemas.microsoft.com/office/drawing/2014/main" id="{20C573B6-1525-1D14-6145-0EE44EC6E773}"/>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4410"/>
          <a:stretch/>
        </p:blipFill>
        <p:spPr>
          <a:xfrm>
            <a:off x="6238992" y="1381812"/>
            <a:ext cx="1619828" cy="1386416"/>
          </a:xfrm>
          <a:prstGeom prst="rect">
            <a:avLst/>
          </a:prstGeom>
        </p:spPr>
      </p:pic>
      <p:graphicFrame>
        <p:nvGraphicFramePr>
          <p:cNvPr id="5" name="Table 4">
            <a:extLst>
              <a:ext uri="{FF2B5EF4-FFF2-40B4-BE49-F238E27FC236}">
                <a16:creationId xmlns:a16="http://schemas.microsoft.com/office/drawing/2014/main" id="{7D1B2501-CD78-E75E-8EF9-A44C61B0F5D2}"/>
              </a:ext>
            </a:extLst>
          </p:cNvPr>
          <p:cNvGraphicFramePr>
            <a:graphicFrameLocks noGrp="1"/>
          </p:cNvGraphicFramePr>
          <p:nvPr>
            <p:extLst>
              <p:ext uri="{D42A27DB-BD31-4B8C-83A1-F6EECF244321}">
                <p14:modId xmlns:p14="http://schemas.microsoft.com/office/powerpoint/2010/main" val="1966055819"/>
              </p:ext>
            </p:extLst>
          </p:nvPr>
        </p:nvGraphicFramePr>
        <p:xfrm>
          <a:off x="8141184" y="1417638"/>
          <a:ext cx="3441216" cy="1314764"/>
        </p:xfrm>
        <a:graphic>
          <a:graphicData uri="http://schemas.openxmlformats.org/drawingml/2006/table">
            <a:tbl>
              <a:tblPr firstRow="1" bandRow="1">
                <a:tableStyleId>{073A0DAA-6AF3-43AB-8588-CEC1D06C72B9}</a:tableStyleId>
              </a:tblPr>
              <a:tblGrid>
                <a:gridCol w="1147072">
                  <a:extLst>
                    <a:ext uri="{9D8B030D-6E8A-4147-A177-3AD203B41FA5}">
                      <a16:colId xmlns:a16="http://schemas.microsoft.com/office/drawing/2014/main" val="1941834303"/>
                    </a:ext>
                  </a:extLst>
                </a:gridCol>
                <a:gridCol w="1147072">
                  <a:extLst>
                    <a:ext uri="{9D8B030D-6E8A-4147-A177-3AD203B41FA5}">
                      <a16:colId xmlns:a16="http://schemas.microsoft.com/office/drawing/2014/main" val="779822208"/>
                    </a:ext>
                  </a:extLst>
                </a:gridCol>
                <a:gridCol w="1147072">
                  <a:extLst>
                    <a:ext uri="{9D8B030D-6E8A-4147-A177-3AD203B41FA5}">
                      <a16:colId xmlns:a16="http://schemas.microsoft.com/office/drawing/2014/main" val="1616683273"/>
                    </a:ext>
                  </a:extLst>
                </a:gridCol>
              </a:tblGrid>
              <a:tr h="313703">
                <a:tc>
                  <a:txBody>
                    <a:bodyPr/>
                    <a:lstStyle/>
                    <a:p>
                      <a:pPr algn="ctr"/>
                      <a:r>
                        <a:rPr lang="en-US" sz="2000" dirty="0"/>
                        <a:t>Heart Rate</a:t>
                      </a:r>
                    </a:p>
                  </a:txBody>
                  <a:tcPr anchor="ctr"/>
                </a:tc>
                <a:tc>
                  <a:txBody>
                    <a:bodyPr/>
                    <a:lstStyle/>
                    <a:p>
                      <a:pPr algn="ctr"/>
                      <a:r>
                        <a:rPr lang="en-US" sz="2000" dirty="0">
                          <a:latin typeface="Avenir Book" panose="02000503020000020003" pitchFamily="2" charset="0"/>
                          <a:ea typeface="Avenir Book" charset="0"/>
                          <a:cs typeface="Avenir Book" charset="0"/>
                        </a:rPr>
                        <a:t>SpO</a:t>
                      </a:r>
                      <a:r>
                        <a:rPr lang="en-US" sz="2000" baseline="-25000" dirty="0">
                          <a:latin typeface="Avenir Book" panose="02000503020000020003" pitchFamily="2" charset="0"/>
                          <a:ea typeface="Avenir Book" charset="0"/>
                          <a:cs typeface="Avenir Book" charset="0"/>
                        </a:rPr>
                        <a:t>2</a:t>
                      </a:r>
                      <a:endParaRPr lang="en-US" sz="2000" dirty="0"/>
                    </a:p>
                  </a:txBody>
                  <a:tcPr anchor="ctr"/>
                </a:tc>
                <a:tc>
                  <a:txBody>
                    <a:bodyPr/>
                    <a:lstStyle/>
                    <a:p>
                      <a:pPr algn="ctr"/>
                      <a:r>
                        <a:rPr lang="en-US" sz="2000" dirty="0"/>
                        <a:t>Cough?</a:t>
                      </a:r>
                    </a:p>
                  </a:txBody>
                  <a:tcPr anchor="ctr"/>
                </a:tc>
                <a:extLst>
                  <a:ext uri="{0D108BD9-81ED-4DB2-BD59-A6C34878D82A}">
                    <a16:rowId xmlns:a16="http://schemas.microsoft.com/office/drawing/2014/main" val="3267054158"/>
                  </a:ext>
                </a:extLst>
              </a:tr>
              <a:tr h="613724">
                <a:tc>
                  <a:txBody>
                    <a:bodyPr/>
                    <a:lstStyle/>
                    <a:p>
                      <a:pPr algn="ctr"/>
                      <a:r>
                        <a:rPr lang="en-US" sz="2000" dirty="0"/>
                        <a:t>60</a:t>
                      </a:r>
                    </a:p>
                  </a:txBody>
                  <a:tcPr anchor="ctr"/>
                </a:tc>
                <a:tc>
                  <a:txBody>
                    <a:bodyPr/>
                    <a:lstStyle/>
                    <a:p>
                      <a:pPr algn="ctr"/>
                      <a:r>
                        <a:rPr lang="en-US" sz="2000" dirty="0"/>
                        <a:t>97%</a:t>
                      </a:r>
                    </a:p>
                  </a:txBody>
                  <a:tcPr anchor="ctr"/>
                </a:tc>
                <a:tc>
                  <a:txBody>
                    <a:bodyPr/>
                    <a:lstStyle/>
                    <a:p>
                      <a:pPr algn="ctr"/>
                      <a:r>
                        <a:rPr lang="en-US" sz="2000" dirty="0"/>
                        <a:t>Yes</a:t>
                      </a:r>
                    </a:p>
                  </a:txBody>
                  <a:tcPr anchor="ctr"/>
                </a:tc>
                <a:extLst>
                  <a:ext uri="{0D108BD9-81ED-4DB2-BD59-A6C34878D82A}">
                    <a16:rowId xmlns:a16="http://schemas.microsoft.com/office/drawing/2014/main" val="3671171536"/>
                  </a:ext>
                </a:extLst>
              </a:tr>
            </a:tbl>
          </a:graphicData>
        </a:graphic>
      </p:graphicFrame>
      <p:grpSp>
        <p:nvGrpSpPr>
          <p:cNvPr id="6" name="Group 5">
            <a:extLst>
              <a:ext uri="{FF2B5EF4-FFF2-40B4-BE49-F238E27FC236}">
                <a16:creationId xmlns:a16="http://schemas.microsoft.com/office/drawing/2014/main" id="{E9FF1E74-0F08-A888-749E-57181DEE1B9E}"/>
              </a:ext>
            </a:extLst>
          </p:cNvPr>
          <p:cNvGrpSpPr/>
          <p:nvPr/>
        </p:nvGrpSpPr>
        <p:grpSpPr>
          <a:xfrm>
            <a:off x="6809157" y="3358332"/>
            <a:ext cx="1175484" cy="862964"/>
            <a:chOff x="9525000" y="3586320"/>
            <a:chExt cx="1175484" cy="862964"/>
          </a:xfrm>
        </p:grpSpPr>
        <p:cxnSp>
          <p:nvCxnSpPr>
            <p:cNvPr id="7" name="Straight Connector 6">
              <a:extLst>
                <a:ext uri="{FF2B5EF4-FFF2-40B4-BE49-F238E27FC236}">
                  <a16:creationId xmlns:a16="http://schemas.microsoft.com/office/drawing/2014/main" id="{E19690EB-765E-F7D9-A937-B5AAA251248A}"/>
                </a:ext>
              </a:extLst>
            </p:cNvPr>
            <p:cNvCxnSpPr>
              <a:cxnSpLocks/>
            </p:cNvCxnSpPr>
            <p:nvPr/>
          </p:nvCxnSpPr>
          <p:spPr>
            <a:xfrm flipH="1">
              <a:off x="9525000" y="4443443"/>
              <a:ext cx="1143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48DC5E2-3D06-54DE-34EC-3FDB0384C2E4}"/>
                </a:ext>
              </a:extLst>
            </p:cNvPr>
            <p:cNvCxnSpPr/>
            <p:nvPr/>
          </p:nvCxnSpPr>
          <p:spPr>
            <a:xfrm>
              <a:off x="9525000" y="3586320"/>
              <a:ext cx="0" cy="862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8">
              <a:extLst>
                <a:ext uri="{FF2B5EF4-FFF2-40B4-BE49-F238E27FC236}">
                  <a16:creationId xmlns:a16="http://schemas.microsoft.com/office/drawing/2014/main" id="{68389915-2EF5-FC79-1865-CDEA0E0B98A5}"/>
                </a:ext>
              </a:extLst>
            </p:cNvPr>
            <p:cNvSpPr/>
            <p:nvPr/>
          </p:nvSpPr>
          <p:spPr>
            <a:xfrm>
              <a:off x="9527429" y="3667444"/>
              <a:ext cx="1173055" cy="611228"/>
            </a:xfrm>
            <a:custGeom>
              <a:avLst/>
              <a:gdLst>
                <a:gd name="connsiteX0" fmla="*/ 0 w 1173055"/>
                <a:gd name="connsiteY0" fmla="*/ 273710 h 611228"/>
                <a:gd name="connsiteX1" fmla="*/ 167579 w 1173055"/>
                <a:gd name="connsiteY1" fmla="*/ 11412 h 611228"/>
                <a:gd name="connsiteX2" fmla="*/ 338801 w 1173055"/>
                <a:gd name="connsiteY2" fmla="*/ 608868 h 611228"/>
                <a:gd name="connsiteX3" fmla="*/ 586527 w 1173055"/>
                <a:gd name="connsiteY3" fmla="*/ 229993 h 611228"/>
                <a:gd name="connsiteX4" fmla="*/ 761393 w 1173055"/>
                <a:gd name="connsiteY4" fmla="*/ 499578 h 611228"/>
                <a:gd name="connsiteX5" fmla="*/ 1067407 w 1173055"/>
                <a:gd name="connsiteY5" fmla="*/ 379358 h 611228"/>
                <a:gd name="connsiteX6" fmla="*/ 1173055 w 1173055"/>
                <a:gd name="connsiteY6" fmla="*/ 372072 h 61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055" h="611228">
                  <a:moveTo>
                    <a:pt x="0" y="273710"/>
                  </a:moveTo>
                  <a:cubicBezTo>
                    <a:pt x="55556" y="114631"/>
                    <a:pt x="111112" y="-44448"/>
                    <a:pt x="167579" y="11412"/>
                  </a:cubicBezTo>
                  <a:cubicBezTo>
                    <a:pt x="224046" y="67272"/>
                    <a:pt x="268976" y="572438"/>
                    <a:pt x="338801" y="608868"/>
                  </a:cubicBezTo>
                  <a:cubicBezTo>
                    <a:pt x="408626" y="645298"/>
                    <a:pt x="516095" y="248208"/>
                    <a:pt x="586527" y="229993"/>
                  </a:cubicBezTo>
                  <a:cubicBezTo>
                    <a:pt x="656959" y="211778"/>
                    <a:pt x="681246" y="474684"/>
                    <a:pt x="761393" y="499578"/>
                  </a:cubicBezTo>
                  <a:cubicBezTo>
                    <a:pt x="841540" y="524472"/>
                    <a:pt x="998797" y="400609"/>
                    <a:pt x="1067407" y="379358"/>
                  </a:cubicBezTo>
                  <a:cubicBezTo>
                    <a:pt x="1136017" y="358107"/>
                    <a:pt x="1154536" y="365089"/>
                    <a:pt x="1173055" y="372072"/>
                  </a:cubicBezTo>
                </a:path>
              </a:pathLst>
            </a:custGeom>
            <a:ln w="28575">
              <a:solidFill>
                <a:srgbClr val="FF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latin typeface="Avenir Book" panose="02000503020000020003" pitchFamily="2" charset="0"/>
              </a:endParaRPr>
            </a:p>
          </p:txBody>
        </p:sp>
      </p:grpSp>
      <p:graphicFrame>
        <p:nvGraphicFramePr>
          <p:cNvPr id="10" name="Table 4">
            <a:extLst>
              <a:ext uri="{FF2B5EF4-FFF2-40B4-BE49-F238E27FC236}">
                <a16:creationId xmlns:a16="http://schemas.microsoft.com/office/drawing/2014/main" id="{7F06CD70-84E1-3344-E0FB-B72BC0C39185}"/>
              </a:ext>
            </a:extLst>
          </p:cNvPr>
          <p:cNvGraphicFramePr>
            <a:graphicFrameLocks noGrp="1"/>
          </p:cNvGraphicFramePr>
          <p:nvPr>
            <p:extLst>
              <p:ext uri="{D42A27DB-BD31-4B8C-83A1-F6EECF244321}">
                <p14:modId xmlns:p14="http://schemas.microsoft.com/office/powerpoint/2010/main" val="81126463"/>
              </p:ext>
            </p:extLst>
          </p:nvPr>
        </p:nvGraphicFramePr>
        <p:xfrm>
          <a:off x="8522184" y="3132432"/>
          <a:ext cx="2676086" cy="1009964"/>
        </p:xfrm>
        <a:graphic>
          <a:graphicData uri="http://schemas.openxmlformats.org/drawingml/2006/table">
            <a:tbl>
              <a:tblPr firstRow="1" bandRow="1">
                <a:tableStyleId>{073A0DAA-6AF3-43AB-8588-CEC1D06C72B9}</a:tableStyleId>
              </a:tblPr>
              <a:tblGrid>
                <a:gridCol w="1338043">
                  <a:extLst>
                    <a:ext uri="{9D8B030D-6E8A-4147-A177-3AD203B41FA5}">
                      <a16:colId xmlns:a16="http://schemas.microsoft.com/office/drawing/2014/main" val="1941834303"/>
                    </a:ext>
                  </a:extLst>
                </a:gridCol>
                <a:gridCol w="1338043">
                  <a:extLst>
                    <a:ext uri="{9D8B030D-6E8A-4147-A177-3AD203B41FA5}">
                      <a16:colId xmlns:a16="http://schemas.microsoft.com/office/drawing/2014/main" val="779822208"/>
                    </a:ext>
                  </a:extLst>
                </a:gridCol>
              </a:tblGrid>
              <a:tr h="313703">
                <a:tc>
                  <a:txBody>
                    <a:bodyPr/>
                    <a:lstStyle/>
                    <a:p>
                      <a:pPr algn="ctr"/>
                      <a:r>
                        <a:rPr lang="en-US" sz="2000" dirty="0"/>
                        <a:t>Loudness</a:t>
                      </a:r>
                    </a:p>
                  </a:txBody>
                  <a:tcPr anchor="ctr"/>
                </a:tc>
                <a:tc>
                  <a:txBody>
                    <a:bodyPr/>
                    <a:lstStyle/>
                    <a:p>
                      <a:pPr algn="ctr"/>
                      <a:r>
                        <a:rPr lang="en-US" sz="2000" dirty="0">
                          <a:latin typeface="Avenir Book" panose="02000503020000020003" pitchFamily="2" charset="0"/>
                          <a:ea typeface="Avenir Book" charset="0"/>
                          <a:cs typeface="Avenir Book" charset="0"/>
                        </a:rPr>
                        <a:t>Peak Freq</a:t>
                      </a:r>
                      <a:endParaRPr lang="en-US" sz="2000" dirty="0"/>
                    </a:p>
                  </a:txBody>
                  <a:tcPr anchor="ctr"/>
                </a:tc>
                <a:extLst>
                  <a:ext uri="{0D108BD9-81ED-4DB2-BD59-A6C34878D82A}">
                    <a16:rowId xmlns:a16="http://schemas.microsoft.com/office/drawing/2014/main" val="3267054158"/>
                  </a:ext>
                </a:extLst>
              </a:tr>
              <a:tr h="613724">
                <a:tc>
                  <a:txBody>
                    <a:bodyPr/>
                    <a:lstStyle/>
                    <a:p>
                      <a:pPr algn="ctr"/>
                      <a:r>
                        <a:rPr lang="en-US" sz="2000" dirty="0"/>
                        <a:t>60 dB</a:t>
                      </a:r>
                    </a:p>
                  </a:txBody>
                  <a:tcPr anchor="ctr"/>
                </a:tc>
                <a:tc>
                  <a:txBody>
                    <a:bodyPr/>
                    <a:lstStyle/>
                    <a:p>
                      <a:pPr algn="ctr"/>
                      <a:r>
                        <a:rPr lang="en-US" sz="2000" dirty="0"/>
                        <a:t>200 Hz</a:t>
                      </a:r>
                    </a:p>
                  </a:txBody>
                  <a:tcPr anchor="ctr"/>
                </a:tc>
                <a:extLst>
                  <a:ext uri="{0D108BD9-81ED-4DB2-BD59-A6C34878D82A}">
                    <a16:rowId xmlns:a16="http://schemas.microsoft.com/office/drawing/2014/main" val="3671171536"/>
                  </a:ext>
                </a:extLst>
              </a:tr>
            </a:tbl>
          </a:graphicData>
        </a:graphic>
      </p:graphicFrame>
      <p:pic>
        <p:nvPicPr>
          <p:cNvPr id="11" name="Picture 2">
            <a:extLst>
              <a:ext uri="{FF2B5EF4-FFF2-40B4-BE49-F238E27FC236}">
                <a16:creationId xmlns:a16="http://schemas.microsoft.com/office/drawing/2014/main" id="{A5E69574-283A-451F-F48F-DF9D1D801C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941"/>
          <a:stretch/>
        </p:blipFill>
        <p:spPr bwMode="auto">
          <a:xfrm>
            <a:off x="6599413" y="5053053"/>
            <a:ext cx="1115582" cy="11610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4">
            <a:extLst>
              <a:ext uri="{FF2B5EF4-FFF2-40B4-BE49-F238E27FC236}">
                <a16:creationId xmlns:a16="http://schemas.microsoft.com/office/drawing/2014/main" id="{A1C607D3-7D7E-7287-903B-1649179F05D1}"/>
              </a:ext>
            </a:extLst>
          </p:cNvPr>
          <p:cNvGraphicFramePr>
            <a:graphicFrameLocks noGrp="1"/>
          </p:cNvGraphicFramePr>
          <p:nvPr>
            <p:extLst>
              <p:ext uri="{D42A27DB-BD31-4B8C-83A1-F6EECF244321}">
                <p14:modId xmlns:p14="http://schemas.microsoft.com/office/powerpoint/2010/main" val="2802273691"/>
              </p:ext>
            </p:extLst>
          </p:nvPr>
        </p:nvGraphicFramePr>
        <p:xfrm>
          <a:off x="8234520" y="4976171"/>
          <a:ext cx="3441216" cy="1314764"/>
        </p:xfrm>
        <a:graphic>
          <a:graphicData uri="http://schemas.openxmlformats.org/drawingml/2006/table">
            <a:tbl>
              <a:tblPr firstRow="1" bandRow="1">
                <a:tableStyleId>{073A0DAA-6AF3-43AB-8588-CEC1D06C72B9}</a:tableStyleId>
              </a:tblPr>
              <a:tblGrid>
                <a:gridCol w="1147072">
                  <a:extLst>
                    <a:ext uri="{9D8B030D-6E8A-4147-A177-3AD203B41FA5}">
                      <a16:colId xmlns:a16="http://schemas.microsoft.com/office/drawing/2014/main" val="1941834303"/>
                    </a:ext>
                  </a:extLst>
                </a:gridCol>
                <a:gridCol w="1147072">
                  <a:extLst>
                    <a:ext uri="{9D8B030D-6E8A-4147-A177-3AD203B41FA5}">
                      <a16:colId xmlns:a16="http://schemas.microsoft.com/office/drawing/2014/main" val="779822208"/>
                    </a:ext>
                  </a:extLst>
                </a:gridCol>
                <a:gridCol w="1147072">
                  <a:extLst>
                    <a:ext uri="{9D8B030D-6E8A-4147-A177-3AD203B41FA5}">
                      <a16:colId xmlns:a16="http://schemas.microsoft.com/office/drawing/2014/main" val="1616683273"/>
                    </a:ext>
                  </a:extLst>
                </a:gridCol>
              </a:tblGrid>
              <a:tr h="313703">
                <a:tc>
                  <a:txBody>
                    <a:bodyPr/>
                    <a:lstStyle/>
                    <a:p>
                      <a:pPr algn="ctr"/>
                      <a:r>
                        <a:rPr lang="en-US" sz="2000" dirty="0"/>
                        <a:t># </a:t>
                      </a:r>
                      <a:br>
                        <a:rPr lang="en-US" sz="2000" dirty="0"/>
                      </a:br>
                      <a:r>
                        <a:rPr lang="en-US" sz="2000" dirty="0"/>
                        <a:t>Cells</a:t>
                      </a:r>
                    </a:p>
                  </a:txBody>
                  <a:tcPr anchor="ctr"/>
                </a:tc>
                <a:tc>
                  <a:txBody>
                    <a:bodyPr/>
                    <a:lstStyle/>
                    <a:p>
                      <a:pPr algn="ctr"/>
                      <a:r>
                        <a:rPr lang="en-US" sz="2000" dirty="0">
                          <a:latin typeface="Avenir Book" panose="02000503020000020003" pitchFamily="2" charset="0"/>
                          <a:ea typeface="Avenir Book" charset="0"/>
                          <a:cs typeface="Avenir Book" charset="0"/>
                        </a:rPr>
                        <a:t># Sickles</a:t>
                      </a:r>
                      <a:endParaRPr lang="en-US" sz="2000" dirty="0"/>
                    </a:p>
                  </a:txBody>
                  <a:tcPr anchor="ctr"/>
                </a:tc>
                <a:tc>
                  <a:txBody>
                    <a:bodyPr/>
                    <a:lstStyle/>
                    <a:p>
                      <a:pPr algn="ctr"/>
                      <a:r>
                        <a:rPr lang="en-US" sz="2000" dirty="0"/>
                        <a:t>Avg Hue</a:t>
                      </a:r>
                    </a:p>
                  </a:txBody>
                  <a:tcPr anchor="ctr"/>
                </a:tc>
                <a:extLst>
                  <a:ext uri="{0D108BD9-81ED-4DB2-BD59-A6C34878D82A}">
                    <a16:rowId xmlns:a16="http://schemas.microsoft.com/office/drawing/2014/main" val="3267054158"/>
                  </a:ext>
                </a:extLst>
              </a:tr>
              <a:tr h="613724">
                <a:tc>
                  <a:txBody>
                    <a:bodyPr/>
                    <a:lstStyle/>
                    <a:p>
                      <a:pPr algn="ctr"/>
                      <a:r>
                        <a:rPr lang="en-US" sz="2000" dirty="0"/>
                        <a:t>60</a:t>
                      </a:r>
                    </a:p>
                  </a:txBody>
                  <a:tcPr anchor="ctr"/>
                </a:tc>
                <a:tc>
                  <a:txBody>
                    <a:bodyPr/>
                    <a:lstStyle/>
                    <a:p>
                      <a:pPr algn="ctr"/>
                      <a:r>
                        <a:rPr lang="en-US" sz="2000" dirty="0"/>
                        <a:t>5</a:t>
                      </a:r>
                    </a:p>
                  </a:txBody>
                  <a:tcPr anchor="ctr"/>
                </a:tc>
                <a:tc>
                  <a:txBody>
                    <a:bodyPr/>
                    <a:lstStyle/>
                    <a:p>
                      <a:pPr algn="ctr"/>
                      <a:r>
                        <a:rPr lang="en-US" sz="2000" dirty="0"/>
                        <a:t>54</a:t>
                      </a:r>
                    </a:p>
                  </a:txBody>
                  <a:tcPr anchor="ctr"/>
                </a:tc>
                <a:extLst>
                  <a:ext uri="{0D108BD9-81ED-4DB2-BD59-A6C34878D82A}">
                    <a16:rowId xmlns:a16="http://schemas.microsoft.com/office/drawing/2014/main" val="3671171536"/>
                  </a:ext>
                </a:extLst>
              </a:tr>
            </a:tbl>
          </a:graphicData>
        </a:graphic>
      </p:graphicFrame>
    </p:spTree>
    <p:extLst>
      <p:ext uri="{BB962C8B-B14F-4D97-AF65-F5344CB8AC3E}">
        <p14:creationId xmlns:p14="http://schemas.microsoft.com/office/powerpoint/2010/main" val="3641774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10" presetClass="entr" presetSubtype="0"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FE028-AB9E-4652-425F-A10E78CF0CA4}"/>
              </a:ext>
            </a:extLst>
          </p:cNvPr>
          <p:cNvSpPr>
            <a:spLocks noGrp="1"/>
          </p:cNvSpPr>
          <p:nvPr>
            <p:ph type="title"/>
          </p:nvPr>
        </p:nvSpPr>
        <p:spPr/>
        <p:txBody>
          <a:bodyPr/>
          <a:lstStyle/>
          <a:p>
            <a:r>
              <a:rPr lang="en-US" dirty="0"/>
              <a:t>Structure of Our Dataset</a:t>
            </a:r>
          </a:p>
        </p:txBody>
      </p:sp>
      <p:graphicFrame>
        <p:nvGraphicFramePr>
          <p:cNvPr id="4" name="Table 4">
            <a:extLst>
              <a:ext uri="{FF2B5EF4-FFF2-40B4-BE49-F238E27FC236}">
                <a16:creationId xmlns:a16="http://schemas.microsoft.com/office/drawing/2014/main" id="{CA815E22-55AE-89E0-47A9-AA941714D29C}"/>
              </a:ext>
            </a:extLst>
          </p:cNvPr>
          <p:cNvGraphicFramePr>
            <a:graphicFrameLocks noGrp="1"/>
          </p:cNvGraphicFramePr>
          <p:nvPr>
            <p:extLst>
              <p:ext uri="{D42A27DB-BD31-4B8C-83A1-F6EECF244321}">
                <p14:modId xmlns:p14="http://schemas.microsoft.com/office/powerpoint/2010/main" val="797669774"/>
              </p:ext>
            </p:extLst>
          </p:nvPr>
        </p:nvGraphicFramePr>
        <p:xfrm>
          <a:off x="2209800" y="1355970"/>
          <a:ext cx="9372603" cy="3769660"/>
        </p:xfrm>
        <a:graphic>
          <a:graphicData uri="http://schemas.openxmlformats.org/drawingml/2006/table">
            <a:tbl>
              <a:tblPr firstRow="1" bandRow="1">
                <a:tableStyleId>{073A0DAA-6AF3-43AB-8588-CEC1D06C72B9}</a:tableStyleId>
              </a:tblPr>
              <a:tblGrid>
                <a:gridCol w="1143000">
                  <a:extLst>
                    <a:ext uri="{9D8B030D-6E8A-4147-A177-3AD203B41FA5}">
                      <a16:colId xmlns:a16="http://schemas.microsoft.com/office/drawing/2014/main" val="3063777428"/>
                    </a:ext>
                  </a:extLst>
                </a:gridCol>
                <a:gridCol w="874712">
                  <a:extLst>
                    <a:ext uri="{9D8B030D-6E8A-4147-A177-3AD203B41FA5}">
                      <a16:colId xmlns:a16="http://schemas.microsoft.com/office/drawing/2014/main" val="1941834303"/>
                    </a:ext>
                  </a:extLst>
                </a:gridCol>
                <a:gridCol w="1041400">
                  <a:extLst>
                    <a:ext uri="{9D8B030D-6E8A-4147-A177-3AD203B41FA5}">
                      <a16:colId xmlns:a16="http://schemas.microsoft.com/office/drawing/2014/main" val="779822208"/>
                    </a:ext>
                  </a:extLst>
                </a:gridCol>
                <a:gridCol w="1822451">
                  <a:extLst>
                    <a:ext uri="{9D8B030D-6E8A-4147-A177-3AD203B41FA5}">
                      <a16:colId xmlns:a16="http://schemas.microsoft.com/office/drawing/2014/main" val="1616683273"/>
                    </a:ext>
                  </a:extLst>
                </a:gridCol>
                <a:gridCol w="1976437">
                  <a:extLst>
                    <a:ext uri="{9D8B030D-6E8A-4147-A177-3AD203B41FA5}">
                      <a16:colId xmlns:a16="http://schemas.microsoft.com/office/drawing/2014/main" val="1733815723"/>
                    </a:ext>
                  </a:extLst>
                </a:gridCol>
                <a:gridCol w="1175660">
                  <a:extLst>
                    <a:ext uri="{9D8B030D-6E8A-4147-A177-3AD203B41FA5}">
                      <a16:colId xmlns:a16="http://schemas.microsoft.com/office/drawing/2014/main" val="3103063089"/>
                    </a:ext>
                  </a:extLst>
                </a:gridCol>
                <a:gridCol w="1338943">
                  <a:extLst>
                    <a:ext uri="{9D8B030D-6E8A-4147-A177-3AD203B41FA5}">
                      <a16:colId xmlns:a16="http://schemas.microsoft.com/office/drawing/2014/main" val="3439709919"/>
                    </a:ext>
                  </a:extLst>
                </a:gridCol>
              </a:tblGrid>
              <a:tr h="313703">
                <a:tc>
                  <a:txBody>
                    <a:bodyPr/>
                    <a:lstStyle/>
                    <a:p>
                      <a:pPr algn="ctr"/>
                      <a:r>
                        <a:rPr lang="en-US" sz="2000" dirty="0"/>
                        <a:t>Subject ID</a:t>
                      </a:r>
                    </a:p>
                  </a:txBody>
                  <a:tcPr anchor="ctr"/>
                </a:tc>
                <a:tc>
                  <a:txBody>
                    <a:bodyPr/>
                    <a:lstStyle/>
                    <a:p>
                      <a:pPr algn="ctr"/>
                      <a:r>
                        <a:rPr lang="en-US" sz="2000" dirty="0"/>
                        <a:t>Age</a:t>
                      </a:r>
                    </a:p>
                  </a:txBody>
                  <a:tcPr anchor="ctr"/>
                </a:tc>
                <a:tc>
                  <a:txBody>
                    <a:bodyPr/>
                    <a:lstStyle/>
                    <a:p>
                      <a:pPr algn="ctr"/>
                      <a:r>
                        <a:rPr lang="en-US" sz="2000" dirty="0"/>
                        <a:t>Heart Rate</a:t>
                      </a:r>
                    </a:p>
                  </a:txBody>
                  <a:tcPr anchor="ctr"/>
                </a:tc>
                <a:tc>
                  <a:txBody>
                    <a:bodyPr/>
                    <a:lstStyle/>
                    <a:p>
                      <a:pPr algn="ctr"/>
                      <a:r>
                        <a:rPr lang="en-US" sz="2000" dirty="0"/>
                        <a:t>Systolic Blood Pressure</a:t>
                      </a:r>
                    </a:p>
                  </a:txBody>
                  <a:tcPr anchor="ctr"/>
                </a:tc>
                <a:tc>
                  <a:txBody>
                    <a:bodyPr/>
                    <a:lstStyle/>
                    <a:p>
                      <a:pPr algn="ctr"/>
                      <a:r>
                        <a:rPr lang="en-US" sz="2000" dirty="0"/>
                        <a:t>Diastolic Blood Pressure</a:t>
                      </a:r>
                    </a:p>
                  </a:txBody>
                  <a:tcPr anchor="ctr"/>
                </a:tc>
                <a:tc>
                  <a:txBody>
                    <a:bodyPr/>
                    <a:lstStyle/>
                    <a:p>
                      <a:pPr algn="ctr"/>
                      <a:r>
                        <a:rPr lang="en-US" sz="2000" dirty="0"/>
                        <a:t>SpO</a:t>
                      </a:r>
                      <a:r>
                        <a:rPr lang="en-US" sz="2000" baseline="-25000" dirty="0"/>
                        <a:t>2</a:t>
                      </a:r>
                      <a:endParaRPr lang="en-US" sz="2000" dirty="0"/>
                    </a:p>
                  </a:txBody>
                  <a:tcPr anchor="ctr"/>
                </a:tc>
                <a:tc>
                  <a:txBody>
                    <a:bodyPr/>
                    <a:lstStyle/>
                    <a:p>
                      <a:pPr algn="ctr"/>
                      <a:r>
                        <a:rPr lang="en-US" sz="2000" dirty="0"/>
                        <a:t>Has Sepsis?</a:t>
                      </a:r>
                    </a:p>
                  </a:txBody>
                  <a:tcPr anchor="ctr"/>
                </a:tc>
                <a:extLst>
                  <a:ext uri="{0D108BD9-81ED-4DB2-BD59-A6C34878D82A}">
                    <a16:rowId xmlns:a16="http://schemas.microsoft.com/office/drawing/2014/main" val="3267054158"/>
                  </a:ext>
                </a:extLst>
              </a:tr>
              <a:tr h="613724">
                <a:tc>
                  <a:txBody>
                    <a:bodyPr/>
                    <a:lstStyle/>
                    <a:p>
                      <a:pPr algn="ctr"/>
                      <a:r>
                        <a:rPr lang="en-US" sz="2000" dirty="0"/>
                        <a:t>P01</a:t>
                      </a:r>
                    </a:p>
                  </a:txBody>
                  <a:tcPr anchor="ctr"/>
                </a:tc>
                <a:tc>
                  <a:txBody>
                    <a:bodyPr/>
                    <a:lstStyle/>
                    <a:p>
                      <a:pPr algn="ctr"/>
                      <a:r>
                        <a:rPr lang="en-US" sz="2000" dirty="0"/>
                        <a:t>34</a:t>
                      </a:r>
                    </a:p>
                  </a:txBody>
                  <a:tcPr anchor="ctr"/>
                </a:tc>
                <a:tc>
                  <a:txBody>
                    <a:bodyPr/>
                    <a:lstStyle/>
                    <a:p>
                      <a:pPr algn="ctr"/>
                      <a:r>
                        <a:rPr lang="en-US" sz="2000" dirty="0"/>
                        <a:t>77</a:t>
                      </a:r>
                    </a:p>
                  </a:txBody>
                  <a:tcPr anchor="ctr"/>
                </a:tc>
                <a:tc>
                  <a:txBody>
                    <a:bodyPr/>
                    <a:lstStyle/>
                    <a:p>
                      <a:pPr algn="ctr"/>
                      <a:r>
                        <a:rPr lang="en-US" sz="2000" dirty="0"/>
                        <a:t>117</a:t>
                      </a:r>
                    </a:p>
                  </a:txBody>
                  <a:tcPr anchor="ctr"/>
                </a:tc>
                <a:tc>
                  <a:txBody>
                    <a:bodyPr/>
                    <a:lstStyle/>
                    <a:p>
                      <a:pPr algn="ctr"/>
                      <a:r>
                        <a:rPr lang="en-US" sz="2000" dirty="0"/>
                        <a:t>72</a:t>
                      </a:r>
                    </a:p>
                  </a:txBody>
                  <a:tcPr anchor="ctr"/>
                </a:tc>
                <a:tc>
                  <a:txBody>
                    <a:bodyPr/>
                    <a:lstStyle/>
                    <a:p>
                      <a:pPr algn="ctr"/>
                      <a:r>
                        <a:rPr lang="en-US" sz="2000" dirty="0"/>
                        <a:t>100.0</a:t>
                      </a:r>
                    </a:p>
                  </a:txBody>
                  <a:tcPr anchor="ctr"/>
                </a:tc>
                <a:tc>
                  <a:txBody>
                    <a:bodyPr/>
                    <a:lstStyle/>
                    <a:p>
                      <a:pPr algn="ctr"/>
                      <a:r>
                        <a:rPr lang="en-US" sz="2000" dirty="0"/>
                        <a:t>No</a:t>
                      </a:r>
                    </a:p>
                  </a:txBody>
                  <a:tcPr anchor="ctr"/>
                </a:tc>
                <a:extLst>
                  <a:ext uri="{0D108BD9-81ED-4DB2-BD59-A6C34878D82A}">
                    <a16:rowId xmlns:a16="http://schemas.microsoft.com/office/drawing/2014/main" val="3671171536"/>
                  </a:ext>
                </a:extLst>
              </a:tr>
              <a:tr h="613724">
                <a:tc>
                  <a:txBody>
                    <a:bodyPr/>
                    <a:lstStyle/>
                    <a:p>
                      <a:pPr algn="ctr"/>
                      <a:r>
                        <a:rPr lang="en-US" sz="2000" dirty="0"/>
                        <a:t>P02</a:t>
                      </a:r>
                    </a:p>
                  </a:txBody>
                  <a:tcPr anchor="ctr"/>
                </a:tc>
                <a:tc>
                  <a:txBody>
                    <a:bodyPr/>
                    <a:lstStyle/>
                    <a:p>
                      <a:pPr algn="ctr"/>
                      <a:r>
                        <a:rPr lang="en-US" sz="2000" dirty="0"/>
                        <a:t>78</a:t>
                      </a:r>
                    </a:p>
                  </a:txBody>
                  <a:tcPr anchor="ctr"/>
                </a:tc>
                <a:tc>
                  <a:txBody>
                    <a:bodyPr/>
                    <a:lstStyle/>
                    <a:p>
                      <a:pPr algn="ctr"/>
                      <a:r>
                        <a:rPr lang="en-US" sz="2000" dirty="0"/>
                        <a:t>87</a:t>
                      </a:r>
                    </a:p>
                  </a:txBody>
                  <a:tcPr anchor="ctr"/>
                </a:tc>
                <a:tc>
                  <a:txBody>
                    <a:bodyPr/>
                    <a:lstStyle/>
                    <a:p>
                      <a:pPr algn="ctr"/>
                      <a:r>
                        <a:rPr lang="en-US" sz="2000" dirty="0"/>
                        <a:t>163</a:t>
                      </a:r>
                    </a:p>
                  </a:txBody>
                  <a:tcPr anchor="ctr"/>
                </a:tc>
                <a:tc>
                  <a:txBody>
                    <a:bodyPr/>
                    <a:lstStyle/>
                    <a:p>
                      <a:pPr algn="ctr"/>
                      <a:r>
                        <a:rPr lang="en-US" sz="2000" dirty="0"/>
                        <a:t>79</a:t>
                      </a:r>
                    </a:p>
                  </a:txBody>
                  <a:tcPr anchor="ctr"/>
                </a:tc>
                <a:tc>
                  <a:txBody>
                    <a:bodyPr/>
                    <a:lstStyle/>
                    <a:p>
                      <a:pPr algn="ctr"/>
                      <a:r>
                        <a:rPr lang="en-US" sz="2000" dirty="0"/>
                        <a:t>95.9</a:t>
                      </a:r>
                    </a:p>
                  </a:txBody>
                  <a:tcPr anchor="ctr"/>
                </a:tc>
                <a:tc>
                  <a:txBody>
                    <a:bodyPr/>
                    <a:lstStyle/>
                    <a:p>
                      <a:pPr algn="ctr"/>
                      <a:r>
                        <a:rPr lang="en-US" sz="2000" dirty="0"/>
                        <a:t>Yes</a:t>
                      </a:r>
                    </a:p>
                  </a:txBody>
                  <a:tcPr anchor="ctr"/>
                </a:tc>
                <a:extLst>
                  <a:ext uri="{0D108BD9-81ED-4DB2-BD59-A6C34878D82A}">
                    <a16:rowId xmlns:a16="http://schemas.microsoft.com/office/drawing/2014/main" val="3970411501"/>
                  </a:ext>
                </a:extLst>
              </a:tr>
              <a:tr h="613724">
                <a:tc>
                  <a:txBody>
                    <a:bodyPr/>
                    <a:lstStyle/>
                    <a:p>
                      <a:pPr algn="ctr"/>
                      <a:r>
                        <a:rPr lang="en-US" sz="2000" dirty="0"/>
                        <a:t>P03</a:t>
                      </a:r>
                    </a:p>
                  </a:txBody>
                  <a:tcPr anchor="ctr"/>
                </a:tc>
                <a:tc>
                  <a:txBody>
                    <a:bodyPr/>
                    <a:lstStyle/>
                    <a:p>
                      <a:pPr algn="ctr"/>
                      <a:r>
                        <a:rPr lang="en-US" sz="2000" dirty="0"/>
                        <a:t>57</a:t>
                      </a:r>
                    </a:p>
                  </a:txBody>
                  <a:tcPr anchor="ctr"/>
                </a:tc>
                <a:tc>
                  <a:txBody>
                    <a:bodyPr/>
                    <a:lstStyle/>
                    <a:p>
                      <a:pPr algn="ctr"/>
                      <a:r>
                        <a:rPr lang="en-US" sz="2000" dirty="0"/>
                        <a:t>66</a:t>
                      </a:r>
                    </a:p>
                  </a:txBody>
                  <a:tcPr anchor="ctr"/>
                </a:tc>
                <a:tc>
                  <a:txBody>
                    <a:bodyPr/>
                    <a:lstStyle/>
                    <a:p>
                      <a:pPr algn="ctr"/>
                      <a:r>
                        <a:rPr lang="en-US" sz="2000" dirty="0"/>
                        <a:t>144</a:t>
                      </a:r>
                    </a:p>
                  </a:txBody>
                  <a:tcPr anchor="ctr"/>
                </a:tc>
                <a:tc>
                  <a:txBody>
                    <a:bodyPr/>
                    <a:lstStyle/>
                    <a:p>
                      <a:pPr algn="ctr"/>
                      <a:r>
                        <a:rPr lang="en-US" sz="2000" dirty="0"/>
                        <a:t>81</a:t>
                      </a:r>
                    </a:p>
                  </a:txBody>
                  <a:tcPr anchor="ctr"/>
                </a:tc>
                <a:tc>
                  <a:txBody>
                    <a:bodyPr/>
                    <a:lstStyle/>
                    <a:p>
                      <a:pPr algn="ctr"/>
                      <a:r>
                        <a:rPr lang="en-US" sz="2000" dirty="0"/>
                        <a:t>97.6</a:t>
                      </a:r>
                    </a:p>
                  </a:txBody>
                  <a:tcPr anchor="ctr"/>
                </a:tc>
                <a:tc>
                  <a:txBody>
                    <a:bodyPr/>
                    <a:lstStyle/>
                    <a:p>
                      <a:pPr algn="ctr"/>
                      <a:r>
                        <a:rPr lang="en-US" sz="2000" dirty="0"/>
                        <a:t>No</a:t>
                      </a:r>
                    </a:p>
                  </a:txBody>
                  <a:tcPr anchor="ctr"/>
                </a:tc>
                <a:extLst>
                  <a:ext uri="{0D108BD9-81ED-4DB2-BD59-A6C34878D82A}">
                    <a16:rowId xmlns:a16="http://schemas.microsoft.com/office/drawing/2014/main" val="3723279564"/>
                  </a:ext>
                </a:extLst>
              </a:tr>
              <a:tr h="613724">
                <a:tc>
                  <a:txBody>
                    <a:bodyPr/>
                    <a:lstStyle/>
                    <a:p>
                      <a:pPr algn="ctr"/>
                      <a:r>
                        <a:rPr lang="en-US" sz="2000" dirty="0"/>
                        <a:t>P04</a:t>
                      </a:r>
                    </a:p>
                  </a:txBody>
                  <a:tcPr anchor="ctr"/>
                </a:tc>
                <a:tc>
                  <a:txBody>
                    <a:bodyPr/>
                    <a:lstStyle/>
                    <a:p>
                      <a:pPr algn="ctr"/>
                      <a:r>
                        <a:rPr lang="en-US" sz="2000" dirty="0"/>
                        <a:t>23</a:t>
                      </a:r>
                    </a:p>
                  </a:txBody>
                  <a:tcPr anchor="ctr"/>
                </a:tc>
                <a:tc>
                  <a:txBody>
                    <a:bodyPr/>
                    <a:lstStyle/>
                    <a:p>
                      <a:pPr algn="ctr"/>
                      <a:r>
                        <a:rPr lang="en-US" sz="2000" dirty="0"/>
                        <a:t>93</a:t>
                      </a:r>
                    </a:p>
                  </a:txBody>
                  <a:tcPr anchor="ctr"/>
                </a:tc>
                <a:tc>
                  <a:txBody>
                    <a:bodyPr/>
                    <a:lstStyle/>
                    <a:p>
                      <a:pPr algn="ctr"/>
                      <a:r>
                        <a:rPr lang="en-US" sz="2000" dirty="0"/>
                        <a:t>167</a:t>
                      </a:r>
                    </a:p>
                  </a:txBody>
                  <a:tcPr anchor="ctr"/>
                </a:tc>
                <a:tc>
                  <a:txBody>
                    <a:bodyPr/>
                    <a:lstStyle/>
                    <a:p>
                      <a:pPr algn="ctr"/>
                      <a:r>
                        <a:rPr lang="en-US" sz="2000" dirty="0"/>
                        <a:t>94</a:t>
                      </a:r>
                    </a:p>
                  </a:txBody>
                  <a:tcPr anchor="ctr"/>
                </a:tc>
                <a:tc>
                  <a:txBody>
                    <a:bodyPr/>
                    <a:lstStyle/>
                    <a:p>
                      <a:pPr algn="ctr"/>
                      <a:r>
                        <a:rPr lang="en-US" sz="2000" dirty="0"/>
                        <a:t>94.0</a:t>
                      </a:r>
                    </a:p>
                  </a:txBody>
                  <a:tcPr anchor="ctr"/>
                </a:tc>
                <a:tc>
                  <a:txBody>
                    <a:bodyPr/>
                    <a:lstStyle/>
                    <a:p>
                      <a:pPr algn="ctr"/>
                      <a:r>
                        <a:rPr lang="en-US" sz="2000" dirty="0"/>
                        <a:t>Yes</a:t>
                      </a:r>
                    </a:p>
                  </a:txBody>
                  <a:tcPr anchor="ctr"/>
                </a:tc>
                <a:extLst>
                  <a:ext uri="{0D108BD9-81ED-4DB2-BD59-A6C34878D82A}">
                    <a16:rowId xmlns:a16="http://schemas.microsoft.com/office/drawing/2014/main" val="2173934539"/>
                  </a:ext>
                </a:extLst>
              </a:tr>
              <a:tr h="613724">
                <a:tc>
                  <a:txBody>
                    <a:bodyPr/>
                    <a:lstStyle/>
                    <a:p>
                      <a:pPr algn="ctr"/>
                      <a:r>
                        <a:rPr lang="en-US" sz="2000" dirty="0"/>
                        <a:t>P05</a:t>
                      </a:r>
                    </a:p>
                  </a:txBody>
                  <a:tcPr anchor="ctr"/>
                </a:tc>
                <a:tc>
                  <a:txBody>
                    <a:bodyPr/>
                    <a:lstStyle/>
                    <a:p>
                      <a:pPr algn="ctr"/>
                      <a:r>
                        <a:rPr lang="en-US" sz="2000" dirty="0"/>
                        <a:t>81</a:t>
                      </a:r>
                    </a:p>
                  </a:txBody>
                  <a:tcPr anchor="ctr"/>
                </a:tc>
                <a:tc>
                  <a:txBody>
                    <a:bodyPr/>
                    <a:lstStyle/>
                    <a:p>
                      <a:pPr algn="ctr"/>
                      <a:r>
                        <a:rPr lang="en-US" sz="2000" dirty="0"/>
                        <a:t>90</a:t>
                      </a:r>
                    </a:p>
                  </a:txBody>
                  <a:tcPr anchor="ctr"/>
                </a:tc>
                <a:tc>
                  <a:txBody>
                    <a:bodyPr/>
                    <a:lstStyle/>
                    <a:p>
                      <a:pPr algn="ctr"/>
                      <a:r>
                        <a:rPr lang="en-US" sz="2000" dirty="0"/>
                        <a:t>123</a:t>
                      </a:r>
                    </a:p>
                  </a:txBody>
                  <a:tcPr anchor="ctr"/>
                </a:tc>
                <a:tc>
                  <a:txBody>
                    <a:bodyPr/>
                    <a:lstStyle/>
                    <a:p>
                      <a:pPr algn="ctr"/>
                      <a:r>
                        <a:rPr lang="en-US" sz="2000" dirty="0"/>
                        <a:t>86</a:t>
                      </a:r>
                    </a:p>
                  </a:txBody>
                  <a:tcPr anchor="ctr"/>
                </a:tc>
                <a:tc>
                  <a:txBody>
                    <a:bodyPr/>
                    <a:lstStyle/>
                    <a:p>
                      <a:pPr algn="ctr"/>
                      <a:r>
                        <a:rPr lang="en-US" sz="2000" dirty="0"/>
                        <a:t>99.7</a:t>
                      </a:r>
                    </a:p>
                  </a:txBody>
                  <a:tcPr anchor="ctr"/>
                </a:tc>
                <a:tc>
                  <a:txBody>
                    <a:bodyPr/>
                    <a:lstStyle/>
                    <a:p>
                      <a:pPr algn="ctr"/>
                      <a:r>
                        <a:rPr lang="en-US" sz="2000" dirty="0"/>
                        <a:t>Yes</a:t>
                      </a:r>
                    </a:p>
                  </a:txBody>
                  <a:tcPr anchor="ctr"/>
                </a:tc>
                <a:extLst>
                  <a:ext uri="{0D108BD9-81ED-4DB2-BD59-A6C34878D82A}">
                    <a16:rowId xmlns:a16="http://schemas.microsoft.com/office/drawing/2014/main" val="3311920804"/>
                  </a:ext>
                </a:extLst>
              </a:tr>
            </a:tbl>
          </a:graphicData>
        </a:graphic>
      </p:graphicFrame>
      <p:grpSp>
        <p:nvGrpSpPr>
          <p:cNvPr id="22" name="Group 21">
            <a:extLst>
              <a:ext uri="{FF2B5EF4-FFF2-40B4-BE49-F238E27FC236}">
                <a16:creationId xmlns:a16="http://schemas.microsoft.com/office/drawing/2014/main" id="{7A69B683-F379-2D56-00E2-F0A0E516C17D}"/>
              </a:ext>
            </a:extLst>
          </p:cNvPr>
          <p:cNvGrpSpPr/>
          <p:nvPr/>
        </p:nvGrpSpPr>
        <p:grpSpPr>
          <a:xfrm>
            <a:off x="3352810" y="5430429"/>
            <a:ext cx="6927890" cy="884821"/>
            <a:chOff x="3352810" y="5507417"/>
            <a:chExt cx="6927890" cy="884821"/>
          </a:xfrm>
        </p:grpSpPr>
        <p:sp>
          <p:nvSpPr>
            <p:cNvPr id="5" name="TextBox 4">
              <a:extLst>
                <a:ext uri="{FF2B5EF4-FFF2-40B4-BE49-F238E27FC236}">
                  <a16:creationId xmlns:a16="http://schemas.microsoft.com/office/drawing/2014/main" id="{83B782FA-99FA-745A-9430-6ECC135863AC}"/>
                </a:ext>
              </a:extLst>
            </p:cNvPr>
            <p:cNvSpPr txBox="1"/>
            <p:nvPr/>
          </p:nvSpPr>
          <p:spPr>
            <a:xfrm>
              <a:off x="6135669" y="5930573"/>
              <a:ext cx="1362169" cy="461665"/>
            </a:xfrm>
            <a:prstGeom prst="rect">
              <a:avLst/>
            </a:prstGeom>
            <a:noFill/>
          </p:spPr>
          <p:txBody>
            <a:bodyPr wrap="none" rtlCol="0" anchor="ctr">
              <a:spAutoFit/>
            </a:bodyPr>
            <a:lstStyle/>
            <a:p>
              <a:pPr algn="ctr"/>
              <a:r>
                <a:rPr lang="en-US" sz="2400" dirty="0"/>
                <a:t>Features</a:t>
              </a:r>
            </a:p>
          </p:txBody>
        </p:sp>
        <p:sp>
          <p:nvSpPr>
            <p:cNvPr id="7" name="Left Brace 6">
              <a:extLst>
                <a:ext uri="{FF2B5EF4-FFF2-40B4-BE49-F238E27FC236}">
                  <a16:creationId xmlns:a16="http://schemas.microsoft.com/office/drawing/2014/main" id="{D4527B0F-70B8-8EB7-6EF3-4D8598488EE7}"/>
                </a:ext>
              </a:extLst>
            </p:cNvPr>
            <p:cNvSpPr/>
            <p:nvPr/>
          </p:nvSpPr>
          <p:spPr>
            <a:xfrm rot="16200000" flipV="1">
              <a:off x="6605178" y="2255049"/>
              <a:ext cx="423153" cy="6927890"/>
            </a:xfrm>
            <a:prstGeom prst="leftBrac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venir Book" panose="02000503020000020003" pitchFamily="2" charset="0"/>
              </a:endParaRPr>
            </a:p>
          </p:txBody>
        </p:sp>
      </p:grpSp>
      <p:grpSp>
        <p:nvGrpSpPr>
          <p:cNvPr id="23" name="Group 22">
            <a:extLst>
              <a:ext uri="{FF2B5EF4-FFF2-40B4-BE49-F238E27FC236}">
                <a16:creationId xmlns:a16="http://schemas.microsoft.com/office/drawing/2014/main" id="{F69A0935-6A2C-B648-2359-43A1E0DFB1C0}"/>
              </a:ext>
            </a:extLst>
          </p:cNvPr>
          <p:cNvGrpSpPr/>
          <p:nvPr/>
        </p:nvGrpSpPr>
        <p:grpSpPr>
          <a:xfrm>
            <a:off x="10366888" y="5430429"/>
            <a:ext cx="1063112" cy="884821"/>
            <a:chOff x="10366888" y="5507417"/>
            <a:chExt cx="1063112" cy="884821"/>
          </a:xfrm>
        </p:grpSpPr>
        <p:sp>
          <p:nvSpPr>
            <p:cNvPr id="6" name="TextBox 5">
              <a:extLst>
                <a:ext uri="{FF2B5EF4-FFF2-40B4-BE49-F238E27FC236}">
                  <a16:creationId xmlns:a16="http://schemas.microsoft.com/office/drawing/2014/main" id="{26ACD1AD-CC85-F218-1C0A-0B9A7A08B17B}"/>
                </a:ext>
              </a:extLst>
            </p:cNvPr>
            <p:cNvSpPr txBox="1"/>
            <p:nvPr/>
          </p:nvSpPr>
          <p:spPr>
            <a:xfrm>
              <a:off x="10366888" y="5930573"/>
              <a:ext cx="1063112" cy="461665"/>
            </a:xfrm>
            <a:prstGeom prst="rect">
              <a:avLst/>
            </a:prstGeom>
            <a:noFill/>
          </p:spPr>
          <p:txBody>
            <a:bodyPr wrap="none" rtlCol="0" anchor="ctr">
              <a:spAutoFit/>
            </a:bodyPr>
            <a:lstStyle/>
            <a:p>
              <a:pPr algn="ctr"/>
              <a:r>
                <a:rPr lang="en-US" sz="2400" dirty="0"/>
                <a:t>Labels</a:t>
              </a:r>
            </a:p>
          </p:txBody>
        </p:sp>
        <p:cxnSp>
          <p:nvCxnSpPr>
            <p:cNvPr id="9" name="Straight Arrow Connector 8">
              <a:extLst>
                <a:ext uri="{FF2B5EF4-FFF2-40B4-BE49-F238E27FC236}">
                  <a16:creationId xmlns:a16="http://schemas.microsoft.com/office/drawing/2014/main" id="{3A2E73E2-B093-C922-54BE-87CB6445ADA9}"/>
                </a:ext>
              </a:extLst>
            </p:cNvPr>
            <p:cNvCxnSpPr>
              <a:cxnSpLocks/>
              <a:stCxn id="6" idx="0"/>
            </p:cNvCxnSpPr>
            <p:nvPr/>
          </p:nvCxnSpPr>
          <p:spPr>
            <a:xfrm flipV="1">
              <a:off x="10898444" y="5507417"/>
              <a:ext cx="0" cy="423156"/>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B48DA0BB-DE31-CFA2-6F8D-AA9C2B3675FD}"/>
              </a:ext>
            </a:extLst>
          </p:cNvPr>
          <p:cNvGrpSpPr/>
          <p:nvPr/>
        </p:nvGrpSpPr>
        <p:grpSpPr>
          <a:xfrm>
            <a:off x="307797" y="5430430"/>
            <a:ext cx="5023234" cy="1254152"/>
            <a:chOff x="307797" y="5507418"/>
            <a:chExt cx="5023234" cy="1254152"/>
          </a:xfrm>
        </p:grpSpPr>
        <p:sp>
          <p:nvSpPr>
            <p:cNvPr id="10" name="TextBox 9">
              <a:extLst>
                <a:ext uri="{FF2B5EF4-FFF2-40B4-BE49-F238E27FC236}">
                  <a16:creationId xmlns:a16="http://schemas.microsoft.com/office/drawing/2014/main" id="{2EEBD7E6-C5B2-3CEA-6281-801BD3A9C13E}"/>
                </a:ext>
              </a:extLst>
            </p:cNvPr>
            <p:cNvSpPr txBox="1"/>
            <p:nvPr/>
          </p:nvSpPr>
          <p:spPr>
            <a:xfrm>
              <a:off x="307797" y="5930573"/>
              <a:ext cx="5023234" cy="830997"/>
            </a:xfrm>
            <a:prstGeom prst="rect">
              <a:avLst/>
            </a:prstGeom>
            <a:noFill/>
          </p:spPr>
          <p:txBody>
            <a:bodyPr wrap="none" rtlCol="0" anchor="ctr">
              <a:spAutoFit/>
            </a:bodyPr>
            <a:lstStyle/>
            <a:p>
              <a:pPr algn="ctr"/>
              <a:r>
                <a:rPr lang="en-US" sz="2400" dirty="0"/>
                <a:t>Identifying information that should</a:t>
              </a:r>
              <a:br>
                <a:rPr lang="en-US" sz="2400" dirty="0"/>
              </a:br>
              <a:r>
                <a:rPr lang="en-US" sz="2400" dirty="0"/>
                <a:t>not be used for learning</a:t>
              </a:r>
            </a:p>
          </p:txBody>
        </p:sp>
        <p:cxnSp>
          <p:nvCxnSpPr>
            <p:cNvPr id="13" name="Straight Arrow Connector 12">
              <a:extLst>
                <a:ext uri="{FF2B5EF4-FFF2-40B4-BE49-F238E27FC236}">
                  <a16:creationId xmlns:a16="http://schemas.microsoft.com/office/drawing/2014/main" id="{186418AA-D15A-FD14-03D1-2A66173F22FD}"/>
                </a:ext>
              </a:extLst>
            </p:cNvPr>
            <p:cNvCxnSpPr>
              <a:cxnSpLocks/>
              <a:stCxn id="10" idx="0"/>
            </p:cNvCxnSpPr>
            <p:nvPr/>
          </p:nvCxnSpPr>
          <p:spPr>
            <a:xfrm flipV="1">
              <a:off x="2819414" y="5507418"/>
              <a:ext cx="0" cy="423155"/>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D637AF7F-3DF7-8DAE-1F21-2E82C6CC9A53}"/>
              </a:ext>
            </a:extLst>
          </p:cNvPr>
          <p:cNvGrpSpPr/>
          <p:nvPr/>
        </p:nvGrpSpPr>
        <p:grpSpPr>
          <a:xfrm>
            <a:off x="171371" y="2057400"/>
            <a:ext cx="1953807" cy="3026382"/>
            <a:chOff x="171371" y="2160915"/>
            <a:chExt cx="1953807" cy="3026382"/>
          </a:xfrm>
        </p:grpSpPr>
        <p:sp>
          <p:nvSpPr>
            <p:cNvPr id="14" name="TextBox 13">
              <a:extLst>
                <a:ext uri="{FF2B5EF4-FFF2-40B4-BE49-F238E27FC236}">
                  <a16:creationId xmlns:a16="http://schemas.microsoft.com/office/drawing/2014/main" id="{BDABC5EB-E0B8-5CC4-08F4-D2400EFC59E4}"/>
                </a:ext>
              </a:extLst>
            </p:cNvPr>
            <p:cNvSpPr txBox="1"/>
            <p:nvPr/>
          </p:nvSpPr>
          <p:spPr>
            <a:xfrm>
              <a:off x="171371" y="3443273"/>
              <a:ext cx="1343638" cy="461665"/>
            </a:xfrm>
            <a:prstGeom prst="rect">
              <a:avLst/>
            </a:prstGeom>
            <a:noFill/>
          </p:spPr>
          <p:txBody>
            <a:bodyPr wrap="none" rtlCol="0" anchor="ctr">
              <a:spAutoFit/>
            </a:bodyPr>
            <a:lstStyle/>
            <a:p>
              <a:pPr algn="ctr"/>
              <a:r>
                <a:rPr lang="en-US" sz="2400" dirty="0"/>
                <a:t>Samples</a:t>
              </a:r>
            </a:p>
          </p:txBody>
        </p:sp>
        <p:sp>
          <p:nvSpPr>
            <p:cNvPr id="15" name="Left Brace 14">
              <a:extLst>
                <a:ext uri="{FF2B5EF4-FFF2-40B4-BE49-F238E27FC236}">
                  <a16:creationId xmlns:a16="http://schemas.microsoft.com/office/drawing/2014/main" id="{548C81C7-FB4D-2FEB-BEC1-0C785CC405C1}"/>
                </a:ext>
              </a:extLst>
            </p:cNvPr>
            <p:cNvSpPr/>
            <p:nvPr/>
          </p:nvSpPr>
          <p:spPr>
            <a:xfrm flipV="1">
              <a:off x="1643290" y="2160915"/>
              <a:ext cx="481888" cy="3026382"/>
            </a:xfrm>
            <a:prstGeom prst="leftBrac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spTree>
    <p:extLst>
      <p:ext uri="{BB962C8B-B14F-4D97-AF65-F5344CB8AC3E}">
        <p14:creationId xmlns:p14="http://schemas.microsoft.com/office/powerpoint/2010/main" val="1491112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A5102-57A6-B566-5B43-1AA7D4630002}"/>
              </a:ext>
            </a:extLst>
          </p:cNvPr>
          <p:cNvSpPr>
            <a:spLocks noGrp="1"/>
          </p:cNvSpPr>
          <p:nvPr>
            <p:ph type="title"/>
          </p:nvPr>
        </p:nvSpPr>
        <p:spPr/>
        <p:txBody>
          <a:bodyPr/>
          <a:lstStyle/>
          <a:p>
            <a:r>
              <a:rPr lang="en-US" dirty="0"/>
              <a:t>Structure of Our Dataset</a:t>
            </a:r>
          </a:p>
        </p:txBody>
      </p:sp>
      <p:sp>
        <p:nvSpPr>
          <p:cNvPr id="40" name="Content Placeholder 2">
            <a:extLst>
              <a:ext uri="{FF2B5EF4-FFF2-40B4-BE49-F238E27FC236}">
                <a16:creationId xmlns:a16="http://schemas.microsoft.com/office/drawing/2014/main" id="{7266D64A-056C-B1F2-1784-F39CDE3C658F}"/>
              </a:ext>
            </a:extLst>
          </p:cNvPr>
          <p:cNvSpPr txBox="1">
            <a:spLocks/>
          </p:cNvSpPr>
          <p:nvPr/>
        </p:nvSpPr>
        <p:spPr>
          <a:xfrm>
            <a:off x="609600" y="1600201"/>
            <a:ext cx="10972800" cy="1112088"/>
          </a:xfrm>
          <a:prstGeom prst="rect">
            <a:avLst/>
          </a:prstGeom>
        </p:spPr>
        <p:txBody>
          <a:bodyPr vert="horz" lIns="91440" tIns="45720" rIns="91440" bIns="45720" rtlCol="0" anchor="ctr">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Each feature can be thought of as a dimension of a new coordinate system that represents our data</a:t>
            </a:r>
          </a:p>
        </p:txBody>
      </p:sp>
      <p:grpSp>
        <p:nvGrpSpPr>
          <p:cNvPr id="44" name="Group 43">
            <a:extLst>
              <a:ext uri="{FF2B5EF4-FFF2-40B4-BE49-F238E27FC236}">
                <a16:creationId xmlns:a16="http://schemas.microsoft.com/office/drawing/2014/main" id="{73A8CAB1-09EC-2206-8016-80B059B360EE}"/>
              </a:ext>
            </a:extLst>
          </p:cNvPr>
          <p:cNvGrpSpPr/>
          <p:nvPr/>
        </p:nvGrpSpPr>
        <p:grpSpPr>
          <a:xfrm>
            <a:off x="1106160" y="2823597"/>
            <a:ext cx="2075070" cy="2900014"/>
            <a:chOff x="1106160" y="2823597"/>
            <a:chExt cx="2075070" cy="2900014"/>
          </a:xfrm>
        </p:grpSpPr>
        <p:cxnSp>
          <p:nvCxnSpPr>
            <p:cNvPr id="5" name="Straight Connector 4">
              <a:extLst>
                <a:ext uri="{FF2B5EF4-FFF2-40B4-BE49-F238E27FC236}">
                  <a16:creationId xmlns:a16="http://schemas.microsoft.com/office/drawing/2014/main" id="{6C021127-B7DD-F103-5AFD-B78EBD47F9C1}"/>
                </a:ext>
              </a:extLst>
            </p:cNvPr>
            <p:cNvCxnSpPr/>
            <p:nvPr/>
          </p:nvCxnSpPr>
          <p:spPr>
            <a:xfrm>
              <a:off x="2975649" y="2823597"/>
              <a:ext cx="0" cy="29000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7154BE8-2FCC-3EB6-B27B-CDF2DF6D3A7F}"/>
                </a:ext>
              </a:extLst>
            </p:cNvPr>
            <p:cNvSpPr txBox="1"/>
            <p:nvPr/>
          </p:nvSpPr>
          <p:spPr>
            <a:xfrm rot="16200000">
              <a:off x="-102274" y="4032119"/>
              <a:ext cx="2878533" cy="461665"/>
            </a:xfrm>
            <a:prstGeom prst="rect">
              <a:avLst/>
            </a:prstGeom>
            <a:noFill/>
          </p:spPr>
          <p:txBody>
            <a:bodyPr wrap="square" rtlCol="0">
              <a:spAutoFit/>
            </a:bodyPr>
            <a:lstStyle/>
            <a:p>
              <a:pPr algn="ctr"/>
              <a:r>
                <a:rPr lang="en-US" sz="2400" dirty="0">
                  <a:latin typeface="Avenir Book" panose="02000503020000020003" pitchFamily="2" charset="0"/>
                  <a:ea typeface="Avenir Book" charset="0"/>
                  <a:cs typeface="Avenir Book" charset="0"/>
                </a:rPr>
                <a:t>Cough status</a:t>
              </a:r>
            </a:p>
          </p:txBody>
        </p:sp>
        <p:cxnSp>
          <p:nvCxnSpPr>
            <p:cNvPr id="7" name="Straight Connector 6">
              <a:extLst>
                <a:ext uri="{FF2B5EF4-FFF2-40B4-BE49-F238E27FC236}">
                  <a16:creationId xmlns:a16="http://schemas.microsoft.com/office/drawing/2014/main" id="{7006D268-9840-408C-3D56-F96402D5A254}"/>
                </a:ext>
              </a:extLst>
            </p:cNvPr>
            <p:cNvCxnSpPr/>
            <p:nvPr/>
          </p:nvCxnSpPr>
          <p:spPr>
            <a:xfrm rot="5400000">
              <a:off x="3078439" y="456729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6DDCF3-21FF-BF5D-7AEF-57DBE4E03C7C}"/>
                </a:ext>
              </a:extLst>
            </p:cNvPr>
            <p:cNvCxnSpPr/>
            <p:nvPr/>
          </p:nvCxnSpPr>
          <p:spPr>
            <a:xfrm rot="5400000">
              <a:off x="3078440" y="331936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16DECE9-031C-25DC-4955-0FA4F11A1CD8}"/>
                </a:ext>
              </a:extLst>
            </p:cNvPr>
            <p:cNvSpPr txBox="1"/>
            <p:nvPr/>
          </p:nvSpPr>
          <p:spPr>
            <a:xfrm>
              <a:off x="1640203" y="4476690"/>
              <a:ext cx="1312118"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Normal</a:t>
              </a:r>
            </a:p>
          </p:txBody>
        </p:sp>
        <p:sp>
          <p:nvSpPr>
            <p:cNvPr id="43" name="TextBox 42">
              <a:extLst>
                <a:ext uri="{FF2B5EF4-FFF2-40B4-BE49-F238E27FC236}">
                  <a16:creationId xmlns:a16="http://schemas.microsoft.com/office/drawing/2014/main" id="{A61602BF-5227-CE83-24F1-C5AF0F4BB267}"/>
                </a:ext>
              </a:extLst>
            </p:cNvPr>
            <p:cNvSpPr txBox="1"/>
            <p:nvPr/>
          </p:nvSpPr>
          <p:spPr>
            <a:xfrm>
              <a:off x="1486313" y="3230288"/>
              <a:ext cx="149543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Worsening</a:t>
              </a:r>
            </a:p>
          </p:txBody>
        </p:sp>
      </p:grpSp>
      <p:grpSp>
        <p:nvGrpSpPr>
          <p:cNvPr id="66" name="Group 65">
            <a:extLst>
              <a:ext uri="{FF2B5EF4-FFF2-40B4-BE49-F238E27FC236}">
                <a16:creationId xmlns:a16="http://schemas.microsoft.com/office/drawing/2014/main" id="{7F87020D-F67A-5C38-2082-E8B13DDA3C40}"/>
              </a:ext>
            </a:extLst>
          </p:cNvPr>
          <p:cNvGrpSpPr/>
          <p:nvPr/>
        </p:nvGrpSpPr>
        <p:grpSpPr>
          <a:xfrm>
            <a:off x="2975648" y="5501641"/>
            <a:ext cx="6916024" cy="1162663"/>
            <a:chOff x="2975648" y="5501641"/>
            <a:chExt cx="6916024" cy="1162663"/>
          </a:xfrm>
        </p:grpSpPr>
        <p:sp>
          <p:nvSpPr>
            <p:cNvPr id="46" name="TextBox 45">
              <a:extLst>
                <a:ext uri="{FF2B5EF4-FFF2-40B4-BE49-F238E27FC236}">
                  <a16:creationId xmlns:a16="http://schemas.microsoft.com/office/drawing/2014/main" id="{DECB682E-F9B0-64EE-9E2F-E0D86B0EB6FA}"/>
                </a:ext>
              </a:extLst>
            </p:cNvPr>
            <p:cNvSpPr txBox="1"/>
            <p:nvPr/>
          </p:nvSpPr>
          <p:spPr>
            <a:xfrm>
              <a:off x="8528096" y="5766244"/>
              <a:ext cx="1363576"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100%</a:t>
              </a:r>
            </a:p>
          </p:txBody>
        </p:sp>
        <p:cxnSp>
          <p:nvCxnSpPr>
            <p:cNvPr id="15" name="Straight Connector 14">
              <a:extLst>
                <a:ext uri="{FF2B5EF4-FFF2-40B4-BE49-F238E27FC236}">
                  <a16:creationId xmlns:a16="http://schemas.microsoft.com/office/drawing/2014/main" id="{6A89D12B-E687-E1D6-347B-069A62DB42F5}"/>
                </a:ext>
              </a:extLst>
            </p:cNvPr>
            <p:cNvCxnSpPr>
              <a:cxnSpLocks/>
            </p:cNvCxnSpPr>
            <p:nvPr/>
          </p:nvCxnSpPr>
          <p:spPr>
            <a:xfrm flipH="1">
              <a:off x="2979614" y="5722720"/>
              <a:ext cx="62405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E73B95D-A787-C0EF-6254-E7C13CB4A363}"/>
                </a:ext>
              </a:extLst>
            </p:cNvPr>
            <p:cNvSpPr txBox="1"/>
            <p:nvPr/>
          </p:nvSpPr>
          <p:spPr>
            <a:xfrm>
              <a:off x="2975648" y="6202639"/>
              <a:ext cx="6244552" cy="461665"/>
            </a:xfrm>
            <a:prstGeom prst="rect">
              <a:avLst/>
            </a:prstGeom>
            <a:noFill/>
          </p:spPr>
          <p:txBody>
            <a:bodyPr wrap="square" rtlCol="0">
              <a:spAutoFit/>
            </a:bodyPr>
            <a:lstStyle/>
            <a:p>
              <a:pPr algn="ctr"/>
              <a:r>
                <a:rPr lang="en-US" sz="2400" dirty="0">
                  <a:latin typeface="Avenir Book" panose="02000503020000020003" pitchFamily="2" charset="0"/>
                  <a:ea typeface="Avenir Book" charset="0"/>
                  <a:cs typeface="Avenir Book" charset="0"/>
                </a:rPr>
                <a:t>SpO</a:t>
              </a:r>
              <a:r>
                <a:rPr lang="en-US" sz="2400" baseline="-25000" dirty="0">
                  <a:latin typeface="Avenir Book" panose="02000503020000020003" pitchFamily="2" charset="0"/>
                  <a:ea typeface="Avenir Book" charset="0"/>
                  <a:cs typeface="Avenir Book" charset="0"/>
                </a:rPr>
                <a:t>2</a:t>
              </a:r>
              <a:r>
                <a:rPr lang="en-US" sz="2400" dirty="0">
                  <a:latin typeface="Avenir Book" panose="02000503020000020003" pitchFamily="2" charset="0"/>
                  <a:ea typeface="Avenir Book" charset="0"/>
                  <a:cs typeface="Avenir Book" charset="0"/>
                </a:rPr>
                <a:t> (%)</a:t>
              </a:r>
            </a:p>
          </p:txBody>
        </p:sp>
        <p:cxnSp>
          <p:nvCxnSpPr>
            <p:cNvPr id="18" name="Straight Connector 17">
              <a:extLst>
                <a:ext uri="{FF2B5EF4-FFF2-40B4-BE49-F238E27FC236}">
                  <a16:creationId xmlns:a16="http://schemas.microsoft.com/office/drawing/2014/main" id="{C50F69E9-787A-4884-3385-6E71B5976A99}"/>
                </a:ext>
              </a:extLst>
            </p:cNvPr>
            <p:cNvCxnSpPr/>
            <p:nvPr/>
          </p:nvCxnSpPr>
          <p:spPr>
            <a:xfrm>
              <a:off x="4608614" y="5501641"/>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27E1CE1-6152-9B22-3280-7ED6F3C1DBDF}"/>
                </a:ext>
              </a:extLst>
            </p:cNvPr>
            <p:cNvCxnSpPr/>
            <p:nvPr/>
          </p:nvCxnSpPr>
          <p:spPr>
            <a:xfrm>
              <a:off x="6252962" y="550680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5E68215-E47A-C6B6-F3C3-BD2847586729}"/>
                </a:ext>
              </a:extLst>
            </p:cNvPr>
            <p:cNvCxnSpPr/>
            <p:nvPr/>
          </p:nvCxnSpPr>
          <p:spPr>
            <a:xfrm>
              <a:off x="7786013" y="5504453"/>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B4598C6-3E55-63FF-B982-FEE5FCD79578}"/>
                </a:ext>
              </a:extLst>
            </p:cNvPr>
            <p:cNvCxnSpPr/>
            <p:nvPr/>
          </p:nvCxnSpPr>
          <p:spPr>
            <a:xfrm>
              <a:off x="9209884" y="551713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782ACDAC-0B46-91CE-0FD2-0759888A16F9}"/>
                </a:ext>
              </a:extLst>
            </p:cNvPr>
            <p:cNvSpPr txBox="1"/>
            <p:nvPr/>
          </p:nvSpPr>
          <p:spPr>
            <a:xfrm>
              <a:off x="7104225" y="5768759"/>
              <a:ext cx="1363576"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97.5%</a:t>
              </a:r>
            </a:p>
          </p:txBody>
        </p:sp>
        <p:sp>
          <p:nvSpPr>
            <p:cNvPr id="48" name="TextBox 47">
              <a:extLst>
                <a:ext uri="{FF2B5EF4-FFF2-40B4-BE49-F238E27FC236}">
                  <a16:creationId xmlns:a16="http://schemas.microsoft.com/office/drawing/2014/main" id="{C504D6B7-0E1A-7102-3484-D6AAA597C381}"/>
                </a:ext>
              </a:extLst>
            </p:cNvPr>
            <p:cNvSpPr txBox="1"/>
            <p:nvPr/>
          </p:nvSpPr>
          <p:spPr>
            <a:xfrm>
              <a:off x="5570625" y="5766244"/>
              <a:ext cx="1363576"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95%</a:t>
              </a:r>
            </a:p>
          </p:txBody>
        </p:sp>
        <p:sp>
          <p:nvSpPr>
            <p:cNvPr id="49" name="TextBox 48">
              <a:extLst>
                <a:ext uri="{FF2B5EF4-FFF2-40B4-BE49-F238E27FC236}">
                  <a16:creationId xmlns:a16="http://schemas.microsoft.com/office/drawing/2014/main" id="{04B77595-821F-7738-B65C-5E4C2D8DDA0B}"/>
                </a:ext>
              </a:extLst>
            </p:cNvPr>
            <p:cNvSpPr txBox="1"/>
            <p:nvPr/>
          </p:nvSpPr>
          <p:spPr>
            <a:xfrm>
              <a:off x="3926826" y="5766244"/>
              <a:ext cx="1363576"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92.5%</a:t>
              </a:r>
            </a:p>
          </p:txBody>
        </p:sp>
      </p:grpSp>
      <p:grpSp>
        <p:nvGrpSpPr>
          <p:cNvPr id="53" name="Group 52">
            <a:extLst>
              <a:ext uri="{FF2B5EF4-FFF2-40B4-BE49-F238E27FC236}">
                <a16:creationId xmlns:a16="http://schemas.microsoft.com/office/drawing/2014/main" id="{83C5B576-E799-ECA1-9CA1-29AE8FC0B8DD}"/>
              </a:ext>
            </a:extLst>
          </p:cNvPr>
          <p:cNvGrpSpPr/>
          <p:nvPr/>
        </p:nvGrpSpPr>
        <p:grpSpPr>
          <a:xfrm>
            <a:off x="9729126" y="3564394"/>
            <a:ext cx="1837687" cy="835555"/>
            <a:chOff x="8525513" y="2631593"/>
            <a:chExt cx="1837687" cy="835555"/>
          </a:xfrm>
        </p:grpSpPr>
        <p:sp>
          <p:nvSpPr>
            <p:cNvPr id="23" name="TextBox 22">
              <a:extLst>
                <a:ext uri="{FF2B5EF4-FFF2-40B4-BE49-F238E27FC236}">
                  <a16:creationId xmlns:a16="http://schemas.microsoft.com/office/drawing/2014/main" id="{345F520D-788A-8F63-9318-31CB9E26BBB8}"/>
                </a:ext>
              </a:extLst>
            </p:cNvPr>
            <p:cNvSpPr txBox="1"/>
            <p:nvPr/>
          </p:nvSpPr>
          <p:spPr>
            <a:xfrm>
              <a:off x="8525513" y="2631593"/>
              <a:ext cx="116602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Healthy</a:t>
              </a:r>
            </a:p>
          </p:txBody>
        </p:sp>
        <p:sp>
          <p:nvSpPr>
            <p:cNvPr id="25" name="Oval 24">
              <a:extLst>
                <a:ext uri="{FF2B5EF4-FFF2-40B4-BE49-F238E27FC236}">
                  <a16:creationId xmlns:a16="http://schemas.microsoft.com/office/drawing/2014/main" id="{27785A5E-C905-3703-226B-F6C0A352AF68}"/>
                </a:ext>
              </a:extLst>
            </p:cNvPr>
            <p:cNvSpPr/>
            <p:nvPr/>
          </p:nvSpPr>
          <p:spPr>
            <a:xfrm>
              <a:off x="9891672" y="269479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5" name="TextBox 34">
              <a:extLst>
                <a:ext uri="{FF2B5EF4-FFF2-40B4-BE49-F238E27FC236}">
                  <a16:creationId xmlns:a16="http://schemas.microsoft.com/office/drawing/2014/main" id="{5F842D49-284D-2E99-57E2-3B396E4CC774}"/>
                </a:ext>
              </a:extLst>
            </p:cNvPr>
            <p:cNvSpPr txBox="1"/>
            <p:nvPr/>
          </p:nvSpPr>
          <p:spPr>
            <a:xfrm>
              <a:off x="8525513" y="3028890"/>
              <a:ext cx="1166019"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Sick</a:t>
              </a:r>
            </a:p>
          </p:txBody>
        </p:sp>
        <p:sp>
          <p:nvSpPr>
            <p:cNvPr id="39" name="Triangle 38">
              <a:extLst>
                <a:ext uri="{FF2B5EF4-FFF2-40B4-BE49-F238E27FC236}">
                  <a16:creationId xmlns:a16="http://schemas.microsoft.com/office/drawing/2014/main" id="{3F19EA36-3931-1BB7-294F-D7F966DE24E2}"/>
                </a:ext>
              </a:extLst>
            </p:cNvPr>
            <p:cNvSpPr/>
            <p:nvPr/>
          </p:nvSpPr>
          <p:spPr>
            <a:xfrm>
              <a:off x="9871469" y="3093551"/>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52" name="Rectangle 51">
              <a:extLst>
                <a:ext uri="{FF2B5EF4-FFF2-40B4-BE49-F238E27FC236}">
                  <a16:creationId xmlns:a16="http://schemas.microsoft.com/office/drawing/2014/main" id="{DC88CBC4-2268-6F2B-870C-7BE79D9366AF}"/>
                </a:ext>
              </a:extLst>
            </p:cNvPr>
            <p:cNvSpPr/>
            <p:nvPr/>
          </p:nvSpPr>
          <p:spPr>
            <a:xfrm>
              <a:off x="8525514" y="2631593"/>
              <a:ext cx="1837686" cy="835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A2CF240B-6785-0298-48BF-B8E9FE3113D7}"/>
              </a:ext>
            </a:extLst>
          </p:cNvPr>
          <p:cNvGrpSpPr/>
          <p:nvPr/>
        </p:nvGrpSpPr>
        <p:grpSpPr>
          <a:xfrm>
            <a:off x="7168730" y="4533183"/>
            <a:ext cx="1615726" cy="286404"/>
            <a:chOff x="7168730" y="4533183"/>
            <a:chExt cx="1615726" cy="286404"/>
          </a:xfrm>
        </p:grpSpPr>
        <p:sp>
          <p:nvSpPr>
            <p:cNvPr id="27" name="Oval 26">
              <a:extLst>
                <a:ext uri="{FF2B5EF4-FFF2-40B4-BE49-F238E27FC236}">
                  <a16:creationId xmlns:a16="http://schemas.microsoft.com/office/drawing/2014/main" id="{50AE6391-7AF3-715D-5033-9B08E67DEEFB}"/>
                </a:ext>
              </a:extLst>
            </p:cNvPr>
            <p:cNvSpPr/>
            <p:nvPr/>
          </p:nvSpPr>
          <p:spPr>
            <a:xfrm>
              <a:off x="7168730" y="4545879"/>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1" name="Oval 50">
              <a:extLst>
                <a:ext uri="{FF2B5EF4-FFF2-40B4-BE49-F238E27FC236}">
                  <a16:creationId xmlns:a16="http://schemas.microsoft.com/office/drawing/2014/main" id="{CB4C96C6-230E-F486-441F-CD3243F9DE1F}"/>
                </a:ext>
              </a:extLst>
            </p:cNvPr>
            <p:cNvSpPr/>
            <p:nvPr/>
          </p:nvSpPr>
          <p:spPr>
            <a:xfrm>
              <a:off x="7846534" y="4533226"/>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4" name="Oval 53">
              <a:extLst>
                <a:ext uri="{FF2B5EF4-FFF2-40B4-BE49-F238E27FC236}">
                  <a16:creationId xmlns:a16="http://schemas.microsoft.com/office/drawing/2014/main" id="{47AAB7EA-8CF6-274B-0C79-9B1B86A2E12D}"/>
                </a:ext>
              </a:extLst>
            </p:cNvPr>
            <p:cNvSpPr/>
            <p:nvPr/>
          </p:nvSpPr>
          <p:spPr>
            <a:xfrm>
              <a:off x="8510748" y="4533183"/>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56" name="Group 55">
            <a:extLst>
              <a:ext uri="{FF2B5EF4-FFF2-40B4-BE49-F238E27FC236}">
                <a16:creationId xmlns:a16="http://schemas.microsoft.com/office/drawing/2014/main" id="{E08FC2B7-EB1E-C96E-38F8-3E0D079A31D9}"/>
              </a:ext>
            </a:extLst>
          </p:cNvPr>
          <p:cNvGrpSpPr/>
          <p:nvPr/>
        </p:nvGrpSpPr>
        <p:grpSpPr>
          <a:xfrm>
            <a:off x="3769769" y="3285002"/>
            <a:ext cx="1787912" cy="283831"/>
            <a:chOff x="3769769" y="3285002"/>
            <a:chExt cx="1787912" cy="283831"/>
          </a:xfrm>
        </p:grpSpPr>
        <p:sp>
          <p:nvSpPr>
            <p:cNvPr id="37" name="Triangle 36">
              <a:extLst>
                <a:ext uri="{FF2B5EF4-FFF2-40B4-BE49-F238E27FC236}">
                  <a16:creationId xmlns:a16="http://schemas.microsoft.com/office/drawing/2014/main" id="{3A41311F-2C30-5B52-CEF8-7E235288350E}"/>
                </a:ext>
              </a:extLst>
            </p:cNvPr>
            <p:cNvSpPr/>
            <p:nvPr/>
          </p:nvSpPr>
          <p:spPr>
            <a:xfrm>
              <a:off x="3769769" y="3298045"/>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38" name="Triangle 37">
              <a:extLst>
                <a:ext uri="{FF2B5EF4-FFF2-40B4-BE49-F238E27FC236}">
                  <a16:creationId xmlns:a16="http://schemas.microsoft.com/office/drawing/2014/main" id="{7D583D41-60A8-F4DE-F4E3-6F4E9D534D36}"/>
                </a:ext>
              </a:extLst>
            </p:cNvPr>
            <p:cNvSpPr/>
            <p:nvPr/>
          </p:nvSpPr>
          <p:spPr>
            <a:xfrm>
              <a:off x="4579271" y="3293606"/>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55" name="Triangle 54">
              <a:extLst>
                <a:ext uri="{FF2B5EF4-FFF2-40B4-BE49-F238E27FC236}">
                  <a16:creationId xmlns:a16="http://schemas.microsoft.com/office/drawing/2014/main" id="{43A0B18E-7719-7B9C-CA63-BA9A6F35DE5E}"/>
                </a:ext>
              </a:extLst>
            </p:cNvPr>
            <p:cNvSpPr/>
            <p:nvPr/>
          </p:nvSpPr>
          <p:spPr>
            <a:xfrm>
              <a:off x="5243567" y="328500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grpSp>
      <p:grpSp>
        <p:nvGrpSpPr>
          <p:cNvPr id="63" name="Group 62">
            <a:extLst>
              <a:ext uri="{FF2B5EF4-FFF2-40B4-BE49-F238E27FC236}">
                <a16:creationId xmlns:a16="http://schemas.microsoft.com/office/drawing/2014/main" id="{BDF7AB8E-882B-7543-8EAD-B0D1EF9DCEBB}"/>
              </a:ext>
            </a:extLst>
          </p:cNvPr>
          <p:cNvGrpSpPr/>
          <p:nvPr/>
        </p:nvGrpSpPr>
        <p:grpSpPr>
          <a:xfrm>
            <a:off x="4249263" y="4533183"/>
            <a:ext cx="761401" cy="286404"/>
            <a:chOff x="4249263" y="4533183"/>
            <a:chExt cx="761401" cy="286404"/>
          </a:xfrm>
        </p:grpSpPr>
        <p:sp>
          <p:nvSpPr>
            <p:cNvPr id="26" name="Oval 25">
              <a:extLst>
                <a:ext uri="{FF2B5EF4-FFF2-40B4-BE49-F238E27FC236}">
                  <a16:creationId xmlns:a16="http://schemas.microsoft.com/office/drawing/2014/main" id="{3A554A26-7AD9-AF15-B211-5BCC3D8A6D4E}"/>
                </a:ext>
              </a:extLst>
            </p:cNvPr>
            <p:cNvSpPr/>
            <p:nvPr/>
          </p:nvSpPr>
          <p:spPr>
            <a:xfrm>
              <a:off x="4249263" y="4545879"/>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8" name="Triangle 57">
              <a:extLst>
                <a:ext uri="{FF2B5EF4-FFF2-40B4-BE49-F238E27FC236}">
                  <a16:creationId xmlns:a16="http://schemas.microsoft.com/office/drawing/2014/main" id="{2483D5D3-6AA0-7FC9-9C7F-A0A4B32F4EF3}"/>
                </a:ext>
              </a:extLst>
            </p:cNvPr>
            <p:cNvSpPr/>
            <p:nvPr/>
          </p:nvSpPr>
          <p:spPr>
            <a:xfrm>
              <a:off x="4696550" y="4533183"/>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grpSp>
      <p:grpSp>
        <p:nvGrpSpPr>
          <p:cNvPr id="62" name="Group 61">
            <a:extLst>
              <a:ext uri="{FF2B5EF4-FFF2-40B4-BE49-F238E27FC236}">
                <a16:creationId xmlns:a16="http://schemas.microsoft.com/office/drawing/2014/main" id="{AE380A57-E093-46DB-31F8-96CC933E4CD7}"/>
              </a:ext>
            </a:extLst>
          </p:cNvPr>
          <p:cNvGrpSpPr/>
          <p:nvPr/>
        </p:nvGrpSpPr>
        <p:grpSpPr>
          <a:xfrm>
            <a:off x="7385796" y="3293606"/>
            <a:ext cx="1191868" cy="273708"/>
            <a:chOff x="7385796" y="3293606"/>
            <a:chExt cx="1191868" cy="273708"/>
          </a:xfrm>
        </p:grpSpPr>
        <p:sp>
          <p:nvSpPr>
            <p:cNvPr id="59" name="Oval 58">
              <a:extLst>
                <a:ext uri="{FF2B5EF4-FFF2-40B4-BE49-F238E27FC236}">
                  <a16:creationId xmlns:a16="http://schemas.microsoft.com/office/drawing/2014/main" id="{78A9DCAB-6691-A9FC-1F0F-408AF298D910}"/>
                </a:ext>
              </a:extLst>
            </p:cNvPr>
            <p:cNvSpPr/>
            <p:nvPr/>
          </p:nvSpPr>
          <p:spPr>
            <a:xfrm>
              <a:off x="8303956" y="3293606"/>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0" name="Triangle 59">
              <a:extLst>
                <a:ext uri="{FF2B5EF4-FFF2-40B4-BE49-F238E27FC236}">
                  <a16:creationId xmlns:a16="http://schemas.microsoft.com/office/drawing/2014/main" id="{2F0A944D-6784-1977-D431-3A99AA6E0964}"/>
                </a:ext>
              </a:extLst>
            </p:cNvPr>
            <p:cNvSpPr/>
            <p:nvPr/>
          </p:nvSpPr>
          <p:spPr>
            <a:xfrm>
              <a:off x="7385796" y="3293606"/>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grpSp>
      <p:sp>
        <p:nvSpPr>
          <p:cNvPr id="65" name="TextBox 64">
            <a:extLst>
              <a:ext uri="{FF2B5EF4-FFF2-40B4-BE49-F238E27FC236}">
                <a16:creationId xmlns:a16="http://schemas.microsoft.com/office/drawing/2014/main" id="{CA195065-79EF-B001-D1CA-5D4815093A9B}"/>
              </a:ext>
            </a:extLst>
          </p:cNvPr>
          <p:cNvSpPr txBox="1"/>
          <p:nvPr/>
        </p:nvSpPr>
        <p:spPr>
          <a:xfrm>
            <a:off x="9452130" y="2984196"/>
            <a:ext cx="2391680" cy="492443"/>
          </a:xfrm>
          <a:prstGeom prst="rect">
            <a:avLst/>
          </a:prstGeom>
          <a:noFill/>
        </p:spPr>
        <p:txBody>
          <a:bodyPr wrap="none" lIns="0" tIns="0" rIns="0" bIns="0" rtlCol="0">
            <a:spAutoFit/>
          </a:bodyPr>
          <a:lstStyle/>
          <a:p>
            <a:pPr algn="ctr"/>
            <a:r>
              <a:rPr lang="en-US" sz="3200" b="1" dirty="0">
                <a:latin typeface="Avenir Book" panose="02000503020000020003" pitchFamily="2" charset="0"/>
              </a:rPr>
              <a:t>Classification</a:t>
            </a:r>
          </a:p>
        </p:txBody>
      </p:sp>
    </p:spTree>
    <p:extLst>
      <p:ext uri="{BB962C8B-B14F-4D97-AF65-F5344CB8AC3E}">
        <p14:creationId xmlns:p14="http://schemas.microsoft.com/office/powerpoint/2010/main" val="4062742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fade">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500"/>
                                        <p:tgtEl>
                                          <p:spTgt spid="66"/>
                                        </p:tgtEl>
                                      </p:cBhvr>
                                    </p:animEffect>
                                  </p:childTnLst>
                                </p:cTn>
                              </p:par>
                              <p:par>
                                <p:cTn id="13" presetID="10"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fade">
                                      <p:cBhvr>
                                        <p:cTn id="20" dur="500"/>
                                        <p:tgtEl>
                                          <p:spTgt spid="65"/>
                                        </p:tgtEl>
                                      </p:cBhvr>
                                    </p:animEffect>
                                  </p:childTnLst>
                                </p:cTn>
                              </p:par>
                              <p:par>
                                <p:cTn id="21" presetID="10" presetClass="entr" presetSubtype="0" fill="hold" nodeType="with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fade">
                                      <p:cBhvr>
                                        <p:cTn id="23" dur="500"/>
                                        <p:tgtEl>
                                          <p:spTgt spid="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500"/>
                                        <p:tgtEl>
                                          <p:spTgt spid="56"/>
                                        </p:tgtEl>
                                      </p:cBhvr>
                                    </p:animEffect>
                                  </p:childTnLst>
                                </p:cTn>
                              </p:par>
                              <p:par>
                                <p:cTn id="29" presetID="10" presetClass="entr" presetSubtype="0"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500"/>
                                        <p:tgtEl>
                                          <p:spTgt spid="57"/>
                                        </p:tgtEl>
                                      </p:cBhvr>
                                    </p:animEffect>
                                  </p:childTnLst>
                                </p:cTn>
                              </p:par>
                              <p:par>
                                <p:cTn id="32" presetID="10" presetClass="entr" presetSubtype="0" fill="hold" nodeType="with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00"/>
                                        <p:tgtEl>
                                          <p:spTgt spid="62"/>
                                        </p:tgtEl>
                                      </p:cBhvr>
                                    </p:animEffect>
                                  </p:childTnLst>
                                </p:cTn>
                              </p:par>
                              <p:par>
                                <p:cTn id="35" presetID="10" presetClass="entr" presetSubtype="0"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fade">
                                      <p:cBhvr>
                                        <p:cTn id="3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uild="p"/>
      <p:bldP spid="6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A5102-57A6-B566-5B43-1AA7D4630002}"/>
              </a:ext>
            </a:extLst>
          </p:cNvPr>
          <p:cNvSpPr>
            <a:spLocks noGrp="1"/>
          </p:cNvSpPr>
          <p:nvPr>
            <p:ph type="title"/>
          </p:nvPr>
        </p:nvSpPr>
        <p:spPr/>
        <p:txBody>
          <a:bodyPr/>
          <a:lstStyle/>
          <a:p>
            <a:r>
              <a:rPr lang="en-US" dirty="0"/>
              <a:t>Structure of Our Dataset</a:t>
            </a:r>
          </a:p>
        </p:txBody>
      </p:sp>
      <p:sp>
        <p:nvSpPr>
          <p:cNvPr id="40" name="Content Placeholder 2">
            <a:extLst>
              <a:ext uri="{FF2B5EF4-FFF2-40B4-BE49-F238E27FC236}">
                <a16:creationId xmlns:a16="http://schemas.microsoft.com/office/drawing/2014/main" id="{7266D64A-056C-B1F2-1784-F39CDE3C658F}"/>
              </a:ext>
            </a:extLst>
          </p:cNvPr>
          <p:cNvSpPr txBox="1">
            <a:spLocks/>
          </p:cNvSpPr>
          <p:nvPr/>
        </p:nvSpPr>
        <p:spPr>
          <a:xfrm>
            <a:off x="609600" y="1600201"/>
            <a:ext cx="10972800" cy="1112088"/>
          </a:xfrm>
          <a:prstGeom prst="rect">
            <a:avLst/>
          </a:prstGeom>
        </p:spPr>
        <p:txBody>
          <a:bodyPr vert="horz" lIns="91440" tIns="45720" rIns="91440" bIns="45720" rtlCol="0" anchor="ctr">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Each feature can be thought of as a dimension of a new coordinate system that represents our data</a:t>
            </a:r>
          </a:p>
        </p:txBody>
      </p:sp>
      <p:grpSp>
        <p:nvGrpSpPr>
          <p:cNvPr id="8" name="Group 7">
            <a:extLst>
              <a:ext uri="{FF2B5EF4-FFF2-40B4-BE49-F238E27FC236}">
                <a16:creationId xmlns:a16="http://schemas.microsoft.com/office/drawing/2014/main" id="{3E521C4E-D6CF-05FF-AB71-5A7B80F974FE}"/>
              </a:ext>
            </a:extLst>
          </p:cNvPr>
          <p:cNvGrpSpPr/>
          <p:nvPr/>
        </p:nvGrpSpPr>
        <p:grpSpPr>
          <a:xfrm>
            <a:off x="2975648" y="5501641"/>
            <a:ext cx="6916024" cy="1162663"/>
            <a:chOff x="2975648" y="5501641"/>
            <a:chExt cx="6916024" cy="1162663"/>
          </a:xfrm>
        </p:grpSpPr>
        <p:sp>
          <p:nvSpPr>
            <p:cNvPr id="46" name="TextBox 45">
              <a:extLst>
                <a:ext uri="{FF2B5EF4-FFF2-40B4-BE49-F238E27FC236}">
                  <a16:creationId xmlns:a16="http://schemas.microsoft.com/office/drawing/2014/main" id="{DECB682E-F9B0-64EE-9E2F-E0D86B0EB6FA}"/>
                </a:ext>
              </a:extLst>
            </p:cNvPr>
            <p:cNvSpPr txBox="1"/>
            <p:nvPr/>
          </p:nvSpPr>
          <p:spPr>
            <a:xfrm>
              <a:off x="8528096" y="5766244"/>
              <a:ext cx="1363576"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100%</a:t>
              </a:r>
            </a:p>
          </p:txBody>
        </p:sp>
        <p:cxnSp>
          <p:nvCxnSpPr>
            <p:cNvPr id="15" name="Straight Connector 14">
              <a:extLst>
                <a:ext uri="{FF2B5EF4-FFF2-40B4-BE49-F238E27FC236}">
                  <a16:creationId xmlns:a16="http://schemas.microsoft.com/office/drawing/2014/main" id="{6A89D12B-E687-E1D6-347B-069A62DB42F5}"/>
                </a:ext>
              </a:extLst>
            </p:cNvPr>
            <p:cNvCxnSpPr>
              <a:cxnSpLocks/>
            </p:cNvCxnSpPr>
            <p:nvPr/>
          </p:nvCxnSpPr>
          <p:spPr>
            <a:xfrm flipH="1">
              <a:off x="2979614" y="5722720"/>
              <a:ext cx="62405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E73B95D-A787-C0EF-6254-E7C13CB4A363}"/>
                </a:ext>
              </a:extLst>
            </p:cNvPr>
            <p:cNvSpPr txBox="1"/>
            <p:nvPr/>
          </p:nvSpPr>
          <p:spPr>
            <a:xfrm>
              <a:off x="2975648" y="6202639"/>
              <a:ext cx="6244552" cy="461665"/>
            </a:xfrm>
            <a:prstGeom prst="rect">
              <a:avLst/>
            </a:prstGeom>
            <a:noFill/>
          </p:spPr>
          <p:txBody>
            <a:bodyPr wrap="square" rtlCol="0">
              <a:spAutoFit/>
            </a:bodyPr>
            <a:lstStyle/>
            <a:p>
              <a:pPr algn="ctr"/>
              <a:r>
                <a:rPr lang="en-US" sz="2400" dirty="0">
                  <a:latin typeface="Avenir Book" panose="02000503020000020003" pitchFamily="2" charset="0"/>
                  <a:ea typeface="Avenir Book" charset="0"/>
                  <a:cs typeface="Avenir Book" charset="0"/>
                </a:rPr>
                <a:t>SpO</a:t>
              </a:r>
              <a:r>
                <a:rPr lang="en-US" sz="2400" baseline="-25000" dirty="0">
                  <a:latin typeface="Avenir Book" panose="02000503020000020003" pitchFamily="2" charset="0"/>
                  <a:ea typeface="Avenir Book" charset="0"/>
                  <a:cs typeface="Avenir Book" charset="0"/>
                </a:rPr>
                <a:t>2</a:t>
              </a:r>
              <a:r>
                <a:rPr lang="en-US" sz="2400" dirty="0">
                  <a:latin typeface="Avenir Book" panose="02000503020000020003" pitchFamily="2" charset="0"/>
                  <a:ea typeface="Avenir Book" charset="0"/>
                  <a:cs typeface="Avenir Book" charset="0"/>
                </a:rPr>
                <a:t> (%)</a:t>
              </a:r>
            </a:p>
          </p:txBody>
        </p:sp>
        <p:cxnSp>
          <p:nvCxnSpPr>
            <p:cNvPr id="18" name="Straight Connector 17">
              <a:extLst>
                <a:ext uri="{FF2B5EF4-FFF2-40B4-BE49-F238E27FC236}">
                  <a16:creationId xmlns:a16="http://schemas.microsoft.com/office/drawing/2014/main" id="{C50F69E9-787A-4884-3385-6E71B5976A99}"/>
                </a:ext>
              </a:extLst>
            </p:cNvPr>
            <p:cNvCxnSpPr/>
            <p:nvPr/>
          </p:nvCxnSpPr>
          <p:spPr>
            <a:xfrm>
              <a:off x="4608614" y="5501641"/>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27E1CE1-6152-9B22-3280-7ED6F3C1DBDF}"/>
                </a:ext>
              </a:extLst>
            </p:cNvPr>
            <p:cNvCxnSpPr/>
            <p:nvPr/>
          </p:nvCxnSpPr>
          <p:spPr>
            <a:xfrm>
              <a:off x="6252962" y="550680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5E68215-E47A-C6B6-F3C3-BD2847586729}"/>
                </a:ext>
              </a:extLst>
            </p:cNvPr>
            <p:cNvCxnSpPr/>
            <p:nvPr/>
          </p:nvCxnSpPr>
          <p:spPr>
            <a:xfrm>
              <a:off x="7786013" y="5504453"/>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B4598C6-3E55-63FF-B982-FEE5FCD79578}"/>
                </a:ext>
              </a:extLst>
            </p:cNvPr>
            <p:cNvCxnSpPr/>
            <p:nvPr/>
          </p:nvCxnSpPr>
          <p:spPr>
            <a:xfrm>
              <a:off x="9209884" y="551713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782ACDAC-0B46-91CE-0FD2-0759888A16F9}"/>
                </a:ext>
              </a:extLst>
            </p:cNvPr>
            <p:cNvSpPr txBox="1"/>
            <p:nvPr/>
          </p:nvSpPr>
          <p:spPr>
            <a:xfrm>
              <a:off x="7104225" y="5768759"/>
              <a:ext cx="1363576"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97.5%</a:t>
              </a:r>
            </a:p>
          </p:txBody>
        </p:sp>
        <p:sp>
          <p:nvSpPr>
            <p:cNvPr id="48" name="TextBox 47">
              <a:extLst>
                <a:ext uri="{FF2B5EF4-FFF2-40B4-BE49-F238E27FC236}">
                  <a16:creationId xmlns:a16="http://schemas.microsoft.com/office/drawing/2014/main" id="{C504D6B7-0E1A-7102-3484-D6AAA597C381}"/>
                </a:ext>
              </a:extLst>
            </p:cNvPr>
            <p:cNvSpPr txBox="1"/>
            <p:nvPr/>
          </p:nvSpPr>
          <p:spPr>
            <a:xfrm>
              <a:off x="5570625" y="5766244"/>
              <a:ext cx="1363576"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95%</a:t>
              </a:r>
            </a:p>
          </p:txBody>
        </p:sp>
        <p:sp>
          <p:nvSpPr>
            <p:cNvPr id="49" name="TextBox 48">
              <a:extLst>
                <a:ext uri="{FF2B5EF4-FFF2-40B4-BE49-F238E27FC236}">
                  <a16:creationId xmlns:a16="http://schemas.microsoft.com/office/drawing/2014/main" id="{04B77595-821F-7738-B65C-5E4C2D8DDA0B}"/>
                </a:ext>
              </a:extLst>
            </p:cNvPr>
            <p:cNvSpPr txBox="1"/>
            <p:nvPr/>
          </p:nvSpPr>
          <p:spPr>
            <a:xfrm>
              <a:off x="3926826" y="5766244"/>
              <a:ext cx="1363576"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92.5%</a:t>
              </a:r>
            </a:p>
          </p:txBody>
        </p:sp>
      </p:grpSp>
      <p:grpSp>
        <p:nvGrpSpPr>
          <p:cNvPr id="4" name="Group 3">
            <a:extLst>
              <a:ext uri="{FF2B5EF4-FFF2-40B4-BE49-F238E27FC236}">
                <a16:creationId xmlns:a16="http://schemas.microsoft.com/office/drawing/2014/main" id="{3F32655C-70F6-CDC8-A1EF-F15E8299C7D7}"/>
              </a:ext>
            </a:extLst>
          </p:cNvPr>
          <p:cNvGrpSpPr/>
          <p:nvPr/>
        </p:nvGrpSpPr>
        <p:grpSpPr>
          <a:xfrm>
            <a:off x="1793625" y="2823597"/>
            <a:ext cx="1399268" cy="2900014"/>
            <a:chOff x="1793625" y="2823597"/>
            <a:chExt cx="1399268" cy="2900014"/>
          </a:xfrm>
        </p:grpSpPr>
        <p:cxnSp>
          <p:nvCxnSpPr>
            <p:cNvPr id="5" name="Straight Connector 4">
              <a:extLst>
                <a:ext uri="{FF2B5EF4-FFF2-40B4-BE49-F238E27FC236}">
                  <a16:creationId xmlns:a16="http://schemas.microsoft.com/office/drawing/2014/main" id="{6C021127-B7DD-F103-5AFD-B78EBD47F9C1}"/>
                </a:ext>
              </a:extLst>
            </p:cNvPr>
            <p:cNvCxnSpPr/>
            <p:nvPr/>
          </p:nvCxnSpPr>
          <p:spPr>
            <a:xfrm>
              <a:off x="2975649" y="2823597"/>
              <a:ext cx="0" cy="29000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7154BE8-2FCC-3EB6-B27B-CDF2DF6D3A7F}"/>
                </a:ext>
              </a:extLst>
            </p:cNvPr>
            <p:cNvSpPr txBox="1"/>
            <p:nvPr/>
          </p:nvSpPr>
          <p:spPr>
            <a:xfrm rot="16200000">
              <a:off x="769857" y="3847453"/>
              <a:ext cx="2878533" cy="830997"/>
            </a:xfrm>
            <a:prstGeom prst="rect">
              <a:avLst/>
            </a:prstGeom>
            <a:noFill/>
          </p:spPr>
          <p:txBody>
            <a:bodyPr wrap="square" rtlCol="0">
              <a:spAutoFit/>
            </a:bodyPr>
            <a:lstStyle/>
            <a:p>
              <a:pPr algn="ctr"/>
              <a:r>
                <a:rPr lang="en-US" sz="2400" dirty="0">
                  <a:latin typeface="Avenir Book" panose="02000503020000020003" pitchFamily="2" charset="0"/>
                  <a:ea typeface="Avenir Book" charset="0"/>
                  <a:cs typeface="Avenir Book" charset="0"/>
                </a:rPr>
                <a:t>Days with Symptoms</a:t>
              </a:r>
            </a:p>
          </p:txBody>
        </p:sp>
        <p:cxnSp>
          <p:nvCxnSpPr>
            <p:cNvPr id="7" name="Straight Connector 6">
              <a:extLst>
                <a:ext uri="{FF2B5EF4-FFF2-40B4-BE49-F238E27FC236}">
                  <a16:creationId xmlns:a16="http://schemas.microsoft.com/office/drawing/2014/main" id="{7006D268-9840-408C-3D56-F96402D5A254}"/>
                </a:ext>
              </a:extLst>
            </p:cNvPr>
            <p:cNvCxnSpPr>
              <a:cxnSpLocks/>
            </p:cNvCxnSpPr>
            <p:nvPr/>
          </p:nvCxnSpPr>
          <p:spPr>
            <a:xfrm rot="5400000">
              <a:off x="3078439" y="455092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6DDCF3-21FF-BF5D-7AEF-57DBE4E03C7C}"/>
                </a:ext>
              </a:extLst>
            </p:cNvPr>
            <p:cNvCxnSpPr>
              <a:cxnSpLocks/>
            </p:cNvCxnSpPr>
            <p:nvPr/>
          </p:nvCxnSpPr>
          <p:spPr>
            <a:xfrm rot="5400000">
              <a:off x="3078440" y="346556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16DECE9-031C-25DC-4955-0FA4F11A1CD8}"/>
                </a:ext>
              </a:extLst>
            </p:cNvPr>
            <p:cNvSpPr txBox="1"/>
            <p:nvPr/>
          </p:nvSpPr>
          <p:spPr>
            <a:xfrm>
              <a:off x="2362199" y="4453664"/>
              <a:ext cx="590121"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2</a:t>
              </a:r>
            </a:p>
          </p:txBody>
        </p:sp>
        <p:sp>
          <p:nvSpPr>
            <p:cNvPr id="43" name="TextBox 42">
              <a:extLst>
                <a:ext uri="{FF2B5EF4-FFF2-40B4-BE49-F238E27FC236}">
                  <a16:creationId xmlns:a16="http://schemas.microsoft.com/office/drawing/2014/main" id="{A61602BF-5227-CE83-24F1-C5AF0F4BB267}"/>
                </a:ext>
              </a:extLst>
            </p:cNvPr>
            <p:cNvSpPr txBox="1"/>
            <p:nvPr/>
          </p:nvSpPr>
          <p:spPr>
            <a:xfrm>
              <a:off x="2370214" y="3368304"/>
              <a:ext cx="611528"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4</a:t>
              </a:r>
            </a:p>
          </p:txBody>
        </p:sp>
        <p:cxnSp>
          <p:nvCxnSpPr>
            <p:cNvPr id="61" name="Straight Connector 60">
              <a:extLst>
                <a:ext uri="{FF2B5EF4-FFF2-40B4-BE49-F238E27FC236}">
                  <a16:creationId xmlns:a16="http://schemas.microsoft.com/office/drawing/2014/main" id="{5EBF6C41-3A7E-FC2E-9C20-319ADB20B6FB}"/>
                </a:ext>
              </a:extLst>
            </p:cNvPr>
            <p:cNvCxnSpPr/>
            <p:nvPr/>
          </p:nvCxnSpPr>
          <p:spPr>
            <a:xfrm rot="5400000">
              <a:off x="3090103" y="509361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8282FB67-D237-DBB8-6FC7-8FC8C9BAC8BE}"/>
                </a:ext>
              </a:extLst>
            </p:cNvPr>
            <p:cNvSpPr txBox="1"/>
            <p:nvPr/>
          </p:nvSpPr>
          <p:spPr>
            <a:xfrm>
              <a:off x="2373863" y="4996345"/>
              <a:ext cx="590121"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1</a:t>
              </a:r>
            </a:p>
          </p:txBody>
        </p:sp>
        <p:cxnSp>
          <p:nvCxnSpPr>
            <p:cNvPr id="65" name="Straight Connector 64">
              <a:extLst>
                <a:ext uri="{FF2B5EF4-FFF2-40B4-BE49-F238E27FC236}">
                  <a16:creationId xmlns:a16="http://schemas.microsoft.com/office/drawing/2014/main" id="{F433AC50-B2B1-E51B-A5E8-D782C1802AD6}"/>
                </a:ext>
              </a:extLst>
            </p:cNvPr>
            <p:cNvCxnSpPr/>
            <p:nvPr/>
          </p:nvCxnSpPr>
          <p:spPr>
            <a:xfrm rot="5400000">
              <a:off x="3066775" y="400417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993A09DE-5AFB-BB2C-B682-F869F8937C10}"/>
                </a:ext>
              </a:extLst>
            </p:cNvPr>
            <p:cNvSpPr txBox="1"/>
            <p:nvPr/>
          </p:nvSpPr>
          <p:spPr>
            <a:xfrm>
              <a:off x="2362199" y="3910984"/>
              <a:ext cx="590121"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3</a:t>
              </a:r>
            </a:p>
          </p:txBody>
        </p:sp>
        <p:cxnSp>
          <p:nvCxnSpPr>
            <p:cNvPr id="67" name="Straight Connector 66">
              <a:extLst>
                <a:ext uri="{FF2B5EF4-FFF2-40B4-BE49-F238E27FC236}">
                  <a16:creationId xmlns:a16="http://schemas.microsoft.com/office/drawing/2014/main" id="{8AC78515-BD06-F7F3-DEF1-754ECFFFD71D}"/>
                </a:ext>
              </a:extLst>
            </p:cNvPr>
            <p:cNvCxnSpPr/>
            <p:nvPr/>
          </p:nvCxnSpPr>
          <p:spPr>
            <a:xfrm rot="5400000">
              <a:off x="3078440" y="291469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2B4CEF7-B947-2143-0462-5A0359677BCA}"/>
                </a:ext>
              </a:extLst>
            </p:cNvPr>
            <p:cNvSpPr txBox="1"/>
            <p:nvPr/>
          </p:nvSpPr>
          <p:spPr>
            <a:xfrm>
              <a:off x="2370214" y="2825624"/>
              <a:ext cx="611528"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5</a:t>
              </a:r>
            </a:p>
          </p:txBody>
        </p:sp>
      </p:grpSp>
      <p:grpSp>
        <p:nvGrpSpPr>
          <p:cNvPr id="3" name="Group 2">
            <a:extLst>
              <a:ext uri="{FF2B5EF4-FFF2-40B4-BE49-F238E27FC236}">
                <a16:creationId xmlns:a16="http://schemas.microsoft.com/office/drawing/2014/main" id="{CC85F5A9-FE61-CAD9-CE7E-C629D1B4FB8D}"/>
              </a:ext>
            </a:extLst>
          </p:cNvPr>
          <p:cNvGrpSpPr/>
          <p:nvPr/>
        </p:nvGrpSpPr>
        <p:grpSpPr>
          <a:xfrm>
            <a:off x="3558332" y="2866616"/>
            <a:ext cx="5794873" cy="2469469"/>
            <a:chOff x="3558332" y="2866616"/>
            <a:chExt cx="5794873" cy="2469469"/>
          </a:xfrm>
        </p:grpSpPr>
        <p:sp>
          <p:nvSpPr>
            <p:cNvPr id="45" name="Oval 44">
              <a:extLst>
                <a:ext uri="{FF2B5EF4-FFF2-40B4-BE49-F238E27FC236}">
                  <a16:creationId xmlns:a16="http://schemas.microsoft.com/office/drawing/2014/main" id="{E76A03E9-9F48-8394-C537-17E91A29F04D}"/>
                </a:ext>
              </a:extLst>
            </p:cNvPr>
            <p:cNvSpPr/>
            <p:nvPr/>
          </p:nvSpPr>
          <p:spPr>
            <a:xfrm>
              <a:off x="4126424" y="2866616"/>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70" name="Oval 69">
              <a:extLst>
                <a:ext uri="{FF2B5EF4-FFF2-40B4-BE49-F238E27FC236}">
                  <a16:creationId xmlns:a16="http://schemas.microsoft.com/office/drawing/2014/main" id="{DEF91CB5-AA53-DDCB-3BC5-CE6EC7B442D0}"/>
                </a:ext>
              </a:extLst>
            </p:cNvPr>
            <p:cNvSpPr/>
            <p:nvPr/>
          </p:nvSpPr>
          <p:spPr>
            <a:xfrm>
              <a:off x="6123512" y="3423355"/>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1" name="Oval 70">
              <a:extLst>
                <a:ext uri="{FF2B5EF4-FFF2-40B4-BE49-F238E27FC236}">
                  <a16:creationId xmlns:a16="http://schemas.microsoft.com/office/drawing/2014/main" id="{45463A7E-43FE-A2F2-FDF7-9A8920A6181E}"/>
                </a:ext>
              </a:extLst>
            </p:cNvPr>
            <p:cNvSpPr/>
            <p:nvPr/>
          </p:nvSpPr>
          <p:spPr>
            <a:xfrm>
              <a:off x="9079497" y="5062377"/>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2" name="Oval 71">
              <a:extLst>
                <a:ext uri="{FF2B5EF4-FFF2-40B4-BE49-F238E27FC236}">
                  <a16:creationId xmlns:a16="http://schemas.microsoft.com/office/drawing/2014/main" id="{C8B401B4-00DF-918C-F9B3-6B741BB60560}"/>
                </a:ext>
              </a:extLst>
            </p:cNvPr>
            <p:cNvSpPr/>
            <p:nvPr/>
          </p:nvSpPr>
          <p:spPr>
            <a:xfrm>
              <a:off x="3558332" y="3429000"/>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3" name="Oval 72">
              <a:extLst>
                <a:ext uri="{FF2B5EF4-FFF2-40B4-BE49-F238E27FC236}">
                  <a16:creationId xmlns:a16="http://schemas.microsoft.com/office/drawing/2014/main" id="{BBAD2CA5-4117-90D3-2862-6899F87E009D}"/>
                </a:ext>
              </a:extLst>
            </p:cNvPr>
            <p:cNvSpPr/>
            <p:nvPr/>
          </p:nvSpPr>
          <p:spPr>
            <a:xfrm>
              <a:off x="5189468" y="3965558"/>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4" name="Oval 73">
              <a:extLst>
                <a:ext uri="{FF2B5EF4-FFF2-40B4-BE49-F238E27FC236}">
                  <a16:creationId xmlns:a16="http://schemas.microsoft.com/office/drawing/2014/main" id="{D9F53131-B300-0EE8-7503-B4FA4DF87A3E}"/>
                </a:ext>
              </a:extLst>
            </p:cNvPr>
            <p:cNvSpPr/>
            <p:nvPr/>
          </p:nvSpPr>
          <p:spPr>
            <a:xfrm>
              <a:off x="6967371" y="4516865"/>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5" name="Oval 74">
              <a:extLst>
                <a:ext uri="{FF2B5EF4-FFF2-40B4-BE49-F238E27FC236}">
                  <a16:creationId xmlns:a16="http://schemas.microsoft.com/office/drawing/2014/main" id="{841FDF8D-815E-73F7-9E29-2C2D95045903}"/>
                </a:ext>
              </a:extLst>
            </p:cNvPr>
            <p:cNvSpPr/>
            <p:nvPr/>
          </p:nvSpPr>
          <p:spPr>
            <a:xfrm>
              <a:off x="4139621" y="3974185"/>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6" name="Oval 75">
              <a:extLst>
                <a:ext uri="{FF2B5EF4-FFF2-40B4-BE49-F238E27FC236}">
                  <a16:creationId xmlns:a16="http://schemas.microsoft.com/office/drawing/2014/main" id="{EDA10E10-AE13-B2B2-FEAE-8B79A90300E4}"/>
                </a:ext>
              </a:extLst>
            </p:cNvPr>
            <p:cNvSpPr/>
            <p:nvPr/>
          </p:nvSpPr>
          <p:spPr>
            <a:xfrm>
              <a:off x="7649159" y="5062377"/>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7" name="Oval 76">
              <a:extLst>
                <a:ext uri="{FF2B5EF4-FFF2-40B4-BE49-F238E27FC236}">
                  <a16:creationId xmlns:a16="http://schemas.microsoft.com/office/drawing/2014/main" id="{475E93EC-5C31-CCAA-6BC0-BAFC6CAB31C5}"/>
                </a:ext>
              </a:extLst>
            </p:cNvPr>
            <p:cNvSpPr/>
            <p:nvPr/>
          </p:nvSpPr>
          <p:spPr>
            <a:xfrm>
              <a:off x="8391242" y="4513835"/>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78" name="Group 77">
            <a:extLst>
              <a:ext uri="{FF2B5EF4-FFF2-40B4-BE49-F238E27FC236}">
                <a16:creationId xmlns:a16="http://schemas.microsoft.com/office/drawing/2014/main" id="{13B1322F-4504-510E-9E7B-032027A5F291}"/>
              </a:ext>
            </a:extLst>
          </p:cNvPr>
          <p:cNvGrpSpPr/>
          <p:nvPr/>
        </p:nvGrpSpPr>
        <p:grpSpPr>
          <a:xfrm>
            <a:off x="9525738" y="3564394"/>
            <a:ext cx="2213608" cy="409791"/>
            <a:chOff x="8322125" y="2631593"/>
            <a:chExt cx="2213608" cy="409791"/>
          </a:xfrm>
        </p:grpSpPr>
        <p:sp>
          <p:nvSpPr>
            <p:cNvPr id="79" name="TextBox 78">
              <a:extLst>
                <a:ext uri="{FF2B5EF4-FFF2-40B4-BE49-F238E27FC236}">
                  <a16:creationId xmlns:a16="http://schemas.microsoft.com/office/drawing/2014/main" id="{C9997EA5-1FE6-BD4C-381B-E45A8C63FA46}"/>
                </a:ext>
              </a:extLst>
            </p:cNvPr>
            <p:cNvSpPr txBox="1"/>
            <p:nvPr/>
          </p:nvSpPr>
          <p:spPr>
            <a:xfrm>
              <a:off x="8322125" y="2631593"/>
              <a:ext cx="1541941"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Data point</a:t>
              </a:r>
            </a:p>
          </p:txBody>
        </p:sp>
        <p:sp>
          <p:nvSpPr>
            <p:cNvPr id="80" name="Oval 79">
              <a:extLst>
                <a:ext uri="{FF2B5EF4-FFF2-40B4-BE49-F238E27FC236}">
                  <a16:creationId xmlns:a16="http://schemas.microsoft.com/office/drawing/2014/main" id="{5162F8D3-E9C5-A439-666C-EEB6E43C9A16}"/>
                </a:ext>
              </a:extLst>
            </p:cNvPr>
            <p:cNvSpPr/>
            <p:nvPr/>
          </p:nvSpPr>
          <p:spPr>
            <a:xfrm>
              <a:off x="10064205" y="2694794"/>
              <a:ext cx="273708" cy="27370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3" name="Rectangle 82">
              <a:extLst>
                <a:ext uri="{FF2B5EF4-FFF2-40B4-BE49-F238E27FC236}">
                  <a16:creationId xmlns:a16="http://schemas.microsoft.com/office/drawing/2014/main" id="{059A3218-26FA-B1CC-9DA4-A9EB18BF3F9C}"/>
                </a:ext>
              </a:extLst>
            </p:cNvPr>
            <p:cNvSpPr/>
            <p:nvPr/>
          </p:nvSpPr>
          <p:spPr>
            <a:xfrm>
              <a:off x="8328217" y="2631593"/>
              <a:ext cx="2207516" cy="4097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 name="TextBox 83">
            <a:extLst>
              <a:ext uri="{FF2B5EF4-FFF2-40B4-BE49-F238E27FC236}">
                <a16:creationId xmlns:a16="http://schemas.microsoft.com/office/drawing/2014/main" id="{06AC23CA-997F-1F76-8BF9-0E0D75159926}"/>
              </a:ext>
            </a:extLst>
          </p:cNvPr>
          <p:cNvSpPr txBox="1"/>
          <p:nvPr/>
        </p:nvSpPr>
        <p:spPr>
          <a:xfrm>
            <a:off x="9645773" y="2984196"/>
            <a:ext cx="2004396" cy="492443"/>
          </a:xfrm>
          <a:prstGeom prst="rect">
            <a:avLst/>
          </a:prstGeom>
          <a:noFill/>
        </p:spPr>
        <p:txBody>
          <a:bodyPr wrap="none" lIns="0" tIns="0" rIns="0" bIns="0" rtlCol="0">
            <a:spAutoFit/>
          </a:bodyPr>
          <a:lstStyle/>
          <a:p>
            <a:pPr algn="ctr"/>
            <a:r>
              <a:rPr lang="en-US" sz="3200" b="1" dirty="0">
                <a:latin typeface="Avenir Book" panose="02000503020000020003" pitchFamily="2" charset="0"/>
              </a:rPr>
              <a:t>Regression</a:t>
            </a:r>
          </a:p>
        </p:txBody>
      </p:sp>
    </p:spTree>
    <p:extLst>
      <p:ext uri="{BB962C8B-B14F-4D97-AF65-F5344CB8AC3E}">
        <p14:creationId xmlns:p14="http://schemas.microsoft.com/office/powerpoint/2010/main" val="115554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4"/>
                                        </p:tgtEl>
                                        <p:attrNameLst>
                                          <p:attrName>style.visibility</p:attrName>
                                        </p:attrNameLst>
                                      </p:cBhvr>
                                      <p:to>
                                        <p:strVal val="visible"/>
                                      </p:to>
                                    </p:set>
                                    <p:animEffect transition="in" filter="fade">
                                      <p:cBhvr>
                                        <p:cTn id="15" dur="500"/>
                                        <p:tgtEl>
                                          <p:spTgt spid="84"/>
                                        </p:tgtEl>
                                      </p:cBhvr>
                                    </p:animEffect>
                                  </p:childTnLst>
                                </p:cTn>
                              </p:par>
                              <p:par>
                                <p:cTn id="16" presetID="10" presetClass="entr" presetSubtype="0" fill="hold" nodeType="withEffect">
                                  <p:stCondLst>
                                    <p:cond delay="0"/>
                                  </p:stCondLst>
                                  <p:childTnLst>
                                    <p:set>
                                      <p:cBhvr>
                                        <p:cTn id="17" dur="1" fill="hold">
                                          <p:stCondLst>
                                            <p:cond delay="0"/>
                                          </p:stCondLst>
                                        </p:cTn>
                                        <p:tgtEl>
                                          <p:spTgt spid="78"/>
                                        </p:tgtEl>
                                        <p:attrNameLst>
                                          <p:attrName>style.visibility</p:attrName>
                                        </p:attrNameLst>
                                      </p:cBhvr>
                                      <p:to>
                                        <p:strVal val="visible"/>
                                      </p:to>
                                    </p:set>
                                    <p:animEffect transition="in" filter="fade">
                                      <p:cBhvr>
                                        <p:cTn id="18" dur="500"/>
                                        <p:tgtEl>
                                          <p:spTgt spid="7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368062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grpId="0" nodeType="withEffect">
                                  <p:stCondLst>
                                    <p:cond delay="0"/>
                                  </p:stCondLst>
                                  <p:childTnLst>
                                    <p:set>
                                      <p:cBhvr>
                                        <p:cTn id="9" dur="indefinite"/>
                                        <p:tgtEl>
                                          <p:spTgt spid="3">
                                            <p:txEl>
                                              <p:pRg st="2" end="2"/>
                                            </p:txEl>
                                          </p:spTgt>
                                        </p:tgtEl>
                                        <p:attrNameLst>
                                          <p:attrName>style.opacity</p:attrName>
                                        </p:attrNameLst>
                                      </p:cBhvr>
                                      <p:to>
                                        <p:strVal val="0.25"/>
                                      </p:to>
                                    </p:set>
                                    <p:animEffect filter="image" prLst="opacity: 0.25">
                                      <p:cBhvr rctx="IE">
                                        <p:cTn id="10" dur="indefinite"/>
                                        <p:tgtEl>
                                          <p:spTgt spid="3">
                                            <p:txEl>
                                              <p:pRg st="2" end="2"/>
                                            </p:txEl>
                                          </p:spTgt>
                                        </p:tgtEl>
                                      </p:cBhvr>
                                    </p:animEffect>
                                  </p:childTnLst>
                                </p:cTn>
                              </p:par>
                              <p:par>
                                <p:cTn id="11" presetID="9" presetClass="emph" presetSubtype="0" grpId="0" nodeType="withEffect">
                                  <p:stCondLst>
                                    <p:cond delay="0"/>
                                  </p:stCondLst>
                                  <p:childTnLst>
                                    <p:set>
                                      <p:cBhvr>
                                        <p:cTn id="12" dur="indefinite"/>
                                        <p:tgtEl>
                                          <p:spTgt spid="3">
                                            <p:txEl>
                                              <p:pRg st="3" end="3"/>
                                            </p:txEl>
                                          </p:spTgt>
                                        </p:tgtEl>
                                        <p:attrNameLst>
                                          <p:attrName>style.opacity</p:attrName>
                                        </p:attrNameLst>
                                      </p:cBhvr>
                                      <p:to>
                                        <p:strVal val="0.25"/>
                                      </p:to>
                                    </p:set>
                                    <p:animEffect filter="image" prLst="opacity: 0.25">
                                      <p:cBhvr rctx="IE">
                                        <p:cTn id="13" dur="indefinite"/>
                                        <p:tgtEl>
                                          <p:spTgt spid="3">
                                            <p:txEl>
                                              <p:pRg st="3" end="3"/>
                                            </p:txEl>
                                          </p:spTgt>
                                        </p:tgtEl>
                                      </p:cBhvr>
                                    </p:animEffect>
                                  </p:childTnLst>
                                </p:cTn>
                              </p:par>
                              <p:par>
                                <p:cTn id="14" presetID="9" presetClass="emph" presetSubtype="0" grpId="0" nodeType="withEffect">
                                  <p:stCondLst>
                                    <p:cond delay="0"/>
                                  </p:stCondLst>
                                  <p:childTnLst>
                                    <p:set>
                                      <p:cBhvr>
                                        <p:cTn id="15" dur="indefinite"/>
                                        <p:tgtEl>
                                          <p:spTgt spid="3">
                                            <p:txEl>
                                              <p:pRg st="4" end="4"/>
                                            </p:txEl>
                                          </p:spTgt>
                                        </p:tgtEl>
                                        <p:attrNameLst>
                                          <p:attrName>style.opacity</p:attrName>
                                        </p:attrNameLst>
                                      </p:cBhvr>
                                      <p:to>
                                        <p:strVal val="0.25"/>
                                      </p:to>
                                    </p:set>
                                    <p:animEffect filter="image" prLst="opacity: 0.25">
                                      <p:cBhvr rctx="IE">
                                        <p:cTn id="16" dur="indefinite"/>
                                        <p:tgtEl>
                                          <p:spTgt spid="3">
                                            <p:txEl>
                                              <p:pRg st="4" end="4"/>
                                            </p:txEl>
                                          </p:spTgt>
                                        </p:tgtEl>
                                      </p:cBhvr>
                                    </p:animEffect>
                                  </p:childTnLst>
                                </p:cTn>
                              </p:par>
                              <p:par>
                                <p:cTn id="17" presetID="9" presetClass="emph" presetSubtype="0" grpId="0" nodeType="withEffect">
                                  <p:stCondLst>
                                    <p:cond delay="0"/>
                                  </p:stCondLst>
                                  <p:childTnLst>
                                    <p:set>
                                      <p:cBhvr>
                                        <p:cTn id="18" dur="indefinite"/>
                                        <p:tgtEl>
                                          <p:spTgt spid="3">
                                            <p:txEl>
                                              <p:pRg st="5" end="5"/>
                                            </p:txEl>
                                          </p:spTgt>
                                        </p:tgtEl>
                                        <p:attrNameLst>
                                          <p:attrName>style.opacity</p:attrName>
                                        </p:attrNameLst>
                                      </p:cBhvr>
                                      <p:to>
                                        <p:strVal val="0.25"/>
                                      </p:to>
                                    </p:set>
                                    <p:animEffect filter="image" prLst="opacity: 0.25">
                                      <p:cBhvr rctx="IE">
                                        <p:cTn id="19" dur="indefinite"/>
                                        <p:tgtEl>
                                          <p:spTgt spid="3">
                                            <p:txEl>
                                              <p:pRg st="5" end="5"/>
                                            </p:txEl>
                                          </p:spTgt>
                                        </p:tgtEl>
                                      </p:cBhvr>
                                    </p:animEffect>
                                  </p:childTnLst>
                                </p:cTn>
                              </p:par>
                              <p:par>
                                <p:cTn id="20" presetID="9" presetClass="emph" presetSubtype="0" grpId="0" nodeType="withEffect">
                                  <p:stCondLst>
                                    <p:cond delay="0"/>
                                  </p:stCondLst>
                                  <p:childTnLst>
                                    <p:set>
                                      <p:cBhvr>
                                        <p:cTn id="21" dur="indefinite"/>
                                        <p:tgtEl>
                                          <p:spTgt spid="3">
                                            <p:txEl>
                                              <p:pRg st="6" end="6"/>
                                            </p:txEl>
                                          </p:spTgt>
                                        </p:tgtEl>
                                        <p:attrNameLst>
                                          <p:attrName>style.opacity</p:attrName>
                                        </p:attrNameLst>
                                      </p:cBhvr>
                                      <p:to>
                                        <p:strVal val="0.25"/>
                                      </p:to>
                                    </p:set>
                                    <p:animEffect filter="image" prLst="opacity: 0.25">
                                      <p:cBhvr rctx="IE">
                                        <p:cTn id="22" dur="indefinite"/>
                                        <p:tgtEl>
                                          <p:spTgt spid="3">
                                            <p:txEl>
                                              <p:pRg st="6" end="6"/>
                                            </p:txEl>
                                          </p:spTgt>
                                        </p:tgtEl>
                                      </p:cBhvr>
                                    </p:animEffect>
                                  </p:childTnLst>
                                </p:cTn>
                              </p:par>
                              <p:par>
                                <p:cTn id="23" presetID="9" presetClass="emph" presetSubtype="0" grpId="0" nodeType="withEffect">
                                  <p:stCondLst>
                                    <p:cond delay="0"/>
                                  </p:stCondLst>
                                  <p:childTnLst>
                                    <p:set>
                                      <p:cBhvr>
                                        <p:cTn id="24" dur="indefinite"/>
                                        <p:tgtEl>
                                          <p:spTgt spid="3">
                                            <p:txEl>
                                              <p:pRg st="7" end="7"/>
                                            </p:txEl>
                                          </p:spTgt>
                                        </p:tgtEl>
                                        <p:attrNameLst>
                                          <p:attrName>style.opacity</p:attrName>
                                        </p:attrNameLst>
                                      </p:cBhvr>
                                      <p:to>
                                        <p:strVal val="0.25"/>
                                      </p:to>
                                    </p:set>
                                    <p:animEffect filter="image" prLst="opacity: 0.25">
                                      <p:cBhvr rctx="IE">
                                        <p:cTn id="25" dur="indefinite"/>
                                        <p:tgtEl>
                                          <p:spTgt spid="3">
                                            <p:txEl>
                                              <p:pRg st="7" end="7"/>
                                            </p:txEl>
                                          </p:spTgt>
                                        </p:tgtEl>
                                      </p:cBhvr>
                                    </p:animEffect>
                                  </p:childTnLst>
                                </p:cTn>
                              </p:par>
                              <p:par>
                                <p:cTn id="26" presetID="9" presetClass="emph" presetSubtype="0" grpId="0" nodeType="withEffect">
                                  <p:stCondLst>
                                    <p:cond delay="0"/>
                                  </p:stCondLst>
                                  <p:childTnLst>
                                    <p:set>
                                      <p:cBhvr>
                                        <p:cTn id="27" dur="indefinite"/>
                                        <p:tgtEl>
                                          <p:spTgt spid="3">
                                            <p:txEl>
                                              <p:pRg st="8" end="8"/>
                                            </p:txEl>
                                          </p:spTgt>
                                        </p:tgtEl>
                                        <p:attrNameLst>
                                          <p:attrName>style.opacity</p:attrName>
                                        </p:attrNameLst>
                                      </p:cBhvr>
                                      <p:to>
                                        <p:strVal val="0.25"/>
                                      </p:to>
                                    </p:set>
                                    <p:animEffect filter="image" prLst="opacity: 0.25">
                                      <p:cBhvr rctx="IE">
                                        <p:cTn id="28" dur="indefinite"/>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1" nodeType="clickEffect">
                                  <p:stCondLst>
                                    <p:cond delay="0"/>
                                  </p:stCondLst>
                                  <p:childTnLst>
                                    <p:set>
                                      <p:cBhvr>
                                        <p:cTn id="32" dur="indefinite"/>
                                        <p:tgtEl>
                                          <p:spTgt spid="3">
                                            <p:txEl>
                                              <p:pRg st="1" end="1"/>
                                            </p:txEl>
                                          </p:spTgt>
                                        </p:tgtEl>
                                        <p:attrNameLst>
                                          <p:attrName>style.opacity</p:attrName>
                                        </p:attrNameLst>
                                      </p:cBhvr>
                                      <p:to>
                                        <p:strVal val="0.25"/>
                                      </p:to>
                                    </p:set>
                                    <p:animEffect filter="image" prLst="opacity: 0.25">
                                      <p:cBhvr rctx="IE">
                                        <p:cTn id="33" dur="indefinite"/>
                                        <p:tgtEl>
                                          <p:spTgt spid="3">
                                            <p:txEl>
                                              <p:pRg st="1" end="1"/>
                                            </p:txEl>
                                          </p:spTgt>
                                        </p:tgtEl>
                                      </p:cBhvr>
                                    </p:animEffect>
                                  </p:childTnLst>
                                </p:cTn>
                              </p:par>
                              <p:par>
                                <p:cTn id="34" presetID="9" presetClass="emph" presetSubtype="0" grpId="1" nodeType="withEffect">
                                  <p:stCondLst>
                                    <p:cond delay="0"/>
                                  </p:stCondLst>
                                  <p:childTnLst>
                                    <p:set>
                                      <p:cBhvr>
                                        <p:cTn id="35" dur="indefinite"/>
                                        <p:tgtEl>
                                          <p:spTgt spid="3">
                                            <p:txEl>
                                              <p:pRg st="2" end="2"/>
                                            </p:txEl>
                                          </p:spTgt>
                                        </p:tgtEl>
                                        <p:attrNameLst>
                                          <p:attrName>style.opacity</p:attrName>
                                        </p:attrNameLst>
                                      </p:cBhvr>
                                      <p:to>
                                        <p:strVal val="1"/>
                                      </p:to>
                                    </p:set>
                                    <p:animEffect filter="image" prLst="opacity: 1">
                                      <p:cBhvr rctx="IE">
                                        <p:cTn id="36" dur="indefinite"/>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B54E-9DA2-CE7E-E3A6-B81A14B8C49F}"/>
              </a:ext>
            </a:extLst>
          </p:cNvPr>
          <p:cNvSpPr>
            <a:spLocks noGrp="1"/>
          </p:cNvSpPr>
          <p:nvPr>
            <p:ph type="title"/>
          </p:nvPr>
        </p:nvSpPr>
        <p:spPr/>
        <p:txBody>
          <a:bodyPr/>
          <a:lstStyle/>
          <a:p>
            <a:r>
              <a:rPr lang="en-US" dirty="0"/>
              <a:t>Analogy To Human Learning</a:t>
            </a:r>
          </a:p>
        </p:txBody>
      </p:sp>
      <p:sp>
        <p:nvSpPr>
          <p:cNvPr id="3" name="Content Placeholder 2">
            <a:extLst>
              <a:ext uri="{FF2B5EF4-FFF2-40B4-BE49-F238E27FC236}">
                <a16:creationId xmlns:a16="http://schemas.microsoft.com/office/drawing/2014/main" id="{337D98D0-4A5C-5490-31CE-A30DA4A32209}"/>
              </a:ext>
            </a:extLst>
          </p:cNvPr>
          <p:cNvSpPr>
            <a:spLocks noGrp="1"/>
          </p:cNvSpPr>
          <p:nvPr>
            <p:ph idx="1"/>
          </p:nvPr>
        </p:nvSpPr>
        <p:spPr>
          <a:xfrm>
            <a:off x="609600" y="1600201"/>
            <a:ext cx="10972800" cy="1066799"/>
          </a:xfrm>
        </p:spPr>
        <p:txBody>
          <a:bodyPr>
            <a:normAutofit lnSpcReduction="10000"/>
          </a:bodyPr>
          <a:lstStyle/>
          <a:p>
            <a:pPr>
              <a:spcAft>
                <a:spcPts val="1800"/>
              </a:spcAft>
            </a:pPr>
            <a:r>
              <a:rPr lang="en-US" dirty="0"/>
              <a:t>When you evaluate a model, it is important that you see how well it works on data it has never seen before</a:t>
            </a:r>
          </a:p>
        </p:txBody>
      </p:sp>
      <p:grpSp>
        <p:nvGrpSpPr>
          <p:cNvPr id="6" name="Group 5">
            <a:extLst>
              <a:ext uri="{FF2B5EF4-FFF2-40B4-BE49-F238E27FC236}">
                <a16:creationId xmlns:a16="http://schemas.microsoft.com/office/drawing/2014/main" id="{C76A28A1-740C-4FD5-FFAC-D92C03B18C5E}"/>
              </a:ext>
            </a:extLst>
          </p:cNvPr>
          <p:cNvGrpSpPr/>
          <p:nvPr/>
        </p:nvGrpSpPr>
        <p:grpSpPr>
          <a:xfrm>
            <a:off x="1447799" y="2878262"/>
            <a:ext cx="4267201" cy="3744807"/>
            <a:chOff x="1447799" y="2878262"/>
            <a:chExt cx="4267201" cy="3744807"/>
          </a:xfrm>
        </p:grpSpPr>
        <p:pic>
          <p:nvPicPr>
            <p:cNvPr id="1028" name="Picture 4" descr="Test Cheating Has Reached The Workplace - StrategicCHRO360">
              <a:extLst>
                <a:ext uri="{FF2B5EF4-FFF2-40B4-BE49-F238E27FC236}">
                  <a16:creationId xmlns:a16="http://schemas.microsoft.com/office/drawing/2014/main" id="{57E7A80B-7286-1236-E555-DC93DFACA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878262"/>
              <a:ext cx="4267200" cy="27169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6241C44-AA3B-488A-2201-12D4AD368E75}"/>
                </a:ext>
              </a:extLst>
            </p:cNvPr>
            <p:cNvSpPr txBox="1"/>
            <p:nvPr/>
          </p:nvSpPr>
          <p:spPr>
            <a:xfrm>
              <a:off x="1447799" y="5668962"/>
              <a:ext cx="4267200" cy="954107"/>
            </a:xfrm>
            <a:prstGeom prst="rect">
              <a:avLst/>
            </a:prstGeom>
            <a:noFill/>
          </p:spPr>
          <p:txBody>
            <a:bodyPr wrap="square" rtlCol="0" anchor="ctr">
              <a:spAutoFit/>
            </a:bodyPr>
            <a:lstStyle/>
            <a:p>
              <a:pPr algn="ctr"/>
              <a:r>
                <a:rPr lang="en-US" sz="2000" b="1" u="sng" dirty="0">
                  <a:latin typeface="Avenir Book" panose="02000503020000020003" pitchFamily="2" charset="0"/>
                  <a:ea typeface="Avenir Book" charset="0"/>
                  <a:cs typeface="Avenir Book" charset="0"/>
                </a:rPr>
                <a:t>Poor evaluation of learning</a:t>
              </a:r>
              <a:br>
                <a:rPr lang="en-US" dirty="0">
                  <a:latin typeface="Avenir Book" panose="02000503020000020003" pitchFamily="2" charset="0"/>
                  <a:ea typeface="Avenir Book" charset="0"/>
                  <a:cs typeface="Avenir Book" charset="0"/>
                </a:rPr>
              </a:br>
              <a:r>
                <a:rPr lang="en-US" dirty="0">
                  <a:latin typeface="Avenir Book" panose="02000503020000020003" pitchFamily="2" charset="0"/>
                  <a:ea typeface="Avenir Book" charset="0"/>
                  <a:cs typeface="Avenir Book" charset="0"/>
                </a:rPr>
                <a:t>Taking a test after studying the </a:t>
              </a:r>
              <a:br>
                <a:rPr lang="en-US" dirty="0">
                  <a:latin typeface="Avenir Book" panose="02000503020000020003" pitchFamily="2" charset="0"/>
                  <a:ea typeface="Avenir Book" charset="0"/>
                  <a:cs typeface="Avenir Book" charset="0"/>
                </a:rPr>
              </a:br>
              <a:r>
                <a:rPr lang="en-US" dirty="0">
                  <a:latin typeface="Avenir Book" panose="02000503020000020003" pitchFamily="2" charset="0"/>
                  <a:ea typeface="Avenir Book" charset="0"/>
                  <a:cs typeface="Avenir Book" charset="0"/>
                </a:rPr>
                <a:t>answer key</a:t>
              </a:r>
            </a:p>
          </p:txBody>
        </p:sp>
      </p:grpSp>
      <p:grpSp>
        <p:nvGrpSpPr>
          <p:cNvPr id="7" name="Group 6">
            <a:extLst>
              <a:ext uri="{FF2B5EF4-FFF2-40B4-BE49-F238E27FC236}">
                <a16:creationId xmlns:a16="http://schemas.microsoft.com/office/drawing/2014/main" id="{F7EC2476-05CB-CF28-3026-4E78CE5F28D2}"/>
              </a:ext>
            </a:extLst>
          </p:cNvPr>
          <p:cNvGrpSpPr/>
          <p:nvPr/>
        </p:nvGrpSpPr>
        <p:grpSpPr>
          <a:xfrm>
            <a:off x="6515100" y="2878262"/>
            <a:ext cx="4267200" cy="3744807"/>
            <a:chOff x="6515100" y="2878262"/>
            <a:chExt cx="4267200" cy="3744807"/>
          </a:xfrm>
        </p:grpSpPr>
        <p:pic>
          <p:nvPicPr>
            <p:cNvPr id="1030" name="Picture 6" descr="8 Tips For Studying At Home More Effectively | Oxford Learning">
              <a:extLst>
                <a:ext uri="{FF2B5EF4-FFF2-40B4-BE49-F238E27FC236}">
                  <a16:creationId xmlns:a16="http://schemas.microsoft.com/office/drawing/2014/main" id="{544B78DE-C64C-5DB4-D56F-E8397B233A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333"/>
            <a:stretch/>
          </p:blipFill>
          <p:spPr bwMode="auto">
            <a:xfrm>
              <a:off x="6515100" y="2878262"/>
              <a:ext cx="4267200" cy="27169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CA9A348-36AD-6695-7242-8A3355F52D26}"/>
                </a:ext>
              </a:extLst>
            </p:cNvPr>
            <p:cNvSpPr txBox="1"/>
            <p:nvPr/>
          </p:nvSpPr>
          <p:spPr>
            <a:xfrm>
              <a:off x="6515100" y="5668962"/>
              <a:ext cx="4267200" cy="954107"/>
            </a:xfrm>
            <a:prstGeom prst="rect">
              <a:avLst/>
            </a:prstGeom>
            <a:noFill/>
          </p:spPr>
          <p:txBody>
            <a:bodyPr wrap="square" rtlCol="0" anchor="ctr">
              <a:spAutoFit/>
            </a:bodyPr>
            <a:lstStyle/>
            <a:p>
              <a:pPr algn="ctr"/>
              <a:r>
                <a:rPr lang="en-US" sz="2000" b="1" u="sng" dirty="0">
                  <a:latin typeface="Avenir Book" panose="02000503020000020003" pitchFamily="2" charset="0"/>
                  <a:ea typeface="Avenir Book" charset="0"/>
                  <a:cs typeface="Avenir Book" charset="0"/>
                </a:rPr>
                <a:t>Better evaluation of learning</a:t>
              </a:r>
              <a:br>
                <a:rPr lang="en-US" dirty="0">
                  <a:latin typeface="Avenir Book" panose="02000503020000020003" pitchFamily="2" charset="0"/>
                  <a:ea typeface="Avenir Book" charset="0"/>
                  <a:cs typeface="Avenir Book" charset="0"/>
                </a:rPr>
              </a:br>
              <a:r>
                <a:rPr lang="en-US" dirty="0">
                  <a:latin typeface="Avenir Book" panose="02000503020000020003" pitchFamily="2" charset="0"/>
                  <a:ea typeface="Avenir Book" charset="0"/>
                  <a:cs typeface="Avenir Book" charset="0"/>
                </a:rPr>
                <a:t>Taking a test after studying similar problems from homework</a:t>
              </a:r>
            </a:p>
          </p:txBody>
        </p:sp>
      </p:grpSp>
    </p:spTree>
    <p:extLst>
      <p:ext uri="{BB962C8B-B14F-4D97-AF65-F5344CB8AC3E}">
        <p14:creationId xmlns:p14="http://schemas.microsoft.com/office/powerpoint/2010/main" val="65213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B54E-9DA2-CE7E-E3A6-B81A14B8C49F}"/>
              </a:ext>
            </a:extLst>
          </p:cNvPr>
          <p:cNvSpPr>
            <a:spLocks noGrp="1"/>
          </p:cNvSpPr>
          <p:nvPr>
            <p:ph type="title"/>
          </p:nvPr>
        </p:nvSpPr>
        <p:spPr/>
        <p:txBody>
          <a:bodyPr/>
          <a:lstStyle/>
          <a:p>
            <a:r>
              <a:rPr lang="en-US" dirty="0"/>
              <a:t>Splitting A Dataset</a:t>
            </a:r>
          </a:p>
        </p:txBody>
      </p:sp>
      <p:sp>
        <p:nvSpPr>
          <p:cNvPr id="3" name="Content Placeholder 2">
            <a:extLst>
              <a:ext uri="{FF2B5EF4-FFF2-40B4-BE49-F238E27FC236}">
                <a16:creationId xmlns:a16="http://schemas.microsoft.com/office/drawing/2014/main" id="{337D98D0-4A5C-5490-31CE-A30DA4A32209}"/>
              </a:ext>
            </a:extLst>
          </p:cNvPr>
          <p:cNvSpPr>
            <a:spLocks noGrp="1"/>
          </p:cNvSpPr>
          <p:nvPr>
            <p:ph idx="1"/>
          </p:nvPr>
        </p:nvSpPr>
        <p:spPr>
          <a:xfrm>
            <a:off x="609600" y="1600201"/>
            <a:ext cx="10972800" cy="4800599"/>
          </a:xfrm>
        </p:spPr>
        <p:txBody>
          <a:bodyPr>
            <a:normAutofit lnSpcReduction="10000"/>
          </a:bodyPr>
          <a:lstStyle/>
          <a:p>
            <a:r>
              <a:rPr lang="en-US" dirty="0"/>
              <a:t>To evaluate how the model performs on ”unseen” data, we often partition our dataset into distinct splits</a:t>
            </a:r>
          </a:p>
          <a:p>
            <a:pPr marL="514350" indent="-514350">
              <a:buAutoNum type="arabicPeriod"/>
            </a:pPr>
            <a:r>
              <a:rPr lang="en-US" b="1" u="sng" dirty="0"/>
              <a:t>Train</a:t>
            </a:r>
            <a:r>
              <a:rPr lang="en-US" b="1" dirty="0"/>
              <a:t>:</a:t>
            </a:r>
            <a:r>
              <a:rPr lang="en-US" dirty="0"/>
              <a:t> Used to help the model learn how to set its internal parameters so that it can generate predictions</a:t>
            </a:r>
          </a:p>
          <a:p>
            <a:pPr marL="514350" indent="-514350">
              <a:buAutoNum type="arabicPeriod"/>
            </a:pPr>
            <a:r>
              <a:rPr lang="en-US" b="1" u="sng" dirty="0"/>
              <a:t>Test</a:t>
            </a:r>
            <a:r>
              <a:rPr lang="en-US" b="1" dirty="0"/>
              <a:t>:</a:t>
            </a:r>
            <a:r>
              <a:rPr lang="en-US" dirty="0"/>
              <a:t> Used to evaluate the trained model’s performance</a:t>
            </a:r>
          </a:p>
          <a:p>
            <a:pPr marL="514350" indent="-514350">
              <a:buFont typeface="Arial" pitchFamily="34" charset="0"/>
              <a:buAutoNum type="arabicPeriod"/>
            </a:pPr>
            <a:r>
              <a:rPr lang="en-US" b="1" u="sng" dirty="0"/>
              <a:t>(Optional) Validation</a:t>
            </a:r>
            <a:r>
              <a:rPr lang="en-US" b="1" dirty="0"/>
              <a:t>:</a:t>
            </a:r>
            <a:r>
              <a:rPr lang="en-US" dirty="0"/>
              <a:t> Used to tune hyperparameters; </a:t>
            </a:r>
            <a:br>
              <a:rPr lang="en-US" dirty="0"/>
            </a:br>
            <a:r>
              <a:rPr lang="en-US" dirty="0"/>
              <a:t>more on this later</a:t>
            </a:r>
          </a:p>
          <a:p>
            <a:endParaRPr lang="en-US" b="1" dirty="0"/>
          </a:p>
          <a:p>
            <a:r>
              <a:rPr lang="en-US" sz="3900" b="1" dirty="0">
                <a:solidFill>
                  <a:srgbClr val="C00000"/>
                </a:solidFill>
              </a:rPr>
              <a:t>NEVER TRAIN A MODEL ON THE TEST DATA!</a:t>
            </a:r>
          </a:p>
        </p:txBody>
      </p:sp>
    </p:spTree>
    <p:extLst>
      <p:ext uri="{BB962C8B-B14F-4D97-AF65-F5344CB8AC3E}">
        <p14:creationId xmlns:p14="http://schemas.microsoft.com/office/powerpoint/2010/main" val="164869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00AD7-F435-BFFF-4E1C-2C0DA4294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1F097-213B-97C4-BEFD-B575EE29F9A7}"/>
              </a:ext>
            </a:extLst>
          </p:cNvPr>
          <p:cNvSpPr>
            <a:spLocks noGrp="1"/>
          </p:cNvSpPr>
          <p:nvPr>
            <p:ph type="title"/>
          </p:nvPr>
        </p:nvSpPr>
        <p:spPr/>
        <p:txBody>
          <a:bodyPr/>
          <a:lstStyle/>
          <a:p>
            <a:r>
              <a:rPr lang="en-US" dirty="0"/>
              <a:t>Standard Methods of Dataset Splitting</a:t>
            </a:r>
          </a:p>
        </p:txBody>
      </p:sp>
      <p:sp>
        <p:nvSpPr>
          <p:cNvPr id="3" name="Content Placeholder 2">
            <a:extLst>
              <a:ext uri="{FF2B5EF4-FFF2-40B4-BE49-F238E27FC236}">
                <a16:creationId xmlns:a16="http://schemas.microsoft.com/office/drawing/2014/main" id="{10211E98-6E22-8DFC-6037-173DBD92F6FF}"/>
              </a:ext>
            </a:extLst>
          </p:cNvPr>
          <p:cNvSpPr>
            <a:spLocks noGrp="1"/>
          </p:cNvSpPr>
          <p:nvPr>
            <p:ph idx="1"/>
          </p:nvPr>
        </p:nvSpPr>
        <p:spPr>
          <a:xfrm>
            <a:off x="609600" y="1600201"/>
            <a:ext cx="10972800" cy="1679669"/>
          </a:xfrm>
        </p:spPr>
        <p:txBody>
          <a:bodyPr>
            <a:normAutofit fontScale="77500" lnSpcReduction="20000"/>
          </a:bodyPr>
          <a:lstStyle/>
          <a:p>
            <a:pPr>
              <a:spcAft>
                <a:spcPts val="1800"/>
              </a:spcAft>
            </a:pPr>
            <a:r>
              <a:rPr lang="en-US" dirty="0"/>
              <a:t>Most of the data should be used for model training</a:t>
            </a:r>
          </a:p>
          <a:p>
            <a:r>
              <a:rPr lang="en-US" dirty="0"/>
              <a:t>These are three standard methods </a:t>
            </a:r>
            <a:br>
              <a:rPr lang="en-US" dirty="0"/>
            </a:br>
            <a:r>
              <a:rPr lang="en-US" dirty="0"/>
              <a:t>(note: we’ll ignore the validation set for now, which can just be taken from the train set)</a:t>
            </a:r>
          </a:p>
        </p:txBody>
      </p:sp>
      <p:sp>
        <p:nvSpPr>
          <p:cNvPr id="4" name="Content Placeholder 2">
            <a:extLst>
              <a:ext uri="{FF2B5EF4-FFF2-40B4-BE49-F238E27FC236}">
                <a16:creationId xmlns:a16="http://schemas.microsoft.com/office/drawing/2014/main" id="{AA0B3EA1-B1FE-F05C-8A49-2ABACC8D0E5C}"/>
              </a:ext>
            </a:extLst>
          </p:cNvPr>
          <p:cNvSpPr txBox="1">
            <a:spLocks/>
          </p:cNvSpPr>
          <p:nvPr/>
        </p:nvSpPr>
        <p:spPr>
          <a:xfrm>
            <a:off x="605118" y="3422716"/>
            <a:ext cx="5948082" cy="7620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AutoNum type="arabicPeriod"/>
            </a:pPr>
            <a:r>
              <a:rPr lang="en-US" sz="2000" b="1" u="sng" dirty="0"/>
              <a:t>Single Split</a:t>
            </a:r>
            <a:r>
              <a:rPr lang="en-US" sz="2000" b="1" dirty="0"/>
              <a:t>:</a:t>
            </a:r>
            <a:r>
              <a:rPr lang="en-US" sz="2000" dirty="0"/>
              <a:t> Generate a single partition </a:t>
            </a:r>
            <a:br>
              <a:rPr lang="en-US" sz="2000" dirty="0"/>
            </a:br>
            <a:r>
              <a:rPr lang="en-US" sz="2000" dirty="0"/>
              <a:t>(e.g., 80% train &amp; 20% test)</a:t>
            </a:r>
          </a:p>
        </p:txBody>
      </p:sp>
      <p:grpSp>
        <p:nvGrpSpPr>
          <p:cNvPr id="41" name="Group 40">
            <a:extLst>
              <a:ext uri="{FF2B5EF4-FFF2-40B4-BE49-F238E27FC236}">
                <a16:creationId xmlns:a16="http://schemas.microsoft.com/office/drawing/2014/main" id="{A4C8D12B-5567-4DA4-5B41-C9C6AA0CC31E}"/>
              </a:ext>
            </a:extLst>
          </p:cNvPr>
          <p:cNvGrpSpPr/>
          <p:nvPr/>
        </p:nvGrpSpPr>
        <p:grpSpPr>
          <a:xfrm>
            <a:off x="6224366" y="4038600"/>
            <a:ext cx="5357907" cy="1731892"/>
            <a:chOff x="6224366" y="4038600"/>
            <a:chExt cx="5357907" cy="1731892"/>
          </a:xfrm>
        </p:grpSpPr>
        <p:grpSp>
          <p:nvGrpSpPr>
            <p:cNvPr id="39" name="Group 38">
              <a:extLst>
                <a:ext uri="{FF2B5EF4-FFF2-40B4-BE49-F238E27FC236}">
                  <a16:creationId xmlns:a16="http://schemas.microsoft.com/office/drawing/2014/main" id="{E31D25C5-9574-0291-30BC-9743FD807AED}"/>
                </a:ext>
              </a:extLst>
            </p:cNvPr>
            <p:cNvGrpSpPr/>
            <p:nvPr/>
          </p:nvGrpSpPr>
          <p:grpSpPr>
            <a:xfrm>
              <a:off x="6224366" y="5401160"/>
              <a:ext cx="5357907" cy="369332"/>
              <a:chOff x="6224366" y="5401160"/>
              <a:chExt cx="5357907" cy="369332"/>
            </a:xfrm>
          </p:grpSpPr>
          <p:sp>
            <p:nvSpPr>
              <p:cNvPr id="34" name="TextBox 33">
                <a:extLst>
                  <a:ext uri="{FF2B5EF4-FFF2-40B4-BE49-F238E27FC236}">
                    <a16:creationId xmlns:a16="http://schemas.microsoft.com/office/drawing/2014/main" id="{35E49187-16A5-A890-B7AE-932364F94939}"/>
                  </a:ext>
                </a:extLst>
              </p:cNvPr>
              <p:cNvSpPr txBox="1"/>
              <p:nvPr/>
            </p:nvSpPr>
            <p:spPr>
              <a:xfrm>
                <a:off x="6224366" y="5401160"/>
                <a:ext cx="505267" cy="369332"/>
              </a:xfrm>
              <a:prstGeom prst="rect">
                <a:avLst/>
              </a:prstGeom>
              <a:noFill/>
            </p:spPr>
            <p:txBody>
              <a:bodyPr wrap="none" rtlCol="0">
                <a:spAutoFit/>
              </a:bodyPr>
              <a:lstStyle/>
              <a:p>
                <a:pPr algn="ctr"/>
                <a:r>
                  <a:rPr lang="en-US" dirty="0"/>
                  <a:t>0%</a:t>
                </a:r>
              </a:p>
            </p:txBody>
          </p:sp>
          <p:sp>
            <p:nvSpPr>
              <p:cNvPr id="35" name="TextBox 34">
                <a:extLst>
                  <a:ext uri="{FF2B5EF4-FFF2-40B4-BE49-F238E27FC236}">
                    <a16:creationId xmlns:a16="http://schemas.microsoft.com/office/drawing/2014/main" id="{FE81B473-8C4C-B235-6072-E2FD49BAA500}"/>
                  </a:ext>
                </a:extLst>
              </p:cNvPr>
              <p:cNvSpPr txBox="1"/>
              <p:nvPr/>
            </p:nvSpPr>
            <p:spPr>
              <a:xfrm>
                <a:off x="9665446" y="5401160"/>
                <a:ext cx="633507" cy="369332"/>
              </a:xfrm>
              <a:prstGeom prst="rect">
                <a:avLst/>
              </a:prstGeom>
              <a:noFill/>
            </p:spPr>
            <p:txBody>
              <a:bodyPr wrap="none" rtlCol="0">
                <a:spAutoFit/>
              </a:bodyPr>
              <a:lstStyle/>
              <a:p>
                <a:pPr algn="ctr"/>
                <a:r>
                  <a:rPr lang="en-US" dirty="0"/>
                  <a:t>80%</a:t>
                </a:r>
              </a:p>
            </p:txBody>
          </p:sp>
          <p:sp>
            <p:nvSpPr>
              <p:cNvPr id="36" name="TextBox 35">
                <a:extLst>
                  <a:ext uri="{FF2B5EF4-FFF2-40B4-BE49-F238E27FC236}">
                    <a16:creationId xmlns:a16="http://schemas.microsoft.com/office/drawing/2014/main" id="{3A85C9EF-C4C7-859E-D51B-784ACBE48C07}"/>
                  </a:ext>
                </a:extLst>
              </p:cNvPr>
              <p:cNvSpPr txBox="1"/>
              <p:nvPr/>
            </p:nvSpPr>
            <p:spPr>
              <a:xfrm>
                <a:off x="10820526" y="5401160"/>
                <a:ext cx="761747" cy="369332"/>
              </a:xfrm>
              <a:prstGeom prst="rect">
                <a:avLst/>
              </a:prstGeom>
              <a:noFill/>
            </p:spPr>
            <p:txBody>
              <a:bodyPr wrap="none" rtlCol="0">
                <a:spAutoFit/>
              </a:bodyPr>
              <a:lstStyle/>
              <a:p>
                <a:pPr algn="ctr"/>
                <a:r>
                  <a:rPr lang="en-US" dirty="0"/>
                  <a:t>100%</a:t>
                </a:r>
              </a:p>
            </p:txBody>
          </p:sp>
        </p:grpSp>
        <p:grpSp>
          <p:nvGrpSpPr>
            <p:cNvPr id="40" name="Group 39">
              <a:extLst>
                <a:ext uri="{FF2B5EF4-FFF2-40B4-BE49-F238E27FC236}">
                  <a16:creationId xmlns:a16="http://schemas.microsoft.com/office/drawing/2014/main" id="{E9E8CA90-6A49-1D6A-24E6-52A448BBAAC6}"/>
                </a:ext>
              </a:extLst>
            </p:cNvPr>
            <p:cNvGrpSpPr/>
            <p:nvPr/>
          </p:nvGrpSpPr>
          <p:grpSpPr>
            <a:xfrm>
              <a:off x="6477000" y="4038600"/>
              <a:ext cx="4724400" cy="1252780"/>
              <a:chOff x="6477000" y="4038600"/>
              <a:chExt cx="4724400" cy="1252780"/>
            </a:xfrm>
          </p:grpSpPr>
          <p:grpSp>
            <p:nvGrpSpPr>
              <p:cNvPr id="31" name="Group 30">
                <a:extLst>
                  <a:ext uri="{FF2B5EF4-FFF2-40B4-BE49-F238E27FC236}">
                    <a16:creationId xmlns:a16="http://schemas.microsoft.com/office/drawing/2014/main" id="{473C9C25-4392-7930-3A2E-A882EB51C5FE}"/>
                  </a:ext>
                </a:extLst>
              </p:cNvPr>
              <p:cNvGrpSpPr/>
              <p:nvPr/>
            </p:nvGrpSpPr>
            <p:grpSpPr>
              <a:xfrm>
                <a:off x="6477000" y="4605580"/>
                <a:ext cx="4724400" cy="685800"/>
                <a:chOff x="1649185" y="4038600"/>
                <a:chExt cx="4724400" cy="685800"/>
              </a:xfrm>
            </p:grpSpPr>
            <p:sp>
              <p:nvSpPr>
                <p:cNvPr id="32" name="Rectangle 31">
                  <a:extLst>
                    <a:ext uri="{FF2B5EF4-FFF2-40B4-BE49-F238E27FC236}">
                      <a16:creationId xmlns:a16="http://schemas.microsoft.com/office/drawing/2014/main" id="{85104984-B89D-8204-3758-5B9726DC13F1}"/>
                    </a:ext>
                  </a:extLst>
                </p:cNvPr>
                <p:cNvSpPr/>
                <p:nvPr/>
              </p:nvSpPr>
              <p:spPr>
                <a:xfrm>
                  <a:off x="5154385" y="4038600"/>
                  <a:ext cx="1219200" cy="685800"/>
                </a:xfrm>
                <a:prstGeom prst="rect">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Test</a:t>
                  </a:r>
                </a:p>
              </p:txBody>
            </p:sp>
            <p:sp>
              <p:nvSpPr>
                <p:cNvPr id="33" name="Rectangle 32">
                  <a:extLst>
                    <a:ext uri="{FF2B5EF4-FFF2-40B4-BE49-F238E27FC236}">
                      <a16:creationId xmlns:a16="http://schemas.microsoft.com/office/drawing/2014/main" id="{F402FB09-334D-2386-6BDC-3852F06FC598}"/>
                    </a:ext>
                  </a:extLst>
                </p:cNvPr>
                <p:cNvSpPr/>
                <p:nvPr/>
              </p:nvSpPr>
              <p:spPr>
                <a:xfrm>
                  <a:off x="1649185" y="4038600"/>
                  <a:ext cx="3505200"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Train</a:t>
                  </a:r>
                </a:p>
              </p:txBody>
            </p:sp>
          </p:grpSp>
          <p:sp>
            <p:nvSpPr>
              <p:cNvPr id="37" name="TextBox 36">
                <a:extLst>
                  <a:ext uri="{FF2B5EF4-FFF2-40B4-BE49-F238E27FC236}">
                    <a16:creationId xmlns:a16="http://schemas.microsoft.com/office/drawing/2014/main" id="{D276B6C9-38F9-F670-9498-27016CCDFC2F}"/>
                  </a:ext>
                </a:extLst>
              </p:cNvPr>
              <p:cNvSpPr txBox="1"/>
              <p:nvPr/>
            </p:nvSpPr>
            <p:spPr>
              <a:xfrm>
                <a:off x="6477000" y="4038600"/>
                <a:ext cx="4724400" cy="400110"/>
              </a:xfrm>
              <a:prstGeom prst="rect">
                <a:avLst/>
              </a:prstGeom>
              <a:noFill/>
            </p:spPr>
            <p:txBody>
              <a:bodyPr wrap="square" rtlCol="0">
                <a:spAutoFit/>
              </a:bodyPr>
              <a:lstStyle/>
              <a:p>
                <a:pPr algn="ctr"/>
                <a:r>
                  <a:rPr lang="en-US" sz="2000" b="1" dirty="0"/>
                  <a:t>Overall Dataset</a:t>
                </a:r>
              </a:p>
            </p:txBody>
          </p:sp>
        </p:grpSp>
      </p:grpSp>
    </p:spTree>
    <p:extLst>
      <p:ext uri="{BB962C8B-B14F-4D97-AF65-F5344CB8AC3E}">
        <p14:creationId xmlns:p14="http://schemas.microsoft.com/office/powerpoint/2010/main" val="327339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41"/>
                                        </p:tgtEl>
                                      </p:cBhvr>
                                    </p:animEffect>
                                    <p:set>
                                      <p:cBhvr>
                                        <p:cTn id="27"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EC872-8F4F-C871-568C-27442601D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558D8-724E-F884-C772-8C1B536476E0}"/>
              </a:ext>
            </a:extLst>
          </p:cNvPr>
          <p:cNvSpPr>
            <a:spLocks noGrp="1"/>
          </p:cNvSpPr>
          <p:nvPr>
            <p:ph type="title"/>
          </p:nvPr>
        </p:nvSpPr>
        <p:spPr/>
        <p:txBody>
          <a:bodyPr/>
          <a:lstStyle/>
          <a:p>
            <a:r>
              <a:rPr lang="en-US" dirty="0"/>
              <a:t>Standard Methods of Dataset Splitting</a:t>
            </a:r>
          </a:p>
        </p:txBody>
      </p:sp>
      <p:sp>
        <p:nvSpPr>
          <p:cNvPr id="3" name="Content Placeholder 2">
            <a:extLst>
              <a:ext uri="{FF2B5EF4-FFF2-40B4-BE49-F238E27FC236}">
                <a16:creationId xmlns:a16="http://schemas.microsoft.com/office/drawing/2014/main" id="{570C30F2-FF4F-66F4-175C-FE6B5E8184F5}"/>
              </a:ext>
            </a:extLst>
          </p:cNvPr>
          <p:cNvSpPr>
            <a:spLocks noGrp="1"/>
          </p:cNvSpPr>
          <p:nvPr>
            <p:ph idx="1"/>
          </p:nvPr>
        </p:nvSpPr>
        <p:spPr>
          <a:xfrm>
            <a:off x="609600" y="1600201"/>
            <a:ext cx="10972800" cy="1679669"/>
          </a:xfrm>
        </p:spPr>
        <p:txBody>
          <a:bodyPr>
            <a:normAutofit fontScale="77500" lnSpcReduction="20000"/>
          </a:bodyPr>
          <a:lstStyle/>
          <a:p>
            <a:pPr>
              <a:spcAft>
                <a:spcPts val="1800"/>
              </a:spcAft>
            </a:pPr>
            <a:r>
              <a:rPr lang="en-US" dirty="0"/>
              <a:t>Most of the data should be used for model training</a:t>
            </a:r>
          </a:p>
          <a:p>
            <a:r>
              <a:rPr lang="en-US" dirty="0"/>
              <a:t>These are three standard methods </a:t>
            </a:r>
            <a:br>
              <a:rPr lang="en-US" dirty="0"/>
            </a:br>
            <a:r>
              <a:rPr lang="en-US" dirty="0"/>
              <a:t>(note: we’ll ignore the validation set for now, which can just be taken from the train set)</a:t>
            </a:r>
          </a:p>
        </p:txBody>
      </p:sp>
      <p:sp>
        <p:nvSpPr>
          <p:cNvPr id="4" name="Content Placeholder 2">
            <a:extLst>
              <a:ext uri="{FF2B5EF4-FFF2-40B4-BE49-F238E27FC236}">
                <a16:creationId xmlns:a16="http://schemas.microsoft.com/office/drawing/2014/main" id="{03075B45-8E9E-E1AE-949E-14A102B15138}"/>
              </a:ext>
            </a:extLst>
          </p:cNvPr>
          <p:cNvSpPr txBox="1">
            <a:spLocks/>
          </p:cNvSpPr>
          <p:nvPr/>
        </p:nvSpPr>
        <p:spPr>
          <a:xfrm>
            <a:off x="605118" y="3422716"/>
            <a:ext cx="5948082" cy="7620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AutoNum type="arabicPeriod"/>
            </a:pPr>
            <a:r>
              <a:rPr lang="en-US" sz="2000" b="1" u="sng" dirty="0"/>
              <a:t>Single Split</a:t>
            </a:r>
            <a:r>
              <a:rPr lang="en-US" sz="2000" b="1" dirty="0"/>
              <a:t>:</a:t>
            </a:r>
            <a:r>
              <a:rPr lang="en-US" sz="2000" dirty="0"/>
              <a:t> Generate a single partition </a:t>
            </a:r>
            <a:br>
              <a:rPr lang="en-US" sz="2000" dirty="0"/>
            </a:br>
            <a:r>
              <a:rPr lang="en-US" sz="2000" dirty="0"/>
              <a:t>(e.g., 80% train &amp; 20% test)</a:t>
            </a:r>
          </a:p>
        </p:txBody>
      </p:sp>
      <p:grpSp>
        <p:nvGrpSpPr>
          <p:cNvPr id="26" name="Group 25">
            <a:extLst>
              <a:ext uri="{FF2B5EF4-FFF2-40B4-BE49-F238E27FC236}">
                <a16:creationId xmlns:a16="http://schemas.microsoft.com/office/drawing/2014/main" id="{6035A30A-0EDA-2CE8-EA27-083957EB73E5}"/>
              </a:ext>
            </a:extLst>
          </p:cNvPr>
          <p:cNvGrpSpPr/>
          <p:nvPr/>
        </p:nvGrpSpPr>
        <p:grpSpPr>
          <a:xfrm>
            <a:off x="8762008" y="6172200"/>
            <a:ext cx="2134592" cy="351638"/>
            <a:chOff x="8477002" y="6172200"/>
            <a:chExt cx="2134592" cy="351638"/>
          </a:xfrm>
        </p:grpSpPr>
        <p:grpSp>
          <p:nvGrpSpPr>
            <p:cNvPr id="5" name="Group 4">
              <a:extLst>
                <a:ext uri="{FF2B5EF4-FFF2-40B4-BE49-F238E27FC236}">
                  <a16:creationId xmlns:a16="http://schemas.microsoft.com/office/drawing/2014/main" id="{D2D7AD4B-FD22-BC8A-CC66-47C84C58621C}"/>
                </a:ext>
              </a:extLst>
            </p:cNvPr>
            <p:cNvGrpSpPr/>
            <p:nvPr/>
          </p:nvGrpSpPr>
          <p:grpSpPr>
            <a:xfrm>
              <a:off x="8477002" y="6174654"/>
              <a:ext cx="1058681" cy="349184"/>
              <a:chOff x="7270174" y="4396582"/>
              <a:chExt cx="1058681" cy="349184"/>
            </a:xfrm>
          </p:grpSpPr>
          <p:sp>
            <p:nvSpPr>
              <p:cNvPr id="6" name="Rectangle 5">
                <a:extLst>
                  <a:ext uri="{FF2B5EF4-FFF2-40B4-BE49-F238E27FC236}">
                    <a16:creationId xmlns:a16="http://schemas.microsoft.com/office/drawing/2014/main" id="{9F974021-4320-773B-3D84-7D606F8457B4}"/>
                  </a:ext>
                </a:extLst>
              </p:cNvPr>
              <p:cNvSpPr/>
              <p:nvPr/>
            </p:nvSpPr>
            <p:spPr>
              <a:xfrm>
                <a:off x="7270174" y="4396582"/>
                <a:ext cx="322612" cy="3184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7" name="TextBox 6">
                <a:extLst>
                  <a:ext uri="{FF2B5EF4-FFF2-40B4-BE49-F238E27FC236}">
                    <a16:creationId xmlns:a16="http://schemas.microsoft.com/office/drawing/2014/main" id="{9DE439E4-A0AB-1EDF-C84D-D0B841027D14}"/>
                  </a:ext>
                </a:extLst>
              </p:cNvPr>
              <p:cNvSpPr txBox="1"/>
              <p:nvPr/>
            </p:nvSpPr>
            <p:spPr>
              <a:xfrm>
                <a:off x="7592786" y="4407212"/>
                <a:ext cx="736069" cy="338554"/>
              </a:xfrm>
              <a:prstGeom prst="rect">
                <a:avLst/>
              </a:prstGeom>
              <a:noFill/>
            </p:spPr>
            <p:txBody>
              <a:bodyPr wrap="square" rtlCol="0">
                <a:spAutoFit/>
              </a:bodyPr>
              <a:lstStyle/>
              <a:p>
                <a:r>
                  <a:rPr lang="en-US" sz="1600" dirty="0">
                    <a:latin typeface="Avenir Book" panose="02000503020000020003" pitchFamily="2" charset="0"/>
                    <a:ea typeface="Avenir Book" charset="0"/>
                    <a:cs typeface="Avenir Book" charset="0"/>
                  </a:rPr>
                  <a:t>Train</a:t>
                </a:r>
              </a:p>
            </p:txBody>
          </p:sp>
        </p:grpSp>
        <p:grpSp>
          <p:nvGrpSpPr>
            <p:cNvPr id="8" name="Group 7">
              <a:extLst>
                <a:ext uri="{FF2B5EF4-FFF2-40B4-BE49-F238E27FC236}">
                  <a16:creationId xmlns:a16="http://schemas.microsoft.com/office/drawing/2014/main" id="{B282430E-C0DB-B31C-12D7-4DFA7D7F8C58}"/>
                </a:ext>
              </a:extLst>
            </p:cNvPr>
            <p:cNvGrpSpPr/>
            <p:nvPr/>
          </p:nvGrpSpPr>
          <p:grpSpPr>
            <a:xfrm>
              <a:off x="9688083" y="6172200"/>
              <a:ext cx="923511" cy="351637"/>
              <a:chOff x="7270174" y="4990214"/>
              <a:chExt cx="923511" cy="351637"/>
            </a:xfrm>
          </p:grpSpPr>
          <p:sp>
            <p:nvSpPr>
              <p:cNvPr id="9" name="Rectangle 8">
                <a:extLst>
                  <a:ext uri="{FF2B5EF4-FFF2-40B4-BE49-F238E27FC236}">
                    <a16:creationId xmlns:a16="http://schemas.microsoft.com/office/drawing/2014/main" id="{4F05BB04-A1B8-B7D7-B701-F5B326A78CA8}"/>
                  </a:ext>
                </a:extLst>
              </p:cNvPr>
              <p:cNvSpPr/>
              <p:nvPr/>
            </p:nvSpPr>
            <p:spPr>
              <a:xfrm>
                <a:off x="7270174" y="4990214"/>
                <a:ext cx="322612" cy="31840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10" name="TextBox 9">
                <a:extLst>
                  <a:ext uri="{FF2B5EF4-FFF2-40B4-BE49-F238E27FC236}">
                    <a16:creationId xmlns:a16="http://schemas.microsoft.com/office/drawing/2014/main" id="{1DF473DC-D159-AE8A-22B9-E3B43281FC85}"/>
                  </a:ext>
                </a:extLst>
              </p:cNvPr>
              <p:cNvSpPr txBox="1"/>
              <p:nvPr/>
            </p:nvSpPr>
            <p:spPr>
              <a:xfrm>
                <a:off x="7592786" y="5003297"/>
                <a:ext cx="600899" cy="338554"/>
              </a:xfrm>
              <a:prstGeom prst="rect">
                <a:avLst/>
              </a:prstGeom>
              <a:noFill/>
            </p:spPr>
            <p:txBody>
              <a:bodyPr wrap="square" rtlCol="0">
                <a:spAutoFit/>
              </a:bodyPr>
              <a:lstStyle/>
              <a:p>
                <a:r>
                  <a:rPr lang="en-US" sz="1600" dirty="0">
                    <a:latin typeface="Avenir Book" panose="02000503020000020003" pitchFamily="2" charset="0"/>
                    <a:ea typeface="Avenir Book" charset="0"/>
                    <a:cs typeface="Avenir Book" charset="0"/>
                  </a:rPr>
                  <a:t>Test</a:t>
                </a:r>
              </a:p>
            </p:txBody>
          </p:sp>
        </p:grpSp>
      </p:grpSp>
      <p:grpSp>
        <p:nvGrpSpPr>
          <p:cNvPr id="11" name="Group 10">
            <a:extLst>
              <a:ext uri="{FF2B5EF4-FFF2-40B4-BE49-F238E27FC236}">
                <a16:creationId xmlns:a16="http://schemas.microsoft.com/office/drawing/2014/main" id="{4CC1ED4D-F63E-070D-9EE2-013A7EAD5E7B}"/>
              </a:ext>
            </a:extLst>
          </p:cNvPr>
          <p:cNvGrpSpPr/>
          <p:nvPr/>
        </p:nvGrpSpPr>
        <p:grpSpPr>
          <a:xfrm>
            <a:off x="6513216" y="3498916"/>
            <a:ext cx="5121156" cy="685800"/>
            <a:chOff x="2066402" y="4038600"/>
            <a:chExt cx="5121156" cy="685800"/>
          </a:xfrm>
        </p:grpSpPr>
        <p:sp>
          <p:nvSpPr>
            <p:cNvPr id="12" name="Rectangle 11">
              <a:extLst>
                <a:ext uri="{FF2B5EF4-FFF2-40B4-BE49-F238E27FC236}">
                  <a16:creationId xmlns:a16="http://schemas.microsoft.com/office/drawing/2014/main" id="{24E00C74-CC65-AECE-FE51-DA72FE83184B}"/>
                </a:ext>
              </a:extLst>
            </p:cNvPr>
            <p:cNvSpPr/>
            <p:nvPr/>
          </p:nvSpPr>
          <p:spPr>
            <a:xfrm>
              <a:off x="3072758" y="4038600"/>
              <a:ext cx="1371600" cy="685800"/>
            </a:xfrm>
            <a:prstGeom prst="rect">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13" name="Rectangle 12">
              <a:extLst>
                <a:ext uri="{FF2B5EF4-FFF2-40B4-BE49-F238E27FC236}">
                  <a16:creationId xmlns:a16="http://schemas.microsoft.com/office/drawing/2014/main" id="{19A47E5D-3E2C-EDB2-9DE6-1AC771D00F7B}"/>
                </a:ext>
              </a:extLst>
            </p:cNvPr>
            <p:cNvSpPr/>
            <p:nvPr/>
          </p:nvSpPr>
          <p:spPr>
            <a:xfrm>
              <a:off x="4444358" y="4038600"/>
              <a:ext cx="1371600" cy="685800"/>
            </a:xfrm>
            <a:prstGeom prst="rect">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14" name="Rectangle 13">
              <a:extLst>
                <a:ext uri="{FF2B5EF4-FFF2-40B4-BE49-F238E27FC236}">
                  <a16:creationId xmlns:a16="http://schemas.microsoft.com/office/drawing/2014/main" id="{4F9563BB-2E4B-DFA8-66FA-D9EE4AA9DCC0}"/>
                </a:ext>
              </a:extLst>
            </p:cNvPr>
            <p:cNvSpPr/>
            <p:nvPr/>
          </p:nvSpPr>
          <p:spPr>
            <a:xfrm>
              <a:off x="5815958" y="4038600"/>
              <a:ext cx="1371600"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15" name="TextBox 14">
              <a:extLst>
                <a:ext uri="{FF2B5EF4-FFF2-40B4-BE49-F238E27FC236}">
                  <a16:creationId xmlns:a16="http://schemas.microsoft.com/office/drawing/2014/main" id="{3BF7E33E-77EC-01AF-1F4D-77A8A94ED61B}"/>
                </a:ext>
              </a:extLst>
            </p:cNvPr>
            <p:cNvSpPr txBox="1"/>
            <p:nvPr/>
          </p:nvSpPr>
          <p:spPr>
            <a:xfrm>
              <a:off x="2066402" y="4196834"/>
              <a:ext cx="914402" cy="369332"/>
            </a:xfrm>
            <a:prstGeom prst="rect">
              <a:avLst/>
            </a:prstGeom>
            <a:noFill/>
          </p:spPr>
          <p:txBody>
            <a:bodyPr wrap="square" rtlCol="0" anchor="ctr">
              <a:spAutoFit/>
            </a:bodyPr>
            <a:lstStyle/>
            <a:p>
              <a:r>
                <a:rPr lang="en-US" dirty="0">
                  <a:latin typeface="Avenir Book" panose="02000503020000020003" pitchFamily="2" charset="0"/>
                  <a:ea typeface="Avenir Book" charset="0"/>
                  <a:cs typeface="Avenir Book" charset="0"/>
                </a:rPr>
                <a:t>Fold 1:</a:t>
              </a:r>
            </a:p>
          </p:txBody>
        </p:sp>
      </p:grpSp>
      <p:grpSp>
        <p:nvGrpSpPr>
          <p:cNvPr id="16" name="Group 15">
            <a:extLst>
              <a:ext uri="{FF2B5EF4-FFF2-40B4-BE49-F238E27FC236}">
                <a16:creationId xmlns:a16="http://schemas.microsoft.com/office/drawing/2014/main" id="{255A267C-499E-9A41-8C81-787F64BD07AA}"/>
              </a:ext>
            </a:extLst>
          </p:cNvPr>
          <p:cNvGrpSpPr/>
          <p:nvPr/>
        </p:nvGrpSpPr>
        <p:grpSpPr>
          <a:xfrm>
            <a:off x="6513216" y="4367278"/>
            <a:ext cx="5121155" cy="685800"/>
            <a:chOff x="2874417" y="4713288"/>
            <a:chExt cx="5121155" cy="685800"/>
          </a:xfrm>
        </p:grpSpPr>
        <p:sp>
          <p:nvSpPr>
            <p:cNvPr id="17" name="Rectangle 16">
              <a:extLst>
                <a:ext uri="{FF2B5EF4-FFF2-40B4-BE49-F238E27FC236}">
                  <a16:creationId xmlns:a16="http://schemas.microsoft.com/office/drawing/2014/main" id="{AEFA515A-D073-0971-A5FA-BBA9073F3C26}"/>
                </a:ext>
              </a:extLst>
            </p:cNvPr>
            <p:cNvSpPr/>
            <p:nvPr/>
          </p:nvSpPr>
          <p:spPr>
            <a:xfrm>
              <a:off x="3880774" y="4713288"/>
              <a:ext cx="1371600"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18" name="Rectangle 17">
              <a:extLst>
                <a:ext uri="{FF2B5EF4-FFF2-40B4-BE49-F238E27FC236}">
                  <a16:creationId xmlns:a16="http://schemas.microsoft.com/office/drawing/2014/main" id="{7A191BE1-C83A-B167-2063-61C9CF71FF71}"/>
                </a:ext>
              </a:extLst>
            </p:cNvPr>
            <p:cNvSpPr/>
            <p:nvPr/>
          </p:nvSpPr>
          <p:spPr>
            <a:xfrm>
              <a:off x="5252373" y="4713288"/>
              <a:ext cx="1371600" cy="685800"/>
            </a:xfrm>
            <a:prstGeom prst="rect">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19" name="Rectangle 18">
              <a:extLst>
                <a:ext uri="{FF2B5EF4-FFF2-40B4-BE49-F238E27FC236}">
                  <a16:creationId xmlns:a16="http://schemas.microsoft.com/office/drawing/2014/main" id="{59A70E48-2E03-8116-2266-08BAC3906A16}"/>
                </a:ext>
              </a:extLst>
            </p:cNvPr>
            <p:cNvSpPr/>
            <p:nvPr/>
          </p:nvSpPr>
          <p:spPr>
            <a:xfrm>
              <a:off x="6623972" y="4713288"/>
              <a:ext cx="1371600"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20" name="TextBox 19">
              <a:extLst>
                <a:ext uri="{FF2B5EF4-FFF2-40B4-BE49-F238E27FC236}">
                  <a16:creationId xmlns:a16="http://schemas.microsoft.com/office/drawing/2014/main" id="{A07A3796-B78E-CD6E-521B-A1A819EACAD9}"/>
                </a:ext>
              </a:extLst>
            </p:cNvPr>
            <p:cNvSpPr txBox="1"/>
            <p:nvPr/>
          </p:nvSpPr>
          <p:spPr>
            <a:xfrm>
              <a:off x="2874417" y="4886910"/>
              <a:ext cx="914400" cy="369332"/>
            </a:xfrm>
            <a:prstGeom prst="rect">
              <a:avLst/>
            </a:prstGeom>
            <a:noFill/>
          </p:spPr>
          <p:txBody>
            <a:bodyPr wrap="square" rtlCol="0" anchor="ctr">
              <a:spAutoFit/>
            </a:bodyPr>
            <a:lstStyle/>
            <a:p>
              <a:r>
                <a:rPr lang="en-US" dirty="0">
                  <a:latin typeface="Avenir Book" panose="02000503020000020003" pitchFamily="2" charset="0"/>
                  <a:ea typeface="Avenir Book" charset="0"/>
                  <a:cs typeface="Avenir Book" charset="0"/>
                </a:rPr>
                <a:t>Fold 2:</a:t>
              </a:r>
            </a:p>
          </p:txBody>
        </p:sp>
      </p:grpSp>
      <p:grpSp>
        <p:nvGrpSpPr>
          <p:cNvPr id="21" name="Group 20">
            <a:extLst>
              <a:ext uri="{FF2B5EF4-FFF2-40B4-BE49-F238E27FC236}">
                <a16:creationId xmlns:a16="http://schemas.microsoft.com/office/drawing/2014/main" id="{DDB41D46-6D1C-509C-B9E8-4B7E745C6CA9}"/>
              </a:ext>
            </a:extLst>
          </p:cNvPr>
          <p:cNvGrpSpPr/>
          <p:nvPr/>
        </p:nvGrpSpPr>
        <p:grpSpPr>
          <a:xfrm>
            <a:off x="6551545" y="5235640"/>
            <a:ext cx="5082825" cy="685800"/>
            <a:chOff x="2912745" y="5581650"/>
            <a:chExt cx="5082825" cy="685800"/>
          </a:xfrm>
        </p:grpSpPr>
        <p:sp>
          <p:nvSpPr>
            <p:cNvPr id="22" name="Rectangle 21">
              <a:extLst>
                <a:ext uri="{FF2B5EF4-FFF2-40B4-BE49-F238E27FC236}">
                  <a16:creationId xmlns:a16="http://schemas.microsoft.com/office/drawing/2014/main" id="{0C506492-E7D4-A4EA-E4E7-CBD0B5569FA0}"/>
                </a:ext>
              </a:extLst>
            </p:cNvPr>
            <p:cNvSpPr/>
            <p:nvPr/>
          </p:nvSpPr>
          <p:spPr>
            <a:xfrm>
              <a:off x="3880772" y="5581650"/>
              <a:ext cx="1371600"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23" name="Rectangle 22">
              <a:extLst>
                <a:ext uri="{FF2B5EF4-FFF2-40B4-BE49-F238E27FC236}">
                  <a16:creationId xmlns:a16="http://schemas.microsoft.com/office/drawing/2014/main" id="{E326425C-80A0-83BE-3278-C8B0D8126448}"/>
                </a:ext>
              </a:extLst>
            </p:cNvPr>
            <p:cNvSpPr/>
            <p:nvPr/>
          </p:nvSpPr>
          <p:spPr>
            <a:xfrm>
              <a:off x="5252371" y="5581650"/>
              <a:ext cx="1371599"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24" name="Rectangle 23">
              <a:extLst>
                <a:ext uri="{FF2B5EF4-FFF2-40B4-BE49-F238E27FC236}">
                  <a16:creationId xmlns:a16="http://schemas.microsoft.com/office/drawing/2014/main" id="{7C6FFCD5-DB95-440F-4CA1-471F159A6982}"/>
                </a:ext>
              </a:extLst>
            </p:cNvPr>
            <p:cNvSpPr/>
            <p:nvPr/>
          </p:nvSpPr>
          <p:spPr>
            <a:xfrm>
              <a:off x="6623970" y="5581650"/>
              <a:ext cx="1371600" cy="685800"/>
            </a:xfrm>
            <a:prstGeom prst="rect">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25" name="TextBox 24">
              <a:extLst>
                <a:ext uri="{FF2B5EF4-FFF2-40B4-BE49-F238E27FC236}">
                  <a16:creationId xmlns:a16="http://schemas.microsoft.com/office/drawing/2014/main" id="{DB0CA1BD-A731-7716-E405-CF9161CB79EA}"/>
                </a:ext>
              </a:extLst>
            </p:cNvPr>
            <p:cNvSpPr txBox="1"/>
            <p:nvPr/>
          </p:nvSpPr>
          <p:spPr>
            <a:xfrm>
              <a:off x="2912745" y="5755272"/>
              <a:ext cx="914400" cy="369332"/>
            </a:xfrm>
            <a:prstGeom prst="rect">
              <a:avLst/>
            </a:prstGeom>
            <a:noFill/>
          </p:spPr>
          <p:txBody>
            <a:bodyPr wrap="square" rtlCol="0" anchor="ctr">
              <a:spAutoFit/>
            </a:bodyPr>
            <a:lstStyle/>
            <a:p>
              <a:r>
                <a:rPr lang="en-US" dirty="0">
                  <a:latin typeface="Avenir Book" panose="02000503020000020003" pitchFamily="2" charset="0"/>
                  <a:ea typeface="Avenir Book" charset="0"/>
                  <a:cs typeface="Avenir Book" charset="0"/>
                </a:rPr>
                <a:t>Fold 3:</a:t>
              </a:r>
            </a:p>
          </p:txBody>
        </p:sp>
      </p:grpSp>
      <p:sp>
        <p:nvSpPr>
          <p:cNvPr id="29" name="Content Placeholder 2">
            <a:extLst>
              <a:ext uri="{FF2B5EF4-FFF2-40B4-BE49-F238E27FC236}">
                <a16:creationId xmlns:a16="http://schemas.microsoft.com/office/drawing/2014/main" id="{5EFFA5CD-D847-AE7B-CE1C-65FB5DA987A2}"/>
              </a:ext>
            </a:extLst>
          </p:cNvPr>
          <p:cNvSpPr txBox="1">
            <a:spLocks/>
          </p:cNvSpPr>
          <p:nvPr/>
        </p:nvSpPr>
        <p:spPr>
          <a:xfrm>
            <a:off x="605118" y="4191000"/>
            <a:ext cx="5948082" cy="1411316"/>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000" b="1" u="sng" dirty="0"/>
              <a:t>k-Fold Cross-Validation</a:t>
            </a:r>
            <a:r>
              <a:rPr lang="en-US" sz="2000" b="1" dirty="0"/>
              <a:t>: </a:t>
            </a:r>
            <a:r>
              <a:rPr lang="en-US" sz="2000" dirty="0"/>
              <a:t>Split the data into </a:t>
            </a:r>
            <a:br>
              <a:rPr lang="en-US" sz="2000" dirty="0"/>
            </a:br>
            <a:r>
              <a:rPr lang="en-US" sz="2000" dirty="0"/>
              <a:t>k equal partitions, train one model with each partition as the test set</a:t>
            </a:r>
          </a:p>
        </p:txBody>
      </p:sp>
      <p:grpSp>
        <p:nvGrpSpPr>
          <p:cNvPr id="38" name="Group 37">
            <a:extLst>
              <a:ext uri="{FF2B5EF4-FFF2-40B4-BE49-F238E27FC236}">
                <a16:creationId xmlns:a16="http://schemas.microsoft.com/office/drawing/2014/main" id="{41472685-9F44-F34C-9AA8-C9D200B4965A}"/>
              </a:ext>
            </a:extLst>
          </p:cNvPr>
          <p:cNvGrpSpPr/>
          <p:nvPr/>
        </p:nvGrpSpPr>
        <p:grpSpPr>
          <a:xfrm>
            <a:off x="7266938" y="3095204"/>
            <a:ext cx="4744030" cy="369332"/>
            <a:chOff x="7266938" y="3095204"/>
            <a:chExt cx="4744030" cy="369332"/>
          </a:xfrm>
        </p:grpSpPr>
        <p:sp>
          <p:nvSpPr>
            <p:cNvPr id="34" name="TextBox 33">
              <a:extLst>
                <a:ext uri="{FF2B5EF4-FFF2-40B4-BE49-F238E27FC236}">
                  <a16:creationId xmlns:a16="http://schemas.microsoft.com/office/drawing/2014/main" id="{E0FD4E40-2883-C6A4-1758-22C42571E2F0}"/>
                </a:ext>
              </a:extLst>
            </p:cNvPr>
            <p:cNvSpPr txBox="1"/>
            <p:nvPr/>
          </p:nvSpPr>
          <p:spPr>
            <a:xfrm>
              <a:off x="8574418" y="3095204"/>
              <a:ext cx="633507" cy="369332"/>
            </a:xfrm>
            <a:prstGeom prst="rect">
              <a:avLst/>
            </a:prstGeom>
            <a:noFill/>
          </p:spPr>
          <p:txBody>
            <a:bodyPr wrap="none" rtlCol="0">
              <a:spAutoFit/>
            </a:bodyPr>
            <a:lstStyle/>
            <a:p>
              <a:pPr algn="ctr"/>
              <a:r>
                <a:rPr lang="en-US" dirty="0"/>
                <a:t>33%</a:t>
              </a:r>
            </a:p>
          </p:txBody>
        </p:sp>
        <p:sp>
          <p:nvSpPr>
            <p:cNvPr id="35" name="TextBox 34">
              <a:extLst>
                <a:ext uri="{FF2B5EF4-FFF2-40B4-BE49-F238E27FC236}">
                  <a16:creationId xmlns:a16="http://schemas.microsoft.com/office/drawing/2014/main" id="{07F5E088-CE65-80E6-BC60-FC806F40383D}"/>
                </a:ext>
              </a:extLst>
            </p:cNvPr>
            <p:cNvSpPr txBox="1"/>
            <p:nvPr/>
          </p:nvSpPr>
          <p:spPr>
            <a:xfrm>
              <a:off x="9946017" y="3095204"/>
              <a:ext cx="633507" cy="369332"/>
            </a:xfrm>
            <a:prstGeom prst="rect">
              <a:avLst/>
            </a:prstGeom>
            <a:noFill/>
          </p:spPr>
          <p:txBody>
            <a:bodyPr wrap="none" rtlCol="0">
              <a:spAutoFit/>
            </a:bodyPr>
            <a:lstStyle/>
            <a:p>
              <a:pPr algn="ctr"/>
              <a:r>
                <a:rPr lang="en-US" dirty="0"/>
                <a:t>66%</a:t>
              </a:r>
            </a:p>
          </p:txBody>
        </p:sp>
        <p:sp>
          <p:nvSpPr>
            <p:cNvPr id="36" name="TextBox 35">
              <a:extLst>
                <a:ext uri="{FF2B5EF4-FFF2-40B4-BE49-F238E27FC236}">
                  <a16:creationId xmlns:a16="http://schemas.microsoft.com/office/drawing/2014/main" id="{AE0D65F4-CBC2-AE2B-4B77-B05FEE09630F}"/>
                </a:ext>
              </a:extLst>
            </p:cNvPr>
            <p:cNvSpPr txBox="1"/>
            <p:nvPr/>
          </p:nvSpPr>
          <p:spPr>
            <a:xfrm>
              <a:off x="11249221" y="3095204"/>
              <a:ext cx="761747" cy="369332"/>
            </a:xfrm>
            <a:prstGeom prst="rect">
              <a:avLst/>
            </a:prstGeom>
            <a:noFill/>
          </p:spPr>
          <p:txBody>
            <a:bodyPr wrap="none" rtlCol="0">
              <a:spAutoFit/>
            </a:bodyPr>
            <a:lstStyle/>
            <a:p>
              <a:pPr algn="ctr"/>
              <a:r>
                <a:rPr lang="en-US" dirty="0"/>
                <a:t>100%</a:t>
              </a:r>
            </a:p>
          </p:txBody>
        </p:sp>
        <p:sp>
          <p:nvSpPr>
            <p:cNvPr id="37" name="TextBox 36">
              <a:extLst>
                <a:ext uri="{FF2B5EF4-FFF2-40B4-BE49-F238E27FC236}">
                  <a16:creationId xmlns:a16="http://schemas.microsoft.com/office/drawing/2014/main" id="{CE12B485-0099-5541-02AA-7F7D79B3D7F1}"/>
                </a:ext>
              </a:extLst>
            </p:cNvPr>
            <p:cNvSpPr txBox="1"/>
            <p:nvPr/>
          </p:nvSpPr>
          <p:spPr>
            <a:xfrm>
              <a:off x="7266938" y="3095204"/>
              <a:ext cx="505267" cy="369332"/>
            </a:xfrm>
            <a:prstGeom prst="rect">
              <a:avLst/>
            </a:prstGeom>
            <a:noFill/>
          </p:spPr>
          <p:txBody>
            <a:bodyPr wrap="none" rtlCol="0">
              <a:spAutoFit/>
            </a:bodyPr>
            <a:lstStyle/>
            <a:p>
              <a:pPr algn="ctr"/>
              <a:r>
                <a:rPr lang="en-US" dirty="0"/>
                <a:t>0%</a:t>
              </a:r>
            </a:p>
          </p:txBody>
        </p:sp>
      </p:grpSp>
    </p:spTree>
    <p:extLst>
      <p:ext uri="{BB962C8B-B14F-4D97-AF65-F5344CB8AC3E}">
        <p14:creationId xmlns:p14="http://schemas.microsoft.com/office/powerpoint/2010/main" val="220962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11"/>
                                        </p:tgtEl>
                                      </p:cBhvr>
                                    </p:animEffect>
                                    <p:set>
                                      <p:cBhvr>
                                        <p:cTn id="33" dur="1" fill="hold">
                                          <p:stCondLst>
                                            <p:cond delay="499"/>
                                          </p:stCondLst>
                                        </p:cTn>
                                        <p:tgtEl>
                                          <p:spTgt spid="11"/>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16"/>
                                        </p:tgtEl>
                                      </p:cBhvr>
                                    </p:animEffect>
                                    <p:set>
                                      <p:cBhvr>
                                        <p:cTn id="36" dur="1" fill="hold">
                                          <p:stCondLst>
                                            <p:cond delay="499"/>
                                          </p:stCondLst>
                                        </p:cTn>
                                        <p:tgtEl>
                                          <p:spTgt spid="16"/>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500"/>
                                        <p:tgtEl>
                                          <p:spTgt spid="21"/>
                                        </p:tgtEl>
                                      </p:cBhvr>
                                    </p:animEffect>
                                    <p:set>
                                      <p:cBhvr>
                                        <p:cTn id="39" dur="1" fill="hold">
                                          <p:stCondLst>
                                            <p:cond delay="499"/>
                                          </p:stCondLst>
                                        </p:cTn>
                                        <p:tgtEl>
                                          <p:spTgt spid="21"/>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500"/>
                                        <p:tgtEl>
                                          <p:spTgt spid="26"/>
                                        </p:tgtEl>
                                      </p:cBhvr>
                                    </p:animEffect>
                                    <p:set>
                                      <p:cBhvr>
                                        <p:cTn id="42" dur="1" fill="hold">
                                          <p:stCondLst>
                                            <p:cond delay="499"/>
                                          </p:stCondLst>
                                        </p:cTn>
                                        <p:tgtEl>
                                          <p:spTgt spid="26"/>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38"/>
                                        </p:tgtEl>
                                      </p:cBhvr>
                                    </p:animEffect>
                                    <p:set>
                                      <p:cBhvr>
                                        <p:cTn id="45" dur="1" fill="hold">
                                          <p:stCondLst>
                                            <p:cond delay="4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527A3-A68B-96CB-7315-EA154D1C55A1}"/>
              </a:ext>
            </a:extLst>
          </p:cNvPr>
          <p:cNvSpPr>
            <a:spLocks noGrp="1"/>
          </p:cNvSpPr>
          <p:nvPr>
            <p:ph type="title"/>
          </p:nvPr>
        </p:nvSpPr>
        <p:spPr/>
        <p:txBody>
          <a:bodyPr/>
          <a:lstStyle/>
          <a:p>
            <a:r>
              <a:rPr lang="en-US" dirty="0"/>
              <a:t>Standard Methods of Dataset Splitting</a:t>
            </a:r>
          </a:p>
        </p:txBody>
      </p:sp>
      <p:sp>
        <p:nvSpPr>
          <p:cNvPr id="3" name="Content Placeholder 2">
            <a:extLst>
              <a:ext uri="{FF2B5EF4-FFF2-40B4-BE49-F238E27FC236}">
                <a16:creationId xmlns:a16="http://schemas.microsoft.com/office/drawing/2014/main" id="{978350FC-1378-6A9D-1BAA-73703F6A85BD}"/>
              </a:ext>
            </a:extLst>
          </p:cNvPr>
          <p:cNvSpPr>
            <a:spLocks noGrp="1"/>
          </p:cNvSpPr>
          <p:nvPr>
            <p:ph idx="1"/>
          </p:nvPr>
        </p:nvSpPr>
        <p:spPr>
          <a:xfrm>
            <a:off x="609600" y="1600201"/>
            <a:ext cx="10972800" cy="1679669"/>
          </a:xfrm>
        </p:spPr>
        <p:txBody>
          <a:bodyPr>
            <a:normAutofit fontScale="77500" lnSpcReduction="20000"/>
          </a:bodyPr>
          <a:lstStyle/>
          <a:p>
            <a:pPr>
              <a:spcAft>
                <a:spcPts val="1800"/>
              </a:spcAft>
            </a:pPr>
            <a:r>
              <a:rPr lang="en-US" dirty="0"/>
              <a:t>Most of the data should be used for model training</a:t>
            </a:r>
          </a:p>
          <a:p>
            <a:r>
              <a:rPr lang="en-US" dirty="0"/>
              <a:t>These are three standard methods </a:t>
            </a:r>
            <a:br>
              <a:rPr lang="en-US" dirty="0"/>
            </a:br>
            <a:r>
              <a:rPr lang="en-US" dirty="0"/>
              <a:t>(note: we’ll ignore the validation set for now, which can just be taken from the train set)</a:t>
            </a:r>
          </a:p>
        </p:txBody>
      </p:sp>
      <p:sp>
        <p:nvSpPr>
          <p:cNvPr id="27" name="Content Placeholder 2">
            <a:extLst>
              <a:ext uri="{FF2B5EF4-FFF2-40B4-BE49-F238E27FC236}">
                <a16:creationId xmlns:a16="http://schemas.microsoft.com/office/drawing/2014/main" id="{86B3770C-8A30-D03A-F106-965467245E26}"/>
              </a:ext>
            </a:extLst>
          </p:cNvPr>
          <p:cNvSpPr txBox="1">
            <a:spLocks/>
          </p:cNvSpPr>
          <p:nvPr/>
        </p:nvSpPr>
        <p:spPr>
          <a:xfrm>
            <a:off x="605118" y="3422716"/>
            <a:ext cx="5948082" cy="7620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AutoNum type="arabicPeriod"/>
            </a:pPr>
            <a:r>
              <a:rPr lang="en-US" sz="2000" b="1" u="sng" dirty="0"/>
              <a:t>Single Split</a:t>
            </a:r>
            <a:r>
              <a:rPr lang="en-US" sz="2000" b="1" dirty="0"/>
              <a:t>:</a:t>
            </a:r>
            <a:r>
              <a:rPr lang="en-US" sz="2000" dirty="0"/>
              <a:t> Generate a single partition </a:t>
            </a:r>
            <a:br>
              <a:rPr lang="en-US" sz="2000" dirty="0"/>
            </a:br>
            <a:r>
              <a:rPr lang="en-US" sz="2000" dirty="0"/>
              <a:t>(e.g., 80% train &amp; 20% test)</a:t>
            </a:r>
          </a:p>
        </p:txBody>
      </p:sp>
      <p:sp>
        <p:nvSpPr>
          <p:cNvPr id="28" name="Content Placeholder 2">
            <a:extLst>
              <a:ext uri="{FF2B5EF4-FFF2-40B4-BE49-F238E27FC236}">
                <a16:creationId xmlns:a16="http://schemas.microsoft.com/office/drawing/2014/main" id="{8D320FA4-8630-0418-4780-83C4DE50288F}"/>
              </a:ext>
            </a:extLst>
          </p:cNvPr>
          <p:cNvSpPr txBox="1">
            <a:spLocks/>
          </p:cNvSpPr>
          <p:nvPr/>
        </p:nvSpPr>
        <p:spPr>
          <a:xfrm>
            <a:off x="605118" y="4191000"/>
            <a:ext cx="5948082" cy="1411316"/>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000" b="1" u="sng" dirty="0"/>
              <a:t>k-Fold Cross-Validation</a:t>
            </a:r>
            <a:r>
              <a:rPr lang="en-US" sz="2000" b="1" dirty="0"/>
              <a:t>: </a:t>
            </a:r>
            <a:r>
              <a:rPr lang="en-US" sz="2000" dirty="0"/>
              <a:t>Split the data into </a:t>
            </a:r>
            <a:br>
              <a:rPr lang="en-US" sz="2000" dirty="0"/>
            </a:br>
            <a:r>
              <a:rPr lang="en-US" sz="2000" dirty="0"/>
              <a:t>k equal partitions, train one model with each partition as the test set</a:t>
            </a:r>
          </a:p>
        </p:txBody>
      </p:sp>
      <p:sp>
        <p:nvSpPr>
          <p:cNvPr id="29" name="Content Placeholder 2">
            <a:extLst>
              <a:ext uri="{FF2B5EF4-FFF2-40B4-BE49-F238E27FC236}">
                <a16:creationId xmlns:a16="http://schemas.microsoft.com/office/drawing/2014/main" id="{D41DC913-737A-D331-5D5D-E7F84D628758}"/>
              </a:ext>
            </a:extLst>
          </p:cNvPr>
          <p:cNvSpPr txBox="1">
            <a:spLocks/>
          </p:cNvSpPr>
          <p:nvPr/>
        </p:nvSpPr>
        <p:spPr>
          <a:xfrm>
            <a:off x="605118" y="5235640"/>
            <a:ext cx="5948082" cy="1347722"/>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000" b="1" u="sng" dirty="0"/>
              <a:t>Leave-One-Out Cross-Validation</a:t>
            </a:r>
            <a:r>
              <a:rPr lang="en-US" sz="2000" b="1" dirty="0"/>
              <a:t>: </a:t>
            </a:r>
            <a:r>
              <a:rPr lang="en-US" sz="2000" dirty="0"/>
              <a:t>Similar to </a:t>
            </a:r>
            <a:br>
              <a:rPr lang="en-US" sz="2000" dirty="0"/>
            </a:br>
            <a:r>
              <a:rPr lang="en-US" sz="2000" dirty="0"/>
              <a:t>k-fold cross-validation, but the splits are dictated by an attribute of the dataset </a:t>
            </a:r>
            <a:br>
              <a:rPr lang="en-US" sz="2000" dirty="0"/>
            </a:br>
            <a:r>
              <a:rPr lang="en-US" sz="2000" dirty="0"/>
              <a:t>(e.g., one fold per patient)</a:t>
            </a:r>
          </a:p>
        </p:txBody>
      </p:sp>
      <p:grpSp>
        <p:nvGrpSpPr>
          <p:cNvPr id="30" name="Group 29">
            <a:extLst>
              <a:ext uri="{FF2B5EF4-FFF2-40B4-BE49-F238E27FC236}">
                <a16:creationId xmlns:a16="http://schemas.microsoft.com/office/drawing/2014/main" id="{E961B8C5-75EB-E06E-0E0A-7B694E1E1227}"/>
              </a:ext>
            </a:extLst>
          </p:cNvPr>
          <p:cNvGrpSpPr/>
          <p:nvPr/>
        </p:nvGrpSpPr>
        <p:grpSpPr>
          <a:xfrm>
            <a:off x="9371608" y="6172200"/>
            <a:ext cx="2134592" cy="351638"/>
            <a:chOff x="8477002" y="6172200"/>
            <a:chExt cx="2134592" cy="351638"/>
          </a:xfrm>
        </p:grpSpPr>
        <p:grpSp>
          <p:nvGrpSpPr>
            <p:cNvPr id="31" name="Group 30">
              <a:extLst>
                <a:ext uri="{FF2B5EF4-FFF2-40B4-BE49-F238E27FC236}">
                  <a16:creationId xmlns:a16="http://schemas.microsoft.com/office/drawing/2014/main" id="{823A64DF-5A3F-5E13-7390-EE5CA3ACD7F2}"/>
                </a:ext>
              </a:extLst>
            </p:cNvPr>
            <p:cNvGrpSpPr/>
            <p:nvPr/>
          </p:nvGrpSpPr>
          <p:grpSpPr>
            <a:xfrm>
              <a:off x="8477002" y="6174654"/>
              <a:ext cx="1058681" cy="349184"/>
              <a:chOff x="7270174" y="4396582"/>
              <a:chExt cx="1058681" cy="349184"/>
            </a:xfrm>
          </p:grpSpPr>
          <p:sp>
            <p:nvSpPr>
              <p:cNvPr id="35" name="Rectangle 34">
                <a:extLst>
                  <a:ext uri="{FF2B5EF4-FFF2-40B4-BE49-F238E27FC236}">
                    <a16:creationId xmlns:a16="http://schemas.microsoft.com/office/drawing/2014/main" id="{827A96A9-EFC7-5E63-4986-EABEE474A936}"/>
                  </a:ext>
                </a:extLst>
              </p:cNvPr>
              <p:cNvSpPr/>
              <p:nvPr/>
            </p:nvSpPr>
            <p:spPr>
              <a:xfrm>
                <a:off x="7270174" y="4396582"/>
                <a:ext cx="322612" cy="3184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36" name="TextBox 35">
                <a:extLst>
                  <a:ext uri="{FF2B5EF4-FFF2-40B4-BE49-F238E27FC236}">
                    <a16:creationId xmlns:a16="http://schemas.microsoft.com/office/drawing/2014/main" id="{77317342-C568-46AF-DAB7-2A0181F511FA}"/>
                  </a:ext>
                </a:extLst>
              </p:cNvPr>
              <p:cNvSpPr txBox="1"/>
              <p:nvPr/>
            </p:nvSpPr>
            <p:spPr>
              <a:xfrm>
                <a:off x="7592786" y="4407212"/>
                <a:ext cx="736069" cy="338554"/>
              </a:xfrm>
              <a:prstGeom prst="rect">
                <a:avLst/>
              </a:prstGeom>
              <a:noFill/>
            </p:spPr>
            <p:txBody>
              <a:bodyPr wrap="square" rtlCol="0">
                <a:spAutoFit/>
              </a:bodyPr>
              <a:lstStyle/>
              <a:p>
                <a:r>
                  <a:rPr lang="en-US" sz="1600" dirty="0">
                    <a:latin typeface="Avenir Book" panose="02000503020000020003" pitchFamily="2" charset="0"/>
                    <a:ea typeface="Avenir Book" charset="0"/>
                    <a:cs typeface="Avenir Book" charset="0"/>
                  </a:rPr>
                  <a:t>Train</a:t>
                </a:r>
              </a:p>
            </p:txBody>
          </p:sp>
        </p:grpSp>
        <p:grpSp>
          <p:nvGrpSpPr>
            <p:cNvPr id="32" name="Group 31">
              <a:extLst>
                <a:ext uri="{FF2B5EF4-FFF2-40B4-BE49-F238E27FC236}">
                  <a16:creationId xmlns:a16="http://schemas.microsoft.com/office/drawing/2014/main" id="{69664970-EC72-9645-25C2-C2AAED40504B}"/>
                </a:ext>
              </a:extLst>
            </p:cNvPr>
            <p:cNvGrpSpPr/>
            <p:nvPr/>
          </p:nvGrpSpPr>
          <p:grpSpPr>
            <a:xfrm>
              <a:off x="9688083" y="6172200"/>
              <a:ext cx="923511" cy="351637"/>
              <a:chOff x="7270174" y="4990214"/>
              <a:chExt cx="923511" cy="351637"/>
            </a:xfrm>
          </p:grpSpPr>
          <p:sp>
            <p:nvSpPr>
              <p:cNvPr id="33" name="Rectangle 32">
                <a:extLst>
                  <a:ext uri="{FF2B5EF4-FFF2-40B4-BE49-F238E27FC236}">
                    <a16:creationId xmlns:a16="http://schemas.microsoft.com/office/drawing/2014/main" id="{68AD7C62-C1FC-EC1D-348E-3C1DAF9A94E2}"/>
                  </a:ext>
                </a:extLst>
              </p:cNvPr>
              <p:cNvSpPr/>
              <p:nvPr/>
            </p:nvSpPr>
            <p:spPr>
              <a:xfrm>
                <a:off x="7270174" y="4990214"/>
                <a:ext cx="322612" cy="31840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latin typeface="Avenir Book" panose="02000503020000020003" pitchFamily="2" charset="0"/>
                  <a:ea typeface="Avenir Book" charset="0"/>
                  <a:cs typeface="Avenir Book" charset="0"/>
                </a:endParaRPr>
              </a:p>
            </p:txBody>
          </p:sp>
          <p:sp>
            <p:nvSpPr>
              <p:cNvPr id="34" name="TextBox 33">
                <a:extLst>
                  <a:ext uri="{FF2B5EF4-FFF2-40B4-BE49-F238E27FC236}">
                    <a16:creationId xmlns:a16="http://schemas.microsoft.com/office/drawing/2014/main" id="{5E1CDC67-A3C7-B8CD-9004-54BF912CB72C}"/>
                  </a:ext>
                </a:extLst>
              </p:cNvPr>
              <p:cNvSpPr txBox="1"/>
              <p:nvPr/>
            </p:nvSpPr>
            <p:spPr>
              <a:xfrm>
                <a:off x="7592786" y="5003297"/>
                <a:ext cx="600899" cy="338554"/>
              </a:xfrm>
              <a:prstGeom prst="rect">
                <a:avLst/>
              </a:prstGeom>
              <a:noFill/>
            </p:spPr>
            <p:txBody>
              <a:bodyPr wrap="square" rtlCol="0">
                <a:spAutoFit/>
              </a:bodyPr>
              <a:lstStyle/>
              <a:p>
                <a:r>
                  <a:rPr lang="en-US" sz="1600" dirty="0">
                    <a:latin typeface="Avenir Book" panose="02000503020000020003" pitchFamily="2" charset="0"/>
                    <a:ea typeface="Avenir Book" charset="0"/>
                    <a:cs typeface="Avenir Book" charset="0"/>
                  </a:rPr>
                  <a:t>Test</a:t>
                </a:r>
              </a:p>
            </p:txBody>
          </p:sp>
        </p:grpSp>
      </p:grpSp>
      <p:grpSp>
        <p:nvGrpSpPr>
          <p:cNvPr id="37" name="Group 36">
            <a:extLst>
              <a:ext uri="{FF2B5EF4-FFF2-40B4-BE49-F238E27FC236}">
                <a16:creationId xmlns:a16="http://schemas.microsoft.com/office/drawing/2014/main" id="{08858125-3E91-6661-0CC3-8D8FAD8143A7}"/>
              </a:ext>
            </a:extLst>
          </p:cNvPr>
          <p:cNvGrpSpPr/>
          <p:nvPr/>
        </p:nvGrpSpPr>
        <p:grpSpPr>
          <a:xfrm>
            <a:off x="6467901" y="3498916"/>
            <a:ext cx="5343099" cy="685800"/>
            <a:chOff x="817127" y="4038600"/>
            <a:chExt cx="5343099" cy="685800"/>
          </a:xfrm>
        </p:grpSpPr>
        <p:sp>
          <p:nvSpPr>
            <p:cNvPr id="38" name="Rectangle 37">
              <a:extLst>
                <a:ext uri="{FF2B5EF4-FFF2-40B4-BE49-F238E27FC236}">
                  <a16:creationId xmlns:a16="http://schemas.microsoft.com/office/drawing/2014/main" id="{BE3FAAB0-7E3A-620D-FBD6-2BC551B92CFD}"/>
                </a:ext>
              </a:extLst>
            </p:cNvPr>
            <p:cNvSpPr/>
            <p:nvPr/>
          </p:nvSpPr>
          <p:spPr>
            <a:xfrm>
              <a:off x="2868387" y="4038600"/>
              <a:ext cx="1386838" cy="685800"/>
            </a:xfrm>
            <a:prstGeom prst="rect">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A</a:t>
              </a:r>
            </a:p>
          </p:txBody>
        </p:sp>
        <p:sp>
          <p:nvSpPr>
            <p:cNvPr id="39" name="Rectangle 38">
              <a:extLst>
                <a:ext uri="{FF2B5EF4-FFF2-40B4-BE49-F238E27FC236}">
                  <a16:creationId xmlns:a16="http://schemas.microsoft.com/office/drawing/2014/main" id="{73D3FC4E-526D-C699-1B5C-6813A2EE9228}"/>
                </a:ext>
              </a:extLst>
            </p:cNvPr>
            <p:cNvSpPr/>
            <p:nvPr/>
          </p:nvSpPr>
          <p:spPr>
            <a:xfrm>
              <a:off x="4255225" y="4038600"/>
              <a:ext cx="807721" cy="685800"/>
            </a:xfrm>
            <a:prstGeom prst="rect">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B</a:t>
              </a:r>
            </a:p>
          </p:txBody>
        </p:sp>
        <p:sp>
          <p:nvSpPr>
            <p:cNvPr id="40" name="Rectangle 39">
              <a:extLst>
                <a:ext uri="{FF2B5EF4-FFF2-40B4-BE49-F238E27FC236}">
                  <a16:creationId xmlns:a16="http://schemas.microsoft.com/office/drawing/2014/main" id="{798A9F70-E304-F4A1-0527-A2F67E5DC6B8}"/>
                </a:ext>
              </a:extLst>
            </p:cNvPr>
            <p:cNvSpPr/>
            <p:nvPr/>
          </p:nvSpPr>
          <p:spPr>
            <a:xfrm>
              <a:off x="5062946" y="4038600"/>
              <a:ext cx="1097280"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C</a:t>
              </a:r>
            </a:p>
          </p:txBody>
        </p:sp>
        <p:sp>
          <p:nvSpPr>
            <p:cNvPr id="41" name="TextBox 40">
              <a:extLst>
                <a:ext uri="{FF2B5EF4-FFF2-40B4-BE49-F238E27FC236}">
                  <a16:creationId xmlns:a16="http://schemas.microsoft.com/office/drawing/2014/main" id="{6A616ACA-D50A-000B-28A4-B1FEDD07B8CF}"/>
                </a:ext>
              </a:extLst>
            </p:cNvPr>
            <p:cNvSpPr txBox="1"/>
            <p:nvPr/>
          </p:nvSpPr>
          <p:spPr>
            <a:xfrm>
              <a:off x="817127" y="4196834"/>
              <a:ext cx="2051261" cy="369332"/>
            </a:xfrm>
            <a:prstGeom prst="rect">
              <a:avLst/>
            </a:prstGeom>
            <a:noFill/>
          </p:spPr>
          <p:txBody>
            <a:bodyPr wrap="square" rtlCol="0" anchor="ctr">
              <a:spAutoFit/>
            </a:bodyPr>
            <a:lstStyle/>
            <a:p>
              <a:r>
                <a:rPr lang="en-US" dirty="0">
                  <a:latin typeface="Avenir Book" panose="02000503020000020003" pitchFamily="2" charset="0"/>
                  <a:ea typeface="Avenir Book" charset="0"/>
                  <a:cs typeface="Avenir Book" charset="0"/>
                </a:rPr>
                <a:t>Fold for Patient A:</a:t>
              </a:r>
            </a:p>
          </p:txBody>
        </p:sp>
      </p:grpSp>
      <p:grpSp>
        <p:nvGrpSpPr>
          <p:cNvPr id="42" name="Group 41">
            <a:extLst>
              <a:ext uri="{FF2B5EF4-FFF2-40B4-BE49-F238E27FC236}">
                <a16:creationId xmlns:a16="http://schemas.microsoft.com/office/drawing/2014/main" id="{957BD373-FC4C-8E16-16C7-54273B88B72A}"/>
              </a:ext>
            </a:extLst>
          </p:cNvPr>
          <p:cNvGrpSpPr/>
          <p:nvPr/>
        </p:nvGrpSpPr>
        <p:grpSpPr>
          <a:xfrm>
            <a:off x="6467899" y="4367278"/>
            <a:ext cx="5343095" cy="685800"/>
            <a:chOff x="2139739" y="4713288"/>
            <a:chExt cx="5343095" cy="685800"/>
          </a:xfrm>
        </p:grpSpPr>
        <p:sp>
          <p:nvSpPr>
            <p:cNvPr id="43" name="Rectangle 42">
              <a:extLst>
                <a:ext uri="{FF2B5EF4-FFF2-40B4-BE49-F238E27FC236}">
                  <a16:creationId xmlns:a16="http://schemas.microsoft.com/office/drawing/2014/main" id="{D60741AB-2B1B-B822-2135-8007981B9510}"/>
                </a:ext>
              </a:extLst>
            </p:cNvPr>
            <p:cNvSpPr/>
            <p:nvPr/>
          </p:nvSpPr>
          <p:spPr>
            <a:xfrm>
              <a:off x="4190999" y="4713288"/>
              <a:ext cx="1386836"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A</a:t>
              </a:r>
            </a:p>
          </p:txBody>
        </p:sp>
        <p:sp>
          <p:nvSpPr>
            <p:cNvPr id="44" name="Rectangle 43">
              <a:extLst>
                <a:ext uri="{FF2B5EF4-FFF2-40B4-BE49-F238E27FC236}">
                  <a16:creationId xmlns:a16="http://schemas.microsoft.com/office/drawing/2014/main" id="{D146708E-53D8-F339-C13C-AB20F7A9CA22}"/>
                </a:ext>
              </a:extLst>
            </p:cNvPr>
            <p:cNvSpPr/>
            <p:nvPr/>
          </p:nvSpPr>
          <p:spPr>
            <a:xfrm>
              <a:off x="5577835" y="4713288"/>
              <a:ext cx="807721" cy="685800"/>
            </a:xfrm>
            <a:prstGeom prst="rect">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B</a:t>
              </a:r>
            </a:p>
          </p:txBody>
        </p:sp>
        <p:sp>
          <p:nvSpPr>
            <p:cNvPr id="45" name="Rectangle 44">
              <a:extLst>
                <a:ext uri="{FF2B5EF4-FFF2-40B4-BE49-F238E27FC236}">
                  <a16:creationId xmlns:a16="http://schemas.microsoft.com/office/drawing/2014/main" id="{8A4623EC-EDEC-225D-75D1-7E43C94B8DEA}"/>
                </a:ext>
              </a:extLst>
            </p:cNvPr>
            <p:cNvSpPr/>
            <p:nvPr/>
          </p:nvSpPr>
          <p:spPr>
            <a:xfrm>
              <a:off x="6385556" y="4713288"/>
              <a:ext cx="1097278"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C</a:t>
              </a:r>
            </a:p>
          </p:txBody>
        </p:sp>
        <p:sp>
          <p:nvSpPr>
            <p:cNvPr id="46" name="TextBox 45">
              <a:extLst>
                <a:ext uri="{FF2B5EF4-FFF2-40B4-BE49-F238E27FC236}">
                  <a16:creationId xmlns:a16="http://schemas.microsoft.com/office/drawing/2014/main" id="{9C53CD20-5A75-249D-1EE2-81A9E2604543}"/>
                </a:ext>
              </a:extLst>
            </p:cNvPr>
            <p:cNvSpPr txBox="1"/>
            <p:nvPr/>
          </p:nvSpPr>
          <p:spPr>
            <a:xfrm>
              <a:off x="2139739" y="4886911"/>
              <a:ext cx="2051261" cy="369332"/>
            </a:xfrm>
            <a:prstGeom prst="rect">
              <a:avLst/>
            </a:prstGeom>
            <a:noFill/>
          </p:spPr>
          <p:txBody>
            <a:bodyPr wrap="square" rtlCol="0" anchor="ctr">
              <a:spAutoFit/>
            </a:bodyPr>
            <a:lstStyle/>
            <a:p>
              <a:r>
                <a:rPr lang="en-US" dirty="0">
                  <a:latin typeface="Avenir Book" panose="02000503020000020003" pitchFamily="2" charset="0"/>
                  <a:ea typeface="Avenir Book" charset="0"/>
                  <a:cs typeface="Avenir Book" charset="0"/>
                </a:rPr>
                <a:t>Fold for Patient B:</a:t>
              </a:r>
            </a:p>
          </p:txBody>
        </p:sp>
      </p:grpSp>
      <p:grpSp>
        <p:nvGrpSpPr>
          <p:cNvPr id="47" name="Group 46">
            <a:extLst>
              <a:ext uri="{FF2B5EF4-FFF2-40B4-BE49-F238E27FC236}">
                <a16:creationId xmlns:a16="http://schemas.microsoft.com/office/drawing/2014/main" id="{17F711FD-551C-19D7-C4FE-3CA378D3BAF5}"/>
              </a:ext>
            </a:extLst>
          </p:cNvPr>
          <p:cNvGrpSpPr/>
          <p:nvPr/>
        </p:nvGrpSpPr>
        <p:grpSpPr>
          <a:xfrm>
            <a:off x="6467898" y="5235640"/>
            <a:ext cx="5343091" cy="685800"/>
            <a:chOff x="2139737" y="5581650"/>
            <a:chExt cx="5343091" cy="685800"/>
          </a:xfrm>
        </p:grpSpPr>
        <p:sp>
          <p:nvSpPr>
            <p:cNvPr id="48" name="Rectangle 47">
              <a:extLst>
                <a:ext uri="{FF2B5EF4-FFF2-40B4-BE49-F238E27FC236}">
                  <a16:creationId xmlns:a16="http://schemas.microsoft.com/office/drawing/2014/main" id="{FF732FD1-F936-C535-1DE2-49D9A2044D40}"/>
                </a:ext>
              </a:extLst>
            </p:cNvPr>
            <p:cNvSpPr/>
            <p:nvPr/>
          </p:nvSpPr>
          <p:spPr>
            <a:xfrm>
              <a:off x="4190999" y="5581650"/>
              <a:ext cx="1386829"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A</a:t>
              </a:r>
            </a:p>
          </p:txBody>
        </p:sp>
        <p:sp>
          <p:nvSpPr>
            <p:cNvPr id="49" name="Rectangle 48">
              <a:extLst>
                <a:ext uri="{FF2B5EF4-FFF2-40B4-BE49-F238E27FC236}">
                  <a16:creationId xmlns:a16="http://schemas.microsoft.com/office/drawing/2014/main" id="{505B37DA-AFA1-8158-A83D-85327185B69F}"/>
                </a:ext>
              </a:extLst>
            </p:cNvPr>
            <p:cNvSpPr/>
            <p:nvPr/>
          </p:nvSpPr>
          <p:spPr>
            <a:xfrm>
              <a:off x="5577830" y="5581650"/>
              <a:ext cx="807721" cy="685800"/>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B</a:t>
              </a:r>
            </a:p>
          </p:txBody>
        </p:sp>
        <p:sp>
          <p:nvSpPr>
            <p:cNvPr id="50" name="Rectangle 49">
              <a:extLst>
                <a:ext uri="{FF2B5EF4-FFF2-40B4-BE49-F238E27FC236}">
                  <a16:creationId xmlns:a16="http://schemas.microsoft.com/office/drawing/2014/main" id="{24864A4A-0EB4-17A1-B62F-35840D24105E}"/>
                </a:ext>
              </a:extLst>
            </p:cNvPr>
            <p:cNvSpPr/>
            <p:nvPr/>
          </p:nvSpPr>
          <p:spPr>
            <a:xfrm>
              <a:off x="6385552" y="5581650"/>
              <a:ext cx="1097276" cy="685800"/>
            </a:xfrm>
            <a:prstGeom prst="rect">
              <a:avLst/>
            </a:prstGeom>
            <a:solidFill>
              <a:srgbClr val="FF0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panose="02000503020000020003" pitchFamily="2" charset="0"/>
                  <a:ea typeface="Avenir Book" charset="0"/>
                  <a:cs typeface="Avenir Book" charset="0"/>
                </a:rPr>
                <a:t>C</a:t>
              </a:r>
            </a:p>
          </p:txBody>
        </p:sp>
        <p:sp>
          <p:nvSpPr>
            <p:cNvPr id="51" name="TextBox 50">
              <a:extLst>
                <a:ext uri="{FF2B5EF4-FFF2-40B4-BE49-F238E27FC236}">
                  <a16:creationId xmlns:a16="http://schemas.microsoft.com/office/drawing/2014/main" id="{8D6FF46B-78F3-F604-D322-05289C4B9A14}"/>
                </a:ext>
              </a:extLst>
            </p:cNvPr>
            <p:cNvSpPr txBox="1"/>
            <p:nvPr/>
          </p:nvSpPr>
          <p:spPr>
            <a:xfrm>
              <a:off x="2139737" y="5755272"/>
              <a:ext cx="2051261" cy="369332"/>
            </a:xfrm>
            <a:prstGeom prst="rect">
              <a:avLst/>
            </a:prstGeom>
            <a:noFill/>
          </p:spPr>
          <p:txBody>
            <a:bodyPr wrap="square" rtlCol="0" anchor="ctr">
              <a:spAutoFit/>
            </a:bodyPr>
            <a:lstStyle/>
            <a:p>
              <a:r>
                <a:rPr lang="en-US" dirty="0">
                  <a:latin typeface="Avenir Book" panose="02000503020000020003" pitchFamily="2" charset="0"/>
                  <a:ea typeface="Avenir Book" charset="0"/>
                  <a:cs typeface="Avenir Book" charset="0"/>
                </a:rPr>
                <a:t>Fold for Patient C:</a:t>
              </a:r>
            </a:p>
          </p:txBody>
        </p:sp>
      </p:grpSp>
    </p:spTree>
    <p:extLst>
      <p:ext uri="{BB962C8B-B14F-4D97-AF65-F5344CB8AC3E}">
        <p14:creationId xmlns:p14="http://schemas.microsoft.com/office/powerpoint/2010/main" val="223339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par>
                                <p:cTn id="13" presetID="10"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par>
                                <p:cTn id="19" presetID="10"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2F2F-6BC5-BFCF-21D9-D344A48911EE}"/>
              </a:ext>
            </a:extLst>
          </p:cNvPr>
          <p:cNvSpPr>
            <a:spLocks noGrp="1"/>
          </p:cNvSpPr>
          <p:nvPr>
            <p:ph type="title"/>
          </p:nvPr>
        </p:nvSpPr>
        <p:spPr/>
        <p:txBody>
          <a:bodyPr/>
          <a:lstStyle/>
          <a:p>
            <a:pPr algn="l"/>
            <a:r>
              <a:rPr lang="en-US" dirty="0"/>
              <a:t>Picking a Dataset Splitting Approach</a:t>
            </a:r>
          </a:p>
        </p:txBody>
      </p:sp>
      <p:sp>
        <p:nvSpPr>
          <p:cNvPr id="3" name="Text Placeholder 2">
            <a:extLst>
              <a:ext uri="{FF2B5EF4-FFF2-40B4-BE49-F238E27FC236}">
                <a16:creationId xmlns:a16="http://schemas.microsoft.com/office/drawing/2014/main" id="{31B0E379-8C13-D258-69AF-BCD072D66F13}"/>
              </a:ext>
            </a:extLst>
          </p:cNvPr>
          <p:cNvSpPr>
            <a:spLocks noGrp="1"/>
          </p:cNvSpPr>
          <p:nvPr>
            <p:ph type="body" idx="1"/>
          </p:nvPr>
        </p:nvSpPr>
        <p:spPr/>
        <p:txBody>
          <a:bodyPr/>
          <a:lstStyle/>
          <a:p>
            <a:r>
              <a:rPr lang="en-US" u="sng" dirty="0"/>
              <a:t>Single Train-Test Split</a:t>
            </a:r>
          </a:p>
        </p:txBody>
      </p:sp>
      <p:sp>
        <p:nvSpPr>
          <p:cNvPr id="4" name="Content Placeholder 3">
            <a:extLst>
              <a:ext uri="{FF2B5EF4-FFF2-40B4-BE49-F238E27FC236}">
                <a16:creationId xmlns:a16="http://schemas.microsoft.com/office/drawing/2014/main" id="{83FD69BB-B762-603B-7D79-0F794EC65996}"/>
              </a:ext>
            </a:extLst>
          </p:cNvPr>
          <p:cNvSpPr>
            <a:spLocks noGrp="1"/>
          </p:cNvSpPr>
          <p:nvPr>
            <p:ph sz="half" idx="2"/>
          </p:nvPr>
        </p:nvSpPr>
        <p:spPr>
          <a:xfrm>
            <a:off x="609600" y="2174874"/>
            <a:ext cx="5386917" cy="4302125"/>
          </a:xfrm>
        </p:spPr>
        <p:txBody>
          <a:bodyPr anchor="t">
            <a:normAutofit/>
          </a:bodyPr>
          <a:lstStyle/>
          <a:p>
            <a:pPr marL="342900" indent="-342900">
              <a:buClr>
                <a:srgbClr val="01A801"/>
              </a:buClr>
              <a:buFont typeface="System Font Regular"/>
              <a:buChar char="+"/>
            </a:pPr>
            <a:r>
              <a:rPr lang="en-US" dirty="0"/>
              <a:t>Trains and evaluates a single model, which is conceptually straightforward</a:t>
            </a:r>
          </a:p>
          <a:p>
            <a:pPr marL="342900" indent="-342900">
              <a:buClr>
                <a:srgbClr val="01A801"/>
              </a:buClr>
              <a:buFont typeface="System Font Regular"/>
              <a:buChar char="+"/>
            </a:pPr>
            <a:r>
              <a:rPr lang="en-US" dirty="0"/>
              <a:t>More computationally tractable for massive datasets</a:t>
            </a:r>
          </a:p>
          <a:p>
            <a:pPr marL="342900" indent="-342900">
              <a:buClr>
                <a:srgbClr val="C00000"/>
              </a:buClr>
              <a:buFont typeface="System Font Regular"/>
              <a:buChar char="–"/>
            </a:pPr>
            <a:r>
              <a:rPr lang="en-US" dirty="0"/>
              <a:t>Only evaluates the model on a small subset of the data</a:t>
            </a:r>
          </a:p>
          <a:p>
            <a:pPr marL="754063" lvl="1" indent="-287338">
              <a:buClr>
                <a:schemeClr val="tx1"/>
              </a:buClr>
              <a:buFont typeface="Arial" panose="020B0604020202020204" pitchFamily="34" charset="0"/>
              <a:buChar char="•"/>
            </a:pPr>
            <a:r>
              <a:rPr lang="en-US" dirty="0"/>
              <a:t>You may have 100 patients in your dataset, but you will have only tested on 20 of them</a:t>
            </a:r>
          </a:p>
        </p:txBody>
      </p:sp>
      <p:sp>
        <p:nvSpPr>
          <p:cNvPr id="5" name="Text Placeholder 4">
            <a:extLst>
              <a:ext uri="{FF2B5EF4-FFF2-40B4-BE49-F238E27FC236}">
                <a16:creationId xmlns:a16="http://schemas.microsoft.com/office/drawing/2014/main" id="{BBCE3C15-4583-B9A4-170A-DCC92BF52358}"/>
              </a:ext>
            </a:extLst>
          </p:cNvPr>
          <p:cNvSpPr>
            <a:spLocks noGrp="1"/>
          </p:cNvSpPr>
          <p:nvPr>
            <p:ph type="body" sz="quarter" idx="3"/>
          </p:nvPr>
        </p:nvSpPr>
        <p:spPr/>
        <p:txBody>
          <a:bodyPr/>
          <a:lstStyle/>
          <a:p>
            <a:r>
              <a:rPr lang="en-US" u="sng" dirty="0"/>
              <a:t>Cross-Validation</a:t>
            </a:r>
          </a:p>
        </p:txBody>
      </p:sp>
      <p:sp>
        <p:nvSpPr>
          <p:cNvPr id="6" name="Content Placeholder 5">
            <a:extLst>
              <a:ext uri="{FF2B5EF4-FFF2-40B4-BE49-F238E27FC236}">
                <a16:creationId xmlns:a16="http://schemas.microsoft.com/office/drawing/2014/main" id="{7CB13870-C259-F972-E2D3-AF664B2296BA}"/>
              </a:ext>
            </a:extLst>
          </p:cNvPr>
          <p:cNvSpPr>
            <a:spLocks noGrp="1"/>
          </p:cNvSpPr>
          <p:nvPr>
            <p:ph sz="quarter" idx="4"/>
          </p:nvPr>
        </p:nvSpPr>
        <p:spPr>
          <a:xfrm>
            <a:off x="6193368" y="2174875"/>
            <a:ext cx="5389033" cy="4302124"/>
          </a:xfrm>
        </p:spPr>
        <p:txBody>
          <a:bodyPr anchor="t">
            <a:normAutofit/>
          </a:bodyPr>
          <a:lstStyle/>
          <a:p>
            <a:pPr marL="342900" indent="-342900">
              <a:buClr>
                <a:srgbClr val="01A801"/>
              </a:buClr>
              <a:buFont typeface="System Font Regular"/>
              <a:buChar char="+"/>
            </a:pPr>
            <a:r>
              <a:rPr lang="en-US" dirty="0"/>
              <a:t>Allows you to take full advantage of your dataset during evaluation</a:t>
            </a:r>
          </a:p>
          <a:p>
            <a:pPr marL="342900" indent="-342900">
              <a:buClr>
                <a:srgbClr val="C00000"/>
              </a:buClr>
              <a:buFont typeface="System Font Regular"/>
              <a:buChar char="–"/>
            </a:pPr>
            <a:r>
              <a:rPr lang="en-US" dirty="0"/>
              <a:t>Generates multiple models that may learn different things</a:t>
            </a:r>
          </a:p>
          <a:p>
            <a:pPr marL="693738" lvl="1" indent="-227013">
              <a:buClr>
                <a:schemeClr val="tx1"/>
              </a:buClr>
              <a:buFont typeface="Arial" panose="020B0604020202020204" pitchFamily="34" charset="0"/>
              <a:buChar char="•"/>
            </a:pPr>
            <a:r>
              <a:rPr lang="en-US" dirty="0"/>
              <a:t>The model for predicting on Fold 1 may prioritize vital signs, while the model for predicting on Fold 2 may prioritize symptom reports</a:t>
            </a:r>
          </a:p>
          <a:p>
            <a:pPr marL="693738" lvl="1" indent="-227013">
              <a:buClr>
                <a:schemeClr val="tx1"/>
              </a:buClr>
              <a:buFont typeface="Arial" panose="020B0604020202020204" pitchFamily="34" charset="0"/>
              <a:buChar char="•"/>
            </a:pPr>
            <a:r>
              <a:rPr lang="en-US" dirty="0"/>
              <a:t>If your dataset is big enough, it would hopefully learn the same things across folds</a:t>
            </a:r>
          </a:p>
        </p:txBody>
      </p:sp>
    </p:spTree>
    <p:extLst>
      <p:ext uri="{BB962C8B-B14F-4D97-AF65-F5344CB8AC3E}">
        <p14:creationId xmlns:p14="http://schemas.microsoft.com/office/powerpoint/2010/main" val="79587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500"/>
                                        <p:tgtEl>
                                          <p:spTgt spid="4">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500"/>
                                        <p:tgtEl>
                                          <p:spTgt spid="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500"/>
                                        <p:tgtEl>
                                          <p:spTgt spid="4">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500"/>
                                        <p:tgtEl>
                                          <p:spTgt spid="4">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fade">
                                      <p:cBhvr>
                                        <p:cTn id="31" dur="500"/>
                                        <p:tgtEl>
                                          <p:spTgt spid="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fade">
                                      <p:cBhvr>
                                        <p:cTn id="36" dur="500"/>
                                        <p:tgtEl>
                                          <p:spTgt spid="6">
                                            <p:txEl>
                                              <p:pRg st="1" end="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animEffect transition="in" filter="fade">
                                      <p:cBhvr>
                                        <p:cTn id="39" dur="500"/>
                                        <p:tgtEl>
                                          <p:spTgt spid="6">
                                            <p:txEl>
                                              <p:pRg st="2" end="2"/>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
                                            <p:txEl>
                                              <p:pRg st="3" end="3"/>
                                            </p:txEl>
                                          </p:spTgt>
                                        </p:tgtEl>
                                        <p:attrNameLst>
                                          <p:attrName>style.visibility</p:attrName>
                                        </p:attrNameLst>
                                      </p:cBhvr>
                                      <p:to>
                                        <p:strVal val="visible"/>
                                      </p:to>
                                    </p:set>
                                    <p:animEffect transition="in" filter="fade">
                                      <p:cBhvr>
                                        <p:cTn id="4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91014-ED0F-C880-B750-18D9ADBA1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E72A4-FC4F-FC2D-CD0E-982933F20BD8}"/>
              </a:ext>
            </a:extLst>
          </p:cNvPr>
          <p:cNvSpPr>
            <a:spLocks noGrp="1"/>
          </p:cNvSpPr>
          <p:nvPr>
            <p:ph type="title"/>
          </p:nvPr>
        </p:nvSpPr>
        <p:spPr/>
        <p:txBody>
          <a:bodyPr/>
          <a:lstStyle/>
          <a:p>
            <a:r>
              <a:rPr lang="en-US" dirty="0"/>
              <a:t>More on Cross-Validation</a:t>
            </a:r>
          </a:p>
        </p:txBody>
      </p:sp>
      <p:sp>
        <p:nvSpPr>
          <p:cNvPr id="3" name="Content Placeholder 2">
            <a:extLst>
              <a:ext uri="{FF2B5EF4-FFF2-40B4-BE49-F238E27FC236}">
                <a16:creationId xmlns:a16="http://schemas.microsoft.com/office/drawing/2014/main" id="{FE289405-7816-36B1-A380-EEDB9C8ADBBF}"/>
              </a:ext>
            </a:extLst>
          </p:cNvPr>
          <p:cNvSpPr>
            <a:spLocks noGrp="1"/>
          </p:cNvSpPr>
          <p:nvPr>
            <p:ph idx="1"/>
          </p:nvPr>
        </p:nvSpPr>
        <p:spPr/>
        <p:txBody>
          <a:bodyPr>
            <a:normAutofit/>
          </a:bodyPr>
          <a:lstStyle/>
          <a:p>
            <a:r>
              <a:rPr lang="en-US" dirty="0">
                <a:latin typeface="Avenir Book" panose="02000503020000020003" pitchFamily="2" charset="0"/>
              </a:rPr>
              <a:t>Cross-validation trains and tests multiple models, so it’s testing that your approach is sound rather than producing a final model</a:t>
            </a:r>
          </a:p>
          <a:p>
            <a:pPr marL="457200" indent="-457200">
              <a:buFont typeface="Arial" panose="020B0604020202020204" pitchFamily="34" charset="0"/>
              <a:buChar char="•"/>
            </a:pPr>
            <a:r>
              <a:rPr lang="en-US" b="1" u="sng" dirty="0">
                <a:latin typeface="Avenir Book" panose="02000503020000020003" pitchFamily="2" charset="0"/>
              </a:rPr>
              <a:t>If you want to understand the importance of features</a:t>
            </a:r>
            <a:r>
              <a:rPr lang="en-US" b="1" dirty="0">
                <a:latin typeface="Avenir Book" panose="02000503020000020003" pitchFamily="2" charset="0"/>
              </a:rPr>
              <a:t>,</a:t>
            </a:r>
            <a:r>
              <a:rPr lang="en-US" dirty="0">
                <a:latin typeface="Avenir Book" panose="02000503020000020003" pitchFamily="2" charset="0"/>
              </a:rPr>
              <a:t> you can look at the average feature importance across folds</a:t>
            </a:r>
          </a:p>
          <a:p>
            <a:pPr marL="457200" indent="-457200">
              <a:buFont typeface="Arial" panose="020B0604020202020204" pitchFamily="34" charset="0"/>
              <a:buChar char="•"/>
            </a:pPr>
            <a:r>
              <a:rPr lang="en-US" b="1" u="sng" dirty="0"/>
              <a:t>If you want to deploy a single model</a:t>
            </a:r>
            <a:r>
              <a:rPr lang="en-US" b="1" dirty="0"/>
              <a:t>, </a:t>
            </a:r>
            <a:r>
              <a:rPr lang="en-US" dirty="0"/>
              <a:t>you can train on the entire dataset since future data will be unseen</a:t>
            </a:r>
          </a:p>
        </p:txBody>
      </p:sp>
    </p:spTree>
    <p:extLst>
      <p:ext uri="{BB962C8B-B14F-4D97-AF65-F5344CB8AC3E}">
        <p14:creationId xmlns:p14="http://schemas.microsoft.com/office/powerpoint/2010/main" val="309412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EE2C-FB45-B902-51E7-EEEBEEDB93A7}"/>
              </a:ext>
            </a:extLst>
          </p:cNvPr>
          <p:cNvSpPr>
            <a:spLocks noGrp="1"/>
          </p:cNvSpPr>
          <p:nvPr>
            <p:ph type="title"/>
          </p:nvPr>
        </p:nvSpPr>
        <p:spPr/>
        <p:txBody>
          <a:bodyPr/>
          <a:lstStyle/>
          <a:p>
            <a:r>
              <a:rPr lang="en-US" dirty="0"/>
              <a:t>More on Cross-Validation</a:t>
            </a:r>
          </a:p>
        </p:txBody>
      </p:sp>
      <p:sp>
        <p:nvSpPr>
          <p:cNvPr id="3" name="Content Placeholder 2">
            <a:extLst>
              <a:ext uri="{FF2B5EF4-FFF2-40B4-BE49-F238E27FC236}">
                <a16:creationId xmlns:a16="http://schemas.microsoft.com/office/drawing/2014/main" id="{F09AF520-F7B9-BE49-C509-12BEAAACBD53}"/>
              </a:ext>
            </a:extLst>
          </p:cNvPr>
          <p:cNvSpPr>
            <a:spLocks noGrp="1"/>
          </p:cNvSpPr>
          <p:nvPr>
            <p:ph idx="1"/>
          </p:nvPr>
        </p:nvSpPr>
        <p:spPr/>
        <p:txBody>
          <a:bodyPr>
            <a:normAutofit/>
          </a:bodyPr>
          <a:lstStyle/>
          <a:p>
            <a:r>
              <a:rPr lang="en-US" dirty="0"/>
              <a:t>Pick the right training method to answer your question</a:t>
            </a:r>
          </a:p>
          <a:p>
            <a:pPr marL="457200" indent="-457200">
              <a:buFont typeface="Arial" panose="020B0604020202020204" pitchFamily="34" charset="0"/>
              <a:buChar char="•"/>
            </a:pPr>
            <a:r>
              <a:rPr lang="en-US" b="1" u="sng" dirty="0">
                <a:latin typeface="Avenir Book" panose="02000503020000020003" pitchFamily="2" charset="0"/>
              </a:rPr>
              <a:t>If you want to show that your approach works on patients who have never been seen by the model</a:t>
            </a:r>
            <a:r>
              <a:rPr lang="en-US" dirty="0">
                <a:latin typeface="Avenir Book" panose="02000503020000020003" pitchFamily="2" charset="0"/>
              </a:rPr>
              <a:t>, you should make sure that no individuals appear in both the train and test sets</a:t>
            </a:r>
          </a:p>
          <a:p>
            <a:pPr marL="457200" indent="-457200">
              <a:buFont typeface="Arial" panose="020B0604020202020204" pitchFamily="34" charset="0"/>
              <a:buChar char="•"/>
            </a:pPr>
            <a:r>
              <a:rPr lang="en-US" b="1" u="sng" dirty="0">
                <a:latin typeface="Avenir Book" panose="02000503020000020003" pitchFamily="2" charset="0"/>
              </a:rPr>
              <a:t>If you think that personalized models are needed for each person</a:t>
            </a:r>
            <a:r>
              <a:rPr lang="en-US" dirty="0">
                <a:latin typeface="Avenir Book" panose="02000503020000020003" pitchFamily="2" charset="0"/>
              </a:rPr>
              <a:t>, you should split each patient’s data into train and test sets and build individual models</a:t>
            </a:r>
          </a:p>
        </p:txBody>
      </p:sp>
    </p:spTree>
    <p:extLst>
      <p:ext uri="{BB962C8B-B14F-4D97-AF65-F5344CB8AC3E}">
        <p14:creationId xmlns:p14="http://schemas.microsoft.com/office/powerpoint/2010/main" val="389421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97079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grpId="0" nodeType="withEffect">
                                  <p:stCondLst>
                                    <p:cond delay="0"/>
                                  </p:stCondLst>
                                  <p:childTnLst>
                                    <p:set>
                                      <p:cBhvr>
                                        <p:cTn id="9" dur="indefinite"/>
                                        <p:tgtEl>
                                          <p:spTgt spid="3">
                                            <p:txEl>
                                              <p:pRg st="1" end="1"/>
                                            </p:txEl>
                                          </p:spTgt>
                                        </p:tgtEl>
                                        <p:attrNameLst>
                                          <p:attrName>style.opacity</p:attrName>
                                        </p:attrNameLst>
                                      </p:cBhvr>
                                      <p:to>
                                        <p:strVal val="0.25"/>
                                      </p:to>
                                    </p:set>
                                    <p:animEffect filter="image" prLst="opacity: 0.25">
                                      <p:cBhvr rctx="IE">
                                        <p:cTn id="10" dur="indefinite"/>
                                        <p:tgtEl>
                                          <p:spTgt spid="3">
                                            <p:txEl>
                                              <p:pRg st="1" end="1"/>
                                            </p:txEl>
                                          </p:spTgt>
                                        </p:tgtEl>
                                      </p:cBhvr>
                                    </p:animEffect>
                                  </p:childTnLst>
                                </p:cTn>
                              </p:par>
                              <p:par>
                                <p:cTn id="11" presetID="9" presetClass="emph" presetSubtype="0" grpId="0" nodeType="withEffect">
                                  <p:stCondLst>
                                    <p:cond delay="0"/>
                                  </p:stCondLst>
                                  <p:childTnLst>
                                    <p:set>
                                      <p:cBhvr>
                                        <p:cTn id="12" dur="indefinite"/>
                                        <p:tgtEl>
                                          <p:spTgt spid="3">
                                            <p:txEl>
                                              <p:pRg st="3" end="3"/>
                                            </p:txEl>
                                          </p:spTgt>
                                        </p:tgtEl>
                                        <p:attrNameLst>
                                          <p:attrName>style.opacity</p:attrName>
                                        </p:attrNameLst>
                                      </p:cBhvr>
                                      <p:to>
                                        <p:strVal val="0.25"/>
                                      </p:to>
                                    </p:set>
                                    <p:animEffect filter="image" prLst="opacity: 0.25">
                                      <p:cBhvr rctx="IE">
                                        <p:cTn id="13" dur="indefinite"/>
                                        <p:tgtEl>
                                          <p:spTgt spid="3">
                                            <p:txEl>
                                              <p:pRg st="3" end="3"/>
                                            </p:txEl>
                                          </p:spTgt>
                                        </p:tgtEl>
                                      </p:cBhvr>
                                    </p:animEffect>
                                  </p:childTnLst>
                                </p:cTn>
                              </p:par>
                              <p:par>
                                <p:cTn id="14" presetID="9" presetClass="emph" presetSubtype="0" grpId="0" nodeType="withEffect">
                                  <p:stCondLst>
                                    <p:cond delay="0"/>
                                  </p:stCondLst>
                                  <p:childTnLst>
                                    <p:set>
                                      <p:cBhvr>
                                        <p:cTn id="15" dur="indefinite"/>
                                        <p:tgtEl>
                                          <p:spTgt spid="3">
                                            <p:txEl>
                                              <p:pRg st="4" end="4"/>
                                            </p:txEl>
                                          </p:spTgt>
                                        </p:tgtEl>
                                        <p:attrNameLst>
                                          <p:attrName>style.opacity</p:attrName>
                                        </p:attrNameLst>
                                      </p:cBhvr>
                                      <p:to>
                                        <p:strVal val="0.25"/>
                                      </p:to>
                                    </p:set>
                                    <p:animEffect filter="image" prLst="opacity: 0.25">
                                      <p:cBhvr rctx="IE">
                                        <p:cTn id="16" dur="indefinite"/>
                                        <p:tgtEl>
                                          <p:spTgt spid="3">
                                            <p:txEl>
                                              <p:pRg st="4" end="4"/>
                                            </p:txEl>
                                          </p:spTgt>
                                        </p:tgtEl>
                                      </p:cBhvr>
                                    </p:animEffect>
                                  </p:childTnLst>
                                </p:cTn>
                              </p:par>
                              <p:par>
                                <p:cTn id="17" presetID="9" presetClass="emph" presetSubtype="0" grpId="0" nodeType="withEffect">
                                  <p:stCondLst>
                                    <p:cond delay="0"/>
                                  </p:stCondLst>
                                  <p:childTnLst>
                                    <p:set>
                                      <p:cBhvr>
                                        <p:cTn id="18" dur="indefinite"/>
                                        <p:tgtEl>
                                          <p:spTgt spid="3">
                                            <p:txEl>
                                              <p:pRg st="5" end="5"/>
                                            </p:txEl>
                                          </p:spTgt>
                                        </p:tgtEl>
                                        <p:attrNameLst>
                                          <p:attrName>style.opacity</p:attrName>
                                        </p:attrNameLst>
                                      </p:cBhvr>
                                      <p:to>
                                        <p:strVal val="0.25"/>
                                      </p:to>
                                    </p:set>
                                    <p:animEffect filter="image" prLst="opacity: 0.25">
                                      <p:cBhvr rctx="IE">
                                        <p:cTn id="19" dur="indefinite"/>
                                        <p:tgtEl>
                                          <p:spTgt spid="3">
                                            <p:txEl>
                                              <p:pRg st="5" end="5"/>
                                            </p:txEl>
                                          </p:spTgt>
                                        </p:tgtEl>
                                      </p:cBhvr>
                                    </p:animEffect>
                                  </p:childTnLst>
                                </p:cTn>
                              </p:par>
                              <p:par>
                                <p:cTn id="20" presetID="9" presetClass="emph" presetSubtype="0" grpId="0" nodeType="withEffect">
                                  <p:stCondLst>
                                    <p:cond delay="0"/>
                                  </p:stCondLst>
                                  <p:childTnLst>
                                    <p:set>
                                      <p:cBhvr>
                                        <p:cTn id="21" dur="indefinite"/>
                                        <p:tgtEl>
                                          <p:spTgt spid="3">
                                            <p:txEl>
                                              <p:pRg st="6" end="6"/>
                                            </p:txEl>
                                          </p:spTgt>
                                        </p:tgtEl>
                                        <p:attrNameLst>
                                          <p:attrName>style.opacity</p:attrName>
                                        </p:attrNameLst>
                                      </p:cBhvr>
                                      <p:to>
                                        <p:strVal val="0.25"/>
                                      </p:to>
                                    </p:set>
                                    <p:animEffect filter="image" prLst="opacity: 0.25">
                                      <p:cBhvr rctx="IE">
                                        <p:cTn id="22" dur="indefinite"/>
                                        <p:tgtEl>
                                          <p:spTgt spid="3">
                                            <p:txEl>
                                              <p:pRg st="6" end="6"/>
                                            </p:txEl>
                                          </p:spTgt>
                                        </p:tgtEl>
                                      </p:cBhvr>
                                    </p:animEffect>
                                  </p:childTnLst>
                                </p:cTn>
                              </p:par>
                              <p:par>
                                <p:cTn id="23" presetID="9" presetClass="emph" presetSubtype="0" grpId="0" nodeType="withEffect">
                                  <p:stCondLst>
                                    <p:cond delay="0"/>
                                  </p:stCondLst>
                                  <p:childTnLst>
                                    <p:set>
                                      <p:cBhvr>
                                        <p:cTn id="24" dur="indefinite"/>
                                        <p:tgtEl>
                                          <p:spTgt spid="3">
                                            <p:txEl>
                                              <p:pRg st="7" end="7"/>
                                            </p:txEl>
                                          </p:spTgt>
                                        </p:tgtEl>
                                        <p:attrNameLst>
                                          <p:attrName>style.opacity</p:attrName>
                                        </p:attrNameLst>
                                      </p:cBhvr>
                                      <p:to>
                                        <p:strVal val="0.25"/>
                                      </p:to>
                                    </p:set>
                                    <p:animEffect filter="image" prLst="opacity: 0.25">
                                      <p:cBhvr rctx="IE">
                                        <p:cTn id="25" dur="indefinite"/>
                                        <p:tgtEl>
                                          <p:spTgt spid="3">
                                            <p:txEl>
                                              <p:pRg st="7" end="7"/>
                                            </p:txEl>
                                          </p:spTgt>
                                        </p:tgtEl>
                                      </p:cBhvr>
                                    </p:animEffect>
                                  </p:childTnLst>
                                </p:cTn>
                              </p:par>
                              <p:par>
                                <p:cTn id="26" presetID="9" presetClass="emph" presetSubtype="0" grpId="0" nodeType="withEffect">
                                  <p:stCondLst>
                                    <p:cond delay="0"/>
                                  </p:stCondLst>
                                  <p:childTnLst>
                                    <p:set>
                                      <p:cBhvr>
                                        <p:cTn id="27" dur="indefinite"/>
                                        <p:tgtEl>
                                          <p:spTgt spid="3">
                                            <p:txEl>
                                              <p:pRg st="8" end="8"/>
                                            </p:txEl>
                                          </p:spTgt>
                                        </p:tgtEl>
                                        <p:attrNameLst>
                                          <p:attrName>style.opacity</p:attrName>
                                        </p:attrNameLst>
                                      </p:cBhvr>
                                      <p:to>
                                        <p:strVal val="0.25"/>
                                      </p:to>
                                    </p:set>
                                    <p:animEffect filter="image" prLst="opacity: 0.25">
                                      <p:cBhvr rctx="IE">
                                        <p:cTn id="28" dur="indefinite"/>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1" nodeType="clickEffect">
                                  <p:stCondLst>
                                    <p:cond delay="0"/>
                                  </p:stCondLst>
                                  <p:childTnLst>
                                    <p:set>
                                      <p:cBhvr>
                                        <p:cTn id="32" dur="indefinite"/>
                                        <p:tgtEl>
                                          <p:spTgt spid="3">
                                            <p:txEl>
                                              <p:pRg st="2" end="2"/>
                                            </p:txEl>
                                          </p:spTgt>
                                        </p:tgtEl>
                                        <p:attrNameLst>
                                          <p:attrName>style.opacity</p:attrName>
                                        </p:attrNameLst>
                                      </p:cBhvr>
                                      <p:to>
                                        <p:strVal val="0.25"/>
                                      </p:to>
                                    </p:set>
                                    <p:animEffect filter="image" prLst="opacity: 0.25">
                                      <p:cBhvr rctx="IE">
                                        <p:cTn id="33" dur="indefinite"/>
                                        <p:tgtEl>
                                          <p:spTgt spid="3">
                                            <p:txEl>
                                              <p:pRg st="2" end="2"/>
                                            </p:txEl>
                                          </p:spTgt>
                                        </p:tgtEl>
                                      </p:cBhvr>
                                    </p:animEffect>
                                  </p:childTnLst>
                                </p:cTn>
                              </p:par>
                              <p:par>
                                <p:cTn id="34" presetID="9" presetClass="emph" presetSubtype="0" grpId="1" nodeType="withEffect">
                                  <p:stCondLst>
                                    <p:cond delay="0"/>
                                  </p:stCondLst>
                                  <p:childTnLst>
                                    <p:set>
                                      <p:cBhvr>
                                        <p:cTn id="35" dur="indefinite"/>
                                        <p:tgtEl>
                                          <p:spTgt spid="3">
                                            <p:txEl>
                                              <p:pRg st="3" end="3"/>
                                            </p:txEl>
                                          </p:spTgt>
                                        </p:tgtEl>
                                        <p:attrNameLst>
                                          <p:attrName>style.opacity</p:attrName>
                                        </p:attrNameLst>
                                      </p:cBhvr>
                                      <p:to>
                                        <p:strVal val="1"/>
                                      </p:to>
                                    </p:set>
                                    <p:animEffect filter="image" prLst="opacity: 1">
                                      <p:cBhvr rctx="IE">
                                        <p:cTn id="36" dur="indefinite"/>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0DB0-AFAC-A22A-22BE-62CCDF5F77E4}"/>
              </a:ext>
            </a:extLst>
          </p:cNvPr>
          <p:cNvSpPr>
            <a:spLocks noGrp="1"/>
          </p:cNvSpPr>
          <p:nvPr>
            <p:ph type="title"/>
          </p:nvPr>
        </p:nvSpPr>
        <p:spPr/>
        <p:txBody>
          <a:bodyPr/>
          <a:lstStyle/>
          <a:p>
            <a:r>
              <a:rPr lang="en-US" dirty="0"/>
              <a:t>Why Use Feature Selection?</a:t>
            </a:r>
          </a:p>
        </p:txBody>
      </p:sp>
      <p:sp>
        <p:nvSpPr>
          <p:cNvPr id="3" name="Content Placeholder 2">
            <a:extLst>
              <a:ext uri="{FF2B5EF4-FFF2-40B4-BE49-F238E27FC236}">
                <a16:creationId xmlns:a16="http://schemas.microsoft.com/office/drawing/2014/main" id="{F0FCD995-6AC6-3972-24FC-38F7C4AC99B7}"/>
              </a:ext>
            </a:extLst>
          </p:cNvPr>
          <p:cNvSpPr>
            <a:spLocks noGrp="1"/>
          </p:cNvSpPr>
          <p:nvPr>
            <p:ph idx="1"/>
          </p:nvPr>
        </p:nvSpPr>
        <p:spPr/>
        <p:txBody>
          <a:bodyPr/>
          <a:lstStyle/>
          <a:p>
            <a:pPr>
              <a:spcAft>
                <a:spcPts val="1800"/>
              </a:spcAft>
            </a:pPr>
            <a:r>
              <a:rPr lang="en-US" dirty="0"/>
              <a:t>The more features we use, the higher the likelihood that we can successfully solve our problem</a:t>
            </a:r>
          </a:p>
          <a:p>
            <a:pPr>
              <a:spcAft>
                <a:spcPts val="1800"/>
              </a:spcAft>
            </a:pPr>
            <a:r>
              <a:rPr lang="en-US" dirty="0"/>
              <a:t>However, if we use </a:t>
            </a:r>
            <a:r>
              <a:rPr lang="en-US" b="1" u="sng" dirty="0"/>
              <a:t>too many features</a:t>
            </a:r>
            <a:r>
              <a:rPr lang="en-US" dirty="0"/>
              <a:t>, the model may learn complicated rules that neither make sense nor generalize well to unseen data</a:t>
            </a:r>
            <a:endParaRPr lang="en-US" b="1" u="sng" dirty="0"/>
          </a:p>
          <a:p>
            <a:r>
              <a:rPr lang="en-US" dirty="0"/>
              <a:t>This tradeoff is known as the “curse of dimensionality”</a:t>
            </a:r>
          </a:p>
        </p:txBody>
      </p:sp>
    </p:spTree>
    <p:extLst>
      <p:ext uri="{BB962C8B-B14F-4D97-AF65-F5344CB8AC3E}">
        <p14:creationId xmlns:p14="http://schemas.microsoft.com/office/powerpoint/2010/main" val="291094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0DB0-AFAC-A22A-22BE-62CCDF5F77E4}"/>
              </a:ext>
            </a:extLst>
          </p:cNvPr>
          <p:cNvSpPr>
            <a:spLocks noGrp="1"/>
          </p:cNvSpPr>
          <p:nvPr>
            <p:ph type="title"/>
          </p:nvPr>
        </p:nvSpPr>
        <p:spPr/>
        <p:txBody>
          <a:bodyPr/>
          <a:lstStyle/>
          <a:p>
            <a:r>
              <a:rPr lang="en-US" dirty="0"/>
              <a:t>Why Use Feature Selection?</a:t>
            </a:r>
          </a:p>
        </p:txBody>
      </p:sp>
      <p:grpSp>
        <p:nvGrpSpPr>
          <p:cNvPr id="6" name="Group 5">
            <a:extLst>
              <a:ext uri="{FF2B5EF4-FFF2-40B4-BE49-F238E27FC236}">
                <a16:creationId xmlns:a16="http://schemas.microsoft.com/office/drawing/2014/main" id="{FD419D5C-7E54-01DD-713D-B8F7684871AB}"/>
              </a:ext>
            </a:extLst>
          </p:cNvPr>
          <p:cNvGrpSpPr/>
          <p:nvPr/>
        </p:nvGrpSpPr>
        <p:grpSpPr>
          <a:xfrm>
            <a:off x="5250871" y="1752600"/>
            <a:ext cx="1983169" cy="2158260"/>
            <a:chOff x="1198061" y="2486769"/>
            <a:chExt cx="1983169" cy="3552366"/>
          </a:xfrm>
        </p:grpSpPr>
        <p:cxnSp>
          <p:nvCxnSpPr>
            <p:cNvPr id="7" name="Straight Connector 6">
              <a:extLst>
                <a:ext uri="{FF2B5EF4-FFF2-40B4-BE49-F238E27FC236}">
                  <a16:creationId xmlns:a16="http://schemas.microsoft.com/office/drawing/2014/main" id="{F79ADC27-149F-8F65-65C3-2A7FA00FA542}"/>
                </a:ext>
              </a:extLst>
            </p:cNvPr>
            <p:cNvCxnSpPr/>
            <p:nvPr/>
          </p:nvCxnSpPr>
          <p:spPr>
            <a:xfrm>
              <a:off x="2975649" y="2823597"/>
              <a:ext cx="0" cy="29000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7D605F1-3E83-7DD3-7A92-0CA603103F0B}"/>
                </a:ext>
              </a:extLst>
            </p:cNvPr>
            <p:cNvSpPr txBox="1"/>
            <p:nvPr/>
          </p:nvSpPr>
          <p:spPr>
            <a:xfrm rot="16200000">
              <a:off x="-347289" y="4032119"/>
              <a:ext cx="3552366" cy="461665"/>
            </a:xfrm>
            <a:prstGeom prst="rect">
              <a:avLst/>
            </a:prstGeom>
            <a:noFill/>
          </p:spPr>
          <p:txBody>
            <a:bodyPr wrap="square" rtlCol="0">
              <a:spAutoFit/>
            </a:bodyPr>
            <a:lstStyle/>
            <a:p>
              <a:pPr algn="ctr"/>
              <a:r>
                <a:rPr lang="en-US" sz="2400" dirty="0">
                  <a:latin typeface="Avenir Book" panose="02000503020000020003" pitchFamily="2" charset="0"/>
                  <a:ea typeface="Avenir Book" charset="0"/>
                  <a:cs typeface="Avenir Book" charset="0"/>
                </a:rPr>
                <a:t>Cough status</a:t>
              </a:r>
            </a:p>
          </p:txBody>
        </p:sp>
        <p:cxnSp>
          <p:nvCxnSpPr>
            <p:cNvPr id="9" name="Straight Connector 8">
              <a:extLst>
                <a:ext uri="{FF2B5EF4-FFF2-40B4-BE49-F238E27FC236}">
                  <a16:creationId xmlns:a16="http://schemas.microsoft.com/office/drawing/2014/main" id="{E0134B8F-F10E-9807-0143-4FB97A081CB9}"/>
                </a:ext>
              </a:extLst>
            </p:cNvPr>
            <p:cNvCxnSpPr/>
            <p:nvPr/>
          </p:nvCxnSpPr>
          <p:spPr>
            <a:xfrm rot="5400000">
              <a:off x="3078439" y="456729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496D2A7-0085-FAD8-8DB7-5CD9FD7525B3}"/>
                </a:ext>
              </a:extLst>
            </p:cNvPr>
            <p:cNvCxnSpPr/>
            <p:nvPr/>
          </p:nvCxnSpPr>
          <p:spPr>
            <a:xfrm rot="5400000">
              <a:off x="3078440" y="331936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9D407F9-02CA-A1C0-E2D1-F6368F13EB8C}"/>
                </a:ext>
              </a:extLst>
            </p:cNvPr>
            <p:cNvSpPr txBox="1"/>
            <p:nvPr/>
          </p:nvSpPr>
          <p:spPr>
            <a:xfrm>
              <a:off x="1640203" y="4476690"/>
              <a:ext cx="1312118"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Normal</a:t>
              </a:r>
            </a:p>
          </p:txBody>
        </p:sp>
        <p:sp>
          <p:nvSpPr>
            <p:cNvPr id="12" name="TextBox 11">
              <a:extLst>
                <a:ext uri="{FF2B5EF4-FFF2-40B4-BE49-F238E27FC236}">
                  <a16:creationId xmlns:a16="http://schemas.microsoft.com/office/drawing/2014/main" id="{344D5F50-ABD7-D2FB-058F-9952B144FA86}"/>
                </a:ext>
              </a:extLst>
            </p:cNvPr>
            <p:cNvSpPr txBox="1"/>
            <p:nvPr/>
          </p:nvSpPr>
          <p:spPr>
            <a:xfrm>
              <a:off x="1486313" y="3230288"/>
              <a:ext cx="149543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Worsening</a:t>
              </a:r>
            </a:p>
          </p:txBody>
        </p:sp>
      </p:grpSp>
      <p:grpSp>
        <p:nvGrpSpPr>
          <p:cNvPr id="13" name="Group 12">
            <a:extLst>
              <a:ext uri="{FF2B5EF4-FFF2-40B4-BE49-F238E27FC236}">
                <a16:creationId xmlns:a16="http://schemas.microsoft.com/office/drawing/2014/main" id="{7B02AED0-A53D-7563-BD60-374918F5B29C}"/>
              </a:ext>
            </a:extLst>
          </p:cNvPr>
          <p:cNvGrpSpPr/>
          <p:nvPr/>
        </p:nvGrpSpPr>
        <p:grpSpPr>
          <a:xfrm>
            <a:off x="7028458" y="3497191"/>
            <a:ext cx="4867998" cy="1101108"/>
            <a:chOff x="2975648" y="5501641"/>
            <a:chExt cx="6916024" cy="1101108"/>
          </a:xfrm>
        </p:grpSpPr>
        <p:sp>
          <p:nvSpPr>
            <p:cNvPr id="14" name="TextBox 13">
              <a:extLst>
                <a:ext uri="{FF2B5EF4-FFF2-40B4-BE49-F238E27FC236}">
                  <a16:creationId xmlns:a16="http://schemas.microsoft.com/office/drawing/2014/main" id="{E6572FB1-E3F6-CE2E-5DCE-E6F582CF476E}"/>
                </a:ext>
              </a:extLst>
            </p:cNvPr>
            <p:cNvSpPr txBox="1"/>
            <p:nvPr/>
          </p:nvSpPr>
          <p:spPr>
            <a:xfrm>
              <a:off x="8528097"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100%</a:t>
              </a:r>
            </a:p>
          </p:txBody>
        </p:sp>
        <p:cxnSp>
          <p:nvCxnSpPr>
            <p:cNvPr id="15" name="Straight Connector 14">
              <a:extLst>
                <a:ext uri="{FF2B5EF4-FFF2-40B4-BE49-F238E27FC236}">
                  <a16:creationId xmlns:a16="http://schemas.microsoft.com/office/drawing/2014/main" id="{DB6B5080-D5AC-7E22-6EBF-F83D4A57E549}"/>
                </a:ext>
              </a:extLst>
            </p:cNvPr>
            <p:cNvCxnSpPr>
              <a:cxnSpLocks/>
            </p:cNvCxnSpPr>
            <p:nvPr/>
          </p:nvCxnSpPr>
          <p:spPr>
            <a:xfrm flipH="1">
              <a:off x="2979614" y="5722720"/>
              <a:ext cx="62405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8A8F675-92F5-4D64-4DBA-AD724211831F}"/>
                </a:ext>
              </a:extLst>
            </p:cNvPr>
            <p:cNvSpPr txBox="1"/>
            <p:nvPr/>
          </p:nvSpPr>
          <p:spPr>
            <a:xfrm>
              <a:off x="2975648" y="6202639"/>
              <a:ext cx="6244552"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SpO</a:t>
              </a:r>
              <a:r>
                <a:rPr lang="en-US" sz="2000" baseline="-25000" dirty="0">
                  <a:latin typeface="Avenir Book" panose="02000503020000020003" pitchFamily="2" charset="0"/>
                  <a:ea typeface="Avenir Book" charset="0"/>
                  <a:cs typeface="Avenir Book" charset="0"/>
                </a:rPr>
                <a:t>2</a:t>
              </a:r>
              <a:r>
                <a:rPr lang="en-US" sz="2000" dirty="0">
                  <a:latin typeface="Avenir Book" panose="02000503020000020003" pitchFamily="2" charset="0"/>
                  <a:ea typeface="Avenir Book" charset="0"/>
                  <a:cs typeface="Avenir Book" charset="0"/>
                </a:rPr>
                <a:t> (%)</a:t>
              </a:r>
            </a:p>
          </p:txBody>
        </p:sp>
        <p:cxnSp>
          <p:nvCxnSpPr>
            <p:cNvPr id="17" name="Straight Connector 16">
              <a:extLst>
                <a:ext uri="{FF2B5EF4-FFF2-40B4-BE49-F238E27FC236}">
                  <a16:creationId xmlns:a16="http://schemas.microsoft.com/office/drawing/2014/main" id="{676FA8FA-1DD8-BF4A-75DF-468EA08B97B3}"/>
                </a:ext>
              </a:extLst>
            </p:cNvPr>
            <p:cNvCxnSpPr/>
            <p:nvPr/>
          </p:nvCxnSpPr>
          <p:spPr>
            <a:xfrm>
              <a:off x="4608614" y="5501641"/>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1E8B0F0-1D1B-37A9-E6FA-438394443945}"/>
                </a:ext>
              </a:extLst>
            </p:cNvPr>
            <p:cNvCxnSpPr/>
            <p:nvPr/>
          </p:nvCxnSpPr>
          <p:spPr>
            <a:xfrm>
              <a:off x="6252962" y="550680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C1B352B-B7E6-48BF-8345-51965747621B}"/>
                </a:ext>
              </a:extLst>
            </p:cNvPr>
            <p:cNvCxnSpPr/>
            <p:nvPr/>
          </p:nvCxnSpPr>
          <p:spPr>
            <a:xfrm>
              <a:off x="7786013" y="5504453"/>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DCD3B2D-E670-1F26-8510-5906A23FEAEA}"/>
                </a:ext>
              </a:extLst>
            </p:cNvPr>
            <p:cNvCxnSpPr/>
            <p:nvPr/>
          </p:nvCxnSpPr>
          <p:spPr>
            <a:xfrm>
              <a:off x="9209884" y="551713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C0D0A7F-F871-0889-B8BF-161E920E38B8}"/>
                </a:ext>
              </a:extLst>
            </p:cNvPr>
            <p:cNvSpPr txBox="1"/>
            <p:nvPr/>
          </p:nvSpPr>
          <p:spPr>
            <a:xfrm>
              <a:off x="7104224" y="5768759"/>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97.5%</a:t>
              </a:r>
            </a:p>
          </p:txBody>
        </p:sp>
        <p:sp>
          <p:nvSpPr>
            <p:cNvPr id="22" name="TextBox 21">
              <a:extLst>
                <a:ext uri="{FF2B5EF4-FFF2-40B4-BE49-F238E27FC236}">
                  <a16:creationId xmlns:a16="http://schemas.microsoft.com/office/drawing/2014/main" id="{91E28DA0-0CFD-CCB5-62D2-F2289F1A273B}"/>
                </a:ext>
              </a:extLst>
            </p:cNvPr>
            <p:cNvSpPr txBox="1"/>
            <p:nvPr/>
          </p:nvSpPr>
          <p:spPr>
            <a:xfrm>
              <a:off x="5570625"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95%</a:t>
              </a:r>
            </a:p>
          </p:txBody>
        </p:sp>
        <p:sp>
          <p:nvSpPr>
            <p:cNvPr id="23" name="TextBox 22">
              <a:extLst>
                <a:ext uri="{FF2B5EF4-FFF2-40B4-BE49-F238E27FC236}">
                  <a16:creationId xmlns:a16="http://schemas.microsoft.com/office/drawing/2014/main" id="{708B1B00-3CA7-034F-B31C-4A3C1A5D76BF}"/>
                </a:ext>
              </a:extLst>
            </p:cNvPr>
            <p:cNvSpPr txBox="1"/>
            <p:nvPr/>
          </p:nvSpPr>
          <p:spPr>
            <a:xfrm>
              <a:off x="3926826"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92.5%</a:t>
              </a:r>
            </a:p>
          </p:txBody>
        </p:sp>
      </p:grpSp>
      <p:grpSp>
        <p:nvGrpSpPr>
          <p:cNvPr id="45" name="Group 44">
            <a:extLst>
              <a:ext uri="{FF2B5EF4-FFF2-40B4-BE49-F238E27FC236}">
                <a16:creationId xmlns:a16="http://schemas.microsoft.com/office/drawing/2014/main" id="{9A986D77-47E8-F3A0-D2B8-C81045CE9DCA}"/>
              </a:ext>
            </a:extLst>
          </p:cNvPr>
          <p:cNvGrpSpPr/>
          <p:nvPr/>
        </p:nvGrpSpPr>
        <p:grpSpPr>
          <a:xfrm>
            <a:off x="928978" y="3478554"/>
            <a:ext cx="4198490" cy="1016205"/>
            <a:chOff x="3926826" y="5501641"/>
            <a:chExt cx="5964846" cy="1016205"/>
          </a:xfrm>
        </p:grpSpPr>
        <p:sp>
          <p:nvSpPr>
            <p:cNvPr id="46" name="TextBox 45">
              <a:extLst>
                <a:ext uri="{FF2B5EF4-FFF2-40B4-BE49-F238E27FC236}">
                  <a16:creationId xmlns:a16="http://schemas.microsoft.com/office/drawing/2014/main" id="{1A4F76DF-7170-E83E-E4D7-7862A1A121F4}"/>
                </a:ext>
              </a:extLst>
            </p:cNvPr>
            <p:cNvSpPr txBox="1"/>
            <p:nvPr/>
          </p:nvSpPr>
          <p:spPr>
            <a:xfrm>
              <a:off x="8528097"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100%</a:t>
              </a:r>
            </a:p>
          </p:txBody>
        </p:sp>
        <p:cxnSp>
          <p:nvCxnSpPr>
            <p:cNvPr id="47" name="Straight Connector 46">
              <a:extLst>
                <a:ext uri="{FF2B5EF4-FFF2-40B4-BE49-F238E27FC236}">
                  <a16:creationId xmlns:a16="http://schemas.microsoft.com/office/drawing/2014/main" id="{59B9F0F8-1DB6-5D7B-6CCC-EB8B856C13CD}"/>
                </a:ext>
              </a:extLst>
            </p:cNvPr>
            <p:cNvCxnSpPr>
              <a:cxnSpLocks/>
            </p:cNvCxnSpPr>
            <p:nvPr/>
          </p:nvCxnSpPr>
          <p:spPr>
            <a:xfrm flipH="1" flipV="1">
              <a:off x="4601170" y="5720886"/>
              <a:ext cx="4619031" cy="18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16F7BDA-5603-B947-A206-823FB26E0306}"/>
                </a:ext>
              </a:extLst>
            </p:cNvPr>
            <p:cNvSpPr txBox="1"/>
            <p:nvPr/>
          </p:nvSpPr>
          <p:spPr>
            <a:xfrm>
              <a:off x="4601167" y="6117736"/>
              <a:ext cx="4619033"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SpO</a:t>
              </a:r>
              <a:r>
                <a:rPr lang="en-US" sz="2000" baseline="-25000" dirty="0">
                  <a:latin typeface="Avenir Book" panose="02000503020000020003" pitchFamily="2" charset="0"/>
                  <a:ea typeface="Avenir Book" charset="0"/>
                  <a:cs typeface="Avenir Book" charset="0"/>
                </a:rPr>
                <a:t>2</a:t>
              </a:r>
              <a:r>
                <a:rPr lang="en-US" sz="2000" dirty="0">
                  <a:latin typeface="Avenir Book" panose="02000503020000020003" pitchFamily="2" charset="0"/>
                  <a:ea typeface="Avenir Book" charset="0"/>
                  <a:cs typeface="Avenir Book" charset="0"/>
                </a:rPr>
                <a:t> (%)</a:t>
              </a:r>
            </a:p>
          </p:txBody>
        </p:sp>
        <p:cxnSp>
          <p:nvCxnSpPr>
            <p:cNvPr id="49" name="Straight Connector 48">
              <a:extLst>
                <a:ext uri="{FF2B5EF4-FFF2-40B4-BE49-F238E27FC236}">
                  <a16:creationId xmlns:a16="http://schemas.microsoft.com/office/drawing/2014/main" id="{9240D4E7-6C32-DD9B-9702-9C601BF310C9}"/>
                </a:ext>
              </a:extLst>
            </p:cNvPr>
            <p:cNvCxnSpPr/>
            <p:nvPr/>
          </p:nvCxnSpPr>
          <p:spPr>
            <a:xfrm>
              <a:off x="4608614" y="5501641"/>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07767B6-8BED-4EF7-0B0E-EA8C4FFB07A2}"/>
                </a:ext>
              </a:extLst>
            </p:cNvPr>
            <p:cNvCxnSpPr/>
            <p:nvPr/>
          </p:nvCxnSpPr>
          <p:spPr>
            <a:xfrm>
              <a:off x="6252962" y="550680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7F44D5C-14C4-04D2-6AFF-BF9282D40517}"/>
                </a:ext>
              </a:extLst>
            </p:cNvPr>
            <p:cNvCxnSpPr/>
            <p:nvPr/>
          </p:nvCxnSpPr>
          <p:spPr>
            <a:xfrm>
              <a:off x="7786013" y="5504453"/>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1D869BB-2F27-04E3-08F2-AFE5A1123424}"/>
                </a:ext>
              </a:extLst>
            </p:cNvPr>
            <p:cNvCxnSpPr/>
            <p:nvPr/>
          </p:nvCxnSpPr>
          <p:spPr>
            <a:xfrm>
              <a:off x="9209884" y="551713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364930D6-5312-DE59-95BB-01DA252174CC}"/>
                </a:ext>
              </a:extLst>
            </p:cNvPr>
            <p:cNvSpPr txBox="1"/>
            <p:nvPr/>
          </p:nvSpPr>
          <p:spPr>
            <a:xfrm>
              <a:off x="7104224" y="5768759"/>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97.5%</a:t>
              </a:r>
            </a:p>
          </p:txBody>
        </p:sp>
        <p:sp>
          <p:nvSpPr>
            <p:cNvPr id="54" name="TextBox 53">
              <a:extLst>
                <a:ext uri="{FF2B5EF4-FFF2-40B4-BE49-F238E27FC236}">
                  <a16:creationId xmlns:a16="http://schemas.microsoft.com/office/drawing/2014/main" id="{97DC153A-A078-80F2-E9D6-36CF9D8DF370}"/>
                </a:ext>
              </a:extLst>
            </p:cNvPr>
            <p:cNvSpPr txBox="1"/>
            <p:nvPr/>
          </p:nvSpPr>
          <p:spPr>
            <a:xfrm>
              <a:off x="5570625"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95%</a:t>
              </a:r>
            </a:p>
          </p:txBody>
        </p:sp>
        <p:sp>
          <p:nvSpPr>
            <p:cNvPr id="55" name="TextBox 54">
              <a:extLst>
                <a:ext uri="{FF2B5EF4-FFF2-40B4-BE49-F238E27FC236}">
                  <a16:creationId xmlns:a16="http://schemas.microsoft.com/office/drawing/2014/main" id="{E6BDF5D6-B6CE-6550-DEEC-7C4F11E518BA}"/>
                </a:ext>
              </a:extLst>
            </p:cNvPr>
            <p:cNvSpPr txBox="1"/>
            <p:nvPr/>
          </p:nvSpPr>
          <p:spPr>
            <a:xfrm>
              <a:off x="3926826"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92.5%</a:t>
              </a:r>
            </a:p>
          </p:txBody>
        </p:sp>
      </p:grpSp>
      <p:grpSp>
        <p:nvGrpSpPr>
          <p:cNvPr id="59" name="Group 58">
            <a:extLst>
              <a:ext uri="{FF2B5EF4-FFF2-40B4-BE49-F238E27FC236}">
                <a16:creationId xmlns:a16="http://schemas.microsoft.com/office/drawing/2014/main" id="{EE378E5C-94DA-363F-481A-EF6137035F06}"/>
              </a:ext>
            </a:extLst>
          </p:cNvPr>
          <p:cNvGrpSpPr/>
          <p:nvPr/>
        </p:nvGrpSpPr>
        <p:grpSpPr>
          <a:xfrm>
            <a:off x="1359998" y="3010853"/>
            <a:ext cx="3415096" cy="273708"/>
            <a:chOff x="1513733" y="2659504"/>
            <a:chExt cx="3415096" cy="273708"/>
          </a:xfrm>
        </p:grpSpPr>
        <p:sp>
          <p:nvSpPr>
            <p:cNvPr id="31" name="Oval 30">
              <a:extLst>
                <a:ext uri="{FF2B5EF4-FFF2-40B4-BE49-F238E27FC236}">
                  <a16:creationId xmlns:a16="http://schemas.microsoft.com/office/drawing/2014/main" id="{B22DC4ED-3DCC-690A-1E5E-596ECD70DB6A}"/>
                </a:ext>
              </a:extLst>
            </p:cNvPr>
            <p:cNvSpPr/>
            <p:nvPr/>
          </p:nvSpPr>
          <p:spPr>
            <a:xfrm>
              <a:off x="4655121"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2" name="Oval 31">
              <a:extLst>
                <a:ext uri="{FF2B5EF4-FFF2-40B4-BE49-F238E27FC236}">
                  <a16:creationId xmlns:a16="http://schemas.microsoft.com/office/drawing/2014/main" id="{E1CBBB4E-89F2-386F-75B6-2F73D972E603}"/>
                </a:ext>
              </a:extLst>
            </p:cNvPr>
            <p:cNvSpPr/>
            <p:nvPr/>
          </p:nvSpPr>
          <p:spPr>
            <a:xfrm>
              <a:off x="3364709"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5" name="Triangle 34">
              <a:extLst>
                <a:ext uri="{FF2B5EF4-FFF2-40B4-BE49-F238E27FC236}">
                  <a16:creationId xmlns:a16="http://schemas.microsoft.com/office/drawing/2014/main" id="{1EB06A88-F05D-EC9D-DD14-D010A4EE7E98}"/>
                </a:ext>
              </a:extLst>
            </p:cNvPr>
            <p:cNvSpPr/>
            <p:nvPr/>
          </p:nvSpPr>
          <p:spPr>
            <a:xfrm>
              <a:off x="1513733"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36" name="Triangle 35">
              <a:extLst>
                <a:ext uri="{FF2B5EF4-FFF2-40B4-BE49-F238E27FC236}">
                  <a16:creationId xmlns:a16="http://schemas.microsoft.com/office/drawing/2014/main" id="{186FA26B-8883-752B-1616-2DBC80EA15D5}"/>
                </a:ext>
              </a:extLst>
            </p:cNvPr>
            <p:cNvSpPr/>
            <p:nvPr/>
          </p:nvSpPr>
          <p:spPr>
            <a:xfrm>
              <a:off x="2209800"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37" name="Triangle 36">
              <a:extLst>
                <a:ext uri="{FF2B5EF4-FFF2-40B4-BE49-F238E27FC236}">
                  <a16:creationId xmlns:a16="http://schemas.microsoft.com/office/drawing/2014/main" id="{BF173839-9BB8-1996-8E0B-1512A3149C59}"/>
                </a:ext>
              </a:extLst>
            </p:cNvPr>
            <p:cNvSpPr/>
            <p:nvPr/>
          </p:nvSpPr>
          <p:spPr>
            <a:xfrm>
              <a:off x="4166955"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39" name="Oval 38">
              <a:extLst>
                <a:ext uri="{FF2B5EF4-FFF2-40B4-BE49-F238E27FC236}">
                  <a16:creationId xmlns:a16="http://schemas.microsoft.com/office/drawing/2014/main" id="{2E9AC264-8452-3F20-974F-EA436EF317EA}"/>
                </a:ext>
              </a:extLst>
            </p:cNvPr>
            <p:cNvSpPr/>
            <p:nvPr/>
          </p:nvSpPr>
          <p:spPr>
            <a:xfrm>
              <a:off x="1828800"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0" name="Triangle 39">
              <a:extLst>
                <a:ext uri="{FF2B5EF4-FFF2-40B4-BE49-F238E27FC236}">
                  <a16:creationId xmlns:a16="http://schemas.microsoft.com/office/drawing/2014/main" id="{E0B23140-29E6-CAF7-E052-98DACDF4D56E}"/>
                </a:ext>
              </a:extLst>
            </p:cNvPr>
            <p:cNvSpPr/>
            <p:nvPr/>
          </p:nvSpPr>
          <p:spPr>
            <a:xfrm>
              <a:off x="3812046"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58" name="Triangle 57">
              <a:extLst>
                <a:ext uri="{FF2B5EF4-FFF2-40B4-BE49-F238E27FC236}">
                  <a16:creationId xmlns:a16="http://schemas.microsoft.com/office/drawing/2014/main" id="{17878BAC-7908-6AEC-5E49-09019E012ABA}"/>
                </a:ext>
              </a:extLst>
            </p:cNvPr>
            <p:cNvSpPr/>
            <p:nvPr/>
          </p:nvSpPr>
          <p:spPr>
            <a:xfrm>
              <a:off x="2686419"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gr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931D82D8-9D13-289D-B1C8-3290C67E762B}"/>
                  </a:ext>
                </a:extLst>
              </p:cNvPr>
              <p:cNvSpPr txBox="1"/>
              <p:nvPr/>
            </p:nvSpPr>
            <p:spPr>
              <a:xfrm>
                <a:off x="609600" y="4670716"/>
                <a:ext cx="4800600" cy="1677382"/>
              </a:xfrm>
              <a:prstGeom prst="rect">
                <a:avLst/>
              </a:prstGeom>
              <a:noFill/>
            </p:spPr>
            <p:txBody>
              <a:bodyPr wrap="square" rtlCol="0">
                <a:spAutoFit/>
              </a:bodyPr>
              <a:lstStyle/>
              <a:p>
                <a:pPr algn="ctr"/>
                <a:r>
                  <a:rPr lang="en-US" sz="2800" b="1" u="sng" dirty="0">
                    <a:latin typeface="Avenir Book" panose="02000503020000020003" pitchFamily="2" charset="0"/>
                  </a:rPr>
                  <a:t>One Feature</a:t>
                </a:r>
              </a:p>
              <a:p>
                <a:pPr algn="ctr">
                  <a:spcAft>
                    <a:spcPts val="1800"/>
                  </a:spcAft>
                </a:pPr>
                <a:r>
                  <a:rPr lang="en-US" sz="2000" dirty="0">
                    <a:latin typeface="Avenir Book" panose="02000503020000020003" pitchFamily="2" charset="0"/>
                  </a:rPr>
                  <a:t>“If </a:t>
                </a:r>
                <a:r>
                  <a:rPr lang="en-US" sz="2000" dirty="0">
                    <a:latin typeface="Avenir Book" panose="02000503020000020003" pitchFamily="2" charset="0"/>
                    <a:ea typeface="Avenir Book" charset="0"/>
                    <a:cs typeface="Avenir Book" charset="0"/>
                  </a:rPr>
                  <a:t>SpO</a:t>
                </a:r>
                <a:r>
                  <a:rPr lang="en-US" sz="2000" baseline="-25000" dirty="0">
                    <a:latin typeface="Avenir Book" panose="02000503020000020003" pitchFamily="2" charset="0"/>
                    <a:ea typeface="Avenir Book" charset="0"/>
                    <a:cs typeface="Avenir Book" charset="0"/>
                  </a:rPr>
                  <a:t>2 </a:t>
                </a: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Avenir Book" charset="0"/>
                      </a:rPr>
                      <m:t>≥</m:t>
                    </m:r>
                  </m:oMath>
                </a14:m>
                <a:r>
                  <a:rPr lang="en-US" sz="2000" dirty="0">
                    <a:latin typeface="Avenir Book" panose="02000503020000020003" pitchFamily="2" charset="0"/>
                  </a:rPr>
                  <a:t> 96%, the patient is healthy”</a:t>
                </a:r>
              </a:p>
              <a:p>
                <a:pPr algn="ctr"/>
                <a:r>
                  <a:rPr lang="en-US" sz="2000" dirty="0">
                    <a:latin typeface="Avenir Book" panose="02000503020000020003" pitchFamily="2" charset="0"/>
                  </a:rPr>
                  <a:t>The model has okay accuracy (62.5%), and the rule seems clinically sensible</a:t>
                </a:r>
              </a:p>
            </p:txBody>
          </p:sp>
        </mc:Choice>
        <mc:Fallback xmlns="">
          <p:sp>
            <p:nvSpPr>
              <p:cNvPr id="69" name="TextBox 68">
                <a:extLst>
                  <a:ext uri="{FF2B5EF4-FFF2-40B4-BE49-F238E27FC236}">
                    <a16:creationId xmlns:a16="http://schemas.microsoft.com/office/drawing/2014/main" id="{931D82D8-9D13-289D-B1C8-3290C67E762B}"/>
                  </a:ext>
                </a:extLst>
              </p:cNvPr>
              <p:cNvSpPr txBox="1">
                <a:spLocks noRot="1" noChangeAspect="1" noMove="1" noResize="1" noEditPoints="1" noAdjustHandles="1" noChangeArrowheads="1" noChangeShapeType="1" noTextEdit="1"/>
              </p:cNvSpPr>
              <p:nvPr/>
            </p:nvSpPr>
            <p:spPr>
              <a:xfrm>
                <a:off x="609600" y="4670716"/>
                <a:ext cx="4800600" cy="1677382"/>
              </a:xfrm>
              <a:prstGeom prst="rect">
                <a:avLst/>
              </a:prstGeom>
              <a:blipFill>
                <a:blip r:embed="rId3"/>
                <a:stretch>
                  <a:fillRect t="-3759" b="-6015"/>
                </a:stretch>
              </a:blipFill>
            </p:spPr>
            <p:txBody>
              <a:bodyPr/>
              <a:lstStyle/>
              <a:p>
                <a:r>
                  <a:rPr lang="en-US">
                    <a:noFill/>
                  </a:rPr>
                  <a:t> </a:t>
                </a:r>
              </a:p>
            </p:txBody>
          </p:sp>
        </mc:Fallback>
      </mc:AlternateContent>
      <p:cxnSp>
        <p:nvCxnSpPr>
          <p:cNvPr id="73" name="Straight Connector 72">
            <a:extLst>
              <a:ext uri="{FF2B5EF4-FFF2-40B4-BE49-F238E27FC236}">
                <a16:creationId xmlns:a16="http://schemas.microsoft.com/office/drawing/2014/main" id="{BD9F9670-D23B-C4B9-4FA5-D14B4BD69CC3}"/>
              </a:ext>
            </a:extLst>
          </p:cNvPr>
          <p:cNvCxnSpPr/>
          <p:nvPr/>
        </p:nvCxnSpPr>
        <p:spPr>
          <a:xfrm>
            <a:off x="3045786" y="2436700"/>
            <a:ext cx="0" cy="1247435"/>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2F54A967-54DC-17E4-10A7-49C5FFEBA35F}"/>
                  </a:ext>
                </a:extLst>
              </p:cNvPr>
              <p:cNvSpPr txBox="1"/>
              <p:nvPr/>
            </p:nvSpPr>
            <p:spPr>
              <a:xfrm>
                <a:off x="6096000" y="4670716"/>
                <a:ext cx="6170940" cy="1985159"/>
              </a:xfrm>
              <a:prstGeom prst="rect">
                <a:avLst/>
              </a:prstGeom>
              <a:noFill/>
            </p:spPr>
            <p:txBody>
              <a:bodyPr wrap="square" rtlCol="0">
                <a:spAutoFit/>
              </a:bodyPr>
              <a:lstStyle/>
              <a:p>
                <a:pPr algn="ctr"/>
                <a:r>
                  <a:rPr lang="en-US" sz="2800" b="1" u="sng" dirty="0">
                    <a:latin typeface="Avenir Book" panose="02000503020000020003" pitchFamily="2" charset="0"/>
                  </a:rPr>
                  <a:t>Two Features</a:t>
                </a:r>
              </a:p>
              <a:p>
                <a:pPr algn="ctr">
                  <a:spcAft>
                    <a:spcPts val="1800"/>
                  </a:spcAft>
                </a:pPr>
                <a:r>
                  <a:rPr lang="en-US" sz="2000" dirty="0">
                    <a:latin typeface="Avenir Book" panose="02000503020000020003" pitchFamily="2" charset="0"/>
                  </a:rPr>
                  <a:t>“If </a:t>
                </a:r>
                <a:r>
                  <a:rPr lang="en-US" sz="2000" dirty="0">
                    <a:latin typeface="Avenir Book" panose="02000503020000020003" pitchFamily="2" charset="0"/>
                    <a:ea typeface="Avenir Book" charset="0"/>
                    <a:cs typeface="Avenir Book" charset="0"/>
                  </a:rPr>
                  <a:t>SpO</a:t>
                </a:r>
                <a:r>
                  <a:rPr lang="en-US" sz="2000" baseline="-25000" dirty="0">
                    <a:latin typeface="Avenir Book" panose="02000503020000020003" pitchFamily="2" charset="0"/>
                    <a:ea typeface="Avenir Book" charset="0"/>
                    <a:cs typeface="Avenir Book" charset="0"/>
                  </a:rPr>
                  <a:t>2 </a:t>
                </a: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Avenir Book" charset="0"/>
                      </a:rPr>
                      <m:t>≥</m:t>
                    </m:r>
                  </m:oMath>
                </a14:m>
                <a:r>
                  <a:rPr lang="en-US" sz="2000" dirty="0">
                    <a:latin typeface="Avenir Book" panose="02000503020000020003" pitchFamily="2" charset="0"/>
                  </a:rPr>
                  <a:t> 96% and normal cough, </a:t>
                </a:r>
                <a:br>
                  <a:rPr lang="en-US" sz="2000" dirty="0">
                    <a:latin typeface="Avenir Book" panose="02000503020000020003" pitchFamily="2" charset="0"/>
                  </a:rPr>
                </a:br>
                <a:r>
                  <a:rPr lang="en-US" sz="2000" dirty="0">
                    <a:latin typeface="Avenir Book" panose="02000503020000020003" pitchFamily="2" charset="0"/>
                  </a:rPr>
                  <a:t>the patient is healthy”</a:t>
                </a:r>
              </a:p>
              <a:p>
                <a:pPr algn="ctr"/>
                <a:r>
                  <a:rPr lang="en-US" sz="2000" dirty="0">
                    <a:latin typeface="Avenir Book" panose="02000503020000020003" pitchFamily="2" charset="0"/>
                  </a:rPr>
                  <a:t>The model has better accuracy (75%), </a:t>
                </a:r>
                <a:br>
                  <a:rPr lang="en-US" sz="2000" dirty="0">
                    <a:latin typeface="Avenir Book" panose="02000503020000020003" pitchFamily="2" charset="0"/>
                  </a:rPr>
                </a:br>
                <a:r>
                  <a:rPr lang="en-US" sz="2000" dirty="0">
                    <a:latin typeface="Avenir Book" panose="02000503020000020003" pitchFamily="2" charset="0"/>
                  </a:rPr>
                  <a:t>and the rule still seems clinically sensible</a:t>
                </a:r>
              </a:p>
            </p:txBody>
          </p:sp>
        </mc:Choice>
        <mc:Fallback xmlns="">
          <p:sp>
            <p:nvSpPr>
              <p:cNvPr id="74" name="TextBox 73">
                <a:extLst>
                  <a:ext uri="{FF2B5EF4-FFF2-40B4-BE49-F238E27FC236}">
                    <a16:creationId xmlns:a16="http://schemas.microsoft.com/office/drawing/2014/main" id="{2F54A967-54DC-17E4-10A7-49C5FFEBA35F}"/>
                  </a:ext>
                </a:extLst>
              </p:cNvPr>
              <p:cNvSpPr txBox="1">
                <a:spLocks noRot="1" noChangeAspect="1" noMove="1" noResize="1" noEditPoints="1" noAdjustHandles="1" noChangeArrowheads="1" noChangeShapeType="1" noTextEdit="1"/>
              </p:cNvSpPr>
              <p:nvPr/>
            </p:nvSpPr>
            <p:spPr>
              <a:xfrm>
                <a:off x="6096000" y="4670716"/>
                <a:ext cx="6170940" cy="1985159"/>
              </a:xfrm>
              <a:prstGeom prst="rect">
                <a:avLst/>
              </a:prstGeom>
              <a:blipFill>
                <a:blip r:embed="rId4"/>
                <a:stretch>
                  <a:fillRect t="-3165" b="-4430"/>
                </a:stretch>
              </a:blipFill>
            </p:spPr>
            <p:txBody>
              <a:bodyPr/>
              <a:lstStyle/>
              <a:p>
                <a:r>
                  <a:rPr lang="en-US">
                    <a:noFill/>
                  </a:rPr>
                  <a:t> </a:t>
                </a:r>
              </a:p>
            </p:txBody>
          </p:sp>
        </mc:Fallback>
      </mc:AlternateContent>
      <p:grpSp>
        <p:nvGrpSpPr>
          <p:cNvPr id="109" name="Group 108">
            <a:extLst>
              <a:ext uri="{FF2B5EF4-FFF2-40B4-BE49-F238E27FC236}">
                <a16:creationId xmlns:a16="http://schemas.microsoft.com/office/drawing/2014/main" id="{CFFFCFC5-E171-4F4F-0E15-24508B604773}"/>
              </a:ext>
            </a:extLst>
          </p:cNvPr>
          <p:cNvGrpSpPr/>
          <p:nvPr/>
        </p:nvGrpSpPr>
        <p:grpSpPr>
          <a:xfrm>
            <a:off x="9807140" y="2689551"/>
            <a:ext cx="1647337" cy="1053606"/>
            <a:chOff x="9807140" y="2689551"/>
            <a:chExt cx="1647337" cy="1053606"/>
          </a:xfrm>
        </p:grpSpPr>
        <p:cxnSp>
          <p:nvCxnSpPr>
            <p:cNvPr id="75" name="Straight Connector 74">
              <a:extLst>
                <a:ext uri="{FF2B5EF4-FFF2-40B4-BE49-F238E27FC236}">
                  <a16:creationId xmlns:a16="http://schemas.microsoft.com/office/drawing/2014/main" id="{E7763BD0-513F-301B-B8FD-14E98B941983}"/>
                </a:ext>
              </a:extLst>
            </p:cNvPr>
            <p:cNvCxnSpPr>
              <a:cxnSpLocks/>
            </p:cNvCxnSpPr>
            <p:nvPr/>
          </p:nvCxnSpPr>
          <p:spPr>
            <a:xfrm>
              <a:off x="9829800" y="2693299"/>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747727B-D62B-D688-4C50-734DD7D0A232}"/>
                </a:ext>
              </a:extLst>
            </p:cNvPr>
            <p:cNvCxnSpPr>
              <a:cxnSpLocks/>
            </p:cNvCxnSpPr>
            <p:nvPr/>
          </p:nvCxnSpPr>
          <p:spPr>
            <a:xfrm>
              <a:off x="9807140" y="2689551"/>
              <a:ext cx="1647337"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99D901A0-461B-E134-4A2B-3DC2DCFB90AA}"/>
              </a:ext>
            </a:extLst>
          </p:cNvPr>
          <p:cNvGrpSpPr/>
          <p:nvPr/>
        </p:nvGrpSpPr>
        <p:grpSpPr>
          <a:xfrm>
            <a:off x="8114666" y="2164108"/>
            <a:ext cx="3415096" cy="1127994"/>
            <a:chOff x="1513733" y="1805218"/>
            <a:chExt cx="3415096" cy="1127994"/>
          </a:xfrm>
        </p:grpSpPr>
        <p:sp>
          <p:nvSpPr>
            <p:cNvPr id="81" name="Oval 80">
              <a:extLst>
                <a:ext uri="{FF2B5EF4-FFF2-40B4-BE49-F238E27FC236}">
                  <a16:creationId xmlns:a16="http://schemas.microsoft.com/office/drawing/2014/main" id="{916510BA-4923-2D34-EF2C-70643BBBC68E}"/>
                </a:ext>
              </a:extLst>
            </p:cNvPr>
            <p:cNvSpPr/>
            <p:nvPr/>
          </p:nvSpPr>
          <p:spPr>
            <a:xfrm>
              <a:off x="4655121"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2" name="Oval 81">
              <a:extLst>
                <a:ext uri="{FF2B5EF4-FFF2-40B4-BE49-F238E27FC236}">
                  <a16:creationId xmlns:a16="http://schemas.microsoft.com/office/drawing/2014/main" id="{9FC61CBD-0099-71F0-4828-468425A5764F}"/>
                </a:ext>
              </a:extLst>
            </p:cNvPr>
            <p:cNvSpPr/>
            <p:nvPr/>
          </p:nvSpPr>
          <p:spPr>
            <a:xfrm>
              <a:off x="3364709"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3" name="Triangle 82">
              <a:extLst>
                <a:ext uri="{FF2B5EF4-FFF2-40B4-BE49-F238E27FC236}">
                  <a16:creationId xmlns:a16="http://schemas.microsoft.com/office/drawing/2014/main" id="{3E42D1A9-0DFA-5F35-DAF3-F0CAC31B1EE2}"/>
                </a:ext>
              </a:extLst>
            </p:cNvPr>
            <p:cNvSpPr/>
            <p:nvPr/>
          </p:nvSpPr>
          <p:spPr>
            <a:xfrm>
              <a:off x="1513733" y="180928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84" name="Triangle 83">
              <a:extLst>
                <a:ext uri="{FF2B5EF4-FFF2-40B4-BE49-F238E27FC236}">
                  <a16:creationId xmlns:a16="http://schemas.microsoft.com/office/drawing/2014/main" id="{A9EF34A1-288C-BAAE-A692-55CCF693913E}"/>
                </a:ext>
              </a:extLst>
            </p:cNvPr>
            <p:cNvSpPr/>
            <p:nvPr/>
          </p:nvSpPr>
          <p:spPr>
            <a:xfrm>
              <a:off x="2209800"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85" name="Triangle 84">
              <a:extLst>
                <a:ext uri="{FF2B5EF4-FFF2-40B4-BE49-F238E27FC236}">
                  <a16:creationId xmlns:a16="http://schemas.microsoft.com/office/drawing/2014/main" id="{F8180740-2B9A-051C-4462-F795EAB051D2}"/>
                </a:ext>
              </a:extLst>
            </p:cNvPr>
            <p:cNvSpPr/>
            <p:nvPr/>
          </p:nvSpPr>
          <p:spPr>
            <a:xfrm>
              <a:off x="4166955" y="1805218"/>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86" name="Oval 85">
              <a:extLst>
                <a:ext uri="{FF2B5EF4-FFF2-40B4-BE49-F238E27FC236}">
                  <a16:creationId xmlns:a16="http://schemas.microsoft.com/office/drawing/2014/main" id="{EE77D252-DE09-3216-2633-13FCD671B94E}"/>
                </a:ext>
              </a:extLst>
            </p:cNvPr>
            <p:cNvSpPr/>
            <p:nvPr/>
          </p:nvSpPr>
          <p:spPr>
            <a:xfrm>
              <a:off x="1828800"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7" name="Triangle 86">
              <a:extLst>
                <a:ext uri="{FF2B5EF4-FFF2-40B4-BE49-F238E27FC236}">
                  <a16:creationId xmlns:a16="http://schemas.microsoft.com/office/drawing/2014/main" id="{5B374FFB-551A-D0E6-55DC-0092B31DFD52}"/>
                </a:ext>
              </a:extLst>
            </p:cNvPr>
            <p:cNvSpPr/>
            <p:nvPr/>
          </p:nvSpPr>
          <p:spPr>
            <a:xfrm>
              <a:off x="3812046" y="264581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88" name="Triangle 87">
              <a:extLst>
                <a:ext uri="{FF2B5EF4-FFF2-40B4-BE49-F238E27FC236}">
                  <a16:creationId xmlns:a16="http://schemas.microsoft.com/office/drawing/2014/main" id="{CD2F3619-A1CB-EA81-64AD-E6C10A6BC24E}"/>
                </a:ext>
              </a:extLst>
            </p:cNvPr>
            <p:cNvSpPr/>
            <p:nvPr/>
          </p:nvSpPr>
          <p:spPr>
            <a:xfrm>
              <a:off x="2686419" y="180928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grpSp>
      <p:grpSp>
        <p:nvGrpSpPr>
          <p:cNvPr id="108" name="Group 107">
            <a:extLst>
              <a:ext uri="{FF2B5EF4-FFF2-40B4-BE49-F238E27FC236}">
                <a16:creationId xmlns:a16="http://schemas.microsoft.com/office/drawing/2014/main" id="{CA700A3A-91DB-A5E9-1A6B-11F389D6299B}"/>
              </a:ext>
            </a:extLst>
          </p:cNvPr>
          <p:cNvGrpSpPr/>
          <p:nvPr/>
        </p:nvGrpSpPr>
        <p:grpSpPr>
          <a:xfrm>
            <a:off x="9661217" y="258002"/>
            <a:ext cx="2391680" cy="1415753"/>
            <a:chOff x="9661217" y="258002"/>
            <a:chExt cx="2391680" cy="1415753"/>
          </a:xfrm>
        </p:grpSpPr>
        <p:grpSp>
          <p:nvGrpSpPr>
            <p:cNvPr id="101" name="Group 100">
              <a:extLst>
                <a:ext uri="{FF2B5EF4-FFF2-40B4-BE49-F238E27FC236}">
                  <a16:creationId xmlns:a16="http://schemas.microsoft.com/office/drawing/2014/main" id="{55101F43-8D44-2DCE-3431-A9789ED254BC}"/>
                </a:ext>
              </a:extLst>
            </p:cNvPr>
            <p:cNvGrpSpPr/>
            <p:nvPr/>
          </p:nvGrpSpPr>
          <p:grpSpPr>
            <a:xfrm>
              <a:off x="9938213" y="838200"/>
              <a:ext cx="1837687" cy="835555"/>
              <a:chOff x="8525513" y="2631593"/>
              <a:chExt cx="1837687" cy="835555"/>
            </a:xfrm>
          </p:grpSpPr>
          <p:sp>
            <p:nvSpPr>
              <p:cNvPr id="102" name="TextBox 101">
                <a:extLst>
                  <a:ext uri="{FF2B5EF4-FFF2-40B4-BE49-F238E27FC236}">
                    <a16:creationId xmlns:a16="http://schemas.microsoft.com/office/drawing/2014/main" id="{0C066DF9-8008-486F-C1EC-911EEF787885}"/>
                  </a:ext>
                </a:extLst>
              </p:cNvPr>
              <p:cNvSpPr txBox="1"/>
              <p:nvPr/>
            </p:nvSpPr>
            <p:spPr>
              <a:xfrm>
                <a:off x="8525513" y="2631593"/>
                <a:ext cx="116602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Healthy</a:t>
                </a:r>
              </a:p>
            </p:txBody>
          </p:sp>
          <p:sp>
            <p:nvSpPr>
              <p:cNvPr id="103" name="Oval 102">
                <a:extLst>
                  <a:ext uri="{FF2B5EF4-FFF2-40B4-BE49-F238E27FC236}">
                    <a16:creationId xmlns:a16="http://schemas.microsoft.com/office/drawing/2014/main" id="{9C506A04-0438-26A5-EEC5-94C94EBE1A52}"/>
                  </a:ext>
                </a:extLst>
              </p:cNvPr>
              <p:cNvSpPr/>
              <p:nvPr/>
            </p:nvSpPr>
            <p:spPr>
              <a:xfrm>
                <a:off x="9891672" y="269479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04" name="TextBox 103">
                <a:extLst>
                  <a:ext uri="{FF2B5EF4-FFF2-40B4-BE49-F238E27FC236}">
                    <a16:creationId xmlns:a16="http://schemas.microsoft.com/office/drawing/2014/main" id="{7DFE4FB1-4146-F6E9-083A-A66D19017765}"/>
                  </a:ext>
                </a:extLst>
              </p:cNvPr>
              <p:cNvSpPr txBox="1"/>
              <p:nvPr/>
            </p:nvSpPr>
            <p:spPr>
              <a:xfrm>
                <a:off x="8525513" y="3028890"/>
                <a:ext cx="1166019"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Sick</a:t>
                </a:r>
              </a:p>
            </p:txBody>
          </p:sp>
          <p:sp>
            <p:nvSpPr>
              <p:cNvPr id="105" name="Triangle 104">
                <a:extLst>
                  <a:ext uri="{FF2B5EF4-FFF2-40B4-BE49-F238E27FC236}">
                    <a16:creationId xmlns:a16="http://schemas.microsoft.com/office/drawing/2014/main" id="{7C8CFCBD-95D2-CF61-7577-38EAB6D3BC59}"/>
                  </a:ext>
                </a:extLst>
              </p:cNvPr>
              <p:cNvSpPr/>
              <p:nvPr/>
            </p:nvSpPr>
            <p:spPr>
              <a:xfrm>
                <a:off x="9871469" y="3093551"/>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106" name="Rectangle 105">
                <a:extLst>
                  <a:ext uri="{FF2B5EF4-FFF2-40B4-BE49-F238E27FC236}">
                    <a16:creationId xmlns:a16="http://schemas.microsoft.com/office/drawing/2014/main" id="{F4BC061B-93AA-03E5-9D18-07FEB4DA72EA}"/>
                  </a:ext>
                </a:extLst>
              </p:cNvPr>
              <p:cNvSpPr/>
              <p:nvPr/>
            </p:nvSpPr>
            <p:spPr>
              <a:xfrm>
                <a:off x="8525514" y="2631593"/>
                <a:ext cx="1837686" cy="835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TextBox 106">
              <a:extLst>
                <a:ext uri="{FF2B5EF4-FFF2-40B4-BE49-F238E27FC236}">
                  <a16:creationId xmlns:a16="http://schemas.microsoft.com/office/drawing/2014/main" id="{9903F82D-C891-B712-9C79-543D8ECC5CB2}"/>
                </a:ext>
              </a:extLst>
            </p:cNvPr>
            <p:cNvSpPr txBox="1"/>
            <p:nvPr/>
          </p:nvSpPr>
          <p:spPr>
            <a:xfrm>
              <a:off x="9661217" y="258002"/>
              <a:ext cx="2391680" cy="492443"/>
            </a:xfrm>
            <a:prstGeom prst="rect">
              <a:avLst/>
            </a:prstGeom>
            <a:noFill/>
          </p:spPr>
          <p:txBody>
            <a:bodyPr wrap="none" lIns="0" tIns="0" rIns="0" bIns="0" rtlCol="0">
              <a:spAutoFit/>
            </a:bodyPr>
            <a:lstStyle/>
            <a:p>
              <a:pPr algn="ctr"/>
              <a:r>
                <a:rPr lang="en-US" sz="3200" b="1" dirty="0">
                  <a:latin typeface="Avenir Book" panose="02000503020000020003" pitchFamily="2" charset="0"/>
                </a:rPr>
                <a:t>Classification</a:t>
              </a:r>
            </a:p>
          </p:txBody>
        </p:sp>
      </p:grpSp>
    </p:spTree>
    <p:extLst>
      <p:ext uri="{BB962C8B-B14F-4D97-AF65-F5344CB8AC3E}">
        <p14:creationId xmlns:p14="http://schemas.microsoft.com/office/powerpoint/2010/main" val="47860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par>
                                <p:cTn id="8" presetID="10" presetClass="entr" presetSubtype="0" fill="hold"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par>
                                <p:cTn id="11" presetID="10" presetClass="entr" presetSubtype="0"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9">
                                            <p:txEl>
                                              <p:pRg st="0" end="0"/>
                                            </p:txEl>
                                          </p:spTgt>
                                        </p:tgtEl>
                                        <p:attrNameLst>
                                          <p:attrName>style.visibility</p:attrName>
                                        </p:attrNameLst>
                                      </p:cBhvr>
                                      <p:to>
                                        <p:strVal val="visible"/>
                                      </p:to>
                                    </p:set>
                                    <p:animEffect transition="in" filter="fade">
                                      <p:cBhvr>
                                        <p:cTn id="18" dur="500"/>
                                        <p:tgtEl>
                                          <p:spTgt spid="69">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9">
                                            <p:txEl>
                                              <p:pRg st="1" end="1"/>
                                            </p:txEl>
                                          </p:spTgt>
                                        </p:tgtEl>
                                        <p:attrNameLst>
                                          <p:attrName>style.visibility</p:attrName>
                                        </p:attrNameLst>
                                      </p:cBhvr>
                                      <p:to>
                                        <p:strVal val="visible"/>
                                      </p:to>
                                    </p:set>
                                    <p:animEffect transition="in" filter="fade">
                                      <p:cBhvr>
                                        <p:cTn id="21" dur="500"/>
                                        <p:tgtEl>
                                          <p:spTgt spid="69">
                                            <p:txEl>
                                              <p:pRg st="1" end="1"/>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fade">
                                      <p:cBhvr>
                                        <p:cTn id="24" dur="500"/>
                                        <p:tgtEl>
                                          <p:spTgt spid="7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9">
                                            <p:txEl>
                                              <p:pRg st="2" end="2"/>
                                            </p:txEl>
                                          </p:spTgt>
                                        </p:tgtEl>
                                        <p:attrNameLst>
                                          <p:attrName>style.visibility</p:attrName>
                                        </p:attrNameLst>
                                      </p:cBhvr>
                                      <p:to>
                                        <p:strVal val="visible"/>
                                      </p:to>
                                    </p:set>
                                    <p:animEffect transition="in" filter="fade">
                                      <p:cBhvr>
                                        <p:cTn id="29" dur="500"/>
                                        <p:tgtEl>
                                          <p:spTgt spid="6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10" presetClass="entr" presetSubtype="0" fill="hold" nodeType="withEffect">
                                  <p:stCondLst>
                                    <p:cond delay="0"/>
                                  </p:stCondLst>
                                  <p:childTnLst>
                                    <p:set>
                                      <p:cBhvr>
                                        <p:cTn id="39" dur="1" fill="hold">
                                          <p:stCondLst>
                                            <p:cond delay="0"/>
                                          </p:stCondLst>
                                        </p:cTn>
                                        <p:tgtEl>
                                          <p:spTgt spid="80"/>
                                        </p:tgtEl>
                                        <p:attrNameLst>
                                          <p:attrName>style.visibility</p:attrName>
                                        </p:attrNameLst>
                                      </p:cBhvr>
                                      <p:to>
                                        <p:strVal val="visible"/>
                                      </p:to>
                                    </p:set>
                                    <p:animEffect transition="in" filter="fade">
                                      <p:cBhvr>
                                        <p:cTn id="40" dur="500"/>
                                        <p:tgtEl>
                                          <p:spTgt spid="8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4">
                                            <p:txEl>
                                              <p:pRg st="0" end="0"/>
                                            </p:txEl>
                                          </p:spTgt>
                                        </p:tgtEl>
                                        <p:attrNameLst>
                                          <p:attrName>style.visibility</p:attrName>
                                        </p:attrNameLst>
                                      </p:cBhvr>
                                      <p:to>
                                        <p:strVal val="visible"/>
                                      </p:to>
                                    </p:set>
                                    <p:animEffect transition="in" filter="fade">
                                      <p:cBhvr>
                                        <p:cTn id="45" dur="500"/>
                                        <p:tgtEl>
                                          <p:spTgt spid="74">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4">
                                            <p:txEl>
                                              <p:pRg st="1" end="1"/>
                                            </p:txEl>
                                          </p:spTgt>
                                        </p:tgtEl>
                                        <p:attrNameLst>
                                          <p:attrName>style.visibility</p:attrName>
                                        </p:attrNameLst>
                                      </p:cBhvr>
                                      <p:to>
                                        <p:strVal val="visible"/>
                                      </p:to>
                                    </p:set>
                                    <p:animEffect transition="in" filter="fade">
                                      <p:cBhvr>
                                        <p:cTn id="48" dur="500"/>
                                        <p:tgtEl>
                                          <p:spTgt spid="74">
                                            <p:txEl>
                                              <p:pRg st="1" end="1"/>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109"/>
                                        </p:tgtEl>
                                        <p:attrNameLst>
                                          <p:attrName>style.visibility</p:attrName>
                                        </p:attrNameLst>
                                      </p:cBhvr>
                                      <p:to>
                                        <p:strVal val="visible"/>
                                      </p:to>
                                    </p:set>
                                    <p:animEffect transition="in" filter="fade">
                                      <p:cBhvr>
                                        <p:cTn id="51" dur="500"/>
                                        <p:tgtEl>
                                          <p:spTgt spid="10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74">
                                            <p:txEl>
                                              <p:pRg st="2" end="2"/>
                                            </p:txEl>
                                          </p:spTgt>
                                        </p:tgtEl>
                                        <p:attrNameLst>
                                          <p:attrName>style.visibility</p:attrName>
                                        </p:attrNameLst>
                                      </p:cBhvr>
                                      <p:to>
                                        <p:strVal val="visible"/>
                                      </p:to>
                                    </p:set>
                                    <p:animEffect transition="in" filter="fade">
                                      <p:cBhvr>
                                        <p:cTn id="56" dur="500"/>
                                        <p:tgtEl>
                                          <p:spTgt spid="74">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nodeType="clickEffect">
                                  <p:stCondLst>
                                    <p:cond delay="0"/>
                                  </p:stCondLst>
                                  <p:childTnLst>
                                    <p:animEffect transition="out" filter="fade">
                                      <p:cBhvr>
                                        <p:cTn id="60" dur="500"/>
                                        <p:tgtEl>
                                          <p:spTgt spid="6"/>
                                        </p:tgtEl>
                                      </p:cBhvr>
                                    </p:animEffect>
                                    <p:set>
                                      <p:cBhvr>
                                        <p:cTn id="61" dur="1" fill="hold">
                                          <p:stCondLst>
                                            <p:cond delay="499"/>
                                          </p:stCondLst>
                                        </p:cTn>
                                        <p:tgtEl>
                                          <p:spTgt spid="6"/>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13"/>
                                        </p:tgtEl>
                                      </p:cBhvr>
                                    </p:animEffect>
                                    <p:set>
                                      <p:cBhvr>
                                        <p:cTn id="64" dur="1" fill="hold">
                                          <p:stCondLst>
                                            <p:cond delay="499"/>
                                          </p:stCondLst>
                                        </p:cTn>
                                        <p:tgtEl>
                                          <p:spTgt spid="13"/>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45"/>
                                        </p:tgtEl>
                                      </p:cBhvr>
                                    </p:animEffect>
                                    <p:set>
                                      <p:cBhvr>
                                        <p:cTn id="67" dur="1" fill="hold">
                                          <p:stCondLst>
                                            <p:cond delay="499"/>
                                          </p:stCondLst>
                                        </p:cTn>
                                        <p:tgtEl>
                                          <p:spTgt spid="45"/>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59"/>
                                        </p:tgtEl>
                                      </p:cBhvr>
                                    </p:animEffect>
                                    <p:set>
                                      <p:cBhvr>
                                        <p:cTn id="70" dur="1" fill="hold">
                                          <p:stCondLst>
                                            <p:cond delay="499"/>
                                          </p:stCondLst>
                                        </p:cTn>
                                        <p:tgtEl>
                                          <p:spTgt spid="59"/>
                                        </p:tgtEl>
                                        <p:attrNameLst>
                                          <p:attrName>style.visibility</p:attrName>
                                        </p:attrNameLst>
                                      </p:cBhvr>
                                      <p:to>
                                        <p:strVal val="hidden"/>
                                      </p:to>
                                    </p:set>
                                  </p:childTnLst>
                                </p:cTn>
                              </p:par>
                              <p:par>
                                <p:cTn id="71" presetID="10" presetClass="exit" presetSubtype="0" fill="hold" grpId="1" nodeType="withEffect">
                                  <p:stCondLst>
                                    <p:cond delay="0"/>
                                  </p:stCondLst>
                                  <p:childTnLst>
                                    <p:animEffect transition="out" filter="fade">
                                      <p:cBhvr>
                                        <p:cTn id="72" dur="500"/>
                                        <p:tgtEl>
                                          <p:spTgt spid="69">
                                            <p:txEl>
                                              <p:pRg st="0" end="0"/>
                                            </p:txEl>
                                          </p:spTgt>
                                        </p:tgtEl>
                                      </p:cBhvr>
                                    </p:animEffect>
                                    <p:set>
                                      <p:cBhvr>
                                        <p:cTn id="73" dur="1" fill="hold">
                                          <p:stCondLst>
                                            <p:cond delay="499"/>
                                          </p:stCondLst>
                                        </p:cTn>
                                        <p:tgtEl>
                                          <p:spTgt spid="69">
                                            <p:txEl>
                                              <p:pRg st="0" end="0"/>
                                            </p:txEl>
                                          </p:spTgt>
                                        </p:tgtEl>
                                        <p:attrNameLst>
                                          <p:attrName>style.visibility</p:attrName>
                                        </p:attrNameLst>
                                      </p:cBhvr>
                                      <p:to>
                                        <p:strVal val="hidden"/>
                                      </p:to>
                                    </p:set>
                                  </p:childTnLst>
                                </p:cTn>
                              </p:par>
                              <p:par>
                                <p:cTn id="74" presetID="10" presetClass="exit" presetSubtype="0" fill="hold" grpId="1" nodeType="withEffect">
                                  <p:stCondLst>
                                    <p:cond delay="0"/>
                                  </p:stCondLst>
                                  <p:childTnLst>
                                    <p:animEffect transition="out" filter="fade">
                                      <p:cBhvr>
                                        <p:cTn id="75" dur="500"/>
                                        <p:tgtEl>
                                          <p:spTgt spid="69">
                                            <p:txEl>
                                              <p:pRg st="1" end="1"/>
                                            </p:txEl>
                                          </p:spTgt>
                                        </p:tgtEl>
                                      </p:cBhvr>
                                    </p:animEffect>
                                    <p:set>
                                      <p:cBhvr>
                                        <p:cTn id="76" dur="1" fill="hold">
                                          <p:stCondLst>
                                            <p:cond delay="499"/>
                                          </p:stCondLst>
                                        </p:cTn>
                                        <p:tgtEl>
                                          <p:spTgt spid="69">
                                            <p:txEl>
                                              <p:pRg st="1" end="1"/>
                                            </p:txEl>
                                          </p:spTgt>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500"/>
                                        <p:tgtEl>
                                          <p:spTgt spid="69">
                                            <p:txEl>
                                              <p:pRg st="2" end="2"/>
                                            </p:txEl>
                                          </p:spTgt>
                                        </p:tgtEl>
                                      </p:cBhvr>
                                    </p:animEffect>
                                    <p:set>
                                      <p:cBhvr>
                                        <p:cTn id="79" dur="1" fill="hold">
                                          <p:stCondLst>
                                            <p:cond delay="499"/>
                                          </p:stCondLst>
                                        </p:cTn>
                                        <p:tgtEl>
                                          <p:spTgt spid="69">
                                            <p:txEl>
                                              <p:pRg st="2" end="2"/>
                                            </p:txEl>
                                          </p:spTgt>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500"/>
                                        <p:tgtEl>
                                          <p:spTgt spid="73"/>
                                        </p:tgtEl>
                                      </p:cBhvr>
                                    </p:animEffect>
                                    <p:set>
                                      <p:cBhvr>
                                        <p:cTn id="82" dur="1" fill="hold">
                                          <p:stCondLst>
                                            <p:cond delay="499"/>
                                          </p:stCondLst>
                                        </p:cTn>
                                        <p:tgtEl>
                                          <p:spTgt spid="73"/>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500"/>
                                        <p:tgtEl>
                                          <p:spTgt spid="109"/>
                                        </p:tgtEl>
                                      </p:cBhvr>
                                    </p:animEffect>
                                    <p:set>
                                      <p:cBhvr>
                                        <p:cTn id="85" dur="1" fill="hold">
                                          <p:stCondLst>
                                            <p:cond delay="499"/>
                                          </p:stCondLst>
                                        </p:cTn>
                                        <p:tgtEl>
                                          <p:spTgt spid="109"/>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500"/>
                                        <p:tgtEl>
                                          <p:spTgt spid="80"/>
                                        </p:tgtEl>
                                      </p:cBhvr>
                                    </p:animEffect>
                                    <p:set>
                                      <p:cBhvr>
                                        <p:cTn id="88" dur="1" fill="hold">
                                          <p:stCondLst>
                                            <p:cond delay="499"/>
                                          </p:stCondLst>
                                        </p:cTn>
                                        <p:tgtEl>
                                          <p:spTgt spid="80"/>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500"/>
                                        <p:tgtEl>
                                          <p:spTgt spid="74">
                                            <p:txEl>
                                              <p:pRg st="0" end="0"/>
                                            </p:txEl>
                                          </p:spTgt>
                                        </p:tgtEl>
                                      </p:cBhvr>
                                    </p:animEffect>
                                    <p:set>
                                      <p:cBhvr>
                                        <p:cTn id="91" dur="1" fill="hold">
                                          <p:stCondLst>
                                            <p:cond delay="499"/>
                                          </p:stCondLst>
                                        </p:cTn>
                                        <p:tgtEl>
                                          <p:spTgt spid="74">
                                            <p:txEl>
                                              <p:pRg st="0" end="0"/>
                                            </p:txEl>
                                          </p:spTgt>
                                        </p:tgtEl>
                                        <p:attrNameLst>
                                          <p:attrName>style.visibility</p:attrName>
                                        </p:attrNameLst>
                                      </p:cBhvr>
                                      <p:to>
                                        <p:strVal val="hidden"/>
                                      </p:to>
                                    </p:set>
                                  </p:childTnLst>
                                </p:cTn>
                              </p:par>
                              <p:par>
                                <p:cTn id="92" presetID="10" presetClass="exit" presetSubtype="0" fill="hold" grpId="1" nodeType="withEffect">
                                  <p:stCondLst>
                                    <p:cond delay="0"/>
                                  </p:stCondLst>
                                  <p:childTnLst>
                                    <p:animEffect transition="out" filter="fade">
                                      <p:cBhvr>
                                        <p:cTn id="93" dur="500"/>
                                        <p:tgtEl>
                                          <p:spTgt spid="74">
                                            <p:txEl>
                                              <p:pRg st="1" end="1"/>
                                            </p:txEl>
                                          </p:spTgt>
                                        </p:tgtEl>
                                      </p:cBhvr>
                                    </p:animEffect>
                                    <p:set>
                                      <p:cBhvr>
                                        <p:cTn id="94" dur="1" fill="hold">
                                          <p:stCondLst>
                                            <p:cond delay="499"/>
                                          </p:stCondLst>
                                        </p:cTn>
                                        <p:tgtEl>
                                          <p:spTgt spid="74">
                                            <p:txEl>
                                              <p:pRg st="1" end="1"/>
                                            </p:txEl>
                                          </p:spTgt>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500"/>
                                        <p:tgtEl>
                                          <p:spTgt spid="74">
                                            <p:txEl>
                                              <p:pRg st="2" end="2"/>
                                            </p:txEl>
                                          </p:spTgt>
                                        </p:tgtEl>
                                      </p:cBhvr>
                                    </p:animEffect>
                                    <p:set>
                                      <p:cBhvr>
                                        <p:cTn id="97" dur="1" fill="hold">
                                          <p:stCondLst>
                                            <p:cond delay="499"/>
                                          </p:stCondLst>
                                        </p:cTn>
                                        <p:tgtEl>
                                          <p:spTgt spid="74">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uiExpand="1" build="p"/>
      <p:bldP spid="69" grpId="1" build="allAtOnce"/>
      <p:bldP spid="74" grpId="0" uiExpand="1" build="p"/>
      <p:bldP spid="74" grpId="1" build="allAtOnce"/>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0DB0-AFAC-A22A-22BE-62CCDF5F77E4}"/>
              </a:ext>
            </a:extLst>
          </p:cNvPr>
          <p:cNvSpPr>
            <a:spLocks noGrp="1"/>
          </p:cNvSpPr>
          <p:nvPr>
            <p:ph type="title"/>
          </p:nvPr>
        </p:nvSpPr>
        <p:spPr/>
        <p:txBody>
          <a:bodyPr/>
          <a:lstStyle/>
          <a:p>
            <a:r>
              <a:rPr lang="en-US" dirty="0"/>
              <a:t>Why Use Feature Selection?</a:t>
            </a:r>
          </a:p>
        </p:txBody>
      </p:sp>
      <p:grpSp>
        <p:nvGrpSpPr>
          <p:cNvPr id="6" name="Group 5">
            <a:extLst>
              <a:ext uri="{FF2B5EF4-FFF2-40B4-BE49-F238E27FC236}">
                <a16:creationId xmlns:a16="http://schemas.microsoft.com/office/drawing/2014/main" id="{FD419D5C-7E54-01DD-713D-B8F7684871AB}"/>
              </a:ext>
            </a:extLst>
          </p:cNvPr>
          <p:cNvGrpSpPr/>
          <p:nvPr/>
        </p:nvGrpSpPr>
        <p:grpSpPr>
          <a:xfrm>
            <a:off x="2057400" y="1436902"/>
            <a:ext cx="1983169" cy="2158260"/>
            <a:chOff x="1198061" y="2486769"/>
            <a:chExt cx="1983169" cy="3552366"/>
          </a:xfrm>
        </p:grpSpPr>
        <p:cxnSp>
          <p:nvCxnSpPr>
            <p:cNvPr id="7" name="Straight Connector 6">
              <a:extLst>
                <a:ext uri="{FF2B5EF4-FFF2-40B4-BE49-F238E27FC236}">
                  <a16:creationId xmlns:a16="http://schemas.microsoft.com/office/drawing/2014/main" id="{F79ADC27-149F-8F65-65C3-2A7FA00FA542}"/>
                </a:ext>
              </a:extLst>
            </p:cNvPr>
            <p:cNvCxnSpPr/>
            <p:nvPr/>
          </p:nvCxnSpPr>
          <p:spPr>
            <a:xfrm>
              <a:off x="2975649" y="2823597"/>
              <a:ext cx="0" cy="29000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7D605F1-3E83-7DD3-7A92-0CA603103F0B}"/>
                </a:ext>
              </a:extLst>
            </p:cNvPr>
            <p:cNvSpPr txBox="1"/>
            <p:nvPr/>
          </p:nvSpPr>
          <p:spPr>
            <a:xfrm rot="16200000">
              <a:off x="-347289" y="4032119"/>
              <a:ext cx="3552366" cy="461665"/>
            </a:xfrm>
            <a:prstGeom prst="rect">
              <a:avLst/>
            </a:prstGeom>
            <a:noFill/>
          </p:spPr>
          <p:txBody>
            <a:bodyPr wrap="square" rtlCol="0">
              <a:spAutoFit/>
            </a:bodyPr>
            <a:lstStyle/>
            <a:p>
              <a:pPr algn="ctr"/>
              <a:r>
                <a:rPr lang="en-US" sz="2400" dirty="0">
                  <a:latin typeface="Avenir Book" panose="02000503020000020003" pitchFamily="2" charset="0"/>
                  <a:ea typeface="Avenir Book" charset="0"/>
                  <a:cs typeface="Avenir Book" charset="0"/>
                </a:rPr>
                <a:t>Cough status</a:t>
              </a:r>
            </a:p>
          </p:txBody>
        </p:sp>
        <p:cxnSp>
          <p:nvCxnSpPr>
            <p:cNvPr id="9" name="Straight Connector 8">
              <a:extLst>
                <a:ext uri="{FF2B5EF4-FFF2-40B4-BE49-F238E27FC236}">
                  <a16:creationId xmlns:a16="http://schemas.microsoft.com/office/drawing/2014/main" id="{E0134B8F-F10E-9807-0143-4FB97A081CB9}"/>
                </a:ext>
              </a:extLst>
            </p:cNvPr>
            <p:cNvCxnSpPr/>
            <p:nvPr/>
          </p:nvCxnSpPr>
          <p:spPr>
            <a:xfrm rot="5400000">
              <a:off x="3078439" y="456729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496D2A7-0085-FAD8-8DB7-5CD9FD7525B3}"/>
                </a:ext>
              </a:extLst>
            </p:cNvPr>
            <p:cNvCxnSpPr/>
            <p:nvPr/>
          </p:nvCxnSpPr>
          <p:spPr>
            <a:xfrm rot="5400000">
              <a:off x="3078440" y="331936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9D407F9-02CA-A1C0-E2D1-F6368F13EB8C}"/>
                </a:ext>
              </a:extLst>
            </p:cNvPr>
            <p:cNvSpPr txBox="1"/>
            <p:nvPr/>
          </p:nvSpPr>
          <p:spPr>
            <a:xfrm>
              <a:off x="1640203" y="4476690"/>
              <a:ext cx="1312118"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Normal</a:t>
              </a:r>
            </a:p>
          </p:txBody>
        </p:sp>
        <p:sp>
          <p:nvSpPr>
            <p:cNvPr id="12" name="TextBox 11">
              <a:extLst>
                <a:ext uri="{FF2B5EF4-FFF2-40B4-BE49-F238E27FC236}">
                  <a16:creationId xmlns:a16="http://schemas.microsoft.com/office/drawing/2014/main" id="{344D5F50-ABD7-D2FB-058F-9952B144FA86}"/>
                </a:ext>
              </a:extLst>
            </p:cNvPr>
            <p:cNvSpPr txBox="1"/>
            <p:nvPr/>
          </p:nvSpPr>
          <p:spPr>
            <a:xfrm>
              <a:off x="1486313" y="3230288"/>
              <a:ext cx="149543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Worsening</a:t>
              </a:r>
            </a:p>
          </p:txBody>
        </p:sp>
      </p:grpSp>
      <p:grpSp>
        <p:nvGrpSpPr>
          <p:cNvPr id="13" name="Group 12">
            <a:extLst>
              <a:ext uri="{FF2B5EF4-FFF2-40B4-BE49-F238E27FC236}">
                <a16:creationId xmlns:a16="http://schemas.microsoft.com/office/drawing/2014/main" id="{7B02AED0-A53D-7563-BD60-374918F5B29C}"/>
              </a:ext>
            </a:extLst>
          </p:cNvPr>
          <p:cNvGrpSpPr/>
          <p:nvPr/>
        </p:nvGrpSpPr>
        <p:grpSpPr>
          <a:xfrm>
            <a:off x="3834987" y="3181493"/>
            <a:ext cx="4867998" cy="1101108"/>
            <a:chOff x="2975648" y="5501641"/>
            <a:chExt cx="6916024" cy="1101108"/>
          </a:xfrm>
        </p:grpSpPr>
        <p:sp>
          <p:nvSpPr>
            <p:cNvPr id="14" name="TextBox 13">
              <a:extLst>
                <a:ext uri="{FF2B5EF4-FFF2-40B4-BE49-F238E27FC236}">
                  <a16:creationId xmlns:a16="http://schemas.microsoft.com/office/drawing/2014/main" id="{E6572FB1-E3F6-CE2E-5DCE-E6F582CF476E}"/>
                </a:ext>
              </a:extLst>
            </p:cNvPr>
            <p:cNvSpPr txBox="1"/>
            <p:nvPr/>
          </p:nvSpPr>
          <p:spPr>
            <a:xfrm>
              <a:off x="8528097"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100%</a:t>
              </a:r>
            </a:p>
          </p:txBody>
        </p:sp>
        <p:cxnSp>
          <p:nvCxnSpPr>
            <p:cNvPr id="15" name="Straight Connector 14">
              <a:extLst>
                <a:ext uri="{FF2B5EF4-FFF2-40B4-BE49-F238E27FC236}">
                  <a16:creationId xmlns:a16="http://schemas.microsoft.com/office/drawing/2014/main" id="{DB6B5080-D5AC-7E22-6EBF-F83D4A57E549}"/>
                </a:ext>
              </a:extLst>
            </p:cNvPr>
            <p:cNvCxnSpPr>
              <a:cxnSpLocks/>
            </p:cNvCxnSpPr>
            <p:nvPr/>
          </p:nvCxnSpPr>
          <p:spPr>
            <a:xfrm flipH="1">
              <a:off x="2979614" y="5722720"/>
              <a:ext cx="62405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8A8F675-92F5-4D64-4DBA-AD724211831F}"/>
                </a:ext>
              </a:extLst>
            </p:cNvPr>
            <p:cNvSpPr txBox="1"/>
            <p:nvPr/>
          </p:nvSpPr>
          <p:spPr>
            <a:xfrm>
              <a:off x="2975648" y="6202639"/>
              <a:ext cx="6244552"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SpO</a:t>
              </a:r>
              <a:r>
                <a:rPr lang="en-US" sz="2000" baseline="-25000" dirty="0">
                  <a:latin typeface="Avenir Book" panose="02000503020000020003" pitchFamily="2" charset="0"/>
                  <a:ea typeface="Avenir Book" charset="0"/>
                  <a:cs typeface="Avenir Book" charset="0"/>
                </a:rPr>
                <a:t>2</a:t>
              </a:r>
              <a:r>
                <a:rPr lang="en-US" sz="2000" dirty="0">
                  <a:latin typeface="Avenir Book" panose="02000503020000020003" pitchFamily="2" charset="0"/>
                  <a:ea typeface="Avenir Book" charset="0"/>
                  <a:cs typeface="Avenir Book" charset="0"/>
                </a:rPr>
                <a:t> (%)</a:t>
              </a:r>
            </a:p>
          </p:txBody>
        </p:sp>
        <p:cxnSp>
          <p:nvCxnSpPr>
            <p:cNvPr id="17" name="Straight Connector 16">
              <a:extLst>
                <a:ext uri="{FF2B5EF4-FFF2-40B4-BE49-F238E27FC236}">
                  <a16:creationId xmlns:a16="http://schemas.microsoft.com/office/drawing/2014/main" id="{676FA8FA-1DD8-BF4A-75DF-468EA08B97B3}"/>
                </a:ext>
              </a:extLst>
            </p:cNvPr>
            <p:cNvCxnSpPr/>
            <p:nvPr/>
          </p:nvCxnSpPr>
          <p:spPr>
            <a:xfrm>
              <a:off x="4608614" y="5501641"/>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1E8B0F0-1D1B-37A9-E6FA-438394443945}"/>
                </a:ext>
              </a:extLst>
            </p:cNvPr>
            <p:cNvCxnSpPr/>
            <p:nvPr/>
          </p:nvCxnSpPr>
          <p:spPr>
            <a:xfrm>
              <a:off x="6252962" y="550680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C1B352B-B7E6-48BF-8345-51965747621B}"/>
                </a:ext>
              </a:extLst>
            </p:cNvPr>
            <p:cNvCxnSpPr/>
            <p:nvPr/>
          </p:nvCxnSpPr>
          <p:spPr>
            <a:xfrm>
              <a:off x="7786013" y="5504453"/>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DCD3B2D-E670-1F26-8510-5906A23FEAEA}"/>
                </a:ext>
              </a:extLst>
            </p:cNvPr>
            <p:cNvCxnSpPr/>
            <p:nvPr/>
          </p:nvCxnSpPr>
          <p:spPr>
            <a:xfrm>
              <a:off x="9209884" y="551713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C0D0A7F-F871-0889-B8BF-161E920E38B8}"/>
                </a:ext>
              </a:extLst>
            </p:cNvPr>
            <p:cNvSpPr txBox="1"/>
            <p:nvPr/>
          </p:nvSpPr>
          <p:spPr>
            <a:xfrm>
              <a:off x="7104224" y="5768759"/>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97.5%</a:t>
              </a:r>
            </a:p>
          </p:txBody>
        </p:sp>
        <p:sp>
          <p:nvSpPr>
            <p:cNvPr id="22" name="TextBox 21">
              <a:extLst>
                <a:ext uri="{FF2B5EF4-FFF2-40B4-BE49-F238E27FC236}">
                  <a16:creationId xmlns:a16="http://schemas.microsoft.com/office/drawing/2014/main" id="{91E28DA0-0CFD-CCB5-62D2-F2289F1A273B}"/>
                </a:ext>
              </a:extLst>
            </p:cNvPr>
            <p:cNvSpPr txBox="1"/>
            <p:nvPr/>
          </p:nvSpPr>
          <p:spPr>
            <a:xfrm>
              <a:off x="5570625"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95%</a:t>
              </a:r>
            </a:p>
          </p:txBody>
        </p:sp>
        <p:sp>
          <p:nvSpPr>
            <p:cNvPr id="23" name="TextBox 22">
              <a:extLst>
                <a:ext uri="{FF2B5EF4-FFF2-40B4-BE49-F238E27FC236}">
                  <a16:creationId xmlns:a16="http://schemas.microsoft.com/office/drawing/2014/main" id="{708B1B00-3CA7-034F-B31C-4A3C1A5D76BF}"/>
                </a:ext>
              </a:extLst>
            </p:cNvPr>
            <p:cNvSpPr txBox="1"/>
            <p:nvPr/>
          </p:nvSpPr>
          <p:spPr>
            <a:xfrm>
              <a:off x="3926826"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92.5%</a:t>
              </a:r>
            </a:p>
          </p:txBody>
        </p:sp>
      </p:grpSp>
      <p:grpSp>
        <p:nvGrpSpPr>
          <p:cNvPr id="80" name="Group 79">
            <a:extLst>
              <a:ext uri="{FF2B5EF4-FFF2-40B4-BE49-F238E27FC236}">
                <a16:creationId xmlns:a16="http://schemas.microsoft.com/office/drawing/2014/main" id="{99D901A0-461B-E134-4A2B-3DC2DCFB90AA}"/>
              </a:ext>
            </a:extLst>
          </p:cNvPr>
          <p:cNvGrpSpPr/>
          <p:nvPr/>
        </p:nvGrpSpPr>
        <p:grpSpPr>
          <a:xfrm>
            <a:off x="4921195" y="1848410"/>
            <a:ext cx="3415096" cy="1127994"/>
            <a:chOff x="1513733" y="1805218"/>
            <a:chExt cx="3415096" cy="1127994"/>
          </a:xfrm>
        </p:grpSpPr>
        <p:sp>
          <p:nvSpPr>
            <p:cNvPr id="81" name="Oval 80">
              <a:extLst>
                <a:ext uri="{FF2B5EF4-FFF2-40B4-BE49-F238E27FC236}">
                  <a16:creationId xmlns:a16="http://schemas.microsoft.com/office/drawing/2014/main" id="{916510BA-4923-2D34-EF2C-70643BBBC68E}"/>
                </a:ext>
              </a:extLst>
            </p:cNvPr>
            <p:cNvSpPr/>
            <p:nvPr/>
          </p:nvSpPr>
          <p:spPr>
            <a:xfrm>
              <a:off x="4655121"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00"/>
                  </a:solidFill>
                  <a:latin typeface="Avenir Book" panose="02000503020000020003" pitchFamily="2" charset="0"/>
                </a:rPr>
                <a:t>6</a:t>
              </a:r>
            </a:p>
          </p:txBody>
        </p:sp>
        <p:sp>
          <p:nvSpPr>
            <p:cNvPr id="82" name="Oval 81">
              <a:extLst>
                <a:ext uri="{FF2B5EF4-FFF2-40B4-BE49-F238E27FC236}">
                  <a16:creationId xmlns:a16="http://schemas.microsoft.com/office/drawing/2014/main" id="{9FC61CBD-0099-71F0-4828-468425A5764F}"/>
                </a:ext>
              </a:extLst>
            </p:cNvPr>
            <p:cNvSpPr/>
            <p:nvPr/>
          </p:nvSpPr>
          <p:spPr>
            <a:xfrm>
              <a:off x="3364709"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00"/>
                  </a:solidFill>
                  <a:latin typeface="Avenir Book" panose="02000503020000020003" pitchFamily="2" charset="0"/>
                </a:rPr>
                <a:t>2</a:t>
              </a:r>
            </a:p>
          </p:txBody>
        </p:sp>
        <p:sp>
          <p:nvSpPr>
            <p:cNvPr id="83" name="Triangle 82">
              <a:extLst>
                <a:ext uri="{FF2B5EF4-FFF2-40B4-BE49-F238E27FC236}">
                  <a16:creationId xmlns:a16="http://schemas.microsoft.com/office/drawing/2014/main" id="{3E42D1A9-0DFA-5F35-DAF3-F0CAC31B1EE2}"/>
                </a:ext>
              </a:extLst>
            </p:cNvPr>
            <p:cNvSpPr/>
            <p:nvPr/>
          </p:nvSpPr>
          <p:spPr>
            <a:xfrm>
              <a:off x="1513733" y="180928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1</a:t>
              </a:r>
            </a:p>
          </p:txBody>
        </p:sp>
        <p:sp>
          <p:nvSpPr>
            <p:cNvPr id="84" name="Triangle 83">
              <a:extLst>
                <a:ext uri="{FF2B5EF4-FFF2-40B4-BE49-F238E27FC236}">
                  <a16:creationId xmlns:a16="http://schemas.microsoft.com/office/drawing/2014/main" id="{A9EF34A1-288C-BAAE-A692-55CCF693913E}"/>
                </a:ext>
              </a:extLst>
            </p:cNvPr>
            <p:cNvSpPr/>
            <p:nvPr/>
          </p:nvSpPr>
          <p:spPr>
            <a:xfrm>
              <a:off x="2209800"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3</a:t>
              </a:r>
            </a:p>
          </p:txBody>
        </p:sp>
        <p:sp>
          <p:nvSpPr>
            <p:cNvPr id="85" name="Triangle 84">
              <a:extLst>
                <a:ext uri="{FF2B5EF4-FFF2-40B4-BE49-F238E27FC236}">
                  <a16:creationId xmlns:a16="http://schemas.microsoft.com/office/drawing/2014/main" id="{F8180740-2B9A-051C-4462-F795EAB051D2}"/>
                </a:ext>
              </a:extLst>
            </p:cNvPr>
            <p:cNvSpPr/>
            <p:nvPr/>
          </p:nvSpPr>
          <p:spPr>
            <a:xfrm>
              <a:off x="4166955" y="1805218"/>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9</a:t>
              </a:r>
            </a:p>
          </p:txBody>
        </p:sp>
        <p:sp>
          <p:nvSpPr>
            <p:cNvPr id="86" name="Oval 85">
              <a:extLst>
                <a:ext uri="{FF2B5EF4-FFF2-40B4-BE49-F238E27FC236}">
                  <a16:creationId xmlns:a16="http://schemas.microsoft.com/office/drawing/2014/main" id="{EE77D252-DE09-3216-2633-13FCD671B94E}"/>
                </a:ext>
              </a:extLst>
            </p:cNvPr>
            <p:cNvSpPr/>
            <p:nvPr/>
          </p:nvSpPr>
          <p:spPr>
            <a:xfrm>
              <a:off x="1828800"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00"/>
                  </a:solidFill>
                  <a:latin typeface="Avenir Book" panose="02000503020000020003" pitchFamily="2" charset="0"/>
                </a:rPr>
                <a:t>4</a:t>
              </a:r>
            </a:p>
          </p:txBody>
        </p:sp>
        <p:sp>
          <p:nvSpPr>
            <p:cNvPr id="87" name="Triangle 86">
              <a:extLst>
                <a:ext uri="{FF2B5EF4-FFF2-40B4-BE49-F238E27FC236}">
                  <a16:creationId xmlns:a16="http://schemas.microsoft.com/office/drawing/2014/main" id="{5B374FFB-551A-D0E6-55DC-0092B31DFD52}"/>
                </a:ext>
              </a:extLst>
            </p:cNvPr>
            <p:cNvSpPr/>
            <p:nvPr/>
          </p:nvSpPr>
          <p:spPr>
            <a:xfrm>
              <a:off x="3812046"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7</a:t>
              </a:r>
            </a:p>
          </p:txBody>
        </p:sp>
        <p:sp>
          <p:nvSpPr>
            <p:cNvPr id="88" name="Triangle 87">
              <a:extLst>
                <a:ext uri="{FF2B5EF4-FFF2-40B4-BE49-F238E27FC236}">
                  <a16:creationId xmlns:a16="http://schemas.microsoft.com/office/drawing/2014/main" id="{CD2F3619-A1CB-EA81-64AD-E6C10A6BC24E}"/>
                </a:ext>
              </a:extLst>
            </p:cNvPr>
            <p:cNvSpPr/>
            <p:nvPr/>
          </p:nvSpPr>
          <p:spPr>
            <a:xfrm>
              <a:off x="2686419" y="180928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2</a:t>
              </a:r>
            </a:p>
          </p:txBody>
        </p:sp>
      </p:grpSp>
      <p:grpSp>
        <p:nvGrpSpPr>
          <p:cNvPr id="41" name="Group 40">
            <a:extLst>
              <a:ext uri="{FF2B5EF4-FFF2-40B4-BE49-F238E27FC236}">
                <a16:creationId xmlns:a16="http://schemas.microsoft.com/office/drawing/2014/main" id="{8B5ED595-D714-C936-3AE4-1C66D0B949A8}"/>
              </a:ext>
            </a:extLst>
          </p:cNvPr>
          <p:cNvGrpSpPr/>
          <p:nvPr/>
        </p:nvGrpSpPr>
        <p:grpSpPr>
          <a:xfrm>
            <a:off x="9938213" y="838200"/>
            <a:ext cx="1837687" cy="835555"/>
            <a:chOff x="8525513" y="2631593"/>
            <a:chExt cx="1837687" cy="835555"/>
          </a:xfrm>
        </p:grpSpPr>
        <p:sp>
          <p:nvSpPr>
            <p:cNvPr id="42" name="TextBox 41">
              <a:extLst>
                <a:ext uri="{FF2B5EF4-FFF2-40B4-BE49-F238E27FC236}">
                  <a16:creationId xmlns:a16="http://schemas.microsoft.com/office/drawing/2014/main" id="{98D6C36C-5A12-3B4A-4942-B9589BF05E61}"/>
                </a:ext>
              </a:extLst>
            </p:cNvPr>
            <p:cNvSpPr txBox="1"/>
            <p:nvPr/>
          </p:nvSpPr>
          <p:spPr>
            <a:xfrm>
              <a:off x="8525513" y="2631593"/>
              <a:ext cx="116602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Healthy</a:t>
              </a:r>
            </a:p>
          </p:txBody>
        </p:sp>
        <p:sp>
          <p:nvSpPr>
            <p:cNvPr id="43" name="Oval 42">
              <a:extLst>
                <a:ext uri="{FF2B5EF4-FFF2-40B4-BE49-F238E27FC236}">
                  <a16:creationId xmlns:a16="http://schemas.microsoft.com/office/drawing/2014/main" id="{E364CCE7-4C42-C6E0-C2DF-B870F9D7366E}"/>
                </a:ext>
              </a:extLst>
            </p:cNvPr>
            <p:cNvSpPr/>
            <p:nvPr/>
          </p:nvSpPr>
          <p:spPr>
            <a:xfrm>
              <a:off x="9891672" y="269479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5" name="TextBox 44">
              <a:extLst>
                <a:ext uri="{FF2B5EF4-FFF2-40B4-BE49-F238E27FC236}">
                  <a16:creationId xmlns:a16="http://schemas.microsoft.com/office/drawing/2014/main" id="{7BEC1340-4937-BEEC-356A-A99A5D4CF333}"/>
                </a:ext>
              </a:extLst>
            </p:cNvPr>
            <p:cNvSpPr txBox="1"/>
            <p:nvPr/>
          </p:nvSpPr>
          <p:spPr>
            <a:xfrm>
              <a:off x="8525513" y="3028890"/>
              <a:ext cx="1166019"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Sick</a:t>
              </a:r>
            </a:p>
          </p:txBody>
        </p:sp>
        <p:sp>
          <p:nvSpPr>
            <p:cNvPr id="46" name="Triangle 45">
              <a:extLst>
                <a:ext uri="{FF2B5EF4-FFF2-40B4-BE49-F238E27FC236}">
                  <a16:creationId xmlns:a16="http://schemas.microsoft.com/office/drawing/2014/main" id="{B67B1B3D-8FD6-74F6-6E79-94F36FC58D6B}"/>
                </a:ext>
              </a:extLst>
            </p:cNvPr>
            <p:cNvSpPr/>
            <p:nvPr/>
          </p:nvSpPr>
          <p:spPr>
            <a:xfrm>
              <a:off x="9871469" y="3093551"/>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47" name="Rectangle 46">
              <a:extLst>
                <a:ext uri="{FF2B5EF4-FFF2-40B4-BE49-F238E27FC236}">
                  <a16:creationId xmlns:a16="http://schemas.microsoft.com/office/drawing/2014/main" id="{D30D7E72-4643-AB13-548D-4980315D4238}"/>
                </a:ext>
              </a:extLst>
            </p:cNvPr>
            <p:cNvSpPr/>
            <p:nvPr/>
          </p:nvSpPr>
          <p:spPr>
            <a:xfrm>
              <a:off x="8525514" y="2631593"/>
              <a:ext cx="1837686" cy="835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a:extLst>
              <a:ext uri="{FF2B5EF4-FFF2-40B4-BE49-F238E27FC236}">
                <a16:creationId xmlns:a16="http://schemas.microsoft.com/office/drawing/2014/main" id="{AC56E7F5-2374-05F4-31DF-41D2B090E392}"/>
              </a:ext>
            </a:extLst>
          </p:cNvPr>
          <p:cNvSpPr txBox="1"/>
          <p:nvPr/>
        </p:nvSpPr>
        <p:spPr>
          <a:xfrm>
            <a:off x="9661217" y="258002"/>
            <a:ext cx="2391680" cy="492443"/>
          </a:xfrm>
          <a:prstGeom prst="rect">
            <a:avLst/>
          </a:prstGeom>
          <a:noFill/>
        </p:spPr>
        <p:txBody>
          <a:bodyPr wrap="none" lIns="0" tIns="0" rIns="0" bIns="0" rtlCol="0">
            <a:spAutoFit/>
          </a:bodyPr>
          <a:lstStyle/>
          <a:p>
            <a:pPr algn="ctr"/>
            <a:r>
              <a:rPr lang="en-US" sz="3200" b="1" dirty="0">
                <a:latin typeface="Avenir Book" panose="02000503020000020003" pitchFamily="2" charset="0"/>
              </a:rPr>
              <a:t>Classification</a:t>
            </a:r>
          </a:p>
        </p:txBody>
      </p:sp>
      <p:grpSp>
        <p:nvGrpSpPr>
          <p:cNvPr id="33" name="Group 32">
            <a:extLst>
              <a:ext uri="{FF2B5EF4-FFF2-40B4-BE49-F238E27FC236}">
                <a16:creationId xmlns:a16="http://schemas.microsoft.com/office/drawing/2014/main" id="{3EE8592B-932F-B9E7-CC8C-7A302105DC23}"/>
              </a:ext>
            </a:extLst>
          </p:cNvPr>
          <p:cNvGrpSpPr/>
          <p:nvPr/>
        </p:nvGrpSpPr>
        <p:grpSpPr>
          <a:xfrm>
            <a:off x="3811660" y="2357408"/>
            <a:ext cx="4570340" cy="1056500"/>
            <a:chOff x="3811660" y="2357408"/>
            <a:chExt cx="4570340" cy="1056500"/>
          </a:xfrm>
        </p:grpSpPr>
        <p:cxnSp>
          <p:nvCxnSpPr>
            <p:cNvPr id="77" name="Straight Connector 76">
              <a:extLst>
                <a:ext uri="{FF2B5EF4-FFF2-40B4-BE49-F238E27FC236}">
                  <a16:creationId xmlns:a16="http://schemas.microsoft.com/office/drawing/2014/main" id="{5747727B-D62B-D688-4C50-734DD7D0A232}"/>
                </a:ext>
              </a:extLst>
            </p:cNvPr>
            <p:cNvCxnSpPr>
              <a:cxnSpLocks/>
            </p:cNvCxnSpPr>
            <p:nvPr/>
          </p:nvCxnSpPr>
          <p:spPr>
            <a:xfrm>
              <a:off x="3811660" y="2373853"/>
              <a:ext cx="1698310"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72603F5-0D01-FECE-D138-00635ED9694E}"/>
                </a:ext>
              </a:extLst>
            </p:cNvPr>
            <p:cNvCxnSpPr>
              <a:cxnSpLocks/>
            </p:cNvCxnSpPr>
            <p:nvPr/>
          </p:nvCxnSpPr>
          <p:spPr>
            <a:xfrm>
              <a:off x="5532049"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FB96A81-E62C-BBE7-85F0-322FB5F95520}"/>
                </a:ext>
              </a:extLst>
            </p:cNvPr>
            <p:cNvCxnSpPr>
              <a:cxnSpLocks/>
            </p:cNvCxnSpPr>
            <p:nvPr/>
          </p:nvCxnSpPr>
          <p:spPr>
            <a:xfrm>
              <a:off x="6141798"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23FBF9A-6143-9C5F-E18B-EDA3AC2BC018}"/>
                </a:ext>
              </a:extLst>
            </p:cNvPr>
            <p:cNvCxnSpPr>
              <a:cxnSpLocks/>
            </p:cNvCxnSpPr>
            <p:nvPr/>
          </p:nvCxnSpPr>
          <p:spPr>
            <a:xfrm>
              <a:off x="7219508"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030010C-13A2-69EE-69B9-9A4E09725842}"/>
                </a:ext>
              </a:extLst>
            </p:cNvPr>
            <p:cNvCxnSpPr>
              <a:cxnSpLocks/>
            </p:cNvCxnSpPr>
            <p:nvPr/>
          </p:nvCxnSpPr>
          <p:spPr>
            <a:xfrm>
              <a:off x="8001000" y="2364050"/>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C6B5652-4C66-BF6B-1E94-53AE0E96A1DB}"/>
                </a:ext>
              </a:extLst>
            </p:cNvPr>
            <p:cNvCxnSpPr>
              <a:cxnSpLocks/>
            </p:cNvCxnSpPr>
            <p:nvPr/>
          </p:nvCxnSpPr>
          <p:spPr>
            <a:xfrm>
              <a:off x="6172200" y="2373853"/>
              <a:ext cx="1047308"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D689832-96C6-EF8A-9563-CF3F54B26202}"/>
                </a:ext>
              </a:extLst>
            </p:cNvPr>
            <p:cNvCxnSpPr>
              <a:cxnSpLocks/>
            </p:cNvCxnSpPr>
            <p:nvPr/>
          </p:nvCxnSpPr>
          <p:spPr>
            <a:xfrm>
              <a:off x="8001000" y="2364050"/>
              <a:ext cx="381000"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CB2F8B4A-4232-D78A-E3D6-D63224FF7385}"/>
              </a:ext>
            </a:extLst>
          </p:cNvPr>
          <p:cNvSpPr txBox="1"/>
          <p:nvPr/>
        </p:nvSpPr>
        <p:spPr>
          <a:xfrm>
            <a:off x="589480" y="4428407"/>
            <a:ext cx="11008802" cy="1923604"/>
          </a:xfrm>
          <a:prstGeom prst="rect">
            <a:avLst/>
          </a:prstGeom>
          <a:noFill/>
        </p:spPr>
        <p:txBody>
          <a:bodyPr wrap="square" rtlCol="0">
            <a:spAutoFit/>
          </a:bodyPr>
          <a:lstStyle/>
          <a:p>
            <a:pPr algn="ctr"/>
            <a:r>
              <a:rPr lang="en-US" sz="3200" b="1" u="sng" dirty="0">
                <a:latin typeface="Avenir Book" panose="02000503020000020003" pitchFamily="2" charset="0"/>
              </a:rPr>
              <a:t>Three Features</a:t>
            </a:r>
          </a:p>
          <a:p>
            <a:pPr algn="ctr">
              <a:spcAft>
                <a:spcPts val="1800"/>
              </a:spcAft>
            </a:pPr>
            <a:r>
              <a:rPr lang="en-US" sz="2400" dirty="0">
                <a:latin typeface="Avenir Book" panose="02000503020000020003" pitchFamily="2" charset="0"/>
              </a:rPr>
              <a:t>“If normal cough AND last digit of SIN is even, the patient is healthy”</a:t>
            </a:r>
          </a:p>
          <a:p>
            <a:pPr algn="ctr"/>
            <a:r>
              <a:rPr lang="en-US" sz="2400" dirty="0">
                <a:latin typeface="Avenir Book" panose="02000503020000020003" pitchFamily="2" charset="0"/>
              </a:rPr>
              <a:t>The model has perfect accuracy (100%), but it took advantage of a random feature to make a rule that does not seem to be clinically sensible</a:t>
            </a:r>
          </a:p>
        </p:txBody>
      </p:sp>
      <p:sp>
        <p:nvSpPr>
          <p:cNvPr id="54" name="TextBox 53">
            <a:extLst>
              <a:ext uri="{FF2B5EF4-FFF2-40B4-BE49-F238E27FC236}">
                <a16:creationId xmlns:a16="http://schemas.microsoft.com/office/drawing/2014/main" id="{D176D523-726E-CF5D-E0AD-A3DEBA1E57E1}"/>
              </a:ext>
            </a:extLst>
          </p:cNvPr>
          <p:cNvSpPr txBox="1"/>
          <p:nvPr/>
        </p:nvSpPr>
        <p:spPr>
          <a:xfrm>
            <a:off x="8519817" y="2050912"/>
            <a:ext cx="3058257" cy="707886"/>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Number in yellow: </a:t>
            </a:r>
            <a:br>
              <a:rPr lang="en-US" sz="2000" dirty="0">
                <a:latin typeface="Avenir Book" panose="02000503020000020003" pitchFamily="2" charset="0"/>
                <a:ea typeface="Avenir Book" charset="0"/>
                <a:cs typeface="Avenir Book" charset="0"/>
              </a:rPr>
            </a:br>
            <a:r>
              <a:rPr lang="en-US" sz="2000" dirty="0">
                <a:latin typeface="Avenir Book" panose="02000503020000020003" pitchFamily="2" charset="0"/>
                <a:ea typeface="Avenir Book" charset="0"/>
                <a:cs typeface="Avenir Book" charset="0"/>
              </a:rPr>
              <a:t>last digit of SIN</a:t>
            </a:r>
          </a:p>
        </p:txBody>
      </p:sp>
    </p:spTree>
    <p:extLst>
      <p:ext uri="{BB962C8B-B14F-4D97-AF65-F5344CB8AC3E}">
        <p14:creationId xmlns:p14="http://schemas.microsoft.com/office/powerpoint/2010/main" val="1168799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1">
                                            <p:txEl>
                                              <p:pRg st="0" end="0"/>
                                            </p:txEl>
                                          </p:spTgt>
                                        </p:tgtEl>
                                        <p:attrNameLst>
                                          <p:attrName>style.visibility</p:attrName>
                                        </p:attrNameLst>
                                      </p:cBhvr>
                                      <p:to>
                                        <p:strVal val="visible"/>
                                      </p:to>
                                    </p:set>
                                    <p:animEffect transition="in" filter="fade">
                                      <p:cBhvr>
                                        <p:cTn id="21" dur="500"/>
                                        <p:tgtEl>
                                          <p:spTgt spid="61">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1">
                                            <p:txEl>
                                              <p:pRg st="1" end="1"/>
                                            </p:txEl>
                                          </p:spTgt>
                                        </p:tgtEl>
                                        <p:attrNameLst>
                                          <p:attrName>style.visibility</p:attrName>
                                        </p:attrNameLst>
                                      </p:cBhvr>
                                      <p:to>
                                        <p:strVal val="visible"/>
                                      </p:to>
                                    </p:set>
                                    <p:animEffect transition="in" filter="fade">
                                      <p:cBhvr>
                                        <p:cTn id="24" dur="500"/>
                                        <p:tgtEl>
                                          <p:spTgt spid="61">
                                            <p:txEl>
                                              <p:pRg st="1" end="1"/>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
                                            <p:txEl>
                                              <p:pRg st="2" end="2"/>
                                            </p:txEl>
                                          </p:spTgt>
                                        </p:tgtEl>
                                        <p:attrNameLst>
                                          <p:attrName>style.visibility</p:attrName>
                                        </p:attrNameLst>
                                      </p:cBhvr>
                                      <p:to>
                                        <p:strVal val="visible"/>
                                      </p:to>
                                    </p:set>
                                    <p:animEffect transition="in" filter="fade">
                                      <p:cBhvr>
                                        <p:cTn id="32" dur="500"/>
                                        <p:tgtEl>
                                          <p:spTgt spid="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uiExpand="1" build="p"/>
      <p:bldP spid="5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B541-4CC8-80F8-3E5F-B96F7223F50F}"/>
              </a:ext>
            </a:extLst>
          </p:cNvPr>
          <p:cNvSpPr>
            <a:spLocks noGrp="1"/>
          </p:cNvSpPr>
          <p:nvPr>
            <p:ph type="title"/>
          </p:nvPr>
        </p:nvSpPr>
        <p:spPr/>
        <p:txBody>
          <a:bodyPr/>
          <a:lstStyle/>
          <a:p>
            <a:r>
              <a:rPr lang="en-US" dirty="0"/>
              <a:t>How to Select the Best Features</a:t>
            </a:r>
          </a:p>
        </p:txBody>
      </p:sp>
      <p:sp>
        <p:nvSpPr>
          <p:cNvPr id="3" name="Content Placeholder 2">
            <a:extLst>
              <a:ext uri="{FF2B5EF4-FFF2-40B4-BE49-F238E27FC236}">
                <a16:creationId xmlns:a16="http://schemas.microsoft.com/office/drawing/2014/main" id="{1DEB55F3-DE75-147C-FFA8-E52EA0D95DEB}"/>
              </a:ext>
            </a:extLst>
          </p:cNvPr>
          <p:cNvSpPr>
            <a:spLocks noGrp="1"/>
          </p:cNvSpPr>
          <p:nvPr>
            <p:ph idx="1"/>
          </p:nvPr>
        </p:nvSpPr>
        <p:spPr/>
        <p:txBody>
          <a:bodyPr/>
          <a:lstStyle/>
          <a:p>
            <a:pPr>
              <a:spcAft>
                <a:spcPts val="1800"/>
              </a:spcAft>
            </a:pPr>
            <a:r>
              <a:rPr lang="en-US" dirty="0"/>
              <a:t>You can use domain expertise to ignore features that do not make sense</a:t>
            </a:r>
          </a:p>
          <a:p>
            <a:pPr>
              <a:spcAft>
                <a:spcPts val="1800"/>
              </a:spcAft>
            </a:pPr>
            <a:r>
              <a:rPr lang="en-US" dirty="0"/>
              <a:t>There are also techniques you can use to automatically </a:t>
            </a:r>
            <a:br>
              <a:rPr lang="en-US" dirty="0"/>
            </a:br>
            <a:r>
              <a:rPr lang="en-US" dirty="0"/>
              <a:t>pick the features that are likely to be the most “mathematically interesting”</a:t>
            </a:r>
          </a:p>
          <a:p>
            <a:pPr>
              <a:spcAft>
                <a:spcPts val="1800"/>
              </a:spcAft>
            </a:pPr>
            <a:r>
              <a:rPr lang="en-US" dirty="0"/>
              <a:t>Some techniques care about the labels, while others just care about properties of the data itself</a:t>
            </a:r>
          </a:p>
        </p:txBody>
      </p:sp>
    </p:spTree>
    <p:extLst>
      <p:ext uri="{BB962C8B-B14F-4D97-AF65-F5344CB8AC3E}">
        <p14:creationId xmlns:p14="http://schemas.microsoft.com/office/powerpoint/2010/main" val="18544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D765-2761-27A8-A545-B1921A2D1501}"/>
              </a:ext>
            </a:extLst>
          </p:cNvPr>
          <p:cNvSpPr>
            <a:spLocks noGrp="1"/>
          </p:cNvSpPr>
          <p:nvPr>
            <p:ph type="title"/>
          </p:nvPr>
        </p:nvSpPr>
        <p:spPr/>
        <p:txBody>
          <a:bodyPr>
            <a:normAutofit fontScale="90000"/>
          </a:bodyPr>
          <a:lstStyle/>
          <a:p>
            <a:r>
              <a:rPr lang="en-US" dirty="0"/>
              <a:t>Example of Label-Agnostic Feature Selection: Variance Threshold</a:t>
            </a:r>
          </a:p>
        </p:txBody>
      </p:sp>
      <p:sp>
        <p:nvSpPr>
          <p:cNvPr id="3" name="Content Placeholder 2">
            <a:extLst>
              <a:ext uri="{FF2B5EF4-FFF2-40B4-BE49-F238E27FC236}">
                <a16:creationId xmlns:a16="http://schemas.microsoft.com/office/drawing/2014/main" id="{99827D31-646D-CB70-AC13-DBAB2E41A817}"/>
              </a:ext>
            </a:extLst>
          </p:cNvPr>
          <p:cNvSpPr>
            <a:spLocks noGrp="1"/>
          </p:cNvSpPr>
          <p:nvPr>
            <p:ph idx="1"/>
          </p:nvPr>
        </p:nvSpPr>
        <p:spPr>
          <a:xfrm>
            <a:off x="609600" y="1600202"/>
            <a:ext cx="10972800" cy="1143000"/>
          </a:xfrm>
        </p:spPr>
        <p:txBody>
          <a:bodyPr/>
          <a:lstStyle/>
          <a:p>
            <a:r>
              <a:rPr lang="en-US" dirty="0">
                <a:latin typeface="Avenir Book" panose="02000503020000020003" pitchFamily="2" charset="0"/>
              </a:rPr>
              <a:t>Only keep features that are spread apart (high variance) to keep the data as “unique” as possible</a:t>
            </a:r>
          </a:p>
        </p:txBody>
      </p:sp>
      <p:grpSp>
        <p:nvGrpSpPr>
          <p:cNvPr id="84" name="Group 83">
            <a:extLst>
              <a:ext uri="{FF2B5EF4-FFF2-40B4-BE49-F238E27FC236}">
                <a16:creationId xmlns:a16="http://schemas.microsoft.com/office/drawing/2014/main" id="{851D2367-3894-6270-0BCB-EA91A0783ED7}"/>
              </a:ext>
            </a:extLst>
          </p:cNvPr>
          <p:cNvGrpSpPr/>
          <p:nvPr/>
        </p:nvGrpSpPr>
        <p:grpSpPr>
          <a:xfrm>
            <a:off x="1295400" y="2904456"/>
            <a:ext cx="4495801" cy="3617198"/>
            <a:chOff x="1295400" y="2904456"/>
            <a:chExt cx="4495801" cy="3617198"/>
          </a:xfrm>
        </p:grpSpPr>
        <p:grpSp>
          <p:nvGrpSpPr>
            <p:cNvPr id="9" name="Group 8">
              <a:extLst>
                <a:ext uri="{FF2B5EF4-FFF2-40B4-BE49-F238E27FC236}">
                  <a16:creationId xmlns:a16="http://schemas.microsoft.com/office/drawing/2014/main" id="{4B0A5D05-4D21-577C-4021-714488ED8EF5}"/>
                </a:ext>
              </a:extLst>
            </p:cNvPr>
            <p:cNvGrpSpPr/>
            <p:nvPr/>
          </p:nvGrpSpPr>
          <p:grpSpPr>
            <a:xfrm>
              <a:off x="1577402" y="5998434"/>
              <a:ext cx="4213799" cy="523220"/>
              <a:chOff x="1066799" y="5326326"/>
              <a:chExt cx="5784163" cy="523220"/>
            </a:xfrm>
          </p:grpSpPr>
          <p:cxnSp>
            <p:nvCxnSpPr>
              <p:cNvPr id="47" name="Straight Connector 46">
                <a:extLst>
                  <a:ext uri="{FF2B5EF4-FFF2-40B4-BE49-F238E27FC236}">
                    <a16:creationId xmlns:a16="http://schemas.microsoft.com/office/drawing/2014/main" id="{82A9AA49-C2FE-27A9-0495-6E91ED9FA503}"/>
                  </a:ext>
                </a:extLst>
              </p:cNvPr>
              <p:cNvCxnSpPr>
                <a:cxnSpLocks/>
              </p:cNvCxnSpPr>
              <p:nvPr/>
            </p:nvCxnSpPr>
            <p:spPr>
              <a:xfrm flipH="1">
                <a:off x="1066799" y="5562600"/>
                <a:ext cx="49757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E64E616-0C9C-567A-3A51-E0F10DC88CA2}"/>
                      </a:ext>
                    </a:extLst>
                  </p:cNvPr>
                  <p:cNvSpPr txBox="1"/>
                  <p:nvPr/>
                </p:nvSpPr>
                <p:spPr>
                  <a:xfrm>
                    <a:off x="6111015" y="5326326"/>
                    <a:ext cx="739947" cy="52322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US" sz="2800" i="1">
                                  <a:latin typeface="Cambria Math" panose="02040503050406030204" pitchFamily="18" charset="0"/>
                                  <a:ea typeface="Avenir Book" charset="0"/>
                                  <a:cs typeface="Avenir Book" charset="0"/>
                                </a:rPr>
                              </m:ctrlPr>
                            </m:sSubPr>
                            <m:e>
                              <m:r>
                                <a:rPr lang="en-US" sz="2800" i="1">
                                  <a:latin typeface="Cambria Math" charset="0"/>
                                  <a:ea typeface="Avenir Book" charset="0"/>
                                  <a:cs typeface="Avenir Book" charset="0"/>
                                </a:rPr>
                                <m:t>𝑥</m:t>
                              </m:r>
                            </m:e>
                            <m:sub>
                              <m:r>
                                <a:rPr lang="en-US" sz="2800" i="1">
                                  <a:latin typeface="Cambria Math" charset="0"/>
                                  <a:ea typeface="Avenir Book" charset="0"/>
                                  <a:cs typeface="Avenir Book" charset="0"/>
                                </a:rPr>
                                <m:t>1</m:t>
                              </m:r>
                            </m:sub>
                          </m:sSub>
                        </m:oMath>
                      </m:oMathPara>
                    </a14:m>
                    <a:endParaRPr lang="en-US" sz="2800" dirty="0">
                      <a:latin typeface="Avenir Book" panose="02000503020000020003" pitchFamily="2" charset="0"/>
                      <a:ea typeface="Avenir Book" charset="0"/>
                      <a:cs typeface="Avenir Book" charset="0"/>
                    </a:endParaRPr>
                  </a:p>
                </p:txBody>
              </p:sp>
            </mc:Choice>
            <mc:Fallback xmlns="">
              <p:sp>
                <p:nvSpPr>
                  <p:cNvPr id="31" name="TextBox 30">
                    <a:extLst>
                      <a:ext uri="{FF2B5EF4-FFF2-40B4-BE49-F238E27FC236}">
                        <a16:creationId xmlns:a16="http://schemas.microsoft.com/office/drawing/2014/main" id="{13E10D15-DBD0-D540-6D7D-D9D341F9151C}"/>
                      </a:ext>
                    </a:extLst>
                  </p:cNvPr>
                  <p:cNvSpPr txBox="1">
                    <a:spLocks noRot="1" noChangeAspect="1" noMove="1" noResize="1" noEditPoints="1" noAdjustHandles="1" noChangeArrowheads="1" noChangeShapeType="1" noTextEdit="1"/>
                  </p:cNvSpPr>
                  <p:nvPr/>
                </p:nvSpPr>
                <p:spPr>
                  <a:xfrm>
                    <a:off x="6111015" y="5326326"/>
                    <a:ext cx="739947" cy="523220"/>
                  </a:xfrm>
                  <a:prstGeom prst="rect">
                    <a:avLst/>
                  </a:prstGeom>
                  <a:blipFill>
                    <a:blip r:embed="rId2"/>
                    <a:stretch>
                      <a:fillRect l="-6818" b="-2381"/>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DF3114A5-BEA8-BE88-7464-509AD4164D8F}"/>
                </a:ext>
              </a:extLst>
            </p:cNvPr>
            <p:cNvGrpSpPr/>
            <p:nvPr/>
          </p:nvGrpSpPr>
          <p:grpSpPr>
            <a:xfrm>
              <a:off x="1295400" y="2904456"/>
              <a:ext cx="564002" cy="3324810"/>
              <a:chOff x="4289999" y="1904625"/>
              <a:chExt cx="564002" cy="4909675"/>
            </a:xfrm>
          </p:grpSpPr>
          <p:cxnSp>
            <p:nvCxnSpPr>
              <p:cNvPr id="45" name="Straight Connector 44">
                <a:extLst>
                  <a:ext uri="{FF2B5EF4-FFF2-40B4-BE49-F238E27FC236}">
                    <a16:creationId xmlns:a16="http://schemas.microsoft.com/office/drawing/2014/main" id="{89587155-7DC1-A2EE-5E13-F6AC589FAE4A}"/>
                  </a:ext>
                </a:extLst>
              </p:cNvPr>
              <p:cNvCxnSpPr>
                <a:cxnSpLocks/>
              </p:cNvCxnSpPr>
              <p:nvPr/>
            </p:nvCxnSpPr>
            <p:spPr>
              <a:xfrm>
                <a:off x="4572000" y="2662347"/>
                <a:ext cx="0" cy="41519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D26A91A-4E18-5EC8-F7AD-9F1DFB2B9106}"/>
                      </a:ext>
                    </a:extLst>
                  </p:cNvPr>
                  <p:cNvSpPr txBox="1"/>
                  <p:nvPr/>
                </p:nvSpPr>
                <p:spPr>
                  <a:xfrm>
                    <a:off x="4289999" y="1904625"/>
                    <a:ext cx="564002" cy="772628"/>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US" sz="2800" i="1">
                                  <a:latin typeface="Cambria Math" panose="02040503050406030204" pitchFamily="18" charset="0"/>
                                  <a:ea typeface="Avenir Book" charset="0"/>
                                  <a:cs typeface="Avenir Book" charset="0"/>
                                </a:rPr>
                              </m:ctrlPr>
                            </m:sSubPr>
                            <m:e>
                              <m:r>
                                <a:rPr lang="en-US" sz="2800" i="1">
                                  <a:latin typeface="Cambria Math" charset="0"/>
                                  <a:ea typeface="Avenir Book" charset="0"/>
                                  <a:cs typeface="Avenir Book" charset="0"/>
                                </a:rPr>
                                <m:t>𝑥</m:t>
                              </m:r>
                            </m:e>
                            <m:sub>
                              <m:r>
                                <a:rPr lang="en-US" sz="2800" i="1">
                                  <a:latin typeface="Cambria Math" charset="0"/>
                                  <a:ea typeface="Avenir Book" charset="0"/>
                                  <a:cs typeface="Avenir Book" charset="0"/>
                                </a:rPr>
                                <m:t>2</m:t>
                              </m:r>
                            </m:sub>
                          </m:sSub>
                        </m:oMath>
                      </m:oMathPara>
                    </a14:m>
                    <a:endParaRPr lang="en-US" sz="2800" dirty="0">
                      <a:latin typeface="Avenir Book" panose="02000503020000020003" pitchFamily="2" charset="0"/>
                      <a:ea typeface="Avenir Book" charset="0"/>
                      <a:cs typeface="Avenir Book" charset="0"/>
                    </a:endParaRPr>
                  </a:p>
                </p:txBody>
              </p:sp>
            </mc:Choice>
            <mc:Fallback xmlns="">
              <p:sp>
                <p:nvSpPr>
                  <p:cNvPr id="36" name="TextBox 35">
                    <a:extLst>
                      <a:ext uri="{FF2B5EF4-FFF2-40B4-BE49-F238E27FC236}">
                        <a16:creationId xmlns:a16="http://schemas.microsoft.com/office/drawing/2014/main" id="{C85C3563-1124-B5EC-F845-BF92F521EAD3}"/>
                      </a:ext>
                    </a:extLst>
                  </p:cNvPr>
                  <p:cNvSpPr txBox="1">
                    <a:spLocks noRot="1" noChangeAspect="1" noMove="1" noResize="1" noEditPoints="1" noAdjustHandles="1" noChangeArrowheads="1" noChangeShapeType="1" noTextEdit="1"/>
                  </p:cNvSpPr>
                  <p:nvPr/>
                </p:nvSpPr>
                <p:spPr>
                  <a:xfrm>
                    <a:off x="4289999" y="1904625"/>
                    <a:ext cx="564002" cy="772628"/>
                  </a:xfrm>
                  <a:prstGeom prst="rect">
                    <a:avLst/>
                  </a:prstGeom>
                  <a:blipFill>
                    <a:blip r:embed="rId3"/>
                    <a:stretch>
                      <a:fillRect l="-6667" b="-2381"/>
                    </a:stretch>
                  </a:blipFill>
                </p:spPr>
                <p:txBody>
                  <a:bodyPr/>
                  <a:lstStyle/>
                  <a:p>
                    <a:r>
                      <a:rPr lang="en-US">
                        <a:noFill/>
                      </a:rPr>
                      <a:t> </a:t>
                    </a:r>
                  </a:p>
                </p:txBody>
              </p:sp>
            </mc:Fallback>
          </mc:AlternateContent>
        </p:grpSp>
        <p:sp>
          <p:nvSpPr>
            <p:cNvPr id="28" name="Oval 27">
              <a:extLst>
                <a:ext uri="{FF2B5EF4-FFF2-40B4-BE49-F238E27FC236}">
                  <a16:creationId xmlns:a16="http://schemas.microsoft.com/office/drawing/2014/main" id="{8FB02610-9D5F-C00C-E035-F1D1AE6ECFD0}"/>
                </a:ext>
              </a:extLst>
            </p:cNvPr>
            <p:cNvSpPr/>
            <p:nvPr/>
          </p:nvSpPr>
          <p:spPr>
            <a:xfrm>
              <a:off x="2698406" y="5488720"/>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0" name="Oval 29">
              <a:extLst>
                <a:ext uri="{FF2B5EF4-FFF2-40B4-BE49-F238E27FC236}">
                  <a16:creationId xmlns:a16="http://schemas.microsoft.com/office/drawing/2014/main" id="{4018131A-43E4-05A4-4558-E7F1D5976DD0}"/>
                </a:ext>
              </a:extLst>
            </p:cNvPr>
            <p:cNvSpPr/>
            <p:nvPr/>
          </p:nvSpPr>
          <p:spPr>
            <a:xfrm>
              <a:off x="4877540" y="5126633"/>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1" name="Oval 30">
              <a:extLst>
                <a:ext uri="{FF2B5EF4-FFF2-40B4-BE49-F238E27FC236}">
                  <a16:creationId xmlns:a16="http://schemas.microsoft.com/office/drawing/2014/main" id="{906355A1-7DED-89D7-1C9C-8CA5B1126A13}"/>
                </a:ext>
              </a:extLst>
            </p:cNvPr>
            <p:cNvSpPr/>
            <p:nvPr/>
          </p:nvSpPr>
          <p:spPr>
            <a:xfrm>
              <a:off x="3870196" y="4955166"/>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2" name="Oval 31">
              <a:extLst>
                <a:ext uri="{FF2B5EF4-FFF2-40B4-BE49-F238E27FC236}">
                  <a16:creationId xmlns:a16="http://schemas.microsoft.com/office/drawing/2014/main" id="{8DA9C66F-1F45-DF6D-FA37-184FF8BE99E7}"/>
                </a:ext>
              </a:extLst>
            </p:cNvPr>
            <p:cNvSpPr/>
            <p:nvPr/>
          </p:nvSpPr>
          <p:spPr>
            <a:xfrm>
              <a:off x="3410163" y="5148095"/>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4" name="Oval 33">
              <a:extLst>
                <a:ext uri="{FF2B5EF4-FFF2-40B4-BE49-F238E27FC236}">
                  <a16:creationId xmlns:a16="http://schemas.microsoft.com/office/drawing/2014/main" id="{300DEE41-E329-508A-B970-EC5C43B31C9B}"/>
                </a:ext>
              </a:extLst>
            </p:cNvPr>
            <p:cNvSpPr/>
            <p:nvPr/>
          </p:nvSpPr>
          <p:spPr>
            <a:xfrm>
              <a:off x="4314828" y="5530243"/>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6" name="Oval 35">
              <a:extLst>
                <a:ext uri="{FF2B5EF4-FFF2-40B4-BE49-F238E27FC236}">
                  <a16:creationId xmlns:a16="http://schemas.microsoft.com/office/drawing/2014/main" id="{95A3DD35-2BD0-D2EE-28F9-416C35D766F3}"/>
                </a:ext>
              </a:extLst>
            </p:cNvPr>
            <p:cNvSpPr/>
            <p:nvPr/>
          </p:nvSpPr>
          <p:spPr>
            <a:xfrm>
              <a:off x="2698406" y="4898543"/>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7" name="Oval 36">
              <a:extLst>
                <a:ext uri="{FF2B5EF4-FFF2-40B4-BE49-F238E27FC236}">
                  <a16:creationId xmlns:a16="http://schemas.microsoft.com/office/drawing/2014/main" id="{D2663592-ACB6-1EA7-EF32-7B3F52F89221}"/>
                </a:ext>
              </a:extLst>
            </p:cNvPr>
            <p:cNvSpPr/>
            <p:nvPr/>
          </p:nvSpPr>
          <p:spPr>
            <a:xfrm>
              <a:off x="1926122" y="4802889"/>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9" name="Oval 38">
              <a:extLst>
                <a:ext uri="{FF2B5EF4-FFF2-40B4-BE49-F238E27FC236}">
                  <a16:creationId xmlns:a16="http://schemas.microsoft.com/office/drawing/2014/main" id="{AEC419DD-CEDE-C76E-81F5-611F08BF8572}"/>
                </a:ext>
              </a:extLst>
            </p:cNvPr>
            <p:cNvSpPr/>
            <p:nvPr/>
          </p:nvSpPr>
          <p:spPr>
            <a:xfrm>
              <a:off x="2380403" y="4303668"/>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0" name="Oval 39">
              <a:extLst>
                <a:ext uri="{FF2B5EF4-FFF2-40B4-BE49-F238E27FC236}">
                  <a16:creationId xmlns:a16="http://schemas.microsoft.com/office/drawing/2014/main" id="{0C94C657-6214-0834-207F-94CEE36EF8F2}"/>
                </a:ext>
              </a:extLst>
            </p:cNvPr>
            <p:cNvSpPr/>
            <p:nvPr/>
          </p:nvSpPr>
          <p:spPr>
            <a:xfrm>
              <a:off x="2948760" y="3937793"/>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1" name="Oval 40">
              <a:extLst>
                <a:ext uri="{FF2B5EF4-FFF2-40B4-BE49-F238E27FC236}">
                  <a16:creationId xmlns:a16="http://schemas.microsoft.com/office/drawing/2014/main" id="{F4768997-9001-52B4-1752-7DEDFBD08980}"/>
                </a:ext>
              </a:extLst>
            </p:cNvPr>
            <p:cNvSpPr/>
            <p:nvPr/>
          </p:nvSpPr>
          <p:spPr>
            <a:xfrm>
              <a:off x="3917898" y="4447759"/>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2" name="Oval 41">
              <a:extLst>
                <a:ext uri="{FF2B5EF4-FFF2-40B4-BE49-F238E27FC236}">
                  <a16:creationId xmlns:a16="http://schemas.microsoft.com/office/drawing/2014/main" id="{AE69D30D-18A5-C882-B969-8ACE8416A5AF}"/>
                </a:ext>
              </a:extLst>
            </p:cNvPr>
            <p:cNvSpPr/>
            <p:nvPr/>
          </p:nvSpPr>
          <p:spPr>
            <a:xfrm>
              <a:off x="3608478" y="4077500"/>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3" name="Oval 42">
              <a:extLst>
                <a:ext uri="{FF2B5EF4-FFF2-40B4-BE49-F238E27FC236}">
                  <a16:creationId xmlns:a16="http://schemas.microsoft.com/office/drawing/2014/main" id="{B2DA12F0-4D1E-2F35-0E2F-E4DF9A126377}"/>
                </a:ext>
              </a:extLst>
            </p:cNvPr>
            <p:cNvSpPr/>
            <p:nvPr/>
          </p:nvSpPr>
          <p:spPr>
            <a:xfrm>
              <a:off x="4745886" y="4306100"/>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4" name="Oval 43">
              <a:extLst>
                <a:ext uri="{FF2B5EF4-FFF2-40B4-BE49-F238E27FC236}">
                  <a16:creationId xmlns:a16="http://schemas.microsoft.com/office/drawing/2014/main" id="{90FD80D9-73FB-F582-FE32-18C57F13412C}"/>
                </a:ext>
              </a:extLst>
            </p:cNvPr>
            <p:cNvSpPr/>
            <p:nvPr/>
          </p:nvSpPr>
          <p:spPr>
            <a:xfrm>
              <a:off x="1828800" y="4001300"/>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sp>
        <p:nvSpPr>
          <p:cNvPr id="49" name="TextBox 48">
            <a:extLst>
              <a:ext uri="{FF2B5EF4-FFF2-40B4-BE49-F238E27FC236}">
                <a16:creationId xmlns:a16="http://schemas.microsoft.com/office/drawing/2014/main" id="{0C5A5AF6-4BB2-02ED-A5DE-98E94D07A768}"/>
              </a:ext>
            </a:extLst>
          </p:cNvPr>
          <p:cNvSpPr txBox="1"/>
          <p:nvPr/>
        </p:nvSpPr>
        <p:spPr>
          <a:xfrm>
            <a:off x="7102497" y="2821797"/>
            <a:ext cx="2075932" cy="707886"/>
          </a:xfrm>
          <a:prstGeom prst="rect">
            <a:avLst/>
          </a:prstGeom>
          <a:noFill/>
        </p:spPr>
        <p:txBody>
          <a:bodyPr wrap="square" rtlCol="0">
            <a:spAutoFit/>
          </a:bodyPr>
          <a:lstStyle/>
          <a:p>
            <a:pPr algn="ctr"/>
            <a:r>
              <a:rPr lang="en-US" sz="2000" dirty="0">
                <a:latin typeface="Avenir Book" panose="02000503020000020003" pitchFamily="2" charset="0"/>
              </a:rPr>
              <a:t>less variance = </a:t>
            </a:r>
            <a:br>
              <a:rPr lang="en-US" sz="2000" dirty="0">
                <a:latin typeface="Avenir Book" panose="02000503020000020003" pitchFamily="2" charset="0"/>
              </a:rPr>
            </a:br>
            <a:r>
              <a:rPr lang="en-US" sz="2000" dirty="0">
                <a:latin typeface="Avenir Book" panose="02000503020000020003" pitchFamily="2" charset="0"/>
              </a:rPr>
              <a:t>less separable</a:t>
            </a:r>
          </a:p>
        </p:txBody>
      </p:sp>
      <p:sp>
        <p:nvSpPr>
          <p:cNvPr id="50" name="TextBox 49">
            <a:extLst>
              <a:ext uri="{FF2B5EF4-FFF2-40B4-BE49-F238E27FC236}">
                <a16:creationId xmlns:a16="http://schemas.microsoft.com/office/drawing/2014/main" id="{638B08B4-90F5-12E3-81A1-9F09F61B66B8}"/>
              </a:ext>
            </a:extLst>
          </p:cNvPr>
          <p:cNvSpPr txBox="1"/>
          <p:nvPr/>
        </p:nvSpPr>
        <p:spPr>
          <a:xfrm>
            <a:off x="9993680" y="5289647"/>
            <a:ext cx="2122120" cy="707886"/>
          </a:xfrm>
          <a:prstGeom prst="rect">
            <a:avLst/>
          </a:prstGeom>
          <a:noFill/>
        </p:spPr>
        <p:txBody>
          <a:bodyPr wrap="square" rtlCol="0">
            <a:spAutoFit/>
          </a:bodyPr>
          <a:lstStyle/>
          <a:p>
            <a:pPr algn="ctr"/>
            <a:r>
              <a:rPr lang="en-US" sz="2000" dirty="0">
                <a:latin typeface="Avenir Book" panose="02000503020000020003" pitchFamily="2" charset="0"/>
              </a:rPr>
              <a:t>more variance = </a:t>
            </a:r>
            <a:br>
              <a:rPr lang="en-US" sz="2000" dirty="0">
                <a:latin typeface="Avenir Book" panose="02000503020000020003" pitchFamily="2" charset="0"/>
              </a:rPr>
            </a:br>
            <a:r>
              <a:rPr lang="en-US" sz="2000" dirty="0">
                <a:latin typeface="Avenir Book" panose="02000503020000020003" pitchFamily="2" charset="0"/>
              </a:rPr>
              <a:t>more separable</a:t>
            </a:r>
          </a:p>
        </p:txBody>
      </p:sp>
      <p:grpSp>
        <p:nvGrpSpPr>
          <p:cNvPr id="51" name="Group 50">
            <a:extLst>
              <a:ext uri="{FF2B5EF4-FFF2-40B4-BE49-F238E27FC236}">
                <a16:creationId xmlns:a16="http://schemas.microsoft.com/office/drawing/2014/main" id="{69B19BD6-AED3-EFC9-F415-64A7CB84B734}"/>
              </a:ext>
            </a:extLst>
          </p:cNvPr>
          <p:cNvGrpSpPr/>
          <p:nvPr/>
        </p:nvGrpSpPr>
        <p:grpSpPr>
          <a:xfrm>
            <a:off x="6789283" y="2904456"/>
            <a:ext cx="4481614" cy="3614296"/>
            <a:chOff x="6789283" y="2904456"/>
            <a:chExt cx="4481614" cy="3614296"/>
          </a:xfrm>
        </p:grpSpPr>
        <p:grpSp>
          <p:nvGrpSpPr>
            <p:cNvPr id="52" name="Group 51">
              <a:extLst>
                <a:ext uri="{FF2B5EF4-FFF2-40B4-BE49-F238E27FC236}">
                  <a16:creationId xmlns:a16="http://schemas.microsoft.com/office/drawing/2014/main" id="{D1DD0DE9-907C-43DB-47FC-23D8CFC1C818}"/>
                </a:ext>
              </a:extLst>
            </p:cNvPr>
            <p:cNvGrpSpPr/>
            <p:nvPr/>
          </p:nvGrpSpPr>
          <p:grpSpPr>
            <a:xfrm>
              <a:off x="6789283" y="2904456"/>
              <a:ext cx="564002" cy="3324810"/>
              <a:chOff x="4289999" y="1904625"/>
              <a:chExt cx="564002" cy="4909675"/>
            </a:xfrm>
          </p:grpSpPr>
          <p:cxnSp>
            <p:nvCxnSpPr>
              <p:cNvPr id="56" name="Straight Connector 55">
                <a:extLst>
                  <a:ext uri="{FF2B5EF4-FFF2-40B4-BE49-F238E27FC236}">
                    <a16:creationId xmlns:a16="http://schemas.microsoft.com/office/drawing/2014/main" id="{A2EF6635-EA6C-3D68-9173-DE3729902DC2}"/>
                  </a:ext>
                </a:extLst>
              </p:cNvPr>
              <p:cNvCxnSpPr>
                <a:cxnSpLocks/>
              </p:cNvCxnSpPr>
              <p:nvPr/>
            </p:nvCxnSpPr>
            <p:spPr>
              <a:xfrm>
                <a:off x="4572000" y="2662347"/>
                <a:ext cx="0" cy="41519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71D1A7A-FC7A-6AF8-F26D-7279F953D0D9}"/>
                      </a:ext>
                    </a:extLst>
                  </p:cNvPr>
                  <p:cNvSpPr txBox="1"/>
                  <p:nvPr/>
                </p:nvSpPr>
                <p:spPr>
                  <a:xfrm>
                    <a:off x="4289999" y="1904625"/>
                    <a:ext cx="564002" cy="772628"/>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US" sz="2800" i="1">
                                  <a:latin typeface="Cambria Math" panose="02040503050406030204" pitchFamily="18" charset="0"/>
                                  <a:ea typeface="Avenir Book" charset="0"/>
                                  <a:cs typeface="Avenir Book" charset="0"/>
                                </a:rPr>
                              </m:ctrlPr>
                            </m:sSubPr>
                            <m:e>
                              <m:r>
                                <a:rPr lang="en-US" sz="2800" i="1">
                                  <a:latin typeface="Cambria Math" charset="0"/>
                                  <a:ea typeface="Avenir Book" charset="0"/>
                                  <a:cs typeface="Avenir Book" charset="0"/>
                                </a:rPr>
                                <m:t>𝑥</m:t>
                              </m:r>
                            </m:e>
                            <m:sub>
                              <m:r>
                                <a:rPr lang="en-US" sz="2800" i="1">
                                  <a:latin typeface="Cambria Math" charset="0"/>
                                  <a:ea typeface="Avenir Book" charset="0"/>
                                  <a:cs typeface="Avenir Book" charset="0"/>
                                </a:rPr>
                                <m:t>2</m:t>
                              </m:r>
                            </m:sub>
                          </m:sSub>
                        </m:oMath>
                      </m:oMathPara>
                    </a14:m>
                    <a:endParaRPr lang="en-US" sz="2800" dirty="0">
                      <a:latin typeface="Avenir Book" panose="02000503020000020003" pitchFamily="2" charset="0"/>
                      <a:ea typeface="Avenir Book" charset="0"/>
                      <a:cs typeface="Avenir Book" charset="0"/>
                    </a:endParaRPr>
                  </a:p>
                </p:txBody>
              </p:sp>
            </mc:Choice>
            <mc:Fallback xmlns="">
              <p:sp>
                <p:nvSpPr>
                  <p:cNvPr id="90" name="TextBox 89">
                    <a:extLst>
                      <a:ext uri="{FF2B5EF4-FFF2-40B4-BE49-F238E27FC236}">
                        <a16:creationId xmlns:a16="http://schemas.microsoft.com/office/drawing/2014/main" id="{1A69E38A-85CA-15C9-9909-F0EEF9C9C0D1}"/>
                      </a:ext>
                    </a:extLst>
                  </p:cNvPr>
                  <p:cNvSpPr txBox="1">
                    <a:spLocks noRot="1" noChangeAspect="1" noMove="1" noResize="1" noEditPoints="1" noAdjustHandles="1" noChangeArrowheads="1" noChangeShapeType="1" noTextEdit="1"/>
                  </p:cNvSpPr>
                  <p:nvPr/>
                </p:nvSpPr>
                <p:spPr>
                  <a:xfrm>
                    <a:off x="4289999" y="1904625"/>
                    <a:ext cx="564002" cy="772628"/>
                  </a:xfrm>
                  <a:prstGeom prst="rect">
                    <a:avLst/>
                  </a:prstGeom>
                  <a:blipFill>
                    <a:blip r:embed="rId4"/>
                    <a:stretch>
                      <a:fillRect l="-4444" b="-2381"/>
                    </a:stretch>
                  </a:blipFill>
                </p:spPr>
                <p:txBody>
                  <a:bodyPr/>
                  <a:lstStyle/>
                  <a:p>
                    <a:r>
                      <a:rPr lang="en-US">
                        <a:noFill/>
                      </a:rPr>
                      <a:t> </a:t>
                    </a:r>
                  </a:p>
                </p:txBody>
              </p:sp>
            </mc:Fallback>
          </mc:AlternateContent>
        </p:grpSp>
        <p:grpSp>
          <p:nvGrpSpPr>
            <p:cNvPr id="53" name="Group 52">
              <a:extLst>
                <a:ext uri="{FF2B5EF4-FFF2-40B4-BE49-F238E27FC236}">
                  <a16:creationId xmlns:a16="http://schemas.microsoft.com/office/drawing/2014/main" id="{2576FA75-8794-509E-8518-CFF0BFB3E64B}"/>
                </a:ext>
              </a:extLst>
            </p:cNvPr>
            <p:cNvGrpSpPr/>
            <p:nvPr/>
          </p:nvGrpSpPr>
          <p:grpSpPr>
            <a:xfrm>
              <a:off x="7057098" y="5995532"/>
              <a:ext cx="4213799" cy="523220"/>
              <a:chOff x="1066799" y="5326326"/>
              <a:chExt cx="5784163" cy="523220"/>
            </a:xfrm>
          </p:grpSpPr>
          <p:cxnSp>
            <p:nvCxnSpPr>
              <p:cNvPr id="54" name="Straight Connector 53">
                <a:extLst>
                  <a:ext uri="{FF2B5EF4-FFF2-40B4-BE49-F238E27FC236}">
                    <a16:creationId xmlns:a16="http://schemas.microsoft.com/office/drawing/2014/main" id="{67FE706C-6B6D-080A-0C73-5DE48D131354}"/>
                  </a:ext>
                </a:extLst>
              </p:cNvPr>
              <p:cNvCxnSpPr>
                <a:cxnSpLocks/>
              </p:cNvCxnSpPr>
              <p:nvPr/>
            </p:nvCxnSpPr>
            <p:spPr>
              <a:xfrm flipH="1">
                <a:off x="1066799" y="5562600"/>
                <a:ext cx="49757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C58D798A-B6F3-ED2E-005B-1C31D8AE051A}"/>
                      </a:ext>
                    </a:extLst>
                  </p:cNvPr>
                  <p:cNvSpPr txBox="1"/>
                  <p:nvPr/>
                </p:nvSpPr>
                <p:spPr>
                  <a:xfrm>
                    <a:off x="6111015" y="5326326"/>
                    <a:ext cx="739947" cy="52322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US" sz="2800" i="1">
                                  <a:latin typeface="Cambria Math" panose="02040503050406030204" pitchFamily="18" charset="0"/>
                                  <a:ea typeface="Avenir Book" charset="0"/>
                                  <a:cs typeface="Avenir Book" charset="0"/>
                                </a:rPr>
                              </m:ctrlPr>
                            </m:sSubPr>
                            <m:e>
                              <m:r>
                                <a:rPr lang="en-US" sz="2800" i="1">
                                  <a:latin typeface="Cambria Math" charset="0"/>
                                  <a:ea typeface="Avenir Book" charset="0"/>
                                  <a:cs typeface="Avenir Book" charset="0"/>
                                </a:rPr>
                                <m:t>𝑥</m:t>
                              </m:r>
                            </m:e>
                            <m:sub>
                              <m:r>
                                <a:rPr lang="en-US" sz="2800" i="1">
                                  <a:latin typeface="Cambria Math" charset="0"/>
                                  <a:ea typeface="Avenir Book" charset="0"/>
                                  <a:cs typeface="Avenir Book" charset="0"/>
                                </a:rPr>
                                <m:t>1</m:t>
                              </m:r>
                            </m:sub>
                          </m:sSub>
                        </m:oMath>
                      </m:oMathPara>
                    </a14:m>
                    <a:endParaRPr lang="en-US" sz="2800" dirty="0">
                      <a:latin typeface="Avenir Book" panose="02000503020000020003" pitchFamily="2" charset="0"/>
                      <a:ea typeface="Avenir Book" charset="0"/>
                      <a:cs typeface="Avenir Book" charset="0"/>
                    </a:endParaRPr>
                  </a:p>
                </p:txBody>
              </p:sp>
            </mc:Choice>
            <mc:Fallback xmlns="">
              <p:sp>
                <p:nvSpPr>
                  <p:cNvPr id="121" name="TextBox 120">
                    <a:extLst>
                      <a:ext uri="{FF2B5EF4-FFF2-40B4-BE49-F238E27FC236}">
                        <a16:creationId xmlns:a16="http://schemas.microsoft.com/office/drawing/2014/main" id="{31FB5343-F069-351A-F72A-E12E4918C4A4}"/>
                      </a:ext>
                    </a:extLst>
                  </p:cNvPr>
                  <p:cNvSpPr txBox="1">
                    <a:spLocks noRot="1" noChangeAspect="1" noMove="1" noResize="1" noEditPoints="1" noAdjustHandles="1" noChangeArrowheads="1" noChangeShapeType="1" noTextEdit="1"/>
                  </p:cNvSpPr>
                  <p:nvPr/>
                </p:nvSpPr>
                <p:spPr>
                  <a:xfrm>
                    <a:off x="6111015" y="5326326"/>
                    <a:ext cx="739947" cy="523220"/>
                  </a:xfrm>
                  <a:prstGeom prst="rect">
                    <a:avLst/>
                  </a:prstGeom>
                  <a:blipFill>
                    <a:blip r:embed="rId5"/>
                    <a:stretch>
                      <a:fillRect l="-6818" b="-2381"/>
                    </a:stretch>
                  </a:blipFill>
                </p:spPr>
                <p:txBody>
                  <a:bodyPr/>
                  <a:lstStyle/>
                  <a:p>
                    <a:r>
                      <a:rPr lang="en-US">
                        <a:noFill/>
                      </a:rPr>
                      <a:t> </a:t>
                    </a:r>
                  </a:p>
                </p:txBody>
              </p:sp>
            </mc:Fallback>
          </mc:AlternateContent>
        </p:grpSp>
      </p:grpSp>
      <p:sp>
        <p:nvSpPr>
          <p:cNvPr id="58" name="Oval 57">
            <a:extLst>
              <a:ext uri="{FF2B5EF4-FFF2-40B4-BE49-F238E27FC236}">
                <a16:creationId xmlns:a16="http://schemas.microsoft.com/office/drawing/2014/main" id="{FB9DF89C-D94D-6F79-F7FD-524817E92834}"/>
              </a:ext>
            </a:extLst>
          </p:cNvPr>
          <p:cNvSpPr/>
          <p:nvPr/>
        </p:nvSpPr>
        <p:spPr>
          <a:xfrm>
            <a:off x="8173507" y="5466977"/>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9" name="Oval 58">
            <a:extLst>
              <a:ext uri="{FF2B5EF4-FFF2-40B4-BE49-F238E27FC236}">
                <a16:creationId xmlns:a16="http://schemas.microsoft.com/office/drawing/2014/main" id="{37D46333-F881-56D5-CCBF-341725D6290B}"/>
              </a:ext>
            </a:extLst>
          </p:cNvPr>
          <p:cNvSpPr/>
          <p:nvPr/>
        </p:nvSpPr>
        <p:spPr>
          <a:xfrm>
            <a:off x="10352641" y="5104890"/>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0" name="Oval 59">
            <a:extLst>
              <a:ext uri="{FF2B5EF4-FFF2-40B4-BE49-F238E27FC236}">
                <a16:creationId xmlns:a16="http://schemas.microsoft.com/office/drawing/2014/main" id="{CBF36D6B-C998-A331-D54A-DDC84584703A}"/>
              </a:ext>
            </a:extLst>
          </p:cNvPr>
          <p:cNvSpPr/>
          <p:nvPr/>
        </p:nvSpPr>
        <p:spPr>
          <a:xfrm>
            <a:off x="9345297" y="4933423"/>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1" name="Oval 60">
            <a:extLst>
              <a:ext uri="{FF2B5EF4-FFF2-40B4-BE49-F238E27FC236}">
                <a16:creationId xmlns:a16="http://schemas.microsoft.com/office/drawing/2014/main" id="{C7F8779D-A577-73DB-5351-4675C81A7D57}"/>
              </a:ext>
            </a:extLst>
          </p:cNvPr>
          <p:cNvSpPr/>
          <p:nvPr/>
        </p:nvSpPr>
        <p:spPr>
          <a:xfrm>
            <a:off x="8885264" y="5126352"/>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2" name="Oval 61">
            <a:extLst>
              <a:ext uri="{FF2B5EF4-FFF2-40B4-BE49-F238E27FC236}">
                <a16:creationId xmlns:a16="http://schemas.microsoft.com/office/drawing/2014/main" id="{CE724CF1-43F7-7BD6-E801-6535D5A0CDDE}"/>
              </a:ext>
            </a:extLst>
          </p:cNvPr>
          <p:cNvSpPr/>
          <p:nvPr/>
        </p:nvSpPr>
        <p:spPr>
          <a:xfrm>
            <a:off x="9789929" y="5508500"/>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3" name="Oval 62">
            <a:extLst>
              <a:ext uri="{FF2B5EF4-FFF2-40B4-BE49-F238E27FC236}">
                <a16:creationId xmlns:a16="http://schemas.microsoft.com/office/drawing/2014/main" id="{ACAA0929-8E87-088A-0276-849124EF12EE}"/>
              </a:ext>
            </a:extLst>
          </p:cNvPr>
          <p:cNvSpPr/>
          <p:nvPr/>
        </p:nvSpPr>
        <p:spPr>
          <a:xfrm>
            <a:off x="8173507" y="4876800"/>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4" name="Oval 63">
            <a:extLst>
              <a:ext uri="{FF2B5EF4-FFF2-40B4-BE49-F238E27FC236}">
                <a16:creationId xmlns:a16="http://schemas.microsoft.com/office/drawing/2014/main" id="{27E1F483-51B1-29E0-05A9-DBEF6633D711}"/>
              </a:ext>
            </a:extLst>
          </p:cNvPr>
          <p:cNvSpPr/>
          <p:nvPr/>
        </p:nvSpPr>
        <p:spPr>
          <a:xfrm>
            <a:off x="7401223" y="4781146"/>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5" name="Oval 64">
            <a:extLst>
              <a:ext uri="{FF2B5EF4-FFF2-40B4-BE49-F238E27FC236}">
                <a16:creationId xmlns:a16="http://schemas.microsoft.com/office/drawing/2014/main" id="{77C2147A-2277-F6E2-7F7C-93F6F06DED9F}"/>
              </a:ext>
            </a:extLst>
          </p:cNvPr>
          <p:cNvSpPr/>
          <p:nvPr/>
        </p:nvSpPr>
        <p:spPr>
          <a:xfrm>
            <a:off x="7855504" y="4281925"/>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6" name="Oval 65">
            <a:extLst>
              <a:ext uri="{FF2B5EF4-FFF2-40B4-BE49-F238E27FC236}">
                <a16:creationId xmlns:a16="http://schemas.microsoft.com/office/drawing/2014/main" id="{C26BC3EA-EA19-5A88-6BDA-88E4AF30CAF6}"/>
              </a:ext>
            </a:extLst>
          </p:cNvPr>
          <p:cNvSpPr/>
          <p:nvPr/>
        </p:nvSpPr>
        <p:spPr>
          <a:xfrm>
            <a:off x="8423861" y="3916050"/>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7" name="Oval 66">
            <a:extLst>
              <a:ext uri="{FF2B5EF4-FFF2-40B4-BE49-F238E27FC236}">
                <a16:creationId xmlns:a16="http://schemas.microsoft.com/office/drawing/2014/main" id="{292B8FE5-B299-C5E1-F5F1-77EBAFB37634}"/>
              </a:ext>
            </a:extLst>
          </p:cNvPr>
          <p:cNvSpPr/>
          <p:nvPr/>
        </p:nvSpPr>
        <p:spPr>
          <a:xfrm>
            <a:off x="9392999" y="4426016"/>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8" name="Oval 67">
            <a:extLst>
              <a:ext uri="{FF2B5EF4-FFF2-40B4-BE49-F238E27FC236}">
                <a16:creationId xmlns:a16="http://schemas.microsoft.com/office/drawing/2014/main" id="{CF3C0885-4A6E-A5F2-D2D1-F3A292771D28}"/>
              </a:ext>
            </a:extLst>
          </p:cNvPr>
          <p:cNvSpPr/>
          <p:nvPr/>
        </p:nvSpPr>
        <p:spPr>
          <a:xfrm>
            <a:off x="9083579" y="4055757"/>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69" name="Oval 68">
            <a:extLst>
              <a:ext uri="{FF2B5EF4-FFF2-40B4-BE49-F238E27FC236}">
                <a16:creationId xmlns:a16="http://schemas.microsoft.com/office/drawing/2014/main" id="{3EB1043C-1656-6EA3-27FD-83803862A163}"/>
              </a:ext>
            </a:extLst>
          </p:cNvPr>
          <p:cNvSpPr/>
          <p:nvPr/>
        </p:nvSpPr>
        <p:spPr>
          <a:xfrm>
            <a:off x="10220987" y="4284357"/>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0" name="Oval 69">
            <a:extLst>
              <a:ext uri="{FF2B5EF4-FFF2-40B4-BE49-F238E27FC236}">
                <a16:creationId xmlns:a16="http://schemas.microsoft.com/office/drawing/2014/main" id="{DE3542C8-77F1-5C6A-4C6A-71A4FE4E015E}"/>
              </a:ext>
            </a:extLst>
          </p:cNvPr>
          <p:cNvSpPr/>
          <p:nvPr/>
        </p:nvSpPr>
        <p:spPr>
          <a:xfrm>
            <a:off x="7303901" y="3979557"/>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1" name="Oval 70">
            <a:extLst>
              <a:ext uri="{FF2B5EF4-FFF2-40B4-BE49-F238E27FC236}">
                <a16:creationId xmlns:a16="http://schemas.microsoft.com/office/drawing/2014/main" id="{E87D0807-10E6-7A4E-0584-57993B340502}"/>
              </a:ext>
            </a:extLst>
          </p:cNvPr>
          <p:cNvSpPr/>
          <p:nvPr/>
        </p:nvSpPr>
        <p:spPr>
          <a:xfrm>
            <a:off x="8184806" y="5466977"/>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2" name="Oval 71">
            <a:extLst>
              <a:ext uri="{FF2B5EF4-FFF2-40B4-BE49-F238E27FC236}">
                <a16:creationId xmlns:a16="http://schemas.microsoft.com/office/drawing/2014/main" id="{E752CCB1-47D0-0991-BFA9-141CB5516819}"/>
              </a:ext>
            </a:extLst>
          </p:cNvPr>
          <p:cNvSpPr/>
          <p:nvPr/>
        </p:nvSpPr>
        <p:spPr>
          <a:xfrm>
            <a:off x="10363940" y="5104890"/>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3" name="Oval 72">
            <a:extLst>
              <a:ext uri="{FF2B5EF4-FFF2-40B4-BE49-F238E27FC236}">
                <a16:creationId xmlns:a16="http://schemas.microsoft.com/office/drawing/2014/main" id="{2F5F39F9-7C76-5644-3AD6-512E974F7D6D}"/>
              </a:ext>
            </a:extLst>
          </p:cNvPr>
          <p:cNvSpPr/>
          <p:nvPr/>
        </p:nvSpPr>
        <p:spPr>
          <a:xfrm>
            <a:off x="9356596" y="4933423"/>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4" name="Oval 73">
            <a:extLst>
              <a:ext uri="{FF2B5EF4-FFF2-40B4-BE49-F238E27FC236}">
                <a16:creationId xmlns:a16="http://schemas.microsoft.com/office/drawing/2014/main" id="{F9C05004-7BBE-D909-76D3-C9F0BFEF15EA}"/>
              </a:ext>
            </a:extLst>
          </p:cNvPr>
          <p:cNvSpPr/>
          <p:nvPr/>
        </p:nvSpPr>
        <p:spPr>
          <a:xfrm>
            <a:off x="8896563" y="5126352"/>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5" name="Oval 74">
            <a:extLst>
              <a:ext uri="{FF2B5EF4-FFF2-40B4-BE49-F238E27FC236}">
                <a16:creationId xmlns:a16="http://schemas.microsoft.com/office/drawing/2014/main" id="{4DA18CDB-C32D-2B7C-1EF5-590FF7947C55}"/>
              </a:ext>
            </a:extLst>
          </p:cNvPr>
          <p:cNvSpPr/>
          <p:nvPr/>
        </p:nvSpPr>
        <p:spPr>
          <a:xfrm>
            <a:off x="9801228" y="5508500"/>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6" name="Oval 75">
            <a:extLst>
              <a:ext uri="{FF2B5EF4-FFF2-40B4-BE49-F238E27FC236}">
                <a16:creationId xmlns:a16="http://schemas.microsoft.com/office/drawing/2014/main" id="{8E4C06A0-87D4-8404-B57D-C466703E1A02}"/>
              </a:ext>
            </a:extLst>
          </p:cNvPr>
          <p:cNvSpPr/>
          <p:nvPr/>
        </p:nvSpPr>
        <p:spPr>
          <a:xfrm>
            <a:off x="8184806" y="4876800"/>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7" name="Oval 76">
            <a:extLst>
              <a:ext uri="{FF2B5EF4-FFF2-40B4-BE49-F238E27FC236}">
                <a16:creationId xmlns:a16="http://schemas.microsoft.com/office/drawing/2014/main" id="{B8194E9C-27FE-7120-F576-1FFA704352C2}"/>
              </a:ext>
            </a:extLst>
          </p:cNvPr>
          <p:cNvSpPr/>
          <p:nvPr/>
        </p:nvSpPr>
        <p:spPr>
          <a:xfrm>
            <a:off x="7412522" y="4781146"/>
            <a:ext cx="184757" cy="1847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8" name="Oval 77">
            <a:extLst>
              <a:ext uri="{FF2B5EF4-FFF2-40B4-BE49-F238E27FC236}">
                <a16:creationId xmlns:a16="http://schemas.microsoft.com/office/drawing/2014/main" id="{A3DCC671-BD88-8A66-6AEA-EFD32691F8DD}"/>
              </a:ext>
            </a:extLst>
          </p:cNvPr>
          <p:cNvSpPr/>
          <p:nvPr/>
        </p:nvSpPr>
        <p:spPr>
          <a:xfrm>
            <a:off x="7866803" y="4281925"/>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79" name="Oval 78">
            <a:extLst>
              <a:ext uri="{FF2B5EF4-FFF2-40B4-BE49-F238E27FC236}">
                <a16:creationId xmlns:a16="http://schemas.microsoft.com/office/drawing/2014/main" id="{BCFF665B-7841-1FDE-602F-49539B5768CE}"/>
              </a:ext>
            </a:extLst>
          </p:cNvPr>
          <p:cNvSpPr/>
          <p:nvPr/>
        </p:nvSpPr>
        <p:spPr>
          <a:xfrm>
            <a:off x="8435160" y="3916050"/>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0" name="Oval 79">
            <a:extLst>
              <a:ext uri="{FF2B5EF4-FFF2-40B4-BE49-F238E27FC236}">
                <a16:creationId xmlns:a16="http://schemas.microsoft.com/office/drawing/2014/main" id="{4F50DF27-AEA3-475F-9160-A8A413EB5E4E}"/>
              </a:ext>
            </a:extLst>
          </p:cNvPr>
          <p:cNvSpPr/>
          <p:nvPr/>
        </p:nvSpPr>
        <p:spPr>
          <a:xfrm>
            <a:off x="9404298" y="4426016"/>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1" name="Oval 80">
            <a:extLst>
              <a:ext uri="{FF2B5EF4-FFF2-40B4-BE49-F238E27FC236}">
                <a16:creationId xmlns:a16="http://schemas.microsoft.com/office/drawing/2014/main" id="{300F0376-81F2-08CF-3C06-32187DBC933A}"/>
              </a:ext>
            </a:extLst>
          </p:cNvPr>
          <p:cNvSpPr/>
          <p:nvPr/>
        </p:nvSpPr>
        <p:spPr>
          <a:xfrm>
            <a:off x="9094878" y="4055757"/>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2" name="Oval 81">
            <a:extLst>
              <a:ext uri="{FF2B5EF4-FFF2-40B4-BE49-F238E27FC236}">
                <a16:creationId xmlns:a16="http://schemas.microsoft.com/office/drawing/2014/main" id="{B514EA49-A47C-8D77-F572-D6B0BC1C753B}"/>
              </a:ext>
            </a:extLst>
          </p:cNvPr>
          <p:cNvSpPr/>
          <p:nvPr/>
        </p:nvSpPr>
        <p:spPr>
          <a:xfrm>
            <a:off x="10232286" y="4284357"/>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3" name="Oval 82">
            <a:extLst>
              <a:ext uri="{FF2B5EF4-FFF2-40B4-BE49-F238E27FC236}">
                <a16:creationId xmlns:a16="http://schemas.microsoft.com/office/drawing/2014/main" id="{1AF9E4C1-7539-F5A8-D231-F1F6C0A4C2C2}"/>
              </a:ext>
            </a:extLst>
          </p:cNvPr>
          <p:cNvSpPr/>
          <p:nvPr/>
        </p:nvSpPr>
        <p:spPr>
          <a:xfrm>
            <a:off x="7315200" y="3979557"/>
            <a:ext cx="189700" cy="1897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Tree>
    <p:extLst>
      <p:ext uri="{BB962C8B-B14F-4D97-AF65-F5344CB8AC3E}">
        <p14:creationId xmlns:p14="http://schemas.microsoft.com/office/powerpoint/2010/main" val="2569429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5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2" nodeType="click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par>
                                <p:cTn id="23" presetID="10" presetClass="entr" presetSubtype="0" fill="hold" grpId="2"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par>
                                <p:cTn id="26" presetID="10" presetClass="entr" presetSubtype="0" fill="hold" grpId="2" nodeType="with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500"/>
                                        <p:tgtEl>
                                          <p:spTgt spid="60"/>
                                        </p:tgtEl>
                                      </p:cBhvr>
                                    </p:animEffect>
                                  </p:childTnLst>
                                </p:cTn>
                              </p:par>
                              <p:par>
                                <p:cTn id="29" presetID="10" presetClass="entr" presetSubtype="0" fill="hold" grpId="2"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par>
                                <p:cTn id="32" presetID="10" presetClass="entr" presetSubtype="0" fill="hold" grpId="2" nodeType="with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00"/>
                                        <p:tgtEl>
                                          <p:spTgt spid="62"/>
                                        </p:tgtEl>
                                      </p:cBhvr>
                                    </p:animEffect>
                                  </p:childTnLst>
                                </p:cTn>
                              </p:par>
                              <p:par>
                                <p:cTn id="35" presetID="10" presetClass="entr" presetSubtype="0" fill="hold" grpId="2" nodeType="with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fade">
                                      <p:cBhvr>
                                        <p:cTn id="37" dur="500"/>
                                        <p:tgtEl>
                                          <p:spTgt spid="63"/>
                                        </p:tgtEl>
                                      </p:cBhvr>
                                    </p:animEffect>
                                  </p:childTnLst>
                                </p:cTn>
                              </p:par>
                              <p:par>
                                <p:cTn id="38" presetID="10" presetClass="entr" presetSubtype="0" fill="hold" grpId="2" nodeType="with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500"/>
                                        <p:tgtEl>
                                          <p:spTgt spid="64"/>
                                        </p:tgtEl>
                                      </p:cBhvr>
                                    </p:animEffect>
                                  </p:childTnLst>
                                </p:cTn>
                              </p:par>
                              <p:par>
                                <p:cTn id="41" presetID="10" presetClass="entr" presetSubtype="0" fill="hold" grpId="2" nodeType="with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fade">
                                      <p:cBhvr>
                                        <p:cTn id="43" dur="500"/>
                                        <p:tgtEl>
                                          <p:spTgt spid="65"/>
                                        </p:tgtEl>
                                      </p:cBhvr>
                                    </p:animEffect>
                                  </p:childTnLst>
                                </p:cTn>
                              </p:par>
                              <p:par>
                                <p:cTn id="44" presetID="10" presetClass="entr" presetSubtype="0" fill="hold" grpId="2" nodeType="withEffect">
                                  <p:stCondLst>
                                    <p:cond delay="0"/>
                                  </p:stCondLst>
                                  <p:childTnLst>
                                    <p:set>
                                      <p:cBhvr>
                                        <p:cTn id="45" dur="1" fill="hold">
                                          <p:stCondLst>
                                            <p:cond delay="0"/>
                                          </p:stCondLst>
                                        </p:cTn>
                                        <p:tgtEl>
                                          <p:spTgt spid="66"/>
                                        </p:tgtEl>
                                        <p:attrNameLst>
                                          <p:attrName>style.visibility</p:attrName>
                                        </p:attrNameLst>
                                      </p:cBhvr>
                                      <p:to>
                                        <p:strVal val="visible"/>
                                      </p:to>
                                    </p:set>
                                    <p:animEffect transition="in" filter="fade">
                                      <p:cBhvr>
                                        <p:cTn id="46" dur="500"/>
                                        <p:tgtEl>
                                          <p:spTgt spid="66"/>
                                        </p:tgtEl>
                                      </p:cBhvr>
                                    </p:animEffect>
                                  </p:childTnLst>
                                </p:cTn>
                              </p:par>
                              <p:par>
                                <p:cTn id="47" presetID="10" presetClass="entr" presetSubtype="0" fill="hold" grpId="2" nodeType="withEffect">
                                  <p:stCondLst>
                                    <p:cond delay="0"/>
                                  </p:stCondLst>
                                  <p:childTnLst>
                                    <p:set>
                                      <p:cBhvr>
                                        <p:cTn id="48" dur="1" fill="hold">
                                          <p:stCondLst>
                                            <p:cond delay="0"/>
                                          </p:stCondLst>
                                        </p:cTn>
                                        <p:tgtEl>
                                          <p:spTgt spid="67"/>
                                        </p:tgtEl>
                                        <p:attrNameLst>
                                          <p:attrName>style.visibility</p:attrName>
                                        </p:attrNameLst>
                                      </p:cBhvr>
                                      <p:to>
                                        <p:strVal val="visible"/>
                                      </p:to>
                                    </p:set>
                                    <p:animEffect transition="in" filter="fade">
                                      <p:cBhvr>
                                        <p:cTn id="49" dur="500"/>
                                        <p:tgtEl>
                                          <p:spTgt spid="67"/>
                                        </p:tgtEl>
                                      </p:cBhvr>
                                    </p:animEffect>
                                  </p:childTnLst>
                                </p:cTn>
                              </p:par>
                              <p:par>
                                <p:cTn id="50" presetID="10" presetClass="entr" presetSubtype="0" fill="hold" grpId="2"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fade">
                                      <p:cBhvr>
                                        <p:cTn id="52" dur="500"/>
                                        <p:tgtEl>
                                          <p:spTgt spid="68"/>
                                        </p:tgtEl>
                                      </p:cBhvr>
                                    </p:animEffect>
                                  </p:childTnLst>
                                </p:cTn>
                              </p:par>
                              <p:par>
                                <p:cTn id="53" presetID="10" presetClass="entr" presetSubtype="0" fill="hold" grpId="2" nodeType="withEffect">
                                  <p:stCondLst>
                                    <p:cond delay="0"/>
                                  </p:stCondLst>
                                  <p:childTnLst>
                                    <p:set>
                                      <p:cBhvr>
                                        <p:cTn id="54" dur="1" fill="hold">
                                          <p:stCondLst>
                                            <p:cond delay="0"/>
                                          </p:stCondLst>
                                        </p:cTn>
                                        <p:tgtEl>
                                          <p:spTgt spid="69"/>
                                        </p:tgtEl>
                                        <p:attrNameLst>
                                          <p:attrName>style.visibility</p:attrName>
                                        </p:attrNameLst>
                                      </p:cBhvr>
                                      <p:to>
                                        <p:strVal val="visible"/>
                                      </p:to>
                                    </p:set>
                                    <p:animEffect transition="in" filter="fade">
                                      <p:cBhvr>
                                        <p:cTn id="55" dur="500"/>
                                        <p:tgtEl>
                                          <p:spTgt spid="69"/>
                                        </p:tgtEl>
                                      </p:cBhvr>
                                    </p:animEffect>
                                  </p:childTnLst>
                                </p:cTn>
                              </p:par>
                              <p:par>
                                <p:cTn id="56" presetID="10" presetClass="entr" presetSubtype="0" fill="hold" grpId="2" nodeType="withEffect">
                                  <p:stCondLst>
                                    <p:cond delay="0"/>
                                  </p:stCondLst>
                                  <p:childTnLst>
                                    <p:set>
                                      <p:cBhvr>
                                        <p:cTn id="57" dur="1" fill="hold">
                                          <p:stCondLst>
                                            <p:cond delay="0"/>
                                          </p:stCondLst>
                                        </p:cTn>
                                        <p:tgtEl>
                                          <p:spTgt spid="70"/>
                                        </p:tgtEl>
                                        <p:attrNameLst>
                                          <p:attrName>style.visibility</p:attrName>
                                        </p:attrNameLst>
                                      </p:cBhvr>
                                      <p:to>
                                        <p:strVal val="visible"/>
                                      </p:to>
                                    </p:set>
                                    <p:animEffect transition="in" filter="fade">
                                      <p:cBhvr>
                                        <p:cTn id="58" dur="500"/>
                                        <p:tgtEl>
                                          <p:spTgt spid="70"/>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grpId="0" nodeType="clickEffect">
                                  <p:stCondLst>
                                    <p:cond delay="0"/>
                                  </p:stCondLst>
                                  <p:childTnLst>
                                    <p:animMotion origin="layout" path="M -4.79167E-6 1.85185E-6 L -4.79167E-6 0.09768 " pathEditMode="relative" rAng="0" ptsTypes="AA">
                                      <p:cBhvr>
                                        <p:cTn id="62" dur="2000" fill="hold"/>
                                        <p:tgtEl>
                                          <p:spTgt spid="58"/>
                                        </p:tgtEl>
                                        <p:attrNameLst>
                                          <p:attrName>ppt_x</p:attrName>
                                          <p:attrName>ppt_y</p:attrName>
                                        </p:attrNameLst>
                                      </p:cBhvr>
                                      <p:rCtr x="0" y="4884"/>
                                    </p:animMotion>
                                  </p:childTnLst>
                                </p:cTn>
                              </p:par>
                              <p:par>
                                <p:cTn id="63" presetID="42" presetClass="path" presetSubtype="0" accel="50000" decel="50000" fill="hold" grpId="0" nodeType="withEffect">
                                  <p:stCondLst>
                                    <p:cond delay="0"/>
                                  </p:stCondLst>
                                  <p:childTnLst>
                                    <p:animMotion origin="layout" path="M -6.25E-7 -3.7037E-7 L -6.25E-7 0.15046 " pathEditMode="relative" rAng="0" ptsTypes="AA">
                                      <p:cBhvr>
                                        <p:cTn id="64" dur="2000" fill="hold"/>
                                        <p:tgtEl>
                                          <p:spTgt spid="59"/>
                                        </p:tgtEl>
                                        <p:attrNameLst>
                                          <p:attrName>ppt_x</p:attrName>
                                          <p:attrName>ppt_y</p:attrName>
                                        </p:attrNameLst>
                                      </p:cBhvr>
                                      <p:rCtr x="0" y="7523"/>
                                    </p:animMotion>
                                  </p:childTnLst>
                                </p:cTn>
                              </p:par>
                              <p:par>
                                <p:cTn id="65" presetID="42" presetClass="path" presetSubtype="0" accel="50000" decel="50000" fill="hold" grpId="0" nodeType="withEffect">
                                  <p:stCondLst>
                                    <p:cond delay="0"/>
                                  </p:stCondLst>
                                  <p:childTnLst>
                                    <p:animMotion origin="layout" path="M 1.45833E-6 -3.7037E-7 L 1.45833E-6 0.17546 " pathEditMode="relative" rAng="0" ptsTypes="AA">
                                      <p:cBhvr>
                                        <p:cTn id="66" dur="2000" fill="hold"/>
                                        <p:tgtEl>
                                          <p:spTgt spid="60"/>
                                        </p:tgtEl>
                                        <p:attrNameLst>
                                          <p:attrName>ppt_x</p:attrName>
                                          <p:attrName>ppt_y</p:attrName>
                                        </p:attrNameLst>
                                      </p:cBhvr>
                                      <p:rCtr x="0" y="8773"/>
                                    </p:animMotion>
                                  </p:childTnLst>
                                </p:cTn>
                              </p:par>
                              <p:par>
                                <p:cTn id="67" presetID="42" presetClass="path" presetSubtype="0" accel="50000" decel="50000" fill="hold" grpId="0" nodeType="withEffect">
                                  <p:stCondLst>
                                    <p:cond delay="0"/>
                                  </p:stCondLst>
                                  <p:childTnLst>
                                    <p:animMotion origin="layout" path="M 1.875E-6 3.7037E-7 L 1.875E-6 0.14745 " pathEditMode="relative" rAng="0" ptsTypes="AA">
                                      <p:cBhvr>
                                        <p:cTn id="68" dur="2000" fill="hold"/>
                                        <p:tgtEl>
                                          <p:spTgt spid="61"/>
                                        </p:tgtEl>
                                        <p:attrNameLst>
                                          <p:attrName>ppt_x</p:attrName>
                                          <p:attrName>ppt_y</p:attrName>
                                        </p:attrNameLst>
                                      </p:cBhvr>
                                      <p:rCtr x="0" y="7361"/>
                                    </p:animMotion>
                                  </p:childTnLst>
                                </p:cTn>
                              </p:par>
                              <p:par>
                                <p:cTn id="69" presetID="42" presetClass="path" presetSubtype="0" accel="50000" decel="50000" fill="hold" grpId="0" nodeType="withEffect">
                                  <p:stCondLst>
                                    <p:cond delay="0"/>
                                  </p:stCondLst>
                                  <p:childTnLst>
                                    <p:animMotion origin="layout" path="M 3.125E-6 3.33333E-6 L 3.125E-6 0.09166 " pathEditMode="relative" rAng="0" ptsTypes="AA">
                                      <p:cBhvr>
                                        <p:cTn id="70" dur="2000" fill="hold"/>
                                        <p:tgtEl>
                                          <p:spTgt spid="62"/>
                                        </p:tgtEl>
                                        <p:attrNameLst>
                                          <p:attrName>ppt_x</p:attrName>
                                          <p:attrName>ppt_y</p:attrName>
                                        </p:attrNameLst>
                                      </p:cBhvr>
                                      <p:rCtr x="0" y="4583"/>
                                    </p:animMotion>
                                  </p:childTnLst>
                                </p:cTn>
                              </p:par>
                              <p:par>
                                <p:cTn id="71" presetID="42" presetClass="path" presetSubtype="0" accel="50000" decel="50000" fill="hold" grpId="0" nodeType="withEffect">
                                  <p:stCondLst>
                                    <p:cond delay="0"/>
                                  </p:stCondLst>
                                  <p:childTnLst>
                                    <p:animMotion origin="layout" path="M -4.79167E-6 2.96296E-6 L -4.79167E-6 0.18379 " pathEditMode="relative" rAng="0" ptsTypes="AA">
                                      <p:cBhvr>
                                        <p:cTn id="72" dur="2000" fill="hold"/>
                                        <p:tgtEl>
                                          <p:spTgt spid="63"/>
                                        </p:tgtEl>
                                        <p:attrNameLst>
                                          <p:attrName>ppt_x</p:attrName>
                                          <p:attrName>ppt_y</p:attrName>
                                        </p:attrNameLst>
                                      </p:cBhvr>
                                      <p:rCtr x="0" y="9190"/>
                                    </p:animMotion>
                                  </p:childTnLst>
                                </p:cTn>
                              </p:par>
                              <p:par>
                                <p:cTn id="73" presetID="42" presetClass="path" presetSubtype="0" accel="50000" decel="50000" fill="hold" grpId="0" nodeType="withEffect">
                                  <p:stCondLst>
                                    <p:cond delay="0"/>
                                  </p:stCondLst>
                                  <p:childTnLst>
                                    <p:animMotion origin="layout" path="M -3.33333E-6 1.85185E-6 L -3.33333E-6 0.19768 " pathEditMode="relative" rAng="0" ptsTypes="AA">
                                      <p:cBhvr>
                                        <p:cTn id="74" dur="2000" fill="hold"/>
                                        <p:tgtEl>
                                          <p:spTgt spid="64"/>
                                        </p:tgtEl>
                                        <p:attrNameLst>
                                          <p:attrName>ppt_x</p:attrName>
                                          <p:attrName>ppt_y</p:attrName>
                                        </p:attrNameLst>
                                      </p:cBhvr>
                                      <p:rCtr x="0" y="9884"/>
                                    </p:animMotion>
                                  </p:childTnLst>
                                </p:cTn>
                              </p:par>
                              <p:par>
                                <p:cTn id="75" presetID="42" presetClass="path" presetSubtype="0" accel="50000" decel="50000" fill="hold" grpId="0" nodeType="withEffect">
                                  <p:stCondLst>
                                    <p:cond delay="0"/>
                                  </p:stCondLst>
                                  <p:childTnLst>
                                    <p:animMotion origin="layout" path="M -3.33333E-6 -4.44444E-6 L -3.33333E-6 0.27014 " pathEditMode="relative" rAng="0" ptsTypes="AA">
                                      <p:cBhvr>
                                        <p:cTn id="76" dur="2000" fill="hold"/>
                                        <p:tgtEl>
                                          <p:spTgt spid="65"/>
                                        </p:tgtEl>
                                        <p:attrNameLst>
                                          <p:attrName>ppt_x</p:attrName>
                                          <p:attrName>ppt_y</p:attrName>
                                        </p:attrNameLst>
                                      </p:cBhvr>
                                      <p:rCtr x="0" y="13495"/>
                                    </p:animMotion>
                                  </p:childTnLst>
                                </p:cTn>
                              </p:par>
                              <p:par>
                                <p:cTn id="77" presetID="42" presetClass="path" presetSubtype="0" accel="50000" decel="50000" fill="hold" grpId="0" nodeType="withEffect">
                                  <p:stCondLst>
                                    <p:cond delay="0"/>
                                  </p:stCondLst>
                                  <p:childTnLst>
                                    <p:animMotion origin="layout" path="M 2.08333E-6 -2.22222E-6 L 2.08333E-6 0.32361 " pathEditMode="relative" rAng="0" ptsTypes="AA">
                                      <p:cBhvr>
                                        <p:cTn id="78" dur="2000" fill="hold"/>
                                        <p:tgtEl>
                                          <p:spTgt spid="66"/>
                                        </p:tgtEl>
                                        <p:attrNameLst>
                                          <p:attrName>ppt_x</p:attrName>
                                          <p:attrName>ppt_y</p:attrName>
                                        </p:attrNameLst>
                                      </p:cBhvr>
                                      <p:rCtr x="0" y="16181"/>
                                    </p:animMotion>
                                  </p:childTnLst>
                                </p:cTn>
                              </p:par>
                              <p:par>
                                <p:cTn id="79" presetID="42" presetClass="path" presetSubtype="0" accel="50000" decel="50000" fill="hold" grpId="0" nodeType="withEffect">
                                  <p:stCondLst>
                                    <p:cond delay="0"/>
                                  </p:stCondLst>
                                  <p:childTnLst>
                                    <p:animMotion origin="layout" path="M 5E-6 7.40741E-7 L 5E-6 0.25 " pathEditMode="relative" rAng="0" ptsTypes="AA">
                                      <p:cBhvr>
                                        <p:cTn id="80" dur="2000" fill="hold"/>
                                        <p:tgtEl>
                                          <p:spTgt spid="67"/>
                                        </p:tgtEl>
                                        <p:attrNameLst>
                                          <p:attrName>ppt_x</p:attrName>
                                          <p:attrName>ppt_y</p:attrName>
                                        </p:attrNameLst>
                                      </p:cBhvr>
                                      <p:rCtr x="0" y="12500"/>
                                    </p:animMotion>
                                  </p:childTnLst>
                                </p:cTn>
                              </p:par>
                              <p:par>
                                <p:cTn id="81" presetID="42" presetClass="path" presetSubtype="0" accel="50000" decel="50000" fill="hold" grpId="0" nodeType="withEffect">
                                  <p:stCondLst>
                                    <p:cond delay="0"/>
                                  </p:stCondLst>
                                  <p:childTnLst>
                                    <p:animMotion origin="layout" path="M -4.375E-6 -2.59259E-6 L -4.375E-6 0.30324 " pathEditMode="relative" rAng="0" ptsTypes="AA">
                                      <p:cBhvr>
                                        <p:cTn id="82" dur="2000" fill="hold"/>
                                        <p:tgtEl>
                                          <p:spTgt spid="68"/>
                                        </p:tgtEl>
                                        <p:attrNameLst>
                                          <p:attrName>ppt_x</p:attrName>
                                          <p:attrName>ppt_y</p:attrName>
                                        </p:attrNameLst>
                                      </p:cBhvr>
                                      <p:rCtr x="0" y="15162"/>
                                    </p:animMotion>
                                  </p:childTnLst>
                                </p:cTn>
                              </p:par>
                              <p:par>
                                <p:cTn id="83" presetID="42" presetClass="path" presetSubtype="0" accel="50000" decel="50000" fill="hold" grpId="0" nodeType="withEffect">
                                  <p:stCondLst>
                                    <p:cond delay="0"/>
                                  </p:stCondLst>
                                  <p:childTnLst>
                                    <p:animMotion origin="layout" path="M -3.75E-6 4.07407E-6 L -3.75E-6 0.2699 " pathEditMode="relative" rAng="0" ptsTypes="AA">
                                      <p:cBhvr>
                                        <p:cTn id="84" dur="2000" fill="hold"/>
                                        <p:tgtEl>
                                          <p:spTgt spid="69"/>
                                        </p:tgtEl>
                                        <p:attrNameLst>
                                          <p:attrName>ppt_x</p:attrName>
                                          <p:attrName>ppt_y</p:attrName>
                                        </p:attrNameLst>
                                      </p:cBhvr>
                                      <p:rCtr x="0" y="13495"/>
                                    </p:animMotion>
                                  </p:childTnLst>
                                </p:cTn>
                              </p:par>
                              <p:par>
                                <p:cTn id="85" presetID="42" presetClass="path" presetSubtype="0" accel="50000" decel="50000" fill="hold" grpId="0" nodeType="withEffect">
                                  <p:stCondLst>
                                    <p:cond delay="0"/>
                                  </p:stCondLst>
                                  <p:childTnLst>
                                    <p:animMotion origin="layout" path="M -8.33333E-7 -1.48148E-6 L -8.33333E-7 0.31435 " pathEditMode="relative" rAng="0" ptsTypes="AA">
                                      <p:cBhvr>
                                        <p:cTn id="86" dur="2000" fill="hold"/>
                                        <p:tgtEl>
                                          <p:spTgt spid="70"/>
                                        </p:tgtEl>
                                        <p:attrNameLst>
                                          <p:attrName>ppt_x</p:attrName>
                                          <p:attrName>ppt_y</p:attrName>
                                        </p:attrNameLst>
                                      </p:cBhvr>
                                      <p:rCtr x="0" y="15718"/>
                                    </p:animMotion>
                                  </p:childTnLst>
                                </p:cTn>
                              </p:par>
                            </p:childTnLst>
                          </p:cTn>
                        </p:par>
                        <p:par>
                          <p:cTn id="87" fill="hold">
                            <p:stCondLst>
                              <p:cond delay="2000"/>
                            </p:stCondLst>
                            <p:childTnLst>
                              <p:par>
                                <p:cTn id="88" presetID="10" presetClass="entr" presetSubtype="0" fill="hold" grpId="0" nodeType="afterEffect">
                                  <p:stCondLst>
                                    <p:cond delay="0"/>
                                  </p:stCondLst>
                                  <p:childTnLst>
                                    <p:set>
                                      <p:cBhvr>
                                        <p:cTn id="89" dur="1" fill="hold">
                                          <p:stCondLst>
                                            <p:cond delay="0"/>
                                          </p:stCondLst>
                                        </p:cTn>
                                        <p:tgtEl>
                                          <p:spTgt spid="50"/>
                                        </p:tgtEl>
                                        <p:attrNameLst>
                                          <p:attrName>style.visibility</p:attrName>
                                        </p:attrNameLst>
                                      </p:cBhvr>
                                      <p:to>
                                        <p:strVal val="visible"/>
                                      </p:to>
                                    </p:set>
                                    <p:animEffect transition="in" filter="fade">
                                      <p:cBhvr>
                                        <p:cTn id="90" dur="500"/>
                                        <p:tgtEl>
                                          <p:spTgt spid="50"/>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grpId="1" nodeType="clickEffect">
                                  <p:stCondLst>
                                    <p:cond delay="0"/>
                                  </p:stCondLst>
                                  <p:childTnLst>
                                    <p:animEffect transition="out" filter="fade">
                                      <p:cBhvr>
                                        <p:cTn id="94" dur="500"/>
                                        <p:tgtEl>
                                          <p:spTgt spid="58"/>
                                        </p:tgtEl>
                                      </p:cBhvr>
                                    </p:animEffect>
                                    <p:set>
                                      <p:cBhvr>
                                        <p:cTn id="95" dur="1" fill="hold">
                                          <p:stCondLst>
                                            <p:cond delay="499"/>
                                          </p:stCondLst>
                                        </p:cTn>
                                        <p:tgtEl>
                                          <p:spTgt spid="58"/>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500"/>
                                        <p:tgtEl>
                                          <p:spTgt spid="59"/>
                                        </p:tgtEl>
                                      </p:cBhvr>
                                    </p:animEffect>
                                    <p:set>
                                      <p:cBhvr>
                                        <p:cTn id="98" dur="1" fill="hold">
                                          <p:stCondLst>
                                            <p:cond delay="499"/>
                                          </p:stCondLst>
                                        </p:cTn>
                                        <p:tgtEl>
                                          <p:spTgt spid="59"/>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500"/>
                                        <p:tgtEl>
                                          <p:spTgt spid="60"/>
                                        </p:tgtEl>
                                      </p:cBhvr>
                                    </p:animEffect>
                                    <p:set>
                                      <p:cBhvr>
                                        <p:cTn id="101" dur="1" fill="hold">
                                          <p:stCondLst>
                                            <p:cond delay="499"/>
                                          </p:stCondLst>
                                        </p:cTn>
                                        <p:tgtEl>
                                          <p:spTgt spid="60"/>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500"/>
                                        <p:tgtEl>
                                          <p:spTgt spid="61"/>
                                        </p:tgtEl>
                                      </p:cBhvr>
                                    </p:animEffect>
                                    <p:set>
                                      <p:cBhvr>
                                        <p:cTn id="104" dur="1" fill="hold">
                                          <p:stCondLst>
                                            <p:cond delay="499"/>
                                          </p:stCondLst>
                                        </p:cTn>
                                        <p:tgtEl>
                                          <p:spTgt spid="61"/>
                                        </p:tgtEl>
                                        <p:attrNameLst>
                                          <p:attrName>style.visibility</p:attrName>
                                        </p:attrNameLst>
                                      </p:cBhvr>
                                      <p:to>
                                        <p:strVal val="hidden"/>
                                      </p:to>
                                    </p:set>
                                  </p:childTnLst>
                                </p:cTn>
                              </p:par>
                              <p:par>
                                <p:cTn id="105" presetID="10" presetClass="exit" presetSubtype="0" fill="hold" grpId="1" nodeType="withEffect">
                                  <p:stCondLst>
                                    <p:cond delay="0"/>
                                  </p:stCondLst>
                                  <p:childTnLst>
                                    <p:animEffect transition="out" filter="fade">
                                      <p:cBhvr>
                                        <p:cTn id="106" dur="500"/>
                                        <p:tgtEl>
                                          <p:spTgt spid="62"/>
                                        </p:tgtEl>
                                      </p:cBhvr>
                                    </p:animEffect>
                                    <p:set>
                                      <p:cBhvr>
                                        <p:cTn id="107" dur="1" fill="hold">
                                          <p:stCondLst>
                                            <p:cond delay="499"/>
                                          </p:stCondLst>
                                        </p:cTn>
                                        <p:tgtEl>
                                          <p:spTgt spid="62"/>
                                        </p:tgtEl>
                                        <p:attrNameLst>
                                          <p:attrName>style.visibility</p:attrName>
                                        </p:attrNameLst>
                                      </p:cBhvr>
                                      <p:to>
                                        <p:strVal val="hidden"/>
                                      </p:to>
                                    </p:set>
                                  </p:childTnLst>
                                </p:cTn>
                              </p:par>
                              <p:par>
                                <p:cTn id="108" presetID="10" presetClass="exit" presetSubtype="0" fill="hold" grpId="1" nodeType="withEffect">
                                  <p:stCondLst>
                                    <p:cond delay="0"/>
                                  </p:stCondLst>
                                  <p:childTnLst>
                                    <p:animEffect transition="out" filter="fade">
                                      <p:cBhvr>
                                        <p:cTn id="109" dur="500"/>
                                        <p:tgtEl>
                                          <p:spTgt spid="63"/>
                                        </p:tgtEl>
                                      </p:cBhvr>
                                    </p:animEffect>
                                    <p:set>
                                      <p:cBhvr>
                                        <p:cTn id="110" dur="1" fill="hold">
                                          <p:stCondLst>
                                            <p:cond delay="499"/>
                                          </p:stCondLst>
                                        </p:cTn>
                                        <p:tgtEl>
                                          <p:spTgt spid="63"/>
                                        </p:tgtEl>
                                        <p:attrNameLst>
                                          <p:attrName>style.visibility</p:attrName>
                                        </p:attrNameLst>
                                      </p:cBhvr>
                                      <p:to>
                                        <p:strVal val="hidden"/>
                                      </p:to>
                                    </p:set>
                                  </p:childTnLst>
                                </p:cTn>
                              </p:par>
                              <p:par>
                                <p:cTn id="111" presetID="10" presetClass="exit" presetSubtype="0" fill="hold" grpId="1" nodeType="withEffect">
                                  <p:stCondLst>
                                    <p:cond delay="0"/>
                                  </p:stCondLst>
                                  <p:childTnLst>
                                    <p:animEffect transition="out" filter="fade">
                                      <p:cBhvr>
                                        <p:cTn id="112" dur="500"/>
                                        <p:tgtEl>
                                          <p:spTgt spid="64"/>
                                        </p:tgtEl>
                                      </p:cBhvr>
                                    </p:animEffect>
                                    <p:set>
                                      <p:cBhvr>
                                        <p:cTn id="113" dur="1" fill="hold">
                                          <p:stCondLst>
                                            <p:cond delay="499"/>
                                          </p:stCondLst>
                                        </p:cTn>
                                        <p:tgtEl>
                                          <p:spTgt spid="64"/>
                                        </p:tgtEl>
                                        <p:attrNameLst>
                                          <p:attrName>style.visibility</p:attrName>
                                        </p:attrNameLst>
                                      </p:cBhvr>
                                      <p:to>
                                        <p:strVal val="hidden"/>
                                      </p:to>
                                    </p:set>
                                  </p:childTnLst>
                                </p:cTn>
                              </p:par>
                              <p:par>
                                <p:cTn id="114" presetID="10" presetClass="exit" presetSubtype="0" fill="hold" grpId="1" nodeType="withEffect">
                                  <p:stCondLst>
                                    <p:cond delay="0"/>
                                  </p:stCondLst>
                                  <p:childTnLst>
                                    <p:animEffect transition="out" filter="fade">
                                      <p:cBhvr>
                                        <p:cTn id="115" dur="500"/>
                                        <p:tgtEl>
                                          <p:spTgt spid="65"/>
                                        </p:tgtEl>
                                      </p:cBhvr>
                                    </p:animEffect>
                                    <p:set>
                                      <p:cBhvr>
                                        <p:cTn id="116" dur="1" fill="hold">
                                          <p:stCondLst>
                                            <p:cond delay="499"/>
                                          </p:stCondLst>
                                        </p:cTn>
                                        <p:tgtEl>
                                          <p:spTgt spid="65"/>
                                        </p:tgtEl>
                                        <p:attrNameLst>
                                          <p:attrName>style.visibility</p:attrName>
                                        </p:attrNameLst>
                                      </p:cBhvr>
                                      <p:to>
                                        <p:strVal val="hidden"/>
                                      </p:to>
                                    </p:set>
                                  </p:childTnLst>
                                </p:cTn>
                              </p:par>
                              <p:par>
                                <p:cTn id="117" presetID="10" presetClass="exit" presetSubtype="0" fill="hold" grpId="1" nodeType="withEffect">
                                  <p:stCondLst>
                                    <p:cond delay="0"/>
                                  </p:stCondLst>
                                  <p:childTnLst>
                                    <p:animEffect transition="out" filter="fade">
                                      <p:cBhvr>
                                        <p:cTn id="118" dur="500"/>
                                        <p:tgtEl>
                                          <p:spTgt spid="66"/>
                                        </p:tgtEl>
                                      </p:cBhvr>
                                    </p:animEffect>
                                    <p:set>
                                      <p:cBhvr>
                                        <p:cTn id="119" dur="1" fill="hold">
                                          <p:stCondLst>
                                            <p:cond delay="499"/>
                                          </p:stCondLst>
                                        </p:cTn>
                                        <p:tgtEl>
                                          <p:spTgt spid="66"/>
                                        </p:tgtEl>
                                        <p:attrNameLst>
                                          <p:attrName>style.visibility</p:attrName>
                                        </p:attrNameLst>
                                      </p:cBhvr>
                                      <p:to>
                                        <p:strVal val="hidden"/>
                                      </p:to>
                                    </p:set>
                                  </p:childTnLst>
                                </p:cTn>
                              </p:par>
                              <p:par>
                                <p:cTn id="120" presetID="10" presetClass="exit" presetSubtype="0" fill="hold" grpId="1" nodeType="withEffect">
                                  <p:stCondLst>
                                    <p:cond delay="0"/>
                                  </p:stCondLst>
                                  <p:childTnLst>
                                    <p:animEffect transition="out" filter="fade">
                                      <p:cBhvr>
                                        <p:cTn id="121" dur="500"/>
                                        <p:tgtEl>
                                          <p:spTgt spid="67"/>
                                        </p:tgtEl>
                                      </p:cBhvr>
                                    </p:animEffect>
                                    <p:set>
                                      <p:cBhvr>
                                        <p:cTn id="122" dur="1" fill="hold">
                                          <p:stCondLst>
                                            <p:cond delay="499"/>
                                          </p:stCondLst>
                                        </p:cTn>
                                        <p:tgtEl>
                                          <p:spTgt spid="67"/>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500"/>
                                        <p:tgtEl>
                                          <p:spTgt spid="68"/>
                                        </p:tgtEl>
                                      </p:cBhvr>
                                    </p:animEffect>
                                    <p:set>
                                      <p:cBhvr>
                                        <p:cTn id="125" dur="1" fill="hold">
                                          <p:stCondLst>
                                            <p:cond delay="499"/>
                                          </p:stCondLst>
                                        </p:cTn>
                                        <p:tgtEl>
                                          <p:spTgt spid="68"/>
                                        </p:tgtEl>
                                        <p:attrNameLst>
                                          <p:attrName>style.visibility</p:attrName>
                                        </p:attrNameLst>
                                      </p:cBhvr>
                                      <p:to>
                                        <p:strVal val="hidden"/>
                                      </p:to>
                                    </p:set>
                                  </p:childTnLst>
                                </p:cTn>
                              </p:par>
                              <p:par>
                                <p:cTn id="126" presetID="10" presetClass="exit" presetSubtype="0" fill="hold" grpId="1" nodeType="withEffect">
                                  <p:stCondLst>
                                    <p:cond delay="0"/>
                                  </p:stCondLst>
                                  <p:childTnLst>
                                    <p:animEffect transition="out" filter="fade">
                                      <p:cBhvr>
                                        <p:cTn id="127" dur="500"/>
                                        <p:tgtEl>
                                          <p:spTgt spid="69"/>
                                        </p:tgtEl>
                                      </p:cBhvr>
                                    </p:animEffect>
                                    <p:set>
                                      <p:cBhvr>
                                        <p:cTn id="128" dur="1" fill="hold">
                                          <p:stCondLst>
                                            <p:cond delay="499"/>
                                          </p:stCondLst>
                                        </p:cTn>
                                        <p:tgtEl>
                                          <p:spTgt spid="69"/>
                                        </p:tgtEl>
                                        <p:attrNameLst>
                                          <p:attrName>style.visibility</p:attrName>
                                        </p:attrNameLst>
                                      </p:cBhvr>
                                      <p:to>
                                        <p:strVal val="hidden"/>
                                      </p:to>
                                    </p:set>
                                  </p:childTnLst>
                                </p:cTn>
                              </p:par>
                              <p:par>
                                <p:cTn id="129" presetID="10" presetClass="exit" presetSubtype="0" fill="hold" grpId="1" nodeType="withEffect">
                                  <p:stCondLst>
                                    <p:cond delay="0"/>
                                  </p:stCondLst>
                                  <p:childTnLst>
                                    <p:animEffect transition="out" filter="fade">
                                      <p:cBhvr>
                                        <p:cTn id="130" dur="500"/>
                                        <p:tgtEl>
                                          <p:spTgt spid="70"/>
                                        </p:tgtEl>
                                      </p:cBhvr>
                                    </p:animEffect>
                                    <p:set>
                                      <p:cBhvr>
                                        <p:cTn id="131" dur="1" fill="hold">
                                          <p:stCondLst>
                                            <p:cond delay="499"/>
                                          </p:stCondLst>
                                        </p:cTn>
                                        <p:tgtEl>
                                          <p:spTgt spid="70"/>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1" nodeType="clickEffect">
                                  <p:stCondLst>
                                    <p:cond delay="0"/>
                                  </p:stCondLst>
                                  <p:childTnLst>
                                    <p:set>
                                      <p:cBhvr>
                                        <p:cTn id="135" dur="1" fill="hold">
                                          <p:stCondLst>
                                            <p:cond delay="0"/>
                                          </p:stCondLst>
                                        </p:cTn>
                                        <p:tgtEl>
                                          <p:spTgt spid="83"/>
                                        </p:tgtEl>
                                        <p:attrNameLst>
                                          <p:attrName>style.visibility</p:attrName>
                                        </p:attrNameLst>
                                      </p:cBhvr>
                                      <p:to>
                                        <p:strVal val="visible"/>
                                      </p:to>
                                    </p:set>
                                    <p:animEffect transition="in" filter="fade">
                                      <p:cBhvr>
                                        <p:cTn id="136" dur="500"/>
                                        <p:tgtEl>
                                          <p:spTgt spid="83"/>
                                        </p:tgtEl>
                                      </p:cBhvr>
                                    </p:animEffect>
                                  </p:childTnLst>
                                </p:cTn>
                              </p:par>
                              <p:par>
                                <p:cTn id="137" presetID="10" presetClass="entr" presetSubtype="0" fill="hold" grpId="1" nodeType="withEffect">
                                  <p:stCondLst>
                                    <p:cond delay="0"/>
                                  </p:stCondLst>
                                  <p:childTnLst>
                                    <p:set>
                                      <p:cBhvr>
                                        <p:cTn id="138" dur="1" fill="hold">
                                          <p:stCondLst>
                                            <p:cond delay="0"/>
                                          </p:stCondLst>
                                        </p:cTn>
                                        <p:tgtEl>
                                          <p:spTgt spid="81"/>
                                        </p:tgtEl>
                                        <p:attrNameLst>
                                          <p:attrName>style.visibility</p:attrName>
                                        </p:attrNameLst>
                                      </p:cBhvr>
                                      <p:to>
                                        <p:strVal val="visible"/>
                                      </p:to>
                                    </p:set>
                                    <p:animEffect transition="in" filter="fade">
                                      <p:cBhvr>
                                        <p:cTn id="139" dur="500"/>
                                        <p:tgtEl>
                                          <p:spTgt spid="81"/>
                                        </p:tgtEl>
                                      </p:cBhvr>
                                    </p:animEffect>
                                  </p:childTnLst>
                                </p:cTn>
                              </p:par>
                              <p:par>
                                <p:cTn id="140" presetID="10" presetClass="entr" presetSubtype="0" fill="hold" grpId="1" nodeType="withEffect">
                                  <p:stCondLst>
                                    <p:cond delay="0"/>
                                  </p:stCondLst>
                                  <p:childTnLst>
                                    <p:set>
                                      <p:cBhvr>
                                        <p:cTn id="141" dur="1" fill="hold">
                                          <p:stCondLst>
                                            <p:cond delay="0"/>
                                          </p:stCondLst>
                                        </p:cTn>
                                        <p:tgtEl>
                                          <p:spTgt spid="82"/>
                                        </p:tgtEl>
                                        <p:attrNameLst>
                                          <p:attrName>style.visibility</p:attrName>
                                        </p:attrNameLst>
                                      </p:cBhvr>
                                      <p:to>
                                        <p:strVal val="visible"/>
                                      </p:to>
                                    </p:set>
                                    <p:animEffect transition="in" filter="fade">
                                      <p:cBhvr>
                                        <p:cTn id="142" dur="500"/>
                                        <p:tgtEl>
                                          <p:spTgt spid="82"/>
                                        </p:tgtEl>
                                      </p:cBhvr>
                                    </p:animEffect>
                                  </p:childTnLst>
                                </p:cTn>
                              </p:par>
                              <p:par>
                                <p:cTn id="143" presetID="10" presetClass="entr" presetSubtype="0" fill="hold" grpId="1" nodeType="withEffect">
                                  <p:stCondLst>
                                    <p:cond delay="0"/>
                                  </p:stCondLst>
                                  <p:childTnLst>
                                    <p:set>
                                      <p:cBhvr>
                                        <p:cTn id="144" dur="1" fill="hold">
                                          <p:stCondLst>
                                            <p:cond delay="0"/>
                                          </p:stCondLst>
                                        </p:cTn>
                                        <p:tgtEl>
                                          <p:spTgt spid="80"/>
                                        </p:tgtEl>
                                        <p:attrNameLst>
                                          <p:attrName>style.visibility</p:attrName>
                                        </p:attrNameLst>
                                      </p:cBhvr>
                                      <p:to>
                                        <p:strVal val="visible"/>
                                      </p:to>
                                    </p:set>
                                    <p:animEffect transition="in" filter="fade">
                                      <p:cBhvr>
                                        <p:cTn id="145" dur="500"/>
                                        <p:tgtEl>
                                          <p:spTgt spid="80"/>
                                        </p:tgtEl>
                                      </p:cBhvr>
                                    </p:animEffect>
                                  </p:childTnLst>
                                </p:cTn>
                              </p:par>
                              <p:par>
                                <p:cTn id="146" presetID="10" presetClass="entr" presetSubtype="0" fill="hold" grpId="1" nodeType="withEffect">
                                  <p:stCondLst>
                                    <p:cond delay="0"/>
                                  </p:stCondLst>
                                  <p:childTnLst>
                                    <p:set>
                                      <p:cBhvr>
                                        <p:cTn id="147" dur="1" fill="hold">
                                          <p:stCondLst>
                                            <p:cond delay="0"/>
                                          </p:stCondLst>
                                        </p:cTn>
                                        <p:tgtEl>
                                          <p:spTgt spid="79"/>
                                        </p:tgtEl>
                                        <p:attrNameLst>
                                          <p:attrName>style.visibility</p:attrName>
                                        </p:attrNameLst>
                                      </p:cBhvr>
                                      <p:to>
                                        <p:strVal val="visible"/>
                                      </p:to>
                                    </p:set>
                                    <p:animEffect transition="in" filter="fade">
                                      <p:cBhvr>
                                        <p:cTn id="148" dur="500"/>
                                        <p:tgtEl>
                                          <p:spTgt spid="79"/>
                                        </p:tgtEl>
                                      </p:cBhvr>
                                    </p:animEffect>
                                  </p:childTnLst>
                                </p:cTn>
                              </p:par>
                              <p:par>
                                <p:cTn id="149" presetID="10" presetClass="entr" presetSubtype="0" fill="hold" grpId="1" nodeType="withEffect">
                                  <p:stCondLst>
                                    <p:cond delay="0"/>
                                  </p:stCondLst>
                                  <p:childTnLst>
                                    <p:set>
                                      <p:cBhvr>
                                        <p:cTn id="150" dur="1" fill="hold">
                                          <p:stCondLst>
                                            <p:cond delay="0"/>
                                          </p:stCondLst>
                                        </p:cTn>
                                        <p:tgtEl>
                                          <p:spTgt spid="78"/>
                                        </p:tgtEl>
                                        <p:attrNameLst>
                                          <p:attrName>style.visibility</p:attrName>
                                        </p:attrNameLst>
                                      </p:cBhvr>
                                      <p:to>
                                        <p:strVal val="visible"/>
                                      </p:to>
                                    </p:set>
                                    <p:animEffect transition="in" filter="fade">
                                      <p:cBhvr>
                                        <p:cTn id="151" dur="500"/>
                                        <p:tgtEl>
                                          <p:spTgt spid="78"/>
                                        </p:tgtEl>
                                      </p:cBhvr>
                                    </p:animEffect>
                                  </p:childTnLst>
                                </p:cTn>
                              </p:par>
                              <p:par>
                                <p:cTn id="152" presetID="10" presetClass="entr" presetSubtype="0" fill="hold" grpId="1" nodeType="withEffect">
                                  <p:stCondLst>
                                    <p:cond delay="0"/>
                                  </p:stCondLst>
                                  <p:childTnLst>
                                    <p:set>
                                      <p:cBhvr>
                                        <p:cTn id="153" dur="1" fill="hold">
                                          <p:stCondLst>
                                            <p:cond delay="0"/>
                                          </p:stCondLst>
                                        </p:cTn>
                                        <p:tgtEl>
                                          <p:spTgt spid="77"/>
                                        </p:tgtEl>
                                        <p:attrNameLst>
                                          <p:attrName>style.visibility</p:attrName>
                                        </p:attrNameLst>
                                      </p:cBhvr>
                                      <p:to>
                                        <p:strVal val="visible"/>
                                      </p:to>
                                    </p:set>
                                    <p:animEffect transition="in" filter="fade">
                                      <p:cBhvr>
                                        <p:cTn id="154" dur="500"/>
                                        <p:tgtEl>
                                          <p:spTgt spid="77"/>
                                        </p:tgtEl>
                                      </p:cBhvr>
                                    </p:animEffect>
                                  </p:childTnLst>
                                </p:cTn>
                              </p:par>
                              <p:par>
                                <p:cTn id="155" presetID="10" presetClass="entr" presetSubtype="0" fill="hold" grpId="1" nodeType="with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500"/>
                                        <p:tgtEl>
                                          <p:spTgt spid="76"/>
                                        </p:tgtEl>
                                      </p:cBhvr>
                                    </p:animEffect>
                                  </p:childTnLst>
                                </p:cTn>
                              </p:par>
                              <p:par>
                                <p:cTn id="158" presetID="10" presetClass="entr" presetSubtype="0" fill="hold" grpId="1" nodeType="withEffect">
                                  <p:stCondLst>
                                    <p:cond delay="0"/>
                                  </p:stCondLst>
                                  <p:childTnLst>
                                    <p:set>
                                      <p:cBhvr>
                                        <p:cTn id="159" dur="1" fill="hold">
                                          <p:stCondLst>
                                            <p:cond delay="0"/>
                                          </p:stCondLst>
                                        </p:cTn>
                                        <p:tgtEl>
                                          <p:spTgt spid="73"/>
                                        </p:tgtEl>
                                        <p:attrNameLst>
                                          <p:attrName>style.visibility</p:attrName>
                                        </p:attrNameLst>
                                      </p:cBhvr>
                                      <p:to>
                                        <p:strVal val="visible"/>
                                      </p:to>
                                    </p:set>
                                    <p:animEffect transition="in" filter="fade">
                                      <p:cBhvr>
                                        <p:cTn id="160" dur="500"/>
                                        <p:tgtEl>
                                          <p:spTgt spid="73"/>
                                        </p:tgtEl>
                                      </p:cBhvr>
                                    </p:animEffect>
                                  </p:childTnLst>
                                </p:cTn>
                              </p:par>
                              <p:par>
                                <p:cTn id="161" presetID="10" presetClass="entr" presetSubtype="0" fill="hold" grpId="1" nodeType="withEffect">
                                  <p:stCondLst>
                                    <p:cond delay="0"/>
                                  </p:stCondLst>
                                  <p:childTnLst>
                                    <p:set>
                                      <p:cBhvr>
                                        <p:cTn id="162" dur="1" fill="hold">
                                          <p:stCondLst>
                                            <p:cond delay="0"/>
                                          </p:stCondLst>
                                        </p:cTn>
                                        <p:tgtEl>
                                          <p:spTgt spid="72"/>
                                        </p:tgtEl>
                                        <p:attrNameLst>
                                          <p:attrName>style.visibility</p:attrName>
                                        </p:attrNameLst>
                                      </p:cBhvr>
                                      <p:to>
                                        <p:strVal val="visible"/>
                                      </p:to>
                                    </p:set>
                                    <p:animEffect transition="in" filter="fade">
                                      <p:cBhvr>
                                        <p:cTn id="163" dur="500"/>
                                        <p:tgtEl>
                                          <p:spTgt spid="72"/>
                                        </p:tgtEl>
                                      </p:cBhvr>
                                    </p:animEffect>
                                  </p:childTnLst>
                                </p:cTn>
                              </p:par>
                              <p:par>
                                <p:cTn id="164" presetID="10" presetClass="entr" presetSubtype="0" fill="hold" grpId="1" nodeType="withEffect">
                                  <p:stCondLst>
                                    <p:cond delay="0"/>
                                  </p:stCondLst>
                                  <p:childTnLst>
                                    <p:set>
                                      <p:cBhvr>
                                        <p:cTn id="165" dur="1" fill="hold">
                                          <p:stCondLst>
                                            <p:cond delay="0"/>
                                          </p:stCondLst>
                                        </p:cTn>
                                        <p:tgtEl>
                                          <p:spTgt spid="74"/>
                                        </p:tgtEl>
                                        <p:attrNameLst>
                                          <p:attrName>style.visibility</p:attrName>
                                        </p:attrNameLst>
                                      </p:cBhvr>
                                      <p:to>
                                        <p:strVal val="visible"/>
                                      </p:to>
                                    </p:set>
                                    <p:animEffect transition="in" filter="fade">
                                      <p:cBhvr>
                                        <p:cTn id="166" dur="500"/>
                                        <p:tgtEl>
                                          <p:spTgt spid="74"/>
                                        </p:tgtEl>
                                      </p:cBhvr>
                                    </p:animEffect>
                                  </p:childTnLst>
                                </p:cTn>
                              </p:par>
                              <p:par>
                                <p:cTn id="167" presetID="10" presetClass="entr" presetSubtype="0" fill="hold" grpId="1" nodeType="withEffect">
                                  <p:stCondLst>
                                    <p:cond delay="0"/>
                                  </p:stCondLst>
                                  <p:childTnLst>
                                    <p:set>
                                      <p:cBhvr>
                                        <p:cTn id="168" dur="1" fill="hold">
                                          <p:stCondLst>
                                            <p:cond delay="0"/>
                                          </p:stCondLst>
                                        </p:cTn>
                                        <p:tgtEl>
                                          <p:spTgt spid="75"/>
                                        </p:tgtEl>
                                        <p:attrNameLst>
                                          <p:attrName>style.visibility</p:attrName>
                                        </p:attrNameLst>
                                      </p:cBhvr>
                                      <p:to>
                                        <p:strVal val="visible"/>
                                      </p:to>
                                    </p:set>
                                    <p:animEffect transition="in" filter="fade">
                                      <p:cBhvr>
                                        <p:cTn id="169" dur="500"/>
                                        <p:tgtEl>
                                          <p:spTgt spid="75"/>
                                        </p:tgtEl>
                                      </p:cBhvr>
                                    </p:animEffect>
                                  </p:childTnLst>
                                </p:cTn>
                              </p:par>
                              <p:par>
                                <p:cTn id="170" presetID="10" presetClass="entr" presetSubtype="0" fill="hold" grpId="1" nodeType="withEffect">
                                  <p:stCondLst>
                                    <p:cond delay="0"/>
                                  </p:stCondLst>
                                  <p:childTnLst>
                                    <p:set>
                                      <p:cBhvr>
                                        <p:cTn id="171" dur="1" fill="hold">
                                          <p:stCondLst>
                                            <p:cond delay="0"/>
                                          </p:stCondLst>
                                        </p:cTn>
                                        <p:tgtEl>
                                          <p:spTgt spid="71"/>
                                        </p:tgtEl>
                                        <p:attrNameLst>
                                          <p:attrName>style.visibility</p:attrName>
                                        </p:attrNameLst>
                                      </p:cBhvr>
                                      <p:to>
                                        <p:strVal val="visible"/>
                                      </p:to>
                                    </p:set>
                                    <p:animEffect transition="in" filter="fade">
                                      <p:cBhvr>
                                        <p:cTn id="172" dur="500"/>
                                        <p:tgtEl>
                                          <p:spTgt spid="71"/>
                                        </p:tgtEl>
                                      </p:cBhvr>
                                    </p:animEffect>
                                  </p:childTnLst>
                                </p:cTn>
                              </p:par>
                            </p:childTnLst>
                          </p:cTn>
                        </p:par>
                      </p:childTnLst>
                    </p:cTn>
                  </p:par>
                  <p:par>
                    <p:cTn id="173" fill="hold">
                      <p:stCondLst>
                        <p:cond delay="indefinite"/>
                      </p:stCondLst>
                      <p:childTnLst>
                        <p:par>
                          <p:cTn id="174" fill="hold">
                            <p:stCondLst>
                              <p:cond delay="0"/>
                            </p:stCondLst>
                            <p:childTnLst>
                              <p:par>
                                <p:cTn id="175" presetID="35" presetClass="path" presetSubtype="0" accel="50000" decel="50000" fill="hold" grpId="0" nodeType="clickEffect">
                                  <p:stCondLst>
                                    <p:cond delay="0"/>
                                  </p:stCondLst>
                                  <p:childTnLst>
                                    <p:animMotion origin="layout" path="M 3.75E-6 1.85185E-6 L -0.09883 1.85185E-6 " pathEditMode="relative" rAng="0" ptsTypes="AA">
                                      <p:cBhvr>
                                        <p:cTn id="176" dur="2000" fill="hold"/>
                                        <p:tgtEl>
                                          <p:spTgt spid="71"/>
                                        </p:tgtEl>
                                        <p:attrNameLst>
                                          <p:attrName>ppt_x</p:attrName>
                                          <p:attrName>ppt_y</p:attrName>
                                        </p:attrNameLst>
                                      </p:cBhvr>
                                      <p:rCtr x="-4948" y="0"/>
                                    </p:animMotion>
                                  </p:childTnLst>
                                </p:cTn>
                              </p:par>
                              <p:par>
                                <p:cTn id="177" presetID="35" presetClass="path" presetSubtype="0" accel="50000" decel="50000" fill="hold" grpId="0" nodeType="withEffect">
                                  <p:stCondLst>
                                    <p:cond delay="0"/>
                                  </p:stCondLst>
                                  <p:childTnLst>
                                    <p:animMotion origin="layout" path="M -2.08333E-6 -3.7037E-7 L -0.2776 -3.7037E-7 " pathEditMode="relative" rAng="0" ptsTypes="AA">
                                      <p:cBhvr>
                                        <p:cTn id="178" dur="2000" fill="hold"/>
                                        <p:tgtEl>
                                          <p:spTgt spid="72"/>
                                        </p:tgtEl>
                                        <p:attrNameLst>
                                          <p:attrName>ppt_x</p:attrName>
                                          <p:attrName>ppt_y</p:attrName>
                                        </p:attrNameLst>
                                      </p:cBhvr>
                                      <p:rCtr x="-13880" y="0"/>
                                    </p:animMotion>
                                  </p:childTnLst>
                                </p:cTn>
                              </p:par>
                              <p:par>
                                <p:cTn id="179" presetID="35" presetClass="path" presetSubtype="0" accel="50000" decel="50000" fill="hold" grpId="0" nodeType="withEffect">
                                  <p:stCondLst>
                                    <p:cond delay="0"/>
                                  </p:stCondLst>
                                  <p:childTnLst>
                                    <p:animMotion origin="layout" path="M 0 -3.7037E-7 L -0.19492 -3.7037E-7 " pathEditMode="relative" rAng="0" ptsTypes="AA">
                                      <p:cBhvr>
                                        <p:cTn id="180" dur="2000" fill="hold"/>
                                        <p:tgtEl>
                                          <p:spTgt spid="73"/>
                                        </p:tgtEl>
                                        <p:attrNameLst>
                                          <p:attrName>ppt_x</p:attrName>
                                          <p:attrName>ppt_y</p:attrName>
                                        </p:attrNameLst>
                                      </p:cBhvr>
                                      <p:rCtr x="-9753" y="0"/>
                                    </p:animMotion>
                                  </p:childTnLst>
                                </p:cTn>
                              </p:par>
                              <p:par>
                                <p:cTn id="181" presetID="35" presetClass="path" presetSubtype="0" accel="50000" decel="50000" fill="hold" grpId="0" nodeType="withEffect">
                                  <p:stCondLst>
                                    <p:cond delay="0"/>
                                  </p:stCondLst>
                                  <p:childTnLst>
                                    <p:animMotion origin="layout" path="M 4.16667E-7 3.7037E-7 L -0.15716 3.7037E-7 " pathEditMode="relative" rAng="0" ptsTypes="AA">
                                      <p:cBhvr>
                                        <p:cTn id="182" dur="2000" fill="hold"/>
                                        <p:tgtEl>
                                          <p:spTgt spid="74"/>
                                        </p:tgtEl>
                                        <p:attrNameLst>
                                          <p:attrName>ppt_x</p:attrName>
                                          <p:attrName>ppt_y</p:attrName>
                                        </p:attrNameLst>
                                      </p:cBhvr>
                                      <p:rCtr x="-7865" y="0"/>
                                    </p:animMotion>
                                  </p:childTnLst>
                                </p:cTn>
                              </p:par>
                              <p:par>
                                <p:cTn id="183" presetID="35" presetClass="path" presetSubtype="0" accel="50000" decel="50000" fill="hold" grpId="0" nodeType="withEffect">
                                  <p:stCondLst>
                                    <p:cond delay="0"/>
                                  </p:stCondLst>
                                  <p:childTnLst>
                                    <p:animMotion origin="layout" path="M 1.66667E-6 3.33333E-6 L -0.23138 3.33333E-6 " pathEditMode="relative" rAng="0" ptsTypes="AA">
                                      <p:cBhvr>
                                        <p:cTn id="184" dur="2000" fill="hold"/>
                                        <p:tgtEl>
                                          <p:spTgt spid="75"/>
                                        </p:tgtEl>
                                        <p:attrNameLst>
                                          <p:attrName>ppt_x</p:attrName>
                                          <p:attrName>ppt_y</p:attrName>
                                        </p:attrNameLst>
                                      </p:cBhvr>
                                      <p:rCtr x="-11576" y="0"/>
                                    </p:animMotion>
                                  </p:childTnLst>
                                </p:cTn>
                              </p:par>
                              <p:par>
                                <p:cTn id="185" presetID="35" presetClass="path" presetSubtype="0" accel="50000" decel="50000" fill="hold" grpId="0" nodeType="withEffect">
                                  <p:stCondLst>
                                    <p:cond delay="0"/>
                                  </p:stCondLst>
                                  <p:childTnLst>
                                    <p:animMotion origin="layout" path="M 3.75E-6 2.96296E-6 L -0.09883 2.96296E-6 " pathEditMode="relative" rAng="0" ptsTypes="AA">
                                      <p:cBhvr>
                                        <p:cTn id="186" dur="2000" fill="hold"/>
                                        <p:tgtEl>
                                          <p:spTgt spid="76"/>
                                        </p:tgtEl>
                                        <p:attrNameLst>
                                          <p:attrName>ppt_x</p:attrName>
                                          <p:attrName>ppt_y</p:attrName>
                                        </p:attrNameLst>
                                      </p:cBhvr>
                                      <p:rCtr x="-4948" y="0"/>
                                    </p:animMotion>
                                  </p:childTnLst>
                                </p:cTn>
                              </p:par>
                              <p:par>
                                <p:cTn id="187" presetID="35" presetClass="path" presetSubtype="0" accel="50000" decel="50000" fill="hold" grpId="0" nodeType="withEffect">
                                  <p:stCondLst>
                                    <p:cond delay="0"/>
                                  </p:stCondLst>
                                  <p:childTnLst>
                                    <p:animMotion origin="layout" path="M -4.79167E-6 1.85185E-6 L -0.03554 1.85185E-6 " pathEditMode="relative" rAng="0" ptsTypes="AA">
                                      <p:cBhvr>
                                        <p:cTn id="188" dur="2000" fill="hold"/>
                                        <p:tgtEl>
                                          <p:spTgt spid="77"/>
                                        </p:tgtEl>
                                        <p:attrNameLst>
                                          <p:attrName>ppt_x</p:attrName>
                                          <p:attrName>ppt_y</p:attrName>
                                        </p:attrNameLst>
                                      </p:cBhvr>
                                      <p:rCtr x="-1784" y="0"/>
                                    </p:animMotion>
                                  </p:childTnLst>
                                </p:cTn>
                              </p:par>
                              <p:par>
                                <p:cTn id="189" presetID="35" presetClass="path" presetSubtype="0" accel="50000" decel="50000" fill="hold" grpId="0" nodeType="withEffect">
                                  <p:stCondLst>
                                    <p:cond delay="0"/>
                                  </p:stCondLst>
                                  <p:childTnLst>
                                    <p:animMotion origin="layout" path="M -4.79167E-6 -4.44444E-6 L -0.07291 -4.44444E-6 " pathEditMode="relative" rAng="0" ptsTypes="AA">
                                      <p:cBhvr>
                                        <p:cTn id="190" dur="2000" fill="hold"/>
                                        <p:tgtEl>
                                          <p:spTgt spid="78"/>
                                        </p:tgtEl>
                                        <p:attrNameLst>
                                          <p:attrName>ppt_x</p:attrName>
                                          <p:attrName>ppt_y</p:attrName>
                                        </p:attrNameLst>
                                      </p:cBhvr>
                                      <p:rCtr x="-3646" y="0"/>
                                    </p:animMotion>
                                  </p:childTnLst>
                                </p:cTn>
                              </p:par>
                              <p:par>
                                <p:cTn id="191" presetID="35" presetClass="path" presetSubtype="0" accel="50000" decel="50000" fill="hold" grpId="0" nodeType="withEffect">
                                  <p:stCondLst>
                                    <p:cond delay="0"/>
                                  </p:stCondLst>
                                  <p:childTnLst>
                                    <p:animMotion origin="layout" path="M 6.25E-7 -2.22222E-6 L -0.11953 -2.22222E-6 " pathEditMode="relative" rAng="0" ptsTypes="AA">
                                      <p:cBhvr>
                                        <p:cTn id="192" dur="2000" fill="hold"/>
                                        <p:tgtEl>
                                          <p:spTgt spid="79"/>
                                        </p:tgtEl>
                                        <p:attrNameLst>
                                          <p:attrName>ppt_x</p:attrName>
                                          <p:attrName>ppt_y</p:attrName>
                                        </p:attrNameLst>
                                      </p:cBhvr>
                                      <p:rCtr x="-5977" y="0"/>
                                    </p:animMotion>
                                  </p:childTnLst>
                                </p:cTn>
                              </p:par>
                              <p:par>
                                <p:cTn id="193" presetID="35" presetClass="path" presetSubtype="0" accel="50000" decel="50000" fill="hold" grpId="0" nodeType="withEffect">
                                  <p:stCondLst>
                                    <p:cond delay="0"/>
                                  </p:stCondLst>
                                  <p:childTnLst>
                                    <p:animMotion origin="layout" path="M 3.54167E-6 7.40741E-7 L -0.19909 7.40741E-7 " pathEditMode="relative" rAng="0" ptsTypes="AA">
                                      <p:cBhvr>
                                        <p:cTn id="194" dur="2000" fill="hold"/>
                                        <p:tgtEl>
                                          <p:spTgt spid="80"/>
                                        </p:tgtEl>
                                        <p:attrNameLst>
                                          <p:attrName>ppt_x</p:attrName>
                                          <p:attrName>ppt_y</p:attrName>
                                        </p:attrNameLst>
                                      </p:cBhvr>
                                      <p:rCtr x="-9961" y="0"/>
                                    </p:animMotion>
                                  </p:childTnLst>
                                </p:cTn>
                              </p:par>
                              <p:par>
                                <p:cTn id="195" presetID="35" presetClass="path" presetSubtype="0" accel="50000" decel="50000" fill="hold" grpId="0" nodeType="withEffect">
                                  <p:stCondLst>
                                    <p:cond delay="0"/>
                                  </p:stCondLst>
                                  <p:childTnLst>
                                    <p:animMotion origin="layout" path="M 3.95833E-6 -2.59259E-6 L -0.1737 -2.59259E-6 " pathEditMode="relative" rAng="0" ptsTypes="AA">
                                      <p:cBhvr>
                                        <p:cTn id="196" dur="2000" fill="hold"/>
                                        <p:tgtEl>
                                          <p:spTgt spid="81"/>
                                        </p:tgtEl>
                                        <p:attrNameLst>
                                          <p:attrName>ppt_x</p:attrName>
                                          <p:attrName>ppt_y</p:attrName>
                                        </p:attrNameLst>
                                      </p:cBhvr>
                                      <p:rCtr x="-8685" y="0"/>
                                    </p:animMotion>
                                  </p:childTnLst>
                                </p:cTn>
                              </p:par>
                              <p:par>
                                <p:cTn id="197" presetID="35" presetClass="path" presetSubtype="0" accel="50000" decel="50000" fill="hold" grpId="0" nodeType="withEffect">
                                  <p:stCondLst>
                                    <p:cond delay="0"/>
                                  </p:stCondLst>
                                  <p:childTnLst>
                                    <p:animMotion origin="layout" path="M 4.79167E-6 4.07407E-6 L -0.26693 4.07407E-6 " pathEditMode="relative" rAng="0" ptsTypes="AA">
                                      <p:cBhvr>
                                        <p:cTn id="198" dur="2000" fill="hold"/>
                                        <p:tgtEl>
                                          <p:spTgt spid="82"/>
                                        </p:tgtEl>
                                        <p:attrNameLst>
                                          <p:attrName>ppt_x</p:attrName>
                                          <p:attrName>ppt_y</p:attrName>
                                        </p:attrNameLst>
                                      </p:cBhvr>
                                      <p:rCtr x="-13346" y="0"/>
                                    </p:animMotion>
                                  </p:childTnLst>
                                </p:cTn>
                              </p:par>
                              <p:par>
                                <p:cTn id="199" presetID="35" presetClass="path" presetSubtype="0" accel="50000" decel="50000" fill="hold" grpId="0" nodeType="withEffect">
                                  <p:stCondLst>
                                    <p:cond delay="0"/>
                                  </p:stCondLst>
                                  <p:childTnLst>
                                    <p:animMotion origin="layout" path="M -2.29167E-6 -1.48148E-6 L -0.02773 -1.48148E-6 " pathEditMode="relative" rAng="0" ptsTypes="AA">
                                      <p:cBhvr>
                                        <p:cTn id="200" dur="2000" fill="hold"/>
                                        <p:tgtEl>
                                          <p:spTgt spid="83"/>
                                        </p:tgtEl>
                                        <p:attrNameLst>
                                          <p:attrName>ppt_x</p:attrName>
                                          <p:attrName>ppt_y</p:attrName>
                                        </p:attrNameLst>
                                      </p:cBhvr>
                                      <p:rCtr x="-1393" y="0"/>
                                    </p:animMotion>
                                  </p:childTnLst>
                                </p:cTn>
                              </p:par>
                            </p:childTnLst>
                          </p:cTn>
                        </p:par>
                        <p:par>
                          <p:cTn id="201" fill="hold">
                            <p:stCondLst>
                              <p:cond delay="2000"/>
                            </p:stCondLst>
                            <p:childTnLst>
                              <p:par>
                                <p:cTn id="202" presetID="10" presetClass="entr" presetSubtype="0" fill="hold" grpId="0" nodeType="afterEffect">
                                  <p:stCondLst>
                                    <p:cond delay="0"/>
                                  </p:stCondLst>
                                  <p:childTnLst>
                                    <p:set>
                                      <p:cBhvr>
                                        <p:cTn id="203" dur="1" fill="hold">
                                          <p:stCondLst>
                                            <p:cond delay="0"/>
                                          </p:stCondLst>
                                        </p:cTn>
                                        <p:tgtEl>
                                          <p:spTgt spid="49"/>
                                        </p:tgtEl>
                                        <p:attrNameLst>
                                          <p:attrName>style.visibility</p:attrName>
                                        </p:attrNameLst>
                                      </p:cBhvr>
                                      <p:to>
                                        <p:strVal val="visible"/>
                                      </p:to>
                                    </p:set>
                                    <p:animEffect transition="in" filter="fade">
                                      <p:cBhvr>
                                        <p:cTn id="20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9" grpId="0"/>
      <p:bldP spid="50" grpId="0"/>
      <p:bldP spid="58" grpId="0" animBg="1"/>
      <p:bldP spid="58" grpId="1" animBg="1"/>
      <p:bldP spid="58" grpId="2" animBg="1"/>
      <p:bldP spid="59" grpId="0" animBg="1"/>
      <p:bldP spid="59" grpId="1" animBg="1"/>
      <p:bldP spid="59" grpId="2" animBg="1"/>
      <p:bldP spid="60" grpId="0" animBg="1"/>
      <p:bldP spid="60" grpId="1" animBg="1"/>
      <p:bldP spid="60" grpId="2" animBg="1"/>
      <p:bldP spid="61" grpId="0" animBg="1"/>
      <p:bldP spid="61" grpId="1" animBg="1"/>
      <p:bldP spid="61" grpId="2" animBg="1"/>
      <p:bldP spid="62" grpId="0" animBg="1"/>
      <p:bldP spid="62" grpId="1" animBg="1"/>
      <p:bldP spid="62" grpId="2" animBg="1"/>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P spid="67" grpId="0" animBg="1"/>
      <p:bldP spid="67" grpId="1" animBg="1"/>
      <p:bldP spid="67" grpId="2" animBg="1"/>
      <p:bldP spid="68" grpId="0" animBg="1"/>
      <p:bldP spid="68" grpId="1" animBg="1"/>
      <p:bldP spid="68" grpId="2" animBg="1"/>
      <p:bldP spid="69" grpId="0" animBg="1"/>
      <p:bldP spid="69" grpId="1" animBg="1"/>
      <p:bldP spid="69" grpId="2" animBg="1"/>
      <p:bldP spid="70" grpId="0" animBg="1"/>
      <p:bldP spid="70" grpId="1" animBg="1"/>
      <p:bldP spid="70" grpId="2" animBg="1"/>
      <p:bldP spid="71" grpId="0" animBg="1"/>
      <p:bldP spid="71" grpId="1" animBg="1"/>
      <p:bldP spid="72" grpId="0" animBg="1"/>
      <p:bldP spid="72" grpId="1" animBg="1"/>
      <p:bldP spid="73" grpId="0" animBg="1"/>
      <p:bldP spid="73" grpId="1" animBg="1"/>
      <p:bldP spid="74" grpId="0" animBg="1"/>
      <p:bldP spid="74" grpId="1" animBg="1"/>
      <p:bldP spid="75" grpId="0" animBg="1"/>
      <p:bldP spid="75" grpId="1" animBg="1"/>
      <p:bldP spid="76" grpId="0" animBg="1"/>
      <p:bldP spid="76" grpId="1" animBg="1"/>
      <p:bldP spid="77" grpId="0" animBg="1"/>
      <p:bldP spid="77" grpId="1" animBg="1"/>
      <p:bldP spid="78" grpId="0" animBg="1"/>
      <p:bldP spid="78" grpId="1" animBg="1"/>
      <p:bldP spid="79" grpId="0" animBg="1"/>
      <p:bldP spid="79" grpId="1" animBg="1"/>
      <p:bldP spid="80" grpId="0" animBg="1"/>
      <p:bldP spid="80" grpId="1" animBg="1"/>
      <p:bldP spid="81" grpId="0" animBg="1"/>
      <p:bldP spid="81" grpId="1" animBg="1"/>
      <p:bldP spid="82" grpId="0" animBg="1"/>
      <p:bldP spid="82" grpId="1" animBg="1"/>
      <p:bldP spid="83" grpId="0" animBg="1"/>
      <p:bldP spid="83"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D765-2761-27A8-A545-B1921A2D1501}"/>
              </a:ext>
            </a:extLst>
          </p:cNvPr>
          <p:cNvSpPr>
            <a:spLocks noGrp="1"/>
          </p:cNvSpPr>
          <p:nvPr>
            <p:ph type="title"/>
          </p:nvPr>
        </p:nvSpPr>
        <p:spPr/>
        <p:txBody>
          <a:bodyPr>
            <a:normAutofit fontScale="90000"/>
          </a:bodyPr>
          <a:lstStyle/>
          <a:p>
            <a:r>
              <a:rPr lang="en-US" dirty="0"/>
              <a:t>Example of Label-Aware Feature Selection: Univariate Feature Selection</a:t>
            </a:r>
          </a:p>
        </p:txBody>
      </p:sp>
      <p:sp>
        <p:nvSpPr>
          <p:cNvPr id="3" name="Content Placeholder 2">
            <a:extLst>
              <a:ext uri="{FF2B5EF4-FFF2-40B4-BE49-F238E27FC236}">
                <a16:creationId xmlns:a16="http://schemas.microsoft.com/office/drawing/2014/main" id="{99827D31-646D-CB70-AC13-DBAB2E41A817}"/>
              </a:ext>
            </a:extLst>
          </p:cNvPr>
          <p:cNvSpPr>
            <a:spLocks noGrp="1"/>
          </p:cNvSpPr>
          <p:nvPr>
            <p:ph idx="1"/>
          </p:nvPr>
        </p:nvSpPr>
        <p:spPr>
          <a:xfrm>
            <a:off x="609600" y="1600202"/>
            <a:ext cx="10972800" cy="1143000"/>
          </a:xfrm>
        </p:spPr>
        <p:txBody>
          <a:bodyPr/>
          <a:lstStyle/>
          <a:p>
            <a:r>
              <a:rPr lang="en-US" dirty="0">
                <a:latin typeface="Avenir Book" panose="02000503020000020003" pitchFamily="2" charset="0"/>
              </a:rPr>
              <a:t>Performs statistical tests using one feature at a time and picks the ones that work best</a:t>
            </a:r>
          </a:p>
        </p:txBody>
      </p:sp>
      <p:grpSp>
        <p:nvGrpSpPr>
          <p:cNvPr id="152" name="Group 151">
            <a:extLst>
              <a:ext uri="{FF2B5EF4-FFF2-40B4-BE49-F238E27FC236}">
                <a16:creationId xmlns:a16="http://schemas.microsoft.com/office/drawing/2014/main" id="{0BCCEFD1-4D45-9A7E-6882-9A6A8E336745}"/>
              </a:ext>
            </a:extLst>
          </p:cNvPr>
          <p:cNvGrpSpPr/>
          <p:nvPr/>
        </p:nvGrpSpPr>
        <p:grpSpPr>
          <a:xfrm>
            <a:off x="1295400" y="2904456"/>
            <a:ext cx="4495801" cy="3617198"/>
            <a:chOff x="1295400" y="2904456"/>
            <a:chExt cx="4495801" cy="3617198"/>
          </a:xfrm>
        </p:grpSpPr>
        <p:grpSp>
          <p:nvGrpSpPr>
            <p:cNvPr id="28" name="Group 27">
              <a:extLst>
                <a:ext uri="{FF2B5EF4-FFF2-40B4-BE49-F238E27FC236}">
                  <a16:creationId xmlns:a16="http://schemas.microsoft.com/office/drawing/2014/main" id="{5DFBE104-1EAD-3A82-0EC2-6DED02038F2E}"/>
                </a:ext>
              </a:extLst>
            </p:cNvPr>
            <p:cNvGrpSpPr/>
            <p:nvPr/>
          </p:nvGrpSpPr>
          <p:grpSpPr>
            <a:xfrm>
              <a:off x="1577402" y="5998434"/>
              <a:ext cx="4213799" cy="523220"/>
              <a:chOff x="1066799" y="5326326"/>
              <a:chExt cx="5784163" cy="523220"/>
            </a:xfrm>
          </p:grpSpPr>
          <p:cxnSp>
            <p:nvCxnSpPr>
              <p:cNvPr id="30" name="Straight Connector 29">
                <a:extLst>
                  <a:ext uri="{FF2B5EF4-FFF2-40B4-BE49-F238E27FC236}">
                    <a16:creationId xmlns:a16="http://schemas.microsoft.com/office/drawing/2014/main" id="{AC8640F3-F5F1-906B-4B24-C9A49121BC8F}"/>
                  </a:ext>
                </a:extLst>
              </p:cNvPr>
              <p:cNvCxnSpPr>
                <a:cxnSpLocks/>
              </p:cNvCxnSpPr>
              <p:nvPr/>
            </p:nvCxnSpPr>
            <p:spPr>
              <a:xfrm flipH="1">
                <a:off x="1066799" y="5562600"/>
                <a:ext cx="49757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3E10D15-DBD0-D540-6D7D-D9D341F9151C}"/>
                      </a:ext>
                    </a:extLst>
                  </p:cNvPr>
                  <p:cNvSpPr txBox="1"/>
                  <p:nvPr/>
                </p:nvSpPr>
                <p:spPr>
                  <a:xfrm>
                    <a:off x="6111015" y="5326326"/>
                    <a:ext cx="739947" cy="52322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US" sz="2800" i="1">
                                  <a:latin typeface="Cambria Math" panose="02040503050406030204" pitchFamily="18" charset="0"/>
                                  <a:ea typeface="Avenir Book" charset="0"/>
                                  <a:cs typeface="Avenir Book" charset="0"/>
                                </a:rPr>
                              </m:ctrlPr>
                            </m:sSubPr>
                            <m:e>
                              <m:r>
                                <a:rPr lang="en-US" sz="2800" i="1">
                                  <a:latin typeface="Cambria Math" charset="0"/>
                                  <a:ea typeface="Avenir Book" charset="0"/>
                                  <a:cs typeface="Avenir Book" charset="0"/>
                                </a:rPr>
                                <m:t>𝑥</m:t>
                              </m:r>
                            </m:e>
                            <m:sub>
                              <m:r>
                                <a:rPr lang="en-US" sz="2800" i="1">
                                  <a:latin typeface="Cambria Math" charset="0"/>
                                  <a:ea typeface="Avenir Book" charset="0"/>
                                  <a:cs typeface="Avenir Book" charset="0"/>
                                </a:rPr>
                                <m:t>1</m:t>
                              </m:r>
                            </m:sub>
                          </m:sSub>
                        </m:oMath>
                      </m:oMathPara>
                    </a14:m>
                    <a:endParaRPr lang="en-US" sz="2800" dirty="0">
                      <a:latin typeface="Avenir Book" panose="02000503020000020003" pitchFamily="2" charset="0"/>
                      <a:ea typeface="Avenir Book" charset="0"/>
                      <a:cs typeface="Avenir Book" charset="0"/>
                    </a:endParaRPr>
                  </a:p>
                </p:txBody>
              </p:sp>
            </mc:Choice>
            <mc:Fallback xmlns="">
              <p:sp>
                <p:nvSpPr>
                  <p:cNvPr id="31" name="TextBox 30">
                    <a:extLst>
                      <a:ext uri="{FF2B5EF4-FFF2-40B4-BE49-F238E27FC236}">
                        <a16:creationId xmlns:a16="http://schemas.microsoft.com/office/drawing/2014/main" id="{13E10D15-DBD0-D540-6D7D-D9D341F9151C}"/>
                      </a:ext>
                    </a:extLst>
                  </p:cNvPr>
                  <p:cNvSpPr txBox="1">
                    <a:spLocks noRot="1" noChangeAspect="1" noMove="1" noResize="1" noEditPoints="1" noAdjustHandles="1" noChangeArrowheads="1" noChangeShapeType="1" noTextEdit="1"/>
                  </p:cNvSpPr>
                  <p:nvPr/>
                </p:nvSpPr>
                <p:spPr>
                  <a:xfrm>
                    <a:off x="6111015" y="5326326"/>
                    <a:ext cx="739947" cy="523220"/>
                  </a:xfrm>
                  <a:prstGeom prst="rect">
                    <a:avLst/>
                  </a:prstGeom>
                  <a:blipFill>
                    <a:blip r:embed="rId2"/>
                    <a:stretch>
                      <a:fillRect l="-6818" b="-2381"/>
                    </a:stretch>
                  </a:blipFill>
                </p:spPr>
                <p:txBody>
                  <a:bodyPr/>
                  <a:lstStyle/>
                  <a:p>
                    <a:r>
                      <a:rPr lang="en-US">
                        <a:noFill/>
                      </a:rPr>
                      <a:t> </a:t>
                    </a:r>
                  </a:p>
                </p:txBody>
              </p:sp>
            </mc:Fallback>
          </mc:AlternateContent>
        </p:grpSp>
        <p:grpSp>
          <p:nvGrpSpPr>
            <p:cNvPr id="32" name="Group 31">
              <a:extLst>
                <a:ext uri="{FF2B5EF4-FFF2-40B4-BE49-F238E27FC236}">
                  <a16:creationId xmlns:a16="http://schemas.microsoft.com/office/drawing/2014/main" id="{F407FBA8-8AF8-08EF-7573-42AD95C2E831}"/>
                </a:ext>
              </a:extLst>
            </p:cNvPr>
            <p:cNvGrpSpPr/>
            <p:nvPr/>
          </p:nvGrpSpPr>
          <p:grpSpPr>
            <a:xfrm>
              <a:off x="1295400" y="2904456"/>
              <a:ext cx="564002" cy="3324810"/>
              <a:chOff x="4289999" y="1904625"/>
              <a:chExt cx="564002" cy="4909675"/>
            </a:xfrm>
          </p:grpSpPr>
          <p:cxnSp>
            <p:nvCxnSpPr>
              <p:cNvPr id="34" name="Straight Connector 33">
                <a:extLst>
                  <a:ext uri="{FF2B5EF4-FFF2-40B4-BE49-F238E27FC236}">
                    <a16:creationId xmlns:a16="http://schemas.microsoft.com/office/drawing/2014/main" id="{DD9385B9-EFC5-CF67-0B06-6D60661CEAE6}"/>
                  </a:ext>
                </a:extLst>
              </p:cNvPr>
              <p:cNvCxnSpPr>
                <a:cxnSpLocks/>
              </p:cNvCxnSpPr>
              <p:nvPr/>
            </p:nvCxnSpPr>
            <p:spPr>
              <a:xfrm>
                <a:off x="4572000" y="2662347"/>
                <a:ext cx="0" cy="41519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85C3563-1124-B5EC-F845-BF92F521EAD3}"/>
                      </a:ext>
                    </a:extLst>
                  </p:cNvPr>
                  <p:cNvSpPr txBox="1"/>
                  <p:nvPr/>
                </p:nvSpPr>
                <p:spPr>
                  <a:xfrm>
                    <a:off x="4289999" y="1904625"/>
                    <a:ext cx="564002" cy="772628"/>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US" sz="2800" i="1">
                                  <a:latin typeface="Cambria Math" panose="02040503050406030204" pitchFamily="18" charset="0"/>
                                  <a:ea typeface="Avenir Book" charset="0"/>
                                  <a:cs typeface="Avenir Book" charset="0"/>
                                </a:rPr>
                              </m:ctrlPr>
                            </m:sSubPr>
                            <m:e>
                              <m:r>
                                <a:rPr lang="en-US" sz="2800" i="1">
                                  <a:latin typeface="Cambria Math" charset="0"/>
                                  <a:ea typeface="Avenir Book" charset="0"/>
                                  <a:cs typeface="Avenir Book" charset="0"/>
                                </a:rPr>
                                <m:t>𝑥</m:t>
                              </m:r>
                            </m:e>
                            <m:sub>
                              <m:r>
                                <a:rPr lang="en-US" sz="2800" i="1">
                                  <a:latin typeface="Cambria Math" charset="0"/>
                                  <a:ea typeface="Avenir Book" charset="0"/>
                                  <a:cs typeface="Avenir Book" charset="0"/>
                                </a:rPr>
                                <m:t>2</m:t>
                              </m:r>
                            </m:sub>
                          </m:sSub>
                        </m:oMath>
                      </m:oMathPara>
                    </a14:m>
                    <a:endParaRPr lang="en-US" sz="2800" dirty="0">
                      <a:latin typeface="Avenir Book" panose="02000503020000020003" pitchFamily="2" charset="0"/>
                      <a:ea typeface="Avenir Book" charset="0"/>
                      <a:cs typeface="Avenir Book" charset="0"/>
                    </a:endParaRPr>
                  </a:p>
                </p:txBody>
              </p:sp>
            </mc:Choice>
            <mc:Fallback xmlns="">
              <p:sp>
                <p:nvSpPr>
                  <p:cNvPr id="36" name="TextBox 35">
                    <a:extLst>
                      <a:ext uri="{FF2B5EF4-FFF2-40B4-BE49-F238E27FC236}">
                        <a16:creationId xmlns:a16="http://schemas.microsoft.com/office/drawing/2014/main" id="{C85C3563-1124-B5EC-F845-BF92F521EAD3}"/>
                      </a:ext>
                    </a:extLst>
                  </p:cNvPr>
                  <p:cNvSpPr txBox="1">
                    <a:spLocks noRot="1" noChangeAspect="1" noMove="1" noResize="1" noEditPoints="1" noAdjustHandles="1" noChangeArrowheads="1" noChangeShapeType="1" noTextEdit="1"/>
                  </p:cNvSpPr>
                  <p:nvPr/>
                </p:nvSpPr>
                <p:spPr>
                  <a:xfrm>
                    <a:off x="4289999" y="1904625"/>
                    <a:ext cx="564002" cy="772628"/>
                  </a:xfrm>
                  <a:prstGeom prst="rect">
                    <a:avLst/>
                  </a:prstGeom>
                  <a:blipFill>
                    <a:blip r:embed="rId3"/>
                    <a:stretch>
                      <a:fillRect l="-6667" b="-2381"/>
                    </a:stretch>
                  </a:blipFill>
                </p:spPr>
                <p:txBody>
                  <a:bodyPr/>
                  <a:lstStyle/>
                  <a:p>
                    <a:r>
                      <a:rPr lang="en-US">
                        <a:noFill/>
                      </a:rPr>
                      <a:t> </a:t>
                    </a:r>
                  </a:p>
                </p:txBody>
              </p:sp>
            </mc:Fallback>
          </mc:AlternateContent>
        </p:grpSp>
        <p:grpSp>
          <p:nvGrpSpPr>
            <p:cNvPr id="37" name="Group 36">
              <a:extLst>
                <a:ext uri="{FF2B5EF4-FFF2-40B4-BE49-F238E27FC236}">
                  <a16:creationId xmlns:a16="http://schemas.microsoft.com/office/drawing/2014/main" id="{02B1A72F-7528-E20F-59FE-5A70D05556EF}"/>
                </a:ext>
              </a:extLst>
            </p:cNvPr>
            <p:cNvGrpSpPr/>
            <p:nvPr/>
          </p:nvGrpSpPr>
          <p:grpSpPr>
            <a:xfrm>
              <a:off x="1828800" y="3491062"/>
              <a:ext cx="3233497" cy="2548895"/>
              <a:chOff x="1068850" y="3491061"/>
              <a:chExt cx="2337930" cy="1842939"/>
            </a:xfrm>
          </p:grpSpPr>
          <p:sp>
            <p:nvSpPr>
              <p:cNvPr id="39" name="Oval 38">
                <a:extLst>
                  <a:ext uri="{FF2B5EF4-FFF2-40B4-BE49-F238E27FC236}">
                    <a16:creationId xmlns:a16="http://schemas.microsoft.com/office/drawing/2014/main" id="{68E0B9A0-A15A-422A-7D84-469311060548}"/>
                  </a:ext>
                </a:extLst>
              </p:cNvPr>
              <p:cNvSpPr/>
              <p:nvPr/>
            </p:nvSpPr>
            <p:spPr>
              <a:xfrm>
                <a:off x="1697605" y="5170392"/>
                <a:ext cx="133586" cy="13358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0" name="Oval 39">
                <a:extLst>
                  <a:ext uri="{FF2B5EF4-FFF2-40B4-BE49-F238E27FC236}">
                    <a16:creationId xmlns:a16="http://schemas.microsoft.com/office/drawing/2014/main" id="{E32ECEA0-8E4B-2EDF-A13C-507250C7734E}"/>
                  </a:ext>
                </a:extLst>
              </p:cNvPr>
              <p:cNvSpPr/>
              <p:nvPr/>
            </p:nvSpPr>
            <p:spPr>
              <a:xfrm>
                <a:off x="3273194" y="4673635"/>
                <a:ext cx="133586" cy="13358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1" name="Oval 40">
                <a:extLst>
                  <a:ext uri="{FF2B5EF4-FFF2-40B4-BE49-F238E27FC236}">
                    <a16:creationId xmlns:a16="http://schemas.microsoft.com/office/drawing/2014/main" id="{D477A716-C827-82BA-D7A8-323DF121C416}"/>
                  </a:ext>
                </a:extLst>
              </p:cNvPr>
              <p:cNvSpPr/>
              <p:nvPr/>
            </p:nvSpPr>
            <p:spPr>
              <a:xfrm>
                <a:off x="2544850" y="4549659"/>
                <a:ext cx="133586" cy="13358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2" name="Oval 41">
                <a:extLst>
                  <a:ext uri="{FF2B5EF4-FFF2-40B4-BE49-F238E27FC236}">
                    <a16:creationId xmlns:a16="http://schemas.microsoft.com/office/drawing/2014/main" id="{4B6035CC-88DD-36AC-EA14-21C3940C4913}"/>
                  </a:ext>
                </a:extLst>
              </p:cNvPr>
              <p:cNvSpPr/>
              <p:nvPr/>
            </p:nvSpPr>
            <p:spPr>
              <a:xfrm>
                <a:off x="2212230" y="4924108"/>
                <a:ext cx="133586" cy="13358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3" name="Oval 42">
                <a:extLst>
                  <a:ext uri="{FF2B5EF4-FFF2-40B4-BE49-F238E27FC236}">
                    <a16:creationId xmlns:a16="http://schemas.microsoft.com/office/drawing/2014/main" id="{FE9ECEDA-2B94-3D03-D7F2-96F0E63FB464}"/>
                  </a:ext>
                </a:extLst>
              </p:cNvPr>
              <p:cNvSpPr/>
              <p:nvPr/>
            </p:nvSpPr>
            <p:spPr>
              <a:xfrm>
                <a:off x="2866334" y="5200414"/>
                <a:ext cx="133586" cy="13358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4" name="Oval 43">
                <a:extLst>
                  <a:ext uri="{FF2B5EF4-FFF2-40B4-BE49-F238E27FC236}">
                    <a16:creationId xmlns:a16="http://schemas.microsoft.com/office/drawing/2014/main" id="{EA2C5C95-D16C-69D3-C678-C347C3B991F1}"/>
                  </a:ext>
                </a:extLst>
              </p:cNvPr>
              <p:cNvSpPr/>
              <p:nvPr/>
            </p:nvSpPr>
            <p:spPr>
              <a:xfrm>
                <a:off x="1697605" y="4675588"/>
                <a:ext cx="133586" cy="13358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5" name="Oval 44">
                <a:extLst>
                  <a:ext uri="{FF2B5EF4-FFF2-40B4-BE49-F238E27FC236}">
                    <a16:creationId xmlns:a16="http://schemas.microsoft.com/office/drawing/2014/main" id="{F8C80730-949E-2BFF-2990-6684B6A28A4F}"/>
                  </a:ext>
                </a:extLst>
              </p:cNvPr>
              <p:cNvSpPr/>
              <p:nvPr/>
            </p:nvSpPr>
            <p:spPr>
              <a:xfrm>
                <a:off x="1139217" y="4439557"/>
                <a:ext cx="133586" cy="13358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6" name="Triangle 45">
                <a:extLst>
                  <a:ext uri="{FF2B5EF4-FFF2-40B4-BE49-F238E27FC236}">
                    <a16:creationId xmlns:a16="http://schemas.microsoft.com/office/drawing/2014/main" id="{CAA705F1-75FE-7A44-94A4-4185710062C8}"/>
                  </a:ext>
                </a:extLst>
              </p:cNvPr>
              <p:cNvSpPr/>
              <p:nvPr/>
            </p:nvSpPr>
            <p:spPr>
              <a:xfrm>
                <a:off x="1467678" y="4078603"/>
                <a:ext cx="137160" cy="13716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7" name="Triangle 46">
                <a:extLst>
                  <a:ext uri="{FF2B5EF4-FFF2-40B4-BE49-F238E27FC236}">
                    <a16:creationId xmlns:a16="http://schemas.microsoft.com/office/drawing/2014/main" id="{B80CC1EC-DB80-7B18-E4C5-432812391936}"/>
                  </a:ext>
                </a:extLst>
              </p:cNvPr>
              <p:cNvSpPr/>
              <p:nvPr/>
            </p:nvSpPr>
            <p:spPr>
              <a:xfrm>
                <a:off x="1878620" y="3814063"/>
                <a:ext cx="137160" cy="13716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8" name="Triangle 47">
                <a:extLst>
                  <a:ext uri="{FF2B5EF4-FFF2-40B4-BE49-F238E27FC236}">
                    <a16:creationId xmlns:a16="http://schemas.microsoft.com/office/drawing/2014/main" id="{B992CFEE-A2FC-D75F-8098-573EBCE4DECE}"/>
                  </a:ext>
                </a:extLst>
              </p:cNvPr>
              <p:cNvSpPr/>
              <p:nvPr/>
            </p:nvSpPr>
            <p:spPr>
              <a:xfrm>
                <a:off x="2579340" y="4182786"/>
                <a:ext cx="137160" cy="13716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9" name="Triangle 48">
                <a:extLst>
                  <a:ext uri="{FF2B5EF4-FFF2-40B4-BE49-F238E27FC236}">
                    <a16:creationId xmlns:a16="http://schemas.microsoft.com/office/drawing/2014/main" id="{9B24A192-B72E-9B74-0964-7E6A49B11632}"/>
                  </a:ext>
                </a:extLst>
              </p:cNvPr>
              <p:cNvSpPr/>
              <p:nvPr/>
            </p:nvSpPr>
            <p:spPr>
              <a:xfrm>
                <a:off x="2355619" y="3491061"/>
                <a:ext cx="137160" cy="13716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0" name="Triangle 49">
                <a:extLst>
                  <a:ext uri="{FF2B5EF4-FFF2-40B4-BE49-F238E27FC236}">
                    <a16:creationId xmlns:a16="http://schemas.microsoft.com/office/drawing/2014/main" id="{6BE90785-3434-1C38-E9BA-C2AFFE17F8B7}"/>
                  </a:ext>
                </a:extLst>
              </p:cNvPr>
              <p:cNvSpPr/>
              <p:nvPr/>
            </p:nvSpPr>
            <p:spPr>
              <a:xfrm>
                <a:off x="3178004" y="3851263"/>
                <a:ext cx="137160" cy="13716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1" name="Triangle 50">
                <a:extLst>
                  <a:ext uri="{FF2B5EF4-FFF2-40B4-BE49-F238E27FC236}">
                    <a16:creationId xmlns:a16="http://schemas.microsoft.com/office/drawing/2014/main" id="{0CA78DDD-7D3A-59A1-B2F4-1595A97F86EA}"/>
                  </a:ext>
                </a:extLst>
              </p:cNvPr>
              <p:cNvSpPr/>
              <p:nvPr/>
            </p:nvSpPr>
            <p:spPr>
              <a:xfrm>
                <a:off x="1068850" y="3617314"/>
                <a:ext cx="137160" cy="13716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sp>
        <p:nvSpPr>
          <p:cNvPr id="86" name="TextBox 85">
            <a:extLst>
              <a:ext uri="{FF2B5EF4-FFF2-40B4-BE49-F238E27FC236}">
                <a16:creationId xmlns:a16="http://schemas.microsoft.com/office/drawing/2014/main" id="{22596C11-7769-20B6-BC95-4359FE006CC6}"/>
              </a:ext>
            </a:extLst>
          </p:cNvPr>
          <p:cNvSpPr txBox="1"/>
          <p:nvPr/>
        </p:nvSpPr>
        <p:spPr>
          <a:xfrm>
            <a:off x="7164888" y="2809448"/>
            <a:ext cx="2201994" cy="707886"/>
          </a:xfrm>
          <a:prstGeom prst="rect">
            <a:avLst/>
          </a:prstGeom>
          <a:noFill/>
        </p:spPr>
        <p:txBody>
          <a:bodyPr wrap="square" rtlCol="0">
            <a:spAutoFit/>
          </a:bodyPr>
          <a:lstStyle/>
          <a:p>
            <a:pPr algn="ctr"/>
            <a:r>
              <a:rPr lang="en-US" sz="2000" dirty="0">
                <a:latin typeface="Avenir Book" panose="02000503020000020003" pitchFamily="2" charset="0"/>
              </a:rPr>
              <a:t>better separation </a:t>
            </a:r>
            <a:br>
              <a:rPr lang="en-US" sz="2000" dirty="0">
                <a:latin typeface="Avenir Book" panose="02000503020000020003" pitchFamily="2" charset="0"/>
              </a:rPr>
            </a:br>
            <a:r>
              <a:rPr lang="en-US" sz="2000" dirty="0">
                <a:latin typeface="Avenir Book" panose="02000503020000020003" pitchFamily="2" charset="0"/>
              </a:rPr>
              <a:t>of labels</a:t>
            </a:r>
          </a:p>
        </p:txBody>
      </p:sp>
      <p:sp>
        <p:nvSpPr>
          <p:cNvPr id="87" name="TextBox 86">
            <a:extLst>
              <a:ext uri="{FF2B5EF4-FFF2-40B4-BE49-F238E27FC236}">
                <a16:creationId xmlns:a16="http://schemas.microsoft.com/office/drawing/2014/main" id="{435355A6-F2F1-1225-89BD-8EA85A154655}"/>
              </a:ext>
            </a:extLst>
          </p:cNvPr>
          <p:cNvSpPr txBox="1"/>
          <p:nvPr/>
        </p:nvSpPr>
        <p:spPr>
          <a:xfrm>
            <a:off x="10144520" y="5332071"/>
            <a:ext cx="2047480" cy="707886"/>
          </a:xfrm>
          <a:prstGeom prst="rect">
            <a:avLst/>
          </a:prstGeom>
          <a:noFill/>
        </p:spPr>
        <p:txBody>
          <a:bodyPr wrap="square" rtlCol="0">
            <a:spAutoFit/>
          </a:bodyPr>
          <a:lstStyle/>
          <a:p>
            <a:pPr algn="ctr"/>
            <a:r>
              <a:rPr lang="en-US" sz="2000" dirty="0">
                <a:latin typeface="Avenir Book" panose="02000503020000020003" pitchFamily="2" charset="0"/>
              </a:rPr>
              <a:t>poor separation </a:t>
            </a:r>
            <a:br>
              <a:rPr lang="en-US" sz="2000" dirty="0">
                <a:latin typeface="Avenir Book" panose="02000503020000020003" pitchFamily="2" charset="0"/>
              </a:rPr>
            </a:br>
            <a:r>
              <a:rPr lang="en-US" sz="2000" dirty="0">
                <a:latin typeface="Avenir Book" panose="02000503020000020003" pitchFamily="2" charset="0"/>
              </a:rPr>
              <a:t>of labels</a:t>
            </a:r>
          </a:p>
        </p:txBody>
      </p:sp>
      <p:grpSp>
        <p:nvGrpSpPr>
          <p:cNvPr id="151" name="Group 150">
            <a:extLst>
              <a:ext uri="{FF2B5EF4-FFF2-40B4-BE49-F238E27FC236}">
                <a16:creationId xmlns:a16="http://schemas.microsoft.com/office/drawing/2014/main" id="{E01C15F7-FF6B-0572-D585-E701E6E9285C}"/>
              </a:ext>
            </a:extLst>
          </p:cNvPr>
          <p:cNvGrpSpPr/>
          <p:nvPr/>
        </p:nvGrpSpPr>
        <p:grpSpPr>
          <a:xfrm>
            <a:off x="6789283" y="2904456"/>
            <a:ext cx="4481614" cy="3614296"/>
            <a:chOff x="6789283" y="2904456"/>
            <a:chExt cx="4481614" cy="3614296"/>
          </a:xfrm>
        </p:grpSpPr>
        <p:grpSp>
          <p:nvGrpSpPr>
            <p:cNvPr id="88" name="Group 87">
              <a:extLst>
                <a:ext uri="{FF2B5EF4-FFF2-40B4-BE49-F238E27FC236}">
                  <a16:creationId xmlns:a16="http://schemas.microsoft.com/office/drawing/2014/main" id="{B9F169A1-2557-233E-4E6A-82D8BF0056C1}"/>
                </a:ext>
              </a:extLst>
            </p:cNvPr>
            <p:cNvGrpSpPr/>
            <p:nvPr/>
          </p:nvGrpSpPr>
          <p:grpSpPr>
            <a:xfrm>
              <a:off x="6789283" y="2904456"/>
              <a:ext cx="564002" cy="3324810"/>
              <a:chOff x="4289999" y="1904625"/>
              <a:chExt cx="564002" cy="4909675"/>
            </a:xfrm>
          </p:grpSpPr>
          <p:cxnSp>
            <p:nvCxnSpPr>
              <p:cNvPr id="89" name="Straight Connector 88">
                <a:extLst>
                  <a:ext uri="{FF2B5EF4-FFF2-40B4-BE49-F238E27FC236}">
                    <a16:creationId xmlns:a16="http://schemas.microsoft.com/office/drawing/2014/main" id="{A20099A6-19E2-6CD5-9177-6C0C618EEC72}"/>
                  </a:ext>
                </a:extLst>
              </p:cNvPr>
              <p:cNvCxnSpPr>
                <a:cxnSpLocks/>
              </p:cNvCxnSpPr>
              <p:nvPr/>
            </p:nvCxnSpPr>
            <p:spPr>
              <a:xfrm>
                <a:off x="4572000" y="2662347"/>
                <a:ext cx="0" cy="41519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1A69E38A-85CA-15C9-9909-F0EEF9C9C0D1}"/>
                      </a:ext>
                    </a:extLst>
                  </p:cNvPr>
                  <p:cNvSpPr txBox="1"/>
                  <p:nvPr/>
                </p:nvSpPr>
                <p:spPr>
                  <a:xfrm>
                    <a:off x="4289999" y="1904625"/>
                    <a:ext cx="564002" cy="772628"/>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US" sz="2800" i="1">
                                  <a:latin typeface="Cambria Math" panose="02040503050406030204" pitchFamily="18" charset="0"/>
                                  <a:ea typeface="Avenir Book" charset="0"/>
                                  <a:cs typeface="Avenir Book" charset="0"/>
                                </a:rPr>
                              </m:ctrlPr>
                            </m:sSubPr>
                            <m:e>
                              <m:r>
                                <a:rPr lang="en-US" sz="2800" i="1">
                                  <a:latin typeface="Cambria Math" charset="0"/>
                                  <a:ea typeface="Avenir Book" charset="0"/>
                                  <a:cs typeface="Avenir Book" charset="0"/>
                                </a:rPr>
                                <m:t>𝑥</m:t>
                              </m:r>
                            </m:e>
                            <m:sub>
                              <m:r>
                                <a:rPr lang="en-US" sz="2800" i="1">
                                  <a:latin typeface="Cambria Math" charset="0"/>
                                  <a:ea typeface="Avenir Book" charset="0"/>
                                  <a:cs typeface="Avenir Book" charset="0"/>
                                </a:rPr>
                                <m:t>2</m:t>
                              </m:r>
                            </m:sub>
                          </m:sSub>
                        </m:oMath>
                      </m:oMathPara>
                    </a14:m>
                    <a:endParaRPr lang="en-US" sz="2800" dirty="0">
                      <a:latin typeface="Avenir Book" panose="02000503020000020003" pitchFamily="2" charset="0"/>
                      <a:ea typeface="Avenir Book" charset="0"/>
                      <a:cs typeface="Avenir Book" charset="0"/>
                    </a:endParaRPr>
                  </a:p>
                </p:txBody>
              </p:sp>
            </mc:Choice>
            <mc:Fallback xmlns="">
              <p:sp>
                <p:nvSpPr>
                  <p:cNvPr id="90" name="TextBox 89">
                    <a:extLst>
                      <a:ext uri="{FF2B5EF4-FFF2-40B4-BE49-F238E27FC236}">
                        <a16:creationId xmlns:a16="http://schemas.microsoft.com/office/drawing/2014/main" id="{1A69E38A-85CA-15C9-9909-F0EEF9C9C0D1}"/>
                      </a:ext>
                    </a:extLst>
                  </p:cNvPr>
                  <p:cNvSpPr txBox="1">
                    <a:spLocks noRot="1" noChangeAspect="1" noMove="1" noResize="1" noEditPoints="1" noAdjustHandles="1" noChangeArrowheads="1" noChangeShapeType="1" noTextEdit="1"/>
                  </p:cNvSpPr>
                  <p:nvPr/>
                </p:nvSpPr>
                <p:spPr>
                  <a:xfrm>
                    <a:off x="4289999" y="1904625"/>
                    <a:ext cx="564002" cy="772628"/>
                  </a:xfrm>
                  <a:prstGeom prst="rect">
                    <a:avLst/>
                  </a:prstGeom>
                  <a:blipFill>
                    <a:blip r:embed="rId4"/>
                    <a:stretch>
                      <a:fillRect l="-4444" b="-2381"/>
                    </a:stretch>
                  </a:blipFill>
                </p:spPr>
                <p:txBody>
                  <a:bodyPr/>
                  <a:lstStyle/>
                  <a:p>
                    <a:r>
                      <a:rPr lang="en-US">
                        <a:noFill/>
                      </a:rPr>
                      <a:t> </a:t>
                    </a:r>
                  </a:p>
                </p:txBody>
              </p:sp>
            </mc:Fallback>
          </mc:AlternateContent>
        </p:grpSp>
        <p:grpSp>
          <p:nvGrpSpPr>
            <p:cNvPr id="119" name="Group 118">
              <a:extLst>
                <a:ext uri="{FF2B5EF4-FFF2-40B4-BE49-F238E27FC236}">
                  <a16:creationId xmlns:a16="http://schemas.microsoft.com/office/drawing/2014/main" id="{040D8D8E-7FC0-9853-D513-C8809AA528B9}"/>
                </a:ext>
              </a:extLst>
            </p:cNvPr>
            <p:cNvGrpSpPr/>
            <p:nvPr/>
          </p:nvGrpSpPr>
          <p:grpSpPr>
            <a:xfrm>
              <a:off x="7057098" y="5995532"/>
              <a:ext cx="4213799" cy="523220"/>
              <a:chOff x="1066799" y="5326326"/>
              <a:chExt cx="5784163" cy="523220"/>
            </a:xfrm>
          </p:grpSpPr>
          <p:cxnSp>
            <p:nvCxnSpPr>
              <p:cNvPr id="120" name="Straight Connector 119">
                <a:extLst>
                  <a:ext uri="{FF2B5EF4-FFF2-40B4-BE49-F238E27FC236}">
                    <a16:creationId xmlns:a16="http://schemas.microsoft.com/office/drawing/2014/main" id="{D0DC0015-C063-9C99-B6D1-C7F6C557FECE}"/>
                  </a:ext>
                </a:extLst>
              </p:cNvPr>
              <p:cNvCxnSpPr>
                <a:cxnSpLocks/>
              </p:cNvCxnSpPr>
              <p:nvPr/>
            </p:nvCxnSpPr>
            <p:spPr>
              <a:xfrm flipH="1">
                <a:off x="1066799" y="5562600"/>
                <a:ext cx="49757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31FB5343-F069-351A-F72A-E12E4918C4A4}"/>
                      </a:ext>
                    </a:extLst>
                  </p:cNvPr>
                  <p:cNvSpPr txBox="1"/>
                  <p:nvPr/>
                </p:nvSpPr>
                <p:spPr>
                  <a:xfrm>
                    <a:off x="6111015" y="5326326"/>
                    <a:ext cx="739947" cy="523220"/>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US" sz="2800" i="1">
                                  <a:latin typeface="Cambria Math" panose="02040503050406030204" pitchFamily="18" charset="0"/>
                                  <a:ea typeface="Avenir Book" charset="0"/>
                                  <a:cs typeface="Avenir Book" charset="0"/>
                                </a:rPr>
                              </m:ctrlPr>
                            </m:sSubPr>
                            <m:e>
                              <m:r>
                                <a:rPr lang="en-US" sz="2800" i="1">
                                  <a:latin typeface="Cambria Math" charset="0"/>
                                  <a:ea typeface="Avenir Book" charset="0"/>
                                  <a:cs typeface="Avenir Book" charset="0"/>
                                </a:rPr>
                                <m:t>𝑥</m:t>
                              </m:r>
                            </m:e>
                            <m:sub>
                              <m:r>
                                <a:rPr lang="en-US" sz="2800" i="1">
                                  <a:latin typeface="Cambria Math" charset="0"/>
                                  <a:ea typeface="Avenir Book" charset="0"/>
                                  <a:cs typeface="Avenir Book" charset="0"/>
                                </a:rPr>
                                <m:t>1</m:t>
                              </m:r>
                            </m:sub>
                          </m:sSub>
                        </m:oMath>
                      </m:oMathPara>
                    </a14:m>
                    <a:endParaRPr lang="en-US" sz="2800" dirty="0">
                      <a:latin typeface="Avenir Book" panose="02000503020000020003" pitchFamily="2" charset="0"/>
                      <a:ea typeface="Avenir Book" charset="0"/>
                      <a:cs typeface="Avenir Book" charset="0"/>
                    </a:endParaRPr>
                  </a:p>
                </p:txBody>
              </p:sp>
            </mc:Choice>
            <mc:Fallback xmlns="">
              <p:sp>
                <p:nvSpPr>
                  <p:cNvPr id="121" name="TextBox 120">
                    <a:extLst>
                      <a:ext uri="{FF2B5EF4-FFF2-40B4-BE49-F238E27FC236}">
                        <a16:creationId xmlns:a16="http://schemas.microsoft.com/office/drawing/2014/main" id="{31FB5343-F069-351A-F72A-E12E4918C4A4}"/>
                      </a:ext>
                    </a:extLst>
                  </p:cNvPr>
                  <p:cNvSpPr txBox="1">
                    <a:spLocks noRot="1" noChangeAspect="1" noMove="1" noResize="1" noEditPoints="1" noAdjustHandles="1" noChangeArrowheads="1" noChangeShapeType="1" noTextEdit="1"/>
                  </p:cNvSpPr>
                  <p:nvPr/>
                </p:nvSpPr>
                <p:spPr>
                  <a:xfrm>
                    <a:off x="6111015" y="5326326"/>
                    <a:ext cx="739947" cy="523220"/>
                  </a:xfrm>
                  <a:prstGeom prst="rect">
                    <a:avLst/>
                  </a:prstGeom>
                  <a:blipFill>
                    <a:blip r:embed="rId5"/>
                    <a:stretch>
                      <a:fillRect l="-6818" b="-2381"/>
                    </a:stretch>
                  </a:blipFill>
                </p:spPr>
                <p:txBody>
                  <a:bodyPr/>
                  <a:lstStyle/>
                  <a:p>
                    <a:r>
                      <a:rPr lang="en-US">
                        <a:noFill/>
                      </a:rPr>
                      <a:t> </a:t>
                    </a:r>
                  </a:p>
                </p:txBody>
              </p:sp>
            </mc:Fallback>
          </mc:AlternateContent>
        </p:grpSp>
      </p:grpSp>
      <p:sp>
        <p:nvSpPr>
          <p:cNvPr id="124" name="Oval 123">
            <a:extLst>
              <a:ext uri="{FF2B5EF4-FFF2-40B4-BE49-F238E27FC236}">
                <a16:creationId xmlns:a16="http://schemas.microsoft.com/office/drawing/2014/main" id="{7BD600F8-7366-3ED4-00E4-F93AD369D08A}"/>
              </a:ext>
            </a:extLst>
          </p:cNvPr>
          <p:cNvSpPr/>
          <p:nvPr/>
        </p:nvSpPr>
        <p:spPr>
          <a:xfrm>
            <a:off x="8173507" y="5791934"/>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25" name="Oval 124">
            <a:extLst>
              <a:ext uri="{FF2B5EF4-FFF2-40B4-BE49-F238E27FC236}">
                <a16:creationId xmlns:a16="http://schemas.microsoft.com/office/drawing/2014/main" id="{429E9387-BA4E-AA7C-E521-00D5ADB00FDD}"/>
              </a:ext>
            </a:extLst>
          </p:cNvPr>
          <p:cNvSpPr/>
          <p:nvPr/>
        </p:nvSpPr>
        <p:spPr>
          <a:xfrm>
            <a:off x="10352641" y="5104890"/>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26" name="Oval 125">
            <a:extLst>
              <a:ext uri="{FF2B5EF4-FFF2-40B4-BE49-F238E27FC236}">
                <a16:creationId xmlns:a16="http://schemas.microsoft.com/office/drawing/2014/main" id="{C54D4C3E-B340-4751-9A7E-C1809D3CE8E7}"/>
              </a:ext>
            </a:extLst>
          </p:cNvPr>
          <p:cNvSpPr/>
          <p:nvPr/>
        </p:nvSpPr>
        <p:spPr>
          <a:xfrm>
            <a:off x="9345297" y="4933423"/>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27" name="Oval 126">
            <a:extLst>
              <a:ext uri="{FF2B5EF4-FFF2-40B4-BE49-F238E27FC236}">
                <a16:creationId xmlns:a16="http://schemas.microsoft.com/office/drawing/2014/main" id="{9289A71D-D030-FDC4-454A-3F0533B34ECF}"/>
              </a:ext>
            </a:extLst>
          </p:cNvPr>
          <p:cNvSpPr/>
          <p:nvPr/>
        </p:nvSpPr>
        <p:spPr>
          <a:xfrm>
            <a:off x="8885264" y="5451309"/>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28" name="Oval 127">
            <a:extLst>
              <a:ext uri="{FF2B5EF4-FFF2-40B4-BE49-F238E27FC236}">
                <a16:creationId xmlns:a16="http://schemas.microsoft.com/office/drawing/2014/main" id="{230D879E-3B5C-2E6F-F678-4388347FE13D}"/>
              </a:ext>
            </a:extLst>
          </p:cNvPr>
          <p:cNvSpPr/>
          <p:nvPr/>
        </p:nvSpPr>
        <p:spPr>
          <a:xfrm>
            <a:off x="9789929" y="5833457"/>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29" name="Oval 128">
            <a:extLst>
              <a:ext uri="{FF2B5EF4-FFF2-40B4-BE49-F238E27FC236}">
                <a16:creationId xmlns:a16="http://schemas.microsoft.com/office/drawing/2014/main" id="{27BA56DB-F185-4099-5988-29F6E9A7EF7C}"/>
              </a:ext>
            </a:extLst>
          </p:cNvPr>
          <p:cNvSpPr/>
          <p:nvPr/>
        </p:nvSpPr>
        <p:spPr>
          <a:xfrm>
            <a:off x="8173507" y="5107591"/>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0" name="Oval 129">
            <a:extLst>
              <a:ext uri="{FF2B5EF4-FFF2-40B4-BE49-F238E27FC236}">
                <a16:creationId xmlns:a16="http://schemas.microsoft.com/office/drawing/2014/main" id="{F4E54586-2807-D063-B032-C4FAB17ED2BE}"/>
              </a:ext>
            </a:extLst>
          </p:cNvPr>
          <p:cNvSpPr/>
          <p:nvPr/>
        </p:nvSpPr>
        <p:spPr>
          <a:xfrm>
            <a:off x="7401223" y="4781146"/>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1" name="Triangle 130">
            <a:extLst>
              <a:ext uri="{FF2B5EF4-FFF2-40B4-BE49-F238E27FC236}">
                <a16:creationId xmlns:a16="http://schemas.microsoft.com/office/drawing/2014/main" id="{BCE2CD77-0A2A-0D66-417E-B4D045B77EAB}"/>
              </a:ext>
            </a:extLst>
          </p:cNvPr>
          <p:cNvSpPr/>
          <p:nvPr/>
        </p:nvSpPr>
        <p:spPr>
          <a:xfrm>
            <a:off x="7855504" y="4281925"/>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2" name="Triangle 131">
            <a:extLst>
              <a:ext uri="{FF2B5EF4-FFF2-40B4-BE49-F238E27FC236}">
                <a16:creationId xmlns:a16="http://schemas.microsoft.com/office/drawing/2014/main" id="{32065769-1B1B-C1A7-4137-9E96E43F2120}"/>
              </a:ext>
            </a:extLst>
          </p:cNvPr>
          <p:cNvSpPr/>
          <p:nvPr/>
        </p:nvSpPr>
        <p:spPr>
          <a:xfrm>
            <a:off x="8423861" y="3916050"/>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3" name="Triangle 132">
            <a:extLst>
              <a:ext uri="{FF2B5EF4-FFF2-40B4-BE49-F238E27FC236}">
                <a16:creationId xmlns:a16="http://schemas.microsoft.com/office/drawing/2014/main" id="{A694AEF1-369A-43CF-BF14-671AC5A07E4E}"/>
              </a:ext>
            </a:extLst>
          </p:cNvPr>
          <p:cNvSpPr/>
          <p:nvPr/>
        </p:nvSpPr>
        <p:spPr>
          <a:xfrm>
            <a:off x="9392999" y="4426016"/>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4" name="Triangle 133">
            <a:extLst>
              <a:ext uri="{FF2B5EF4-FFF2-40B4-BE49-F238E27FC236}">
                <a16:creationId xmlns:a16="http://schemas.microsoft.com/office/drawing/2014/main" id="{FF49EC8E-FE61-BFDE-104B-E571B0CED487}"/>
              </a:ext>
            </a:extLst>
          </p:cNvPr>
          <p:cNvSpPr/>
          <p:nvPr/>
        </p:nvSpPr>
        <p:spPr>
          <a:xfrm>
            <a:off x="9083579" y="3469319"/>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5" name="Triangle 134">
            <a:extLst>
              <a:ext uri="{FF2B5EF4-FFF2-40B4-BE49-F238E27FC236}">
                <a16:creationId xmlns:a16="http://schemas.microsoft.com/office/drawing/2014/main" id="{DC5D1A9A-FD50-DD5B-F5FB-1D41FA3C973A}"/>
              </a:ext>
            </a:extLst>
          </p:cNvPr>
          <p:cNvSpPr/>
          <p:nvPr/>
        </p:nvSpPr>
        <p:spPr>
          <a:xfrm>
            <a:off x="10220987" y="3967500"/>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6" name="Triangle 135">
            <a:extLst>
              <a:ext uri="{FF2B5EF4-FFF2-40B4-BE49-F238E27FC236}">
                <a16:creationId xmlns:a16="http://schemas.microsoft.com/office/drawing/2014/main" id="{90BF4CBA-C868-33E0-D0FE-657E5C0F49B6}"/>
              </a:ext>
            </a:extLst>
          </p:cNvPr>
          <p:cNvSpPr/>
          <p:nvPr/>
        </p:nvSpPr>
        <p:spPr>
          <a:xfrm>
            <a:off x="7303901" y="3643934"/>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8" name="Oval 137">
            <a:extLst>
              <a:ext uri="{FF2B5EF4-FFF2-40B4-BE49-F238E27FC236}">
                <a16:creationId xmlns:a16="http://schemas.microsoft.com/office/drawing/2014/main" id="{41F8815E-AD55-D001-D8CD-4FAD4F4DEE02}"/>
              </a:ext>
            </a:extLst>
          </p:cNvPr>
          <p:cNvSpPr/>
          <p:nvPr/>
        </p:nvSpPr>
        <p:spPr>
          <a:xfrm>
            <a:off x="8184806" y="5791934"/>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9" name="Oval 138">
            <a:extLst>
              <a:ext uri="{FF2B5EF4-FFF2-40B4-BE49-F238E27FC236}">
                <a16:creationId xmlns:a16="http://schemas.microsoft.com/office/drawing/2014/main" id="{906338A5-F941-946F-0747-086345958BD4}"/>
              </a:ext>
            </a:extLst>
          </p:cNvPr>
          <p:cNvSpPr/>
          <p:nvPr/>
        </p:nvSpPr>
        <p:spPr>
          <a:xfrm>
            <a:off x="10363940" y="5104890"/>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0" name="Oval 139">
            <a:extLst>
              <a:ext uri="{FF2B5EF4-FFF2-40B4-BE49-F238E27FC236}">
                <a16:creationId xmlns:a16="http://schemas.microsoft.com/office/drawing/2014/main" id="{96DFD331-7B92-6B43-FF93-B0D1687BDFC1}"/>
              </a:ext>
            </a:extLst>
          </p:cNvPr>
          <p:cNvSpPr/>
          <p:nvPr/>
        </p:nvSpPr>
        <p:spPr>
          <a:xfrm>
            <a:off x="9356596" y="4933423"/>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1" name="Oval 140">
            <a:extLst>
              <a:ext uri="{FF2B5EF4-FFF2-40B4-BE49-F238E27FC236}">
                <a16:creationId xmlns:a16="http://schemas.microsoft.com/office/drawing/2014/main" id="{029F3F6C-D2C3-6F70-6BEE-89AE1C0F884A}"/>
              </a:ext>
            </a:extLst>
          </p:cNvPr>
          <p:cNvSpPr/>
          <p:nvPr/>
        </p:nvSpPr>
        <p:spPr>
          <a:xfrm>
            <a:off x="8896563" y="5451309"/>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2" name="Oval 141">
            <a:extLst>
              <a:ext uri="{FF2B5EF4-FFF2-40B4-BE49-F238E27FC236}">
                <a16:creationId xmlns:a16="http://schemas.microsoft.com/office/drawing/2014/main" id="{FF1308DB-F13E-D5A8-1AF4-BE6B81A08CF9}"/>
              </a:ext>
            </a:extLst>
          </p:cNvPr>
          <p:cNvSpPr/>
          <p:nvPr/>
        </p:nvSpPr>
        <p:spPr>
          <a:xfrm>
            <a:off x="9801228" y="5833457"/>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3" name="Oval 142">
            <a:extLst>
              <a:ext uri="{FF2B5EF4-FFF2-40B4-BE49-F238E27FC236}">
                <a16:creationId xmlns:a16="http://schemas.microsoft.com/office/drawing/2014/main" id="{510073A2-F4FB-B17B-82BD-E907963939F5}"/>
              </a:ext>
            </a:extLst>
          </p:cNvPr>
          <p:cNvSpPr/>
          <p:nvPr/>
        </p:nvSpPr>
        <p:spPr>
          <a:xfrm>
            <a:off x="8184806" y="5107591"/>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4" name="Oval 143">
            <a:extLst>
              <a:ext uri="{FF2B5EF4-FFF2-40B4-BE49-F238E27FC236}">
                <a16:creationId xmlns:a16="http://schemas.microsoft.com/office/drawing/2014/main" id="{81783BDA-248A-214D-F5FB-464EDF79D47F}"/>
              </a:ext>
            </a:extLst>
          </p:cNvPr>
          <p:cNvSpPr/>
          <p:nvPr/>
        </p:nvSpPr>
        <p:spPr>
          <a:xfrm>
            <a:off x="7412522" y="4781146"/>
            <a:ext cx="184757" cy="1847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5" name="Triangle 144">
            <a:extLst>
              <a:ext uri="{FF2B5EF4-FFF2-40B4-BE49-F238E27FC236}">
                <a16:creationId xmlns:a16="http://schemas.microsoft.com/office/drawing/2014/main" id="{350AE5F3-01C9-6B98-27F5-3DEC2C62CC9B}"/>
              </a:ext>
            </a:extLst>
          </p:cNvPr>
          <p:cNvSpPr/>
          <p:nvPr/>
        </p:nvSpPr>
        <p:spPr>
          <a:xfrm>
            <a:off x="7866803" y="4281925"/>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6" name="Triangle 145">
            <a:extLst>
              <a:ext uri="{FF2B5EF4-FFF2-40B4-BE49-F238E27FC236}">
                <a16:creationId xmlns:a16="http://schemas.microsoft.com/office/drawing/2014/main" id="{ECDE8ED7-E1DD-B2FF-467D-632F70DE524C}"/>
              </a:ext>
            </a:extLst>
          </p:cNvPr>
          <p:cNvSpPr/>
          <p:nvPr/>
        </p:nvSpPr>
        <p:spPr>
          <a:xfrm>
            <a:off x="8435160" y="3916050"/>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7" name="Triangle 146">
            <a:extLst>
              <a:ext uri="{FF2B5EF4-FFF2-40B4-BE49-F238E27FC236}">
                <a16:creationId xmlns:a16="http://schemas.microsoft.com/office/drawing/2014/main" id="{5B79AFE5-FA86-27B4-0874-1524DAA4B2EF}"/>
              </a:ext>
            </a:extLst>
          </p:cNvPr>
          <p:cNvSpPr/>
          <p:nvPr/>
        </p:nvSpPr>
        <p:spPr>
          <a:xfrm>
            <a:off x="9404298" y="4426016"/>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8" name="Triangle 147">
            <a:extLst>
              <a:ext uri="{FF2B5EF4-FFF2-40B4-BE49-F238E27FC236}">
                <a16:creationId xmlns:a16="http://schemas.microsoft.com/office/drawing/2014/main" id="{B5CC8F54-9238-4BE8-CA76-EF473E7D4771}"/>
              </a:ext>
            </a:extLst>
          </p:cNvPr>
          <p:cNvSpPr/>
          <p:nvPr/>
        </p:nvSpPr>
        <p:spPr>
          <a:xfrm>
            <a:off x="9094878" y="3469319"/>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9" name="Triangle 148">
            <a:extLst>
              <a:ext uri="{FF2B5EF4-FFF2-40B4-BE49-F238E27FC236}">
                <a16:creationId xmlns:a16="http://schemas.microsoft.com/office/drawing/2014/main" id="{141752FE-0D69-6621-58D5-C2A9D3D0D18D}"/>
              </a:ext>
            </a:extLst>
          </p:cNvPr>
          <p:cNvSpPr/>
          <p:nvPr/>
        </p:nvSpPr>
        <p:spPr>
          <a:xfrm>
            <a:off x="10232286" y="3967500"/>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50" name="Triangle 149">
            <a:extLst>
              <a:ext uri="{FF2B5EF4-FFF2-40B4-BE49-F238E27FC236}">
                <a16:creationId xmlns:a16="http://schemas.microsoft.com/office/drawing/2014/main" id="{59E8890E-B029-A7C1-2689-C2232E2DA7D5}"/>
              </a:ext>
            </a:extLst>
          </p:cNvPr>
          <p:cNvSpPr/>
          <p:nvPr/>
        </p:nvSpPr>
        <p:spPr>
          <a:xfrm>
            <a:off x="7315200" y="3643934"/>
            <a:ext cx="189700" cy="1897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Tree>
    <p:extLst>
      <p:ext uri="{BB962C8B-B14F-4D97-AF65-F5344CB8AC3E}">
        <p14:creationId xmlns:p14="http://schemas.microsoft.com/office/powerpoint/2010/main" val="2251811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2"/>
                                        </p:tgtEl>
                                        <p:attrNameLst>
                                          <p:attrName>style.visibility</p:attrName>
                                        </p:attrNameLst>
                                      </p:cBhvr>
                                      <p:to>
                                        <p:strVal val="visible"/>
                                      </p:to>
                                    </p:set>
                                    <p:animEffect transition="in" filter="fade">
                                      <p:cBhvr>
                                        <p:cTn id="12" dur="500"/>
                                        <p:tgtEl>
                                          <p:spTgt spid="1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1"/>
                                        </p:tgtEl>
                                        <p:attrNameLst>
                                          <p:attrName>style.visibility</p:attrName>
                                        </p:attrNameLst>
                                      </p:cBhvr>
                                      <p:to>
                                        <p:strVal val="visible"/>
                                      </p:to>
                                    </p:set>
                                    <p:animEffect transition="in" filter="fade">
                                      <p:cBhvr>
                                        <p:cTn id="17" dur="500"/>
                                        <p:tgtEl>
                                          <p:spTgt spid="15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2" nodeType="clickEffect">
                                  <p:stCondLst>
                                    <p:cond delay="0"/>
                                  </p:stCondLst>
                                  <p:childTnLst>
                                    <p:set>
                                      <p:cBhvr>
                                        <p:cTn id="21" dur="1" fill="hold">
                                          <p:stCondLst>
                                            <p:cond delay="0"/>
                                          </p:stCondLst>
                                        </p:cTn>
                                        <p:tgtEl>
                                          <p:spTgt spid="124"/>
                                        </p:tgtEl>
                                        <p:attrNameLst>
                                          <p:attrName>style.visibility</p:attrName>
                                        </p:attrNameLst>
                                      </p:cBhvr>
                                      <p:to>
                                        <p:strVal val="visible"/>
                                      </p:to>
                                    </p:set>
                                    <p:animEffect transition="in" filter="fade">
                                      <p:cBhvr>
                                        <p:cTn id="22" dur="500"/>
                                        <p:tgtEl>
                                          <p:spTgt spid="124"/>
                                        </p:tgtEl>
                                      </p:cBhvr>
                                    </p:animEffect>
                                  </p:childTnLst>
                                </p:cTn>
                              </p:par>
                              <p:par>
                                <p:cTn id="23" presetID="10" presetClass="entr" presetSubtype="0" fill="hold" grpId="2" nodeType="withEffect">
                                  <p:stCondLst>
                                    <p:cond delay="0"/>
                                  </p:stCondLst>
                                  <p:childTnLst>
                                    <p:set>
                                      <p:cBhvr>
                                        <p:cTn id="24" dur="1" fill="hold">
                                          <p:stCondLst>
                                            <p:cond delay="0"/>
                                          </p:stCondLst>
                                        </p:cTn>
                                        <p:tgtEl>
                                          <p:spTgt spid="125"/>
                                        </p:tgtEl>
                                        <p:attrNameLst>
                                          <p:attrName>style.visibility</p:attrName>
                                        </p:attrNameLst>
                                      </p:cBhvr>
                                      <p:to>
                                        <p:strVal val="visible"/>
                                      </p:to>
                                    </p:set>
                                    <p:animEffect transition="in" filter="fade">
                                      <p:cBhvr>
                                        <p:cTn id="25" dur="500"/>
                                        <p:tgtEl>
                                          <p:spTgt spid="125"/>
                                        </p:tgtEl>
                                      </p:cBhvr>
                                    </p:animEffect>
                                  </p:childTnLst>
                                </p:cTn>
                              </p:par>
                              <p:par>
                                <p:cTn id="26" presetID="10" presetClass="entr" presetSubtype="0" fill="hold" grpId="2" nodeType="withEffect">
                                  <p:stCondLst>
                                    <p:cond delay="0"/>
                                  </p:stCondLst>
                                  <p:childTnLst>
                                    <p:set>
                                      <p:cBhvr>
                                        <p:cTn id="27" dur="1" fill="hold">
                                          <p:stCondLst>
                                            <p:cond delay="0"/>
                                          </p:stCondLst>
                                        </p:cTn>
                                        <p:tgtEl>
                                          <p:spTgt spid="126"/>
                                        </p:tgtEl>
                                        <p:attrNameLst>
                                          <p:attrName>style.visibility</p:attrName>
                                        </p:attrNameLst>
                                      </p:cBhvr>
                                      <p:to>
                                        <p:strVal val="visible"/>
                                      </p:to>
                                    </p:set>
                                    <p:animEffect transition="in" filter="fade">
                                      <p:cBhvr>
                                        <p:cTn id="28" dur="500"/>
                                        <p:tgtEl>
                                          <p:spTgt spid="126"/>
                                        </p:tgtEl>
                                      </p:cBhvr>
                                    </p:animEffect>
                                  </p:childTnLst>
                                </p:cTn>
                              </p:par>
                              <p:par>
                                <p:cTn id="29" presetID="10" presetClass="entr" presetSubtype="0" fill="hold" grpId="2" nodeType="withEffect">
                                  <p:stCondLst>
                                    <p:cond delay="0"/>
                                  </p:stCondLst>
                                  <p:childTnLst>
                                    <p:set>
                                      <p:cBhvr>
                                        <p:cTn id="30" dur="1" fill="hold">
                                          <p:stCondLst>
                                            <p:cond delay="0"/>
                                          </p:stCondLst>
                                        </p:cTn>
                                        <p:tgtEl>
                                          <p:spTgt spid="127"/>
                                        </p:tgtEl>
                                        <p:attrNameLst>
                                          <p:attrName>style.visibility</p:attrName>
                                        </p:attrNameLst>
                                      </p:cBhvr>
                                      <p:to>
                                        <p:strVal val="visible"/>
                                      </p:to>
                                    </p:set>
                                    <p:animEffect transition="in" filter="fade">
                                      <p:cBhvr>
                                        <p:cTn id="31" dur="500"/>
                                        <p:tgtEl>
                                          <p:spTgt spid="127"/>
                                        </p:tgtEl>
                                      </p:cBhvr>
                                    </p:animEffect>
                                  </p:childTnLst>
                                </p:cTn>
                              </p:par>
                              <p:par>
                                <p:cTn id="32" presetID="10" presetClass="entr" presetSubtype="0" fill="hold" grpId="2" nodeType="withEffect">
                                  <p:stCondLst>
                                    <p:cond delay="0"/>
                                  </p:stCondLst>
                                  <p:childTnLst>
                                    <p:set>
                                      <p:cBhvr>
                                        <p:cTn id="33" dur="1" fill="hold">
                                          <p:stCondLst>
                                            <p:cond delay="0"/>
                                          </p:stCondLst>
                                        </p:cTn>
                                        <p:tgtEl>
                                          <p:spTgt spid="128"/>
                                        </p:tgtEl>
                                        <p:attrNameLst>
                                          <p:attrName>style.visibility</p:attrName>
                                        </p:attrNameLst>
                                      </p:cBhvr>
                                      <p:to>
                                        <p:strVal val="visible"/>
                                      </p:to>
                                    </p:set>
                                    <p:animEffect transition="in" filter="fade">
                                      <p:cBhvr>
                                        <p:cTn id="34" dur="500"/>
                                        <p:tgtEl>
                                          <p:spTgt spid="128"/>
                                        </p:tgtEl>
                                      </p:cBhvr>
                                    </p:animEffect>
                                  </p:childTnLst>
                                </p:cTn>
                              </p:par>
                              <p:par>
                                <p:cTn id="35" presetID="10" presetClass="entr" presetSubtype="0" fill="hold" grpId="2" nodeType="withEffect">
                                  <p:stCondLst>
                                    <p:cond delay="0"/>
                                  </p:stCondLst>
                                  <p:childTnLst>
                                    <p:set>
                                      <p:cBhvr>
                                        <p:cTn id="36" dur="1" fill="hold">
                                          <p:stCondLst>
                                            <p:cond delay="0"/>
                                          </p:stCondLst>
                                        </p:cTn>
                                        <p:tgtEl>
                                          <p:spTgt spid="129"/>
                                        </p:tgtEl>
                                        <p:attrNameLst>
                                          <p:attrName>style.visibility</p:attrName>
                                        </p:attrNameLst>
                                      </p:cBhvr>
                                      <p:to>
                                        <p:strVal val="visible"/>
                                      </p:to>
                                    </p:set>
                                    <p:animEffect transition="in" filter="fade">
                                      <p:cBhvr>
                                        <p:cTn id="37" dur="500"/>
                                        <p:tgtEl>
                                          <p:spTgt spid="129"/>
                                        </p:tgtEl>
                                      </p:cBhvr>
                                    </p:animEffect>
                                  </p:childTnLst>
                                </p:cTn>
                              </p:par>
                              <p:par>
                                <p:cTn id="38" presetID="10" presetClass="entr" presetSubtype="0" fill="hold" grpId="2" nodeType="withEffect">
                                  <p:stCondLst>
                                    <p:cond delay="0"/>
                                  </p:stCondLst>
                                  <p:childTnLst>
                                    <p:set>
                                      <p:cBhvr>
                                        <p:cTn id="39" dur="1" fill="hold">
                                          <p:stCondLst>
                                            <p:cond delay="0"/>
                                          </p:stCondLst>
                                        </p:cTn>
                                        <p:tgtEl>
                                          <p:spTgt spid="130"/>
                                        </p:tgtEl>
                                        <p:attrNameLst>
                                          <p:attrName>style.visibility</p:attrName>
                                        </p:attrNameLst>
                                      </p:cBhvr>
                                      <p:to>
                                        <p:strVal val="visible"/>
                                      </p:to>
                                    </p:set>
                                    <p:animEffect transition="in" filter="fade">
                                      <p:cBhvr>
                                        <p:cTn id="40" dur="500"/>
                                        <p:tgtEl>
                                          <p:spTgt spid="130"/>
                                        </p:tgtEl>
                                      </p:cBhvr>
                                    </p:animEffect>
                                  </p:childTnLst>
                                </p:cTn>
                              </p:par>
                              <p:par>
                                <p:cTn id="41" presetID="10" presetClass="entr" presetSubtype="0" fill="hold" grpId="2" nodeType="withEffect">
                                  <p:stCondLst>
                                    <p:cond delay="0"/>
                                  </p:stCondLst>
                                  <p:childTnLst>
                                    <p:set>
                                      <p:cBhvr>
                                        <p:cTn id="42" dur="1" fill="hold">
                                          <p:stCondLst>
                                            <p:cond delay="0"/>
                                          </p:stCondLst>
                                        </p:cTn>
                                        <p:tgtEl>
                                          <p:spTgt spid="131"/>
                                        </p:tgtEl>
                                        <p:attrNameLst>
                                          <p:attrName>style.visibility</p:attrName>
                                        </p:attrNameLst>
                                      </p:cBhvr>
                                      <p:to>
                                        <p:strVal val="visible"/>
                                      </p:to>
                                    </p:set>
                                    <p:animEffect transition="in" filter="fade">
                                      <p:cBhvr>
                                        <p:cTn id="43" dur="500"/>
                                        <p:tgtEl>
                                          <p:spTgt spid="131"/>
                                        </p:tgtEl>
                                      </p:cBhvr>
                                    </p:animEffect>
                                  </p:childTnLst>
                                </p:cTn>
                              </p:par>
                              <p:par>
                                <p:cTn id="44" presetID="10" presetClass="entr" presetSubtype="0" fill="hold" grpId="2" nodeType="withEffect">
                                  <p:stCondLst>
                                    <p:cond delay="0"/>
                                  </p:stCondLst>
                                  <p:childTnLst>
                                    <p:set>
                                      <p:cBhvr>
                                        <p:cTn id="45" dur="1" fill="hold">
                                          <p:stCondLst>
                                            <p:cond delay="0"/>
                                          </p:stCondLst>
                                        </p:cTn>
                                        <p:tgtEl>
                                          <p:spTgt spid="132"/>
                                        </p:tgtEl>
                                        <p:attrNameLst>
                                          <p:attrName>style.visibility</p:attrName>
                                        </p:attrNameLst>
                                      </p:cBhvr>
                                      <p:to>
                                        <p:strVal val="visible"/>
                                      </p:to>
                                    </p:set>
                                    <p:animEffect transition="in" filter="fade">
                                      <p:cBhvr>
                                        <p:cTn id="46" dur="500"/>
                                        <p:tgtEl>
                                          <p:spTgt spid="132"/>
                                        </p:tgtEl>
                                      </p:cBhvr>
                                    </p:animEffect>
                                  </p:childTnLst>
                                </p:cTn>
                              </p:par>
                              <p:par>
                                <p:cTn id="47" presetID="10" presetClass="entr" presetSubtype="0" fill="hold" grpId="2" nodeType="withEffect">
                                  <p:stCondLst>
                                    <p:cond delay="0"/>
                                  </p:stCondLst>
                                  <p:childTnLst>
                                    <p:set>
                                      <p:cBhvr>
                                        <p:cTn id="48" dur="1" fill="hold">
                                          <p:stCondLst>
                                            <p:cond delay="0"/>
                                          </p:stCondLst>
                                        </p:cTn>
                                        <p:tgtEl>
                                          <p:spTgt spid="133"/>
                                        </p:tgtEl>
                                        <p:attrNameLst>
                                          <p:attrName>style.visibility</p:attrName>
                                        </p:attrNameLst>
                                      </p:cBhvr>
                                      <p:to>
                                        <p:strVal val="visible"/>
                                      </p:to>
                                    </p:set>
                                    <p:animEffect transition="in" filter="fade">
                                      <p:cBhvr>
                                        <p:cTn id="49" dur="500"/>
                                        <p:tgtEl>
                                          <p:spTgt spid="133"/>
                                        </p:tgtEl>
                                      </p:cBhvr>
                                    </p:animEffect>
                                  </p:childTnLst>
                                </p:cTn>
                              </p:par>
                              <p:par>
                                <p:cTn id="50" presetID="10" presetClass="entr" presetSubtype="0" fill="hold" grpId="2" nodeType="withEffect">
                                  <p:stCondLst>
                                    <p:cond delay="0"/>
                                  </p:stCondLst>
                                  <p:childTnLst>
                                    <p:set>
                                      <p:cBhvr>
                                        <p:cTn id="51" dur="1" fill="hold">
                                          <p:stCondLst>
                                            <p:cond delay="0"/>
                                          </p:stCondLst>
                                        </p:cTn>
                                        <p:tgtEl>
                                          <p:spTgt spid="134"/>
                                        </p:tgtEl>
                                        <p:attrNameLst>
                                          <p:attrName>style.visibility</p:attrName>
                                        </p:attrNameLst>
                                      </p:cBhvr>
                                      <p:to>
                                        <p:strVal val="visible"/>
                                      </p:to>
                                    </p:set>
                                    <p:animEffect transition="in" filter="fade">
                                      <p:cBhvr>
                                        <p:cTn id="52" dur="500"/>
                                        <p:tgtEl>
                                          <p:spTgt spid="134"/>
                                        </p:tgtEl>
                                      </p:cBhvr>
                                    </p:animEffect>
                                  </p:childTnLst>
                                </p:cTn>
                              </p:par>
                              <p:par>
                                <p:cTn id="53" presetID="10" presetClass="entr" presetSubtype="0" fill="hold" grpId="2" nodeType="withEffect">
                                  <p:stCondLst>
                                    <p:cond delay="0"/>
                                  </p:stCondLst>
                                  <p:childTnLst>
                                    <p:set>
                                      <p:cBhvr>
                                        <p:cTn id="54" dur="1" fill="hold">
                                          <p:stCondLst>
                                            <p:cond delay="0"/>
                                          </p:stCondLst>
                                        </p:cTn>
                                        <p:tgtEl>
                                          <p:spTgt spid="135"/>
                                        </p:tgtEl>
                                        <p:attrNameLst>
                                          <p:attrName>style.visibility</p:attrName>
                                        </p:attrNameLst>
                                      </p:cBhvr>
                                      <p:to>
                                        <p:strVal val="visible"/>
                                      </p:to>
                                    </p:set>
                                    <p:animEffect transition="in" filter="fade">
                                      <p:cBhvr>
                                        <p:cTn id="55" dur="500"/>
                                        <p:tgtEl>
                                          <p:spTgt spid="135"/>
                                        </p:tgtEl>
                                      </p:cBhvr>
                                    </p:animEffect>
                                  </p:childTnLst>
                                </p:cTn>
                              </p:par>
                              <p:par>
                                <p:cTn id="56" presetID="10" presetClass="entr" presetSubtype="0" fill="hold" grpId="2" nodeType="withEffect">
                                  <p:stCondLst>
                                    <p:cond delay="0"/>
                                  </p:stCondLst>
                                  <p:childTnLst>
                                    <p:set>
                                      <p:cBhvr>
                                        <p:cTn id="57" dur="1" fill="hold">
                                          <p:stCondLst>
                                            <p:cond delay="0"/>
                                          </p:stCondLst>
                                        </p:cTn>
                                        <p:tgtEl>
                                          <p:spTgt spid="136"/>
                                        </p:tgtEl>
                                        <p:attrNameLst>
                                          <p:attrName>style.visibility</p:attrName>
                                        </p:attrNameLst>
                                      </p:cBhvr>
                                      <p:to>
                                        <p:strVal val="visible"/>
                                      </p:to>
                                    </p:set>
                                    <p:animEffect transition="in" filter="fade">
                                      <p:cBhvr>
                                        <p:cTn id="58" dur="500"/>
                                        <p:tgtEl>
                                          <p:spTgt spid="136"/>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grpId="0" nodeType="clickEffect">
                                  <p:stCondLst>
                                    <p:cond delay="0"/>
                                  </p:stCondLst>
                                  <p:childTnLst>
                                    <p:animMotion origin="layout" path="M -4.79167E-6 -3.7037E-7 L -4.79167E-6 0.05046 " pathEditMode="relative" rAng="0" ptsTypes="AA">
                                      <p:cBhvr>
                                        <p:cTn id="62" dur="2000" fill="hold"/>
                                        <p:tgtEl>
                                          <p:spTgt spid="124"/>
                                        </p:tgtEl>
                                        <p:attrNameLst>
                                          <p:attrName>ppt_x</p:attrName>
                                          <p:attrName>ppt_y</p:attrName>
                                        </p:attrNameLst>
                                      </p:cBhvr>
                                      <p:rCtr x="0" y="2523"/>
                                    </p:animMotion>
                                  </p:childTnLst>
                                </p:cTn>
                              </p:par>
                              <p:par>
                                <p:cTn id="63" presetID="42" presetClass="path" presetSubtype="0" accel="50000" decel="50000" fill="hold" grpId="0" nodeType="withEffect">
                                  <p:stCondLst>
                                    <p:cond delay="0"/>
                                  </p:stCondLst>
                                  <p:childTnLst>
                                    <p:animMotion origin="layout" path="M -6.25E-7 -3.7037E-7 L -6.25E-7 0.15046 " pathEditMode="relative" rAng="0" ptsTypes="AA">
                                      <p:cBhvr>
                                        <p:cTn id="64" dur="2000" fill="hold"/>
                                        <p:tgtEl>
                                          <p:spTgt spid="125"/>
                                        </p:tgtEl>
                                        <p:attrNameLst>
                                          <p:attrName>ppt_x</p:attrName>
                                          <p:attrName>ppt_y</p:attrName>
                                        </p:attrNameLst>
                                      </p:cBhvr>
                                      <p:rCtr x="0" y="7523"/>
                                    </p:animMotion>
                                  </p:childTnLst>
                                </p:cTn>
                              </p:par>
                              <p:par>
                                <p:cTn id="65" presetID="42" presetClass="path" presetSubtype="0" accel="50000" decel="50000" fill="hold" grpId="0" nodeType="withEffect">
                                  <p:stCondLst>
                                    <p:cond delay="0"/>
                                  </p:stCondLst>
                                  <p:childTnLst>
                                    <p:animMotion origin="layout" path="M 1.45833E-6 -3.7037E-7 L 1.45833E-6 0.17546 " pathEditMode="relative" rAng="0" ptsTypes="AA">
                                      <p:cBhvr>
                                        <p:cTn id="66" dur="2000" fill="hold"/>
                                        <p:tgtEl>
                                          <p:spTgt spid="126"/>
                                        </p:tgtEl>
                                        <p:attrNameLst>
                                          <p:attrName>ppt_x</p:attrName>
                                          <p:attrName>ppt_y</p:attrName>
                                        </p:attrNameLst>
                                      </p:cBhvr>
                                      <p:rCtr x="0" y="8773"/>
                                    </p:animMotion>
                                  </p:childTnLst>
                                </p:cTn>
                              </p:par>
                              <p:par>
                                <p:cTn id="67" presetID="42" presetClass="path" presetSubtype="0" accel="50000" decel="50000" fill="hold" grpId="0" nodeType="withEffect">
                                  <p:stCondLst>
                                    <p:cond delay="0"/>
                                  </p:stCondLst>
                                  <p:childTnLst>
                                    <p:animMotion origin="layout" path="M 1.875E-6 -3.33333E-6 L 1.875E-6 0.1 " pathEditMode="relative" rAng="0" ptsTypes="AA">
                                      <p:cBhvr>
                                        <p:cTn id="68" dur="2000" fill="hold"/>
                                        <p:tgtEl>
                                          <p:spTgt spid="127"/>
                                        </p:tgtEl>
                                        <p:attrNameLst>
                                          <p:attrName>ppt_x</p:attrName>
                                          <p:attrName>ppt_y</p:attrName>
                                        </p:attrNameLst>
                                      </p:cBhvr>
                                      <p:rCtr x="0" y="5000"/>
                                    </p:animMotion>
                                  </p:childTnLst>
                                </p:cTn>
                              </p:par>
                              <p:par>
                                <p:cTn id="69" presetID="42" presetClass="path" presetSubtype="0" accel="50000" decel="50000" fill="hold" grpId="0" nodeType="withEffect">
                                  <p:stCondLst>
                                    <p:cond delay="0"/>
                                  </p:stCondLst>
                                  <p:childTnLst>
                                    <p:animMotion origin="layout" path="M 3.125E-6 -3.7037E-7 L 3.125E-6 0.04421 " pathEditMode="relative" rAng="0" ptsTypes="AA">
                                      <p:cBhvr>
                                        <p:cTn id="70" dur="2000" fill="hold"/>
                                        <p:tgtEl>
                                          <p:spTgt spid="128"/>
                                        </p:tgtEl>
                                        <p:attrNameLst>
                                          <p:attrName>ppt_x</p:attrName>
                                          <p:attrName>ppt_y</p:attrName>
                                        </p:attrNameLst>
                                      </p:cBhvr>
                                      <p:rCtr x="0" y="2199"/>
                                    </p:animMotion>
                                  </p:childTnLst>
                                </p:cTn>
                              </p:par>
                              <p:par>
                                <p:cTn id="71" presetID="42" presetClass="path" presetSubtype="0" accel="50000" decel="50000" fill="hold" grpId="0" nodeType="withEffect">
                                  <p:stCondLst>
                                    <p:cond delay="0"/>
                                  </p:stCondLst>
                                  <p:childTnLst>
                                    <p:animMotion origin="layout" path="M -4.79167E-6 -1.85185E-6 L -4.79167E-6 0.15023 " pathEditMode="relative" rAng="0" ptsTypes="AA">
                                      <p:cBhvr>
                                        <p:cTn id="72" dur="2000" fill="hold"/>
                                        <p:tgtEl>
                                          <p:spTgt spid="129"/>
                                        </p:tgtEl>
                                        <p:attrNameLst>
                                          <p:attrName>ppt_x</p:attrName>
                                          <p:attrName>ppt_y</p:attrName>
                                        </p:attrNameLst>
                                      </p:cBhvr>
                                      <p:rCtr x="0" y="7500"/>
                                    </p:animMotion>
                                  </p:childTnLst>
                                </p:cTn>
                              </p:par>
                              <p:par>
                                <p:cTn id="73" presetID="42" presetClass="path" presetSubtype="0" accel="50000" decel="50000" fill="hold" grpId="0" nodeType="withEffect">
                                  <p:stCondLst>
                                    <p:cond delay="0"/>
                                  </p:stCondLst>
                                  <p:childTnLst>
                                    <p:animMotion origin="layout" path="M -3.33333E-6 1.85185E-6 L -3.33333E-6 0.19768 " pathEditMode="relative" rAng="0" ptsTypes="AA">
                                      <p:cBhvr>
                                        <p:cTn id="74" dur="2000" fill="hold"/>
                                        <p:tgtEl>
                                          <p:spTgt spid="130"/>
                                        </p:tgtEl>
                                        <p:attrNameLst>
                                          <p:attrName>ppt_x</p:attrName>
                                          <p:attrName>ppt_y</p:attrName>
                                        </p:attrNameLst>
                                      </p:cBhvr>
                                      <p:rCtr x="0" y="9884"/>
                                    </p:animMotion>
                                  </p:childTnLst>
                                </p:cTn>
                              </p:par>
                              <p:par>
                                <p:cTn id="75" presetID="42" presetClass="path" presetSubtype="0" accel="50000" decel="50000" fill="hold" grpId="0" nodeType="withEffect">
                                  <p:stCondLst>
                                    <p:cond delay="0"/>
                                  </p:stCondLst>
                                  <p:childTnLst>
                                    <p:animMotion origin="layout" path="M -3.33333E-6 -4.44444E-6 L -3.33333E-6 0.27014 " pathEditMode="relative" rAng="0" ptsTypes="AA">
                                      <p:cBhvr>
                                        <p:cTn id="76" dur="2000" fill="hold"/>
                                        <p:tgtEl>
                                          <p:spTgt spid="131"/>
                                        </p:tgtEl>
                                        <p:attrNameLst>
                                          <p:attrName>ppt_x</p:attrName>
                                          <p:attrName>ppt_y</p:attrName>
                                        </p:attrNameLst>
                                      </p:cBhvr>
                                      <p:rCtr x="0" y="13495"/>
                                    </p:animMotion>
                                  </p:childTnLst>
                                </p:cTn>
                              </p:par>
                              <p:par>
                                <p:cTn id="77" presetID="42" presetClass="path" presetSubtype="0" accel="50000" decel="50000" fill="hold" grpId="0" nodeType="withEffect">
                                  <p:stCondLst>
                                    <p:cond delay="0"/>
                                  </p:stCondLst>
                                  <p:childTnLst>
                                    <p:animMotion origin="layout" path="M 2.08333E-6 -2.22222E-6 L 2.08333E-6 0.32361 " pathEditMode="relative" rAng="0" ptsTypes="AA">
                                      <p:cBhvr>
                                        <p:cTn id="78" dur="2000" fill="hold"/>
                                        <p:tgtEl>
                                          <p:spTgt spid="132"/>
                                        </p:tgtEl>
                                        <p:attrNameLst>
                                          <p:attrName>ppt_x</p:attrName>
                                          <p:attrName>ppt_y</p:attrName>
                                        </p:attrNameLst>
                                      </p:cBhvr>
                                      <p:rCtr x="0" y="16181"/>
                                    </p:animMotion>
                                  </p:childTnLst>
                                </p:cTn>
                              </p:par>
                              <p:par>
                                <p:cTn id="79" presetID="42" presetClass="path" presetSubtype="0" accel="50000" decel="50000" fill="hold" grpId="0" nodeType="withEffect">
                                  <p:stCondLst>
                                    <p:cond delay="0"/>
                                  </p:stCondLst>
                                  <p:childTnLst>
                                    <p:animMotion origin="layout" path="M 0 0 L 0 0.25 E" pathEditMode="relative" ptsTypes="">
                                      <p:cBhvr>
                                        <p:cTn id="80" dur="2000" fill="hold"/>
                                        <p:tgtEl>
                                          <p:spTgt spid="133"/>
                                        </p:tgtEl>
                                        <p:attrNameLst>
                                          <p:attrName>ppt_x</p:attrName>
                                          <p:attrName>ppt_y</p:attrName>
                                        </p:attrNameLst>
                                      </p:cBhvr>
                                    </p:animMotion>
                                  </p:childTnLst>
                                </p:cTn>
                              </p:par>
                              <p:par>
                                <p:cTn id="81" presetID="42" presetClass="path" presetSubtype="0" accel="50000" decel="50000" fill="hold" grpId="0" nodeType="withEffect">
                                  <p:stCondLst>
                                    <p:cond delay="0"/>
                                  </p:stCondLst>
                                  <p:childTnLst>
                                    <p:animMotion origin="layout" path="M -4.375E-6 4.07407E-6 L -4.375E-6 0.38865 " pathEditMode="relative" rAng="0" ptsTypes="AA">
                                      <p:cBhvr>
                                        <p:cTn id="82" dur="2000" fill="hold"/>
                                        <p:tgtEl>
                                          <p:spTgt spid="134"/>
                                        </p:tgtEl>
                                        <p:attrNameLst>
                                          <p:attrName>ppt_x</p:attrName>
                                          <p:attrName>ppt_y</p:attrName>
                                        </p:attrNameLst>
                                      </p:cBhvr>
                                      <p:rCtr x="0" y="19421"/>
                                    </p:animMotion>
                                  </p:childTnLst>
                                </p:cTn>
                              </p:par>
                              <p:par>
                                <p:cTn id="83" presetID="42" presetClass="path" presetSubtype="0" accel="50000" decel="50000" fill="hold" grpId="0" nodeType="withEffect">
                                  <p:stCondLst>
                                    <p:cond delay="0"/>
                                  </p:stCondLst>
                                  <p:childTnLst>
                                    <p:animMotion origin="layout" path="M -3.75E-6 -1.11111E-6 L -3.75E-6 0.31597 " pathEditMode="relative" rAng="0" ptsTypes="AA">
                                      <p:cBhvr>
                                        <p:cTn id="84" dur="2000" fill="hold"/>
                                        <p:tgtEl>
                                          <p:spTgt spid="135"/>
                                        </p:tgtEl>
                                        <p:attrNameLst>
                                          <p:attrName>ppt_x</p:attrName>
                                          <p:attrName>ppt_y</p:attrName>
                                        </p:attrNameLst>
                                      </p:cBhvr>
                                      <p:rCtr x="0" y="15787"/>
                                    </p:animMotion>
                                  </p:childTnLst>
                                </p:cTn>
                              </p:par>
                              <p:par>
                                <p:cTn id="85" presetID="42" presetClass="path" presetSubtype="0" accel="50000" decel="50000" fill="hold" grpId="0" nodeType="withEffect">
                                  <p:stCondLst>
                                    <p:cond delay="0"/>
                                  </p:stCondLst>
                                  <p:childTnLst>
                                    <p:animMotion origin="layout" path="M -8.33333E-7 1.11111E-6 L -8.33333E-7 0.36319 " pathEditMode="relative" rAng="0" ptsTypes="AA">
                                      <p:cBhvr>
                                        <p:cTn id="86" dur="2000" fill="hold"/>
                                        <p:tgtEl>
                                          <p:spTgt spid="136"/>
                                        </p:tgtEl>
                                        <p:attrNameLst>
                                          <p:attrName>ppt_x</p:attrName>
                                          <p:attrName>ppt_y</p:attrName>
                                        </p:attrNameLst>
                                      </p:cBhvr>
                                      <p:rCtr x="0" y="18148"/>
                                    </p:animMotion>
                                  </p:childTnLst>
                                </p:cTn>
                              </p:par>
                            </p:childTnLst>
                          </p:cTn>
                        </p:par>
                        <p:par>
                          <p:cTn id="87" fill="hold">
                            <p:stCondLst>
                              <p:cond delay="2000"/>
                            </p:stCondLst>
                            <p:childTnLst>
                              <p:par>
                                <p:cTn id="88" presetID="10" presetClass="entr" presetSubtype="0" fill="hold" grpId="0" nodeType="afterEffect">
                                  <p:stCondLst>
                                    <p:cond delay="0"/>
                                  </p:stCondLst>
                                  <p:childTnLst>
                                    <p:set>
                                      <p:cBhvr>
                                        <p:cTn id="89" dur="1" fill="hold">
                                          <p:stCondLst>
                                            <p:cond delay="0"/>
                                          </p:stCondLst>
                                        </p:cTn>
                                        <p:tgtEl>
                                          <p:spTgt spid="87"/>
                                        </p:tgtEl>
                                        <p:attrNameLst>
                                          <p:attrName>style.visibility</p:attrName>
                                        </p:attrNameLst>
                                      </p:cBhvr>
                                      <p:to>
                                        <p:strVal val="visible"/>
                                      </p:to>
                                    </p:set>
                                    <p:animEffect transition="in" filter="fade">
                                      <p:cBhvr>
                                        <p:cTn id="90" dur="500"/>
                                        <p:tgtEl>
                                          <p:spTgt spid="87"/>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grpId="1" nodeType="clickEffect">
                                  <p:stCondLst>
                                    <p:cond delay="0"/>
                                  </p:stCondLst>
                                  <p:childTnLst>
                                    <p:animEffect transition="out" filter="fade">
                                      <p:cBhvr>
                                        <p:cTn id="94" dur="500"/>
                                        <p:tgtEl>
                                          <p:spTgt spid="124"/>
                                        </p:tgtEl>
                                      </p:cBhvr>
                                    </p:animEffect>
                                    <p:set>
                                      <p:cBhvr>
                                        <p:cTn id="95" dur="1" fill="hold">
                                          <p:stCondLst>
                                            <p:cond delay="499"/>
                                          </p:stCondLst>
                                        </p:cTn>
                                        <p:tgtEl>
                                          <p:spTgt spid="124"/>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500"/>
                                        <p:tgtEl>
                                          <p:spTgt spid="125"/>
                                        </p:tgtEl>
                                      </p:cBhvr>
                                    </p:animEffect>
                                    <p:set>
                                      <p:cBhvr>
                                        <p:cTn id="98" dur="1" fill="hold">
                                          <p:stCondLst>
                                            <p:cond delay="499"/>
                                          </p:stCondLst>
                                        </p:cTn>
                                        <p:tgtEl>
                                          <p:spTgt spid="125"/>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500"/>
                                        <p:tgtEl>
                                          <p:spTgt spid="126"/>
                                        </p:tgtEl>
                                      </p:cBhvr>
                                    </p:animEffect>
                                    <p:set>
                                      <p:cBhvr>
                                        <p:cTn id="101" dur="1" fill="hold">
                                          <p:stCondLst>
                                            <p:cond delay="499"/>
                                          </p:stCondLst>
                                        </p:cTn>
                                        <p:tgtEl>
                                          <p:spTgt spid="126"/>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500"/>
                                        <p:tgtEl>
                                          <p:spTgt spid="127"/>
                                        </p:tgtEl>
                                      </p:cBhvr>
                                    </p:animEffect>
                                    <p:set>
                                      <p:cBhvr>
                                        <p:cTn id="104" dur="1" fill="hold">
                                          <p:stCondLst>
                                            <p:cond delay="499"/>
                                          </p:stCondLst>
                                        </p:cTn>
                                        <p:tgtEl>
                                          <p:spTgt spid="127"/>
                                        </p:tgtEl>
                                        <p:attrNameLst>
                                          <p:attrName>style.visibility</p:attrName>
                                        </p:attrNameLst>
                                      </p:cBhvr>
                                      <p:to>
                                        <p:strVal val="hidden"/>
                                      </p:to>
                                    </p:set>
                                  </p:childTnLst>
                                </p:cTn>
                              </p:par>
                              <p:par>
                                <p:cTn id="105" presetID="10" presetClass="exit" presetSubtype="0" fill="hold" grpId="1" nodeType="withEffect">
                                  <p:stCondLst>
                                    <p:cond delay="0"/>
                                  </p:stCondLst>
                                  <p:childTnLst>
                                    <p:animEffect transition="out" filter="fade">
                                      <p:cBhvr>
                                        <p:cTn id="106" dur="500"/>
                                        <p:tgtEl>
                                          <p:spTgt spid="128"/>
                                        </p:tgtEl>
                                      </p:cBhvr>
                                    </p:animEffect>
                                    <p:set>
                                      <p:cBhvr>
                                        <p:cTn id="107" dur="1" fill="hold">
                                          <p:stCondLst>
                                            <p:cond delay="499"/>
                                          </p:stCondLst>
                                        </p:cTn>
                                        <p:tgtEl>
                                          <p:spTgt spid="128"/>
                                        </p:tgtEl>
                                        <p:attrNameLst>
                                          <p:attrName>style.visibility</p:attrName>
                                        </p:attrNameLst>
                                      </p:cBhvr>
                                      <p:to>
                                        <p:strVal val="hidden"/>
                                      </p:to>
                                    </p:set>
                                  </p:childTnLst>
                                </p:cTn>
                              </p:par>
                              <p:par>
                                <p:cTn id="108" presetID="10" presetClass="exit" presetSubtype="0" fill="hold" grpId="1" nodeType="withEffect">
                                  <p:stCondLst>
                                    <p:cond delay="0"/>
                                  </p:stCondLst>
                                  <p:childTnLst>
                                    <p:animEffect transition="out" filter="fade">
                                      <p:cBhvr>
                                        <p:cTn id="109" dur="500"/>
                                        <p:tgtEl>
                                          <p:spTgt spid="129"/>
                                        </p:tgtEl>
                                      </p:cBhvr>
                                    </p:animEffect>
                                    <p:set>
                                      <p:cBhvr>
                                        <p:cTn id="110" dur="1" fill="hold">
                                          <p:stCondLst>
                                            <p:cond delay="499"/>
                                          </p:stCondLst>
                                        </p:cTn>
                                        <p:tgtEl>
                                          <p:spTgt spid="129"/>
                                        </p:tgtEl>
                                        <p:attrNameLst>
                                          <p:attrName>style.visibility</p:attrName>
                                        </p:attrNameLst>
                                      </p:cBhvr>
                                      <p:to>
                                        <p:strVal val="hidden"/>
                                      </p:to>
                                    </p:set>
                                  </p:childTnLst>
                                </p:cTn>
                              </p:par>
                              <p:par>
                                <p:cTn id="111" presetID="10" presetClass="exit" presetSubtype="0" fill="hold" grpId="1" nodeType="withEffect">
                                  <p:stCondLst>
                                    <p:cond delay="0"/>
                                  </p:stCondLst>
                                  <p:childTnLst>
                                    <p:animEffect transition="out" filter="fade">
                                      <p:cBhvr>
                                        <p:cTn id="112" dur="500"/>
                                        <p:tgtEl>
                                          <p:spTgt spid="130"/>
                                        </p:tgtEl>
                                      </p:cBhvr>
                                    </p:animEffect>
                                    <p:set>
                                      <p:cBhvr>
                                        <p:cTn id="113" dur="1" fill="hold">
                                          <p:stCondLst>
                                            <p:cond delay="499"/>
                                          </p:stCondLst>
                                        </p:cTn>
                                        <p:tgtEl>
                                          <p:spTgt spid="130"/>
                                        </p:tgtEl>
                                        <p:attrNameLst>
                                          <p:attrName>style.visibility</p:attrName>
                                        </p:attrNameLst>
                                      </p:cBhvr>
                                      <p:to>
                                        <p:strVal val="hidden"/>
                                      </p:to>
                                    </p:set>
                                  </p:childTnLst>
                                </p:cTn>
                              </p:par>
                              <p:par>
                                <p:cTn id="114" presetID="10" presetClass="exit" presetSubtype="0" fill="hold" grpId="1" nodeType="withEffect">
                                  <p:stCondLst>
                                    <p:cond delay="0"/>
                                  </p:stCondLst>
                                  <p:childTnLst>
                                    <p:animEffect transition="out" filter="fade">
                                      <p:cBhvr>
                                        <p:cTn id="115" dur="500"/>
                                        <p:tgtEl>
                                          <p:spTgt spid="131"/>
                                        </p:tgtEl>
                                      </p:cBhvr>
                                    </p:animEffect>
                                    <p:set>
                                      <p:cBhvr>
                                        <p:cTn id="116" dur="1" fill="hold">
                                          <p:stCondLst>
                                            <p:cond delay="499"/>
                                          </p:stCondLst>
                                        </p:cTn>
                                        <p:tgtEl>
                                          <p:spTgt spid="131"/>
                                        </p:tgtEl>
                                        <p:attrNameLst>
                                          <p:attrName>style.visibility</p:attrName>
                                        </p:attrNameLst>
                                      </p:cBhvr>
                                      <p:to>
                                        <p:strVal val="hidden"/>
                                      </p:to>
                                    </p:set>
                                  </p:childTnLst>
                                </p:cTn>
                              </p:par>
                              <p:par>
                                <p:cTn id="117" presetID="10" presetClass="exit" presetSubtype="0" fill="hold" grpId="1" nodeType="withEffect">
                                  <p:stCondLst>
                                    <p:cond delay="0"/>
                                  </p:stCondLst>
                                  <p:childTnLst>
                                    <p:animEffect transition="out" filter="fade">
                                      <p:cBhvr>
                                        <p:cTn id="118" dur="500"/>
                                        <p:tgtEl>
                                          <p:spTgt spid="132"/>
                                        </p:tgtEl>
                                      </p:cBhvr>
                                    </p:animEffect>
                                    <p:set>
                                      <p:cBhvr>
                                        <p:cTn id="119" dur="1" fill="hold">
                                          <p:stCondLst>
                                            <p:cond delay="499"/>
                                          </p:stCondLst>
                                        </p:cTn>
                                        <p:tgtEl>
                                          <p:spTgt spid="132"/>
                                        </p:tgtEl>
                                        <p:attrNameLst>
                                          <p:attrName>style.visibility</p:attrName>
                                        </p:attrNameLst>
                                      </p:cBhvr>
                                      <p:to>
                                        <p:strVal val="hidden"/>
                                      </p:to>
                                    </p:set>
                                  </p:childTnLst>
                                </p:cTn>
                              </p:par>
                              <p:par>
                                <p:cTn id="120" presetID="10" presetClass="exit" presetSubtype="0" fill="hold" grpId="1" nodeType="withEffect">
                                  <p:stCondLst>
                                    <p:cond delay="0"/>
                                  </p:stCondLst>
                                  <p:childTnLst>
                                    <p:animEffect transition="out" filter="fade">
                                      <p:cBhvr>
                                        <p:cTn id="121" dur="500"/>
                                        <p:tgtEl>
                                          <p:spTgt spid="133"/>
                                        </p:tgtEl>
                                      </p:cBhvr>
                                    </p:animEffect>
                                    <p:set>
                                      <p:cBhvr>
                                        <p:cTn id="122" dur="1" fill="hold">
                                          <p:stCondLst>
                                            <p:cond delay="499"/>
                                          </p:stCondLst>
                                        </p:cTn>
                                        <p:tgtEl>
                                          <p:spTgt spid="133"/>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500"/>
                                        <p:tgtEl>
                                          <p:spTgt spid="134"/>
                                        </p:tgtEl>
                                      </p:cBhvr>
                                    </p:animEffect>
                                    <p:set>
                                      <p:cBhvr>
                                        <p:cTn id="125" dur="1" fill="hold">
                                          <p:stCondLst>
                                            <p:cond delay="499"/>
                                          </p:stCondLst>
                                        </p:cTn>
                                        <p:tgtEl>
                                          <p:spTgt spid="134"/>
                                        </p:tgtEl>
                                        <p:attrNameLst>
                                          <p:attrName>style.visibility</p:attrName>
                                        </p:attrNameLst>
                                      </p:cBhvr>
                                      <p:to>
                                        <p:strVal val="hidden"/>
                                      </p:to>
                                    </p:set>
                                  </p:childTnLst>
                                </p:cTn>
                              </p:par>
                              <p:par>
                                <p:cTn id="126" presetID="10" presetClass="exit" presetSubtype="0" fill="hold" grpId="1" nodeType="withEffect">
                                  <p:stCondLst>
                                    <p:cond delay="0"/>
                                  </p:stCondLst>
                                  <p:childTnLst>
                                    <p:animEffect transition="out" filter="fade">
                                      <p:cBhvr>
                                        <p:cTn id="127" dur="500"/>
                                        <p:tgtEl>
                                          <p:spTgt spid="135"/>
                                        </p:tgtEl>
                                      </p:cBhvr>
                                    </p:animEffect>
                                    <p:set>
                                      <p:cBhvr>
                                        <p:cTn id="128" dur="1" fill="hold">
                                          <p:stCondLst>
                                            <p:cond delay="499"/>
                                          </p:stCondLst>
                                        </p:cTn>
                                        <p:tgtEl>
                                          <p:spTgt spid="135"/>
                                        </p:tgtEl>
                                        <p:attrNameLst>
                                          <p:attrName>style.visibility</p:attrName>
                                        </p:attrNameLst>
                                      </p:cBhvr>
                                      <p:to>
                                        <p:strVal val="hidden"/>
                                      </p:to>
                                    </p:set>
                                  </p:childTnLst>
                                </p:cTn>
                              </p:par>
                              <p:par>
                                <p:cTn id="129" presetID="10" presetClass="exit" presetSubtype="0" fill="hold" grpId="1" nodeType="withEffect">
                                  <p:stCondLst>
                                    <p:cond delay="0"/>
                                  </p:stCondLst>
                                  <p:childTnLst>
                                    <p:animEffect transition="out" filter="fade">
                                      <p:cBhvr>
                                        <p:cTn id="130" dur="500"/>
                                        <p:tgtEl>
                                          <p:spTgt spid="136"/>
                                        </p:tgtEl>
                                      </p:cBhvr>
                                    </p:animEffect>
                                    <p:set>
                                      <p:cBhvr>
                                        <p:cTn id="131" dur="1" fill="hold">
                                          <p:stCondLst>
                                            <p:cond delay="499"/>
                                          </p:stCondLst>
                                        </p:cTn>
                                        <p:tgtEl>
                                          <p:spTgt spid="136"/>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1" nodeType="clickEffect">
                                  <p:stCondLst>
                                    <p:cond delay="0"/>
                                  </p:stCondLst>
                                  <p:childTnLst>
                                    <p:set>
                                      <p:cBhvr>
                                        <p:cTn id="135" dur="1" fill="hold">
                                          <p:stCondLst>
                                            <p:cond delay="0"/>
                                          </p:stCondLst>
                                        </p:cTn>
                                        <p:tgtEl>
                                          <p:spTgt spid="150"/>
                                        </p:tgtEl>
                                        <p:attrNameLst>
                                          <p:attrName>style.visibility</p:attrName>
                                        </p:attrNameLst>
                                      </p:cBhvr>
                                      <p:to>
                                        <p:strVal val="visible"/>
                                      </p:to>
                                    </p:set>
                                    <p:animEffect transition="in" filter="fade">
                                      <p:cBhvr>
                                        <p:cTn id="136" dur="500"/>
                                        <p:tgtEl>
                                          <p:spTgt spid="150"/>
                                        </p:tgtEl>
                                      </p:cBhvr>
                                    </p:animEffect>
                                  </p:childTnLst>
                                </p:cTn>
                              </p:par>
                              <p:par>
                                <p:cTn id="137" presetID="10" presetClass="entr" presetSubtype="0" fill="hold" grpId="1" nodeType="withEffect">
                                  <p:stCondLst>
                                    <p:cond delay="0"/>
                                  </p:stCondLst>
                                  <p:childTnLst>
                                    <p:set>
                                      <p:cBhvr>
                                        <p:cTn id="138" dur="1" fill="hold">
                                          <p:stCondLst>
                                            <p:cond delay="0"/>
                                          </p:stCondLst>
                                        </p:cTn>
                                        <p:tgtEl>
                                          <p:spTgt spid="148"/>
                                        </p:tgtEl>
                                        <p:attrNameLst>
                                          <p:attrName>style.visibility</p:attrName>
                                        </p:attrNameLst>
                                      </p:cBhvr>
                                      <p:to>
                                        <p:strVal val="visible"/>
                                      </p:to>
                                    </p:set>
                                    <p:animEffect transition="in" filter="fade">
                                      <p:cBhvr>
                                        <p:cTn id="139" dur="500"/>
                                        <p:tgtEl>
                                          <p:spTgt spid="148"/>
                                        </p:tgtEl>
                                      </p:cBhvr>
                                    </p:animEffect>
                                  </p:childTnLst>
                                </p:cTn>
                              </p:par>
                              <p:par>
                                <p:cTn id="140" presetID="10" presetClass="entr" presetSubtype="0" fill="hold" grpId="1" nodeType="withEffect">
                                  <p:stCondLst>
                                    <p:cond delay="0"/>
                                  </p:stCondLst>
                                  <p:childTnLst>
                                    <p:set>
                                      <p:cBhvr>
                                        <p:cTn id="141" dur="1" fill="hold">
                                          <p:stCondLst>
                                            <p:cond delay="0"/>
                                          </p:stCondLst>
                                        </p:cTn>
                                        <p:tgtEl>
                                          <p:spTgt spid="149"/>
                                        </p:tgtEl>
                                        <p:attrNameLst>
                                          <p:attrName>style.visibility</p:attrName>
                                        </p:attrNameLst>
                                      </p:cBhvr>
                                      <p:to>
                                        <p:strVal val="visible"/>
                                      </p:to>
                                    </p:set>
                                    <p:animEffect transition="in" filter="fade">
                                      <p:cBhvr>
                                        <p:cTn id="142" dur="500"/>
                                        <p:tgtEl>
                                          <p:spTgt spid="149"/>
                                        </p:tgtEl>
                                      </p:cBhvr>
                                    </p:animEffect>
                                  </p:childTnLst>
                                </p:cTn>
                              </p:par>
                              <p:par>
                                <p:cTn id="143" presetID="10" presetClass="entr" presetSubtype="0" fill="hold" grpId="1" nodeType="withEffect">
                                  <p:stCondLst>
                                    <p:cond delay="0"/>
                                  </p:stCondLst>
                                  <p:childTnLst>
                                    <p:set>
                                      <p:cBhvr>
                                        <p:cTn id="144" dur="1" fill="hold">
                                          <p:stCondLst>
                                            <p:cond delay="0"/>
                                          </p:stCondLst>
                                        </p:cTn>
                                        <p:tgtEl>
                                          <p:spTgt spid="147"/>
                                        </p:tgtEl>
                                        <p:attrNameLst>
                                          <p:attrName>style.visibility</p:attrName>
                                        </p:attrNameLst>
                                      </p:cBhvr>
                                      <p:to>
                                        <p:strVal val="visible"/>
                                      </p:to>
                                    </p:set>
                                    <p:animEffect transition="in" filter="fade">
                                      <p:cBhvr>
                                        <p:cTn id="145" dur="500"/>
                                        <p:tgtEl>
                                          <p:spTgt spid="147"/>
                                        </p:tgtEl>
                                      </p:cBhvr>
                                    </p:animEffect>
                                  </p:childTnLst>
                                </p:cTn>
                              </p:par>
                              <p:par>
                                <p:cTn id="146" presetID="10" presetClass="entr" presetSubtype="0" fill="hold" grpId="1" nodeType="withEffect">
                                  <p:stCondLst>
                                    <p:cond delay="0"/>
                                  </p:stCondLst>
                                  <p:childTnLst>
                                    <p:set>
                                      <p:cBhvr>
                                        <p:cTn id="147" dur="1" fill="hold">
                                          <p:stCondLst>
                                            <p:cond delay="0"/>
                                          </p:stCondLst>
                                        </p:cTn>
                                        <p:tgtEl>
                                          <p:spTgt spid="146"/>
                                        </p:tgtEl>
                                        <p:attrNameLst>
                                          <p:attrName>style.visibility</p:attrName>
                                        </p:attrNameLst>
                                      </p:cBhvr>
                                      <p:to>
                                        <p:strVal val="visible"/>
                                      </p:to>
                                    </p:set>
                                    <p:animEffect transition="in" filter="fade">
                                      <p:cBhvr>
                                        <p:cTn id="148" dur="500"/>
                                        <p:tgtEl>
                                          <p:spTgt spid="146"/>
                                        </p:tgtEl>
                                      </p:cBhvr>
                                    </p:animEffect>
                                  </p:childTnLst>
                                </p:cTn>
                              </p:par>
                              <p:par>
                                <p:cTn id="149" presetID="10" presetClass="entr" presetSubtype="0" fill="hold" grpId="1" nodeType="withEffect">
                                  <p:stCondLst>
                                    <p:cond delay="0"/>
                                  </p:stCondLst>
                                  <p:childTnLst>
                                    <p:set>
                                      <p:cBhvr>
                                        <p:cTn id="150" dur="1" fill="hold">
                                          <p:stCondLst>
                                            <p:cond delay="0"/>
                                          </p:stCondLst>
                                        </p:cTn>
                                        <p:tgtEl>
                                          <p:spTgt spid="145"/>
                                        </p:tgtEl>
                                        <p:attrNameLst>
                                          <p:attrName>style.visibility</p:attrName>
                                        </p:attrNameLst>
                                      </p:cBhvr>
                                      <p:to>
                                        <p:strVal val="visible"/>
                                      </p:to>
                                    </p:set>
                                    <p:animEffect transition="in" filter="fade">
                                      <p:cBhvr>
                                        <p:cTn id="151" dur="500"/>
                                        <p:tgtEl>
                                          <p:spTgt spid="145"/>
                                        </p:tgtEl>
                                      </p:cBhvr>
                                    </p:animEffect>
                                  </p:childTnLst>
                                </p:cTn>
                              </p:par>
                              <p:par>
                                <p:cTn id="152" presetID="10" presetClass="entr" presetSubtype="0" fill="hold" grpId="1" nodeType="withEffect">
                                  <p:stCondLst>
                                    <p:cond delay="0"/>
                                  </p:stCondLst>
                                  <p:childTnLst>
                                    <p:set>
                                      <p:cBhvr>
                                        <p:cTn id="153" dur="1" fill="hold">
                                          <p:stCondLst>
                                            <p:cond delay="0"/>
                                          </p:stCondLst>
                                        </p:cTn>
                                        <p:tgtEl>
                                          <p:spTgt spid="144"/>
                                        </p:tgtEl>
                                        <p:attrNameLst>
                                          <p:attrName>style.visibility</p:attrName>
                                        </p:attrNameLst>
                                      </p:cBhvr>
                                      <p:to>
                                        <p:strVal val="visible"/>
                                      </p:to>
                                    </p:set>
                                    <p:animEffect transition="in" filter="fade">
                                      <p:cBhvr>
                                        <p:cTn id="154" dur="500"/>
                                        <p:tgtEl>
                                          <p:spTgt spid="144"/>
                                        </p:tgtEl>
                                      </p:cBhvr>
                                    </p:animEffect>
                                  </p:childTnLst>
                                </p:cTn>
                              </p:par>
                              <p:par>
                                <p:cTn id="155" presetID="10" presetClass="entr" presetSubtype="0" fill="hold" grpId="1" nodeType="withEffect">
                                  <p:stCondLst>
                                    <p:cond delay="0"/>
                                  </p:stCondLst>
                                  <p:childTnLst>
                                    <p:set>
                                      <p:cBhvr>
                                        <p:cTn id="156" dur="1" fill="hold">
                                          <p:stCondLst>
                                            <p:cond delay="0"/>
                                          </p:stCondLst>
                                        </p:cTn>
                                        <p:tgtEl>
                                          <p:spTgt spid="143"/>
                                        </p:tgtEl>
                                        <p:attrNameLst>
                                          <p:attrName>style.visibility</p:attrName>
                                        </p:attrNameLst>
                                      </p:cBhvr>
                                      <p:to>
                                        <p:strVal val="visible"/>
                                      </p:to>
                                    </p:set>
                                    <p:animEffect transition="in" filter="fade">
                                      <p:cBhvr>
                                        <p:cTn id="157" dur="500"/>
                                        <p:tgtEl>
                                          <p:spTgt spid="143"/>
                                        </p:tgtEl>
                                      </p:cBhvr>
                                    </p:animEffect>
                                  </p:childTnLst>
                                </p:cTn>
                              </p:par>
                              <p:par>
                                <p:cTn id="158" presetID="10" presetClass="entr" presetSubtype="0" fill="hold" grpId="1" nodeType="withEffect">
                                  <p:stCondLst>
                                    <p:cond delay="0"/>
                                  </p:stCondLst>
                                  <p:childTnLst>
                                    <p:set>
                                      <p:cBhvr>
                                        <p:cTn id="159" dur="1" fill="hold">
                                          <p:stCondLst>
                                            <p:cond delay="0"/>
                                          </p:stCondLst>
                                        </p:cTn>
                                        <p:tgtEl>
                                          <p:spTgt spid="140"/>
                                        </p:tgtEl>
                                        <p:attrNameLst>
                                          <p:attrName>style.visibility</p:attrName>
                                        </p:attrNameLst>
                                      </p:cBhvr>
                                      <p:to>
                                        <p:strVal val="visible"/>
                                      </p:to>
                                    </p:set>
                                    <p:animEffect transition="in" filter="fade">
                                      <p:cBhvr>
                                        <p:cTn id="160" dur="500"/>
                                        <p:tgtEl>
                                          <p:spTgt spid="140"/>
                                        </p:tgtEl>
                                      </p:cBhvr>
                                    </p:animEffect>
                                  </p:childTnLst>
                                </p:cTn>
                              </p:par>
                              <p:par>
                                <p:cTn id="161" presetID="10" presetClass="entr" presetSubtype="0" fill="hold" grpId="1" nodeType="withEffect">
                                  <p:stCondLst>
                                    <p:cond delay="0"/>
                                  </p:stCondLst>
                                  <p:childTnLst>
                                    <p:set>
                                      <p:cBhvr>
                                        <p:cTn id="162" dur="1" fill="hold">
                                          <p:stCondLst>
                                            <p:cond delay="0"/>
                                          </p:stCondLst>
                                        </p:cTn>
                                        <p:tgtEl>
                                          <p:spTgt spid="139"/>
                                        </p:tgtEl>
                                        <p:attrNameLst>
                                          <p:attrName>style.visibility</p:attrName>
                                        </p:attrNameLst>
                                      </p:cBhvr>
                                      <p:to>
                                        <p:strVal val="visible"/>
                                      </p:to>
                                    </p:set>
                                    <p:animEffect transition="in" filter="fade">
                                      <p:cBhvr>
                                        <p:cTn id="163" dur="500"/>
                                        <p:tgtEl>
                                          <p:spTgt spid="139"/>
                                        </p:tgtEl>
                                      </p:cBhvr>
                                    </p:animEffect>
                                  </p:childTnLst>
                                </p:cTn>
                              </p:par>
                              <p:par>
                                <p:cTn id="164" presetID="10" presetClass="entr" presetSubtype="0" fill="hold" grpId="1" nodeType="withEffect">
                                  <p:stCondLst>
                                    <p:cond delay="0"/>
                                  </p:stCondLst>
                                  <p:childTnLst>
                                    <p:set>
                                      <p:cBhvr>
                                        <p:cTn id="165" dur="1" fill="hold">
                                          <p:stCondLst>
                                            <p:cond delay="0"/>
                                          </p:stCondLst>
                                        </p:cTn>
                                        <p:tgtEl>
                                          <p:spTgt spid="141"/>
                                        </p:tgtEl>
                                        <p:attrNameLst>
                                          <p:attrName>style.visibility</p:attrName>
                                        </p:attrNameLst>
                                      </p:cBhvr>
                                      <p:to>
                                        <p:strVal val="visible"/>
                                      </p:to>
                                    </p:set>
                                    <p:animEffect transition="in" filter="fade">
                                      <p:cBhvr>
                                        <p:cTn id="166" dur="500"/>
                                        <p:tgtEl>
                                          <p:spTgt spid="141"/>
                                        </p:tgtEl>
                                      </p:cBhvr>
                                    </p:animEffect>
                                  </p:childTnLst>
                                </p:cTn>
                              </p:par>
                              <p:par>
                                <p:cTn id="167" presetID="10" presetClass="entr" presetSubtype="0" fill="hold" grpId="1" nodeType="withEffect">
                                  <p:stCondLst>
                                    <p:cond delay="0"/>
                                  </p:stCondLst>
                                  <p:childTnLst>
                                    <p:set>
                                      <p:cBhvr>
                                        <p:cTn id="168" dur="1" fill="hold">
                                          <p:stCondLst>
                                            <p:cond delay="0"/>
                                          </p:stCondLst>
                                        </p:cTn>
                                        <p:tgtEl>
                                          <p:spTgt spid="142"/>
                                        </p:tgtEl>
                                        <p:attrNameLst>
                                          <p:attrName>style.visibility</p:attrName>
                                        </p:attrNameLst>
                                      </p:cBhvr>
                                      <p:to>
                                        <p:strVal val="visible"/>
                                      </p:to>
                                    </p:set>
                                    <p:animEffect transition="in" filter="fade">
                                      <p:cBhvr>
                                        <p:cTn id="169" dur="500"/>
                                        <p:tgtEl>
                                          <p:spTgt spid="142"/>
                                        </p:tgtEl>
                                      </p:cBhvr>
                                    </p:animEffect>
                                  </p:childTnLst>
                                </p:cTn>
                              </p:par>
                              <p:par>
                                <p:cTn id="170" presetID="10" presetClass="entr" presetSubtype="0" fill="hold" grpId="1" nodeType="withEffect">
                                  <p:stCondLst>
                                    <p:cond delay="0"/>
                                  </p:stCondLst>
                                  <p:childTnLst>
                                    <p:set>
                                      <p:cBhvr>
                                        <p:cTn id="171" dur="1" fill="hold">
                                          <p:stCondLst>
                                            <p:cond delay="0"/>
                                          </p:stCondLst>
                                        </p:cTn>
                                        <p:tgtEl>
                                          <p:spTgt spid="138"/>
                                        </p:tgtEl>
                                        <p:attrNameLst>
                                          <p:attrName>style.visibility</p:attrName>
                                        </p:attrNameLst>
                                      </p:cBhvr>
                                      <p:to>
                                        <p:strVal val="visible"/>
                                      </p:to>
                                    </p:set>
                                    <p:animEffect transition="in" filter="fade">
                                      <p:cBhvr>
                                        <p:cTn id="172" dur="500"/>
                                        <p:tgtEl>
                                          <p:spTgt spid="138"/>
                                        </p:tgtEl>
                                      </p:cBhvr>
                                    </p:animEffect>
                                  </p:childTnLst>
                                </p:cTn>
                              </p:par>
                            </p:childTnLst>
                          </p:cTn>
                        </p:par>
                      </p:childTnLst>
                    </p:cTn>
                  </p:par>
                  <p:par>
                    <p:cTn id="173" fill="hold">
                      <p:stCondLst>
                        <p:cond delay="indefinite"/>
                      </p:stCondLst>
                      <p:childTnLst>
                        <p:par>
                          <p:cTn id="174" fill="hold">
                            <p:stCondLst>
                              <p:cond delay="0"/>
                            </p:stCondLst>
                            <p:childTnLst>
                              <p:par>
                                <p:cTn id="175" presetID="35" presetClass="path" presetSubtype="0" accel="50000" decel="50000" fill="hold" grpId="0" nodeType="clickEffect">
                                  <p:stCondLst>
                                    <p:cond delay="0"/>
                                  </p:stCondLst>
                                  <p:childTnLst>
                                    <p:animMotion origin="layout" path="M 3.75E-6 -3.7037E-7 L -0.09883 -3.7037E-7 " pathEditMode="relative" rAng="0" ptsTypes="AA">
                                      <p:cBhvr>
                                        <p:cTn id="176" dur="2000" fill="hold"/>
                                        <p:tgtEl>
                                          <p:spTgt spid="138"/>
                                        </p:tgtEl>
                                        <p:attrNameLst>
                                          <p:attrName>ppt_x</p:attrName>
                                          <p:attrName>ppt_y</p:attrName>
                                        </p:attrNameLst>
                                      </p:cBhvr>
                                      <p:rCtr x="-4948" y="0"/>
                                    </p:animMotion>
                                  </p:childTnLst>
                                </p:cTn>
                              </p:par>
                              <p:par>
                                <p:cTn id="177" presetID="35" presetClass="path" presetSubtype="0" accel="50000" decel="50000" fill="hold" grpId="0" nodeType="withEffect">
                                  <p:stCondLst>
                                    <p:cond delay="0"/>
                                  </p:stCondLst>
                                  <p:childTnLst>
                                    <p:animMotion origin="layout" path="M -2.08333E-6 -3.7037E-7 L -0.2776 -3.7037E-7 " pathEditMode="relative" rAng="0" ptsTypes="AA">
                                      <p:cBhvr>
                                        <p:cTn id="178" dur="2000" fill="hold"/>
                                        <p:tgtEl>
                                          <p:spTgt spid="139"/>
                                        </p:tgtEl>
                                        <p:attrNameLst>
                                          <p:attrName>ppt_x</p:attrName>
                                          <p:attrName>ppt_y</p:attrName>
                                        </p:attrNameLst>
                                      </p:cBhvr>
                                      <p:rCtr x="-13880" y="0"/>
                                    </p:animMotion>
                                  </p:childTnLst>
                                </p:cTn>
                              </p:par>
                              <p:par>
                                <p:cTn id="179" presetID="35" presetClass="path" presetSubtype="0" accel="50000" decel="50000" fill="hold" grpId="0" nodeType="withEffect">
                                  <p:stCondLst>
                                    <p:cond delay="0"/>
                                  </p:stCondLst>
                                  <p:childTnLst>
                                    <p:animMotion origin="layout" path="M 0 -3.7037E-7 L -0.19492 -3.7037E-7 " pathEditMode="relative" rAng="0" ptsTypes="AA">
                                      <p:cBhvr>
                                        <p:cTn id="180" dur="2000" fill="hold"/>
                                        <p:tgtEl>
                                          <p:spTgt spid="140"/>
                                        </p:tgtEl>
                                        <p:attrNameLst>
                                          <p:attrName>ppt_x</p:attrName>
                                          <p:attrName>ppt_y</p:attrName>
                                        </p:attrNameLst>
                                      </p:cBhvr>
                                      <p:rCtr x="-9753" y="0"/>
                                    </p:animMotion>
                                  </p:childTnLst>
                                </p:cTn>
                              </p:par>
                              <p:par>
                                <p:cTn id="181" presetID="35" presetClass="path" presetSubtype="0" accel="50000" decel="50000" fill="hold" grpId="0" nodeType="withEffect">
                                  <p:stCondLst>
                                    <p:cond delay="0"/>
                                  </p:stCondLst>
                                  <p:childTnLst>
                                    <p:animMotion origin="layout" path="M 4.16667E-7 -3.33333E-6 L -0.15716 -3.33333E-6 " pathEditMode="relative" rAng="0" ptsTypes="AA">
                                      <p:cBhvr>
                                        <p:cTn id="182" dur="2000" fill="hold"/>
                                        <p:tgtEl>
                                          <p:spTgt spid="141"/>
                                        </p:tgtEl>
                                        <p:attrNameLst>
                                          <p:attrName>ppt_x</p:attrName>
                                          <p:attrName>ppt_y</p:attrName>
                                        </p:attrNameLst>
                                      </p:cBhvr>
                                      <p:rCtr x="-7865" y="0"/>
                                    </p:animMotion>
                                  </p:childTnLst>
                                </p:cTn>
                              </p:par>
                              <p:par>
                                <p:cTn id="183" presetID="35" presetClass="path" presetSubtype="0" accel="50000" decel="50000" fill="hold" grpId="0" nodeType="withEffect">
                                  <p:stCondLst>
                                    <p:cond delay="0"/>
                                  </p:stCondLst>
                                  <p:childTnLst>
                                    <p:animMotion origin="layout" path="M 1.66667E-6 -3.7037E-7 L -0.23138 -3.7037E-7 " pathEditMode="relative" rAng="0" ptsTypes="AA">
                                      <p:cBhvr>
                                        <p:cTn id="184" dur="2000" fill="hold"/>
                                        <p:tgtEl>
                                          <p:spTgt spid="142"/>
                                        </p:tgtEl>
                                        <p:attrNameLst>
                                          <p:attrName>ppt_x</p:attrName>
                                          <p:attrName>ppt_y</p:attrName>
                                        </p:attrNameLst>
                                      </p:cBhvr>
                                      <p:rCtr x="-11576" y="0"/>
                                    </p:animMotion>
                                  </p:childTnLst>
                                </p:cTn>
                              </p:par>
                              <p:par>
                                <p:cTn id="185" presetID="35" presetClass="path" presetSubtype="0" accel="50000" decel="50000" fill="hold" grpId="0" nodeType="withEffect">
                                  <p:stCondLst>
                                    <p:cond delay="0"/>
                                  </p:stCondLst>
                                  <p:childTnLst>
                                    <p:animMotion origin="layout" path="M 3.75E-6 -1.85185E-6 L -0.09883 -1.85185E-6 " pathEditMode="relative" rAng="0" ptsTypes="AA">
                                      <p:cBhvr>
                                        <p:cTn id="186" dur="2000" fill="hold"/>
                                        <p:tgtEl>
                                          <p:spTgt spid="143"/>
                                        </p:tgtEl>
                                        <p:attrNameLst>
                                          <p:attrName>ppt_x</p:attrName>
                                          <p:attrName>ppt_y</p:attrName>
                                        </p:attrNameLst>
                                      </p:cBhvr>
                                      <p:rCtr x="-4948" y="0"/>
                                    </p:animMotion>
                                  </p:childTnLst>
                                </p:cTn>
                              </p:par>
                              <p:par>
                                <p:cTn id="187" presetID="35" presetClass="path" presetSubtype="0" accel="50000" decel="50000" fill="hold" grpId="0" nodeType="withEffect">
                                  <p:stCondLst>
                                    <p:cond delay="0"/>
                                  </p:stCondLst>
                                  <p:childTnLst>
                                    <p:animMotion origin="layout" path="M -4.79167E-6 1.85185E-6 L -0.03554 1.85185E-6 " pathEditMode="relative" rAng="0" ptsTypes="AA">
                                      <p:cBhvr>
                                        <p:cTn id="188" dur="2000" fill="hold"/>
                                        <p:tgtEl>
                                          <p:spTgt spid="144"/>
                                        </p:tgtEl>
                                        <p:attrNameLst>
                                          <p:attrName>ppt_x</p:attrName>
                                          <p:attrName>ppt_y</p:attrName>
                                        </p:attrNameLst>
                                      </p:cBhvr>
                                      <p:rCtr x="-1784" y="0"/>
                                    </p:animMotion>
                                  </p:childTnLst>
                                </p:cTn>
                              </p:par>
                              <p:par>
                                <p:cTn id="189" presetID="35" presetClass="path" presetSubtype="0" accel="50000" decel="50000" fill="hold" grpId="0" nodeType="withEffect">
                                  <p:stCondLst>
                                    <p:cond delay="0"/>
                                  </p:stCondLst>
                                  <p:childTnLst>
                                    <p:animMotion origin="layout" path="M -4.79167E-6 -4.44444E-6 L -0.07291 -4.44444E-6 " pathEditMode="relative" rAng="0" ptsTypes="AA">
                                      <p:cBhvr>
                                        <p:cTn id="190" dur="2000" fill="hold"/>
                                        <p:tgtEl>
                                          <p:spTgt spid="145"/>
                                        </p:tgtEl>
                                        <p:attrNameLst>
                                          <p:attrName>ppt_x</p:attrName>
                                          <p:attrName>ppt_y</p:attrName>
                                        </p:attrNameLst>
                                      </p:cBhvr>
                                      <p:rCtr x="-3646" y="0"/>
                                    </p:animMotion>
                                  </p:childTnLst>
                                </p:cTn>
                              </p:par>
                              <p:par>
                                <p:cTn id="191" presetID="35" presetClass="path" presetSubtype="0" accel="50000" decel="50000" fill="hold" grpId="0" nodeType="withEffect">
                                  <p:stCondLst>
                                    <p:cond delay="0"/>
                                  </p:stCondLst>
                                  <p:childTnLst>
                                    <p:animMotion origin="layout" path="M 6.25E-7 -2.22222E-6 L -0.11953 -2.22222E-6 " pathEditMode="relative" rAng="0" ptsTypes="AA">
                                      <p:cBhvr>
                                        <p:cTn id="192" dur="2000" fill="hold"/>
                                        <p:tgtEl>
                                          <p:spTgt spid="146"/>
                                        </p:tgtEl>
                                        <p:attrNameLst>
                                          <p:attrName>ppt_x</p:attrName>
                                          <p:attrName>ppt_y</p:attrName>
                                        </p:attrNameLst>
                                      </p:cBhvr>
                                      <p:rCtr x="-5977" y="0"/>
                                    </p:animMotion>
                                  </p:childTnLst>
                                </p:cTn>
                              </p:par>
                              <p:par>
                                <p:cTn id="193" presetID="35" presetClass="path" presetSubtype="0" accel="50000" decel="50000" fill="hold" grpId="0" nodeType="withEffect">
                                  <p:stCondLst>
                                    <p:cond delay="0"/>
                                  </p:stCondLst>
                                  <p:childTnLst>
                                    <p:animMotion origin="layout" path="M 3.54167E-6 7.40741E-7 L -0.19909 7.40741E-7 " pathEditMode="relative" rAng="0" ptsTypes="AA">
                                      <p:cBhvr>
                                        <p:cTn id="194" dur="2000" fill="hold"/>
                                        <p:tgtEl>
                                          <p:spTgt spid="147"/>
                                        </p:tgtEl>
                                        <p:attrNameLst>
                                          <p:attrName>ppt_x</p:attrName>
                                          <p:attrName>ppt_y</p:attrName>
                                        </p:attrNameLst>
                                      </p:cBhvr>
                                      <p:rCtr x="-9961" y="0"/>
                                    </p:animMotion>
                                  </p:childTnLst>
                                </p:cTn>
                              </p:par>
                              <p:par>
                                <p:cTn id="195" presetID="35" presetClass="path" presetSubtype="0" accel="50000" decel="50000" fill="hold" grpId="0" nodeType="withEffect">
                                  <p:stCondLst>
                                    <p:cond delay="0"/>
                                  </p:stCondLst>
                                  <p:childTnLst>
                                    <p:animMotion origin="layout" path="M 3.95833E-6 4.07407E-6 L -0.1737 4.07407E-6 " pathEditMode="relative" rAng="0" ptsTypes="AA">
                                      <p:cBhvr>
                                        <p:cTn id="196" dur="2000" fill="hold"/>
                                        <p:tgtEl>
                                          <p:spTgt spid="148"/>
                                        </p:tgtEl>
                                        <p:attrNameLst>
                                          <p:attrName>ppt_x</p:attrName>
                                          <p:attrName>ppt_y</p:attrName>
                                        </p:attrNameLst>
                                      </p:cBhvr>
                                      <p:rCtr x="-8685" y="0"/>
                                    </p:animMotion>
                                  </p:childTnLst>
                                </p:cTn>
                              </p:par>
                              <p:par>
                                <p:cTn id="197" presetID="35" presetClass="path" presetSubtype="0" accel="50000" decel="50000" fill="hold" grpId="0" nodeType="withEffect">
                                  <p:stCondLst>
                                    <p:cond delay="0"/>
                                  </p:stCondLst>
                                  <p:childTnLst>
                                    <p:animMotion origin="layout" path="M 4.79167E-6 -1.11111E-6 L -0.26693 -1.11111E-6 " pathEditMode="relative" rAng="0" ptsTypes="AA">
                                      <p:cBhvr>
                                        <p:cTn id="198" dur="2000" fill="hold"/>
                                        <p:tgtEl>
                                          <p:spTgt spid="149"/>
                                        </p:tgtEl>
                                        <p:attrNameLst>
                                          <p:attrName>ppt_x</p:attrName>
                                          <p:attrName>ppt_y</p:attrName>
                                        </p:attrNameLst>
                                      </p:cBhvr>
                                      <p:rCtr x="-13346" y="0"/>
                                    </p:animMotion>
                                  </p:childTnLst>
                                </p:cTn>
                              </p:par>
                              <p:par>
                                <p:cTn id="199" presetID="35" presetClass="path" presetSubtype="0" accel="50000" decel="50000" fill="hold" grpId="0" nodeType="withEffect">
                                  <p:stCondLst>
                                    <p:cond delay="0"/>
                                  </p:stCondLst>
                                  <p:childTnLst>
                                    <p:animMotion origin="layout" path="M -2.29167E-6 1.11111E-6 L -0.02773 1.11111E-6 " pathEditMode="relative" rAng="0" ptsTypes="AA">
                                      <p:cBhvr>
                                        <p:cTn id="200" dur="2000" fill="hold"/>
                                        <p:tgtEl>
                                          <p:spTgt spid="150"/>
                                        </p:tgtEl>
                                        <p:attrNameLst>
                                          <p:attrName>ppt_x</p:attrName>
                                          <p:attrName>ppt_y</p:attrName>
                                        </p:attrNameLst>
                                      </p:cBhvr>
                                      <p:rCtr x="-1393" y="0"/>
                                    </p:animMotion>
                                  </p:childTnLst>
                                </p:cTn>
                              </p:par>
                            </p:childTnLst>
                          </p:cTn>
                        </p:par>
                        <p:par>
                          <p:cTn id="201" fill="hold">
                            <p:stCondLst>
                              <p:cond delay="2000"/>
                            </p:stCondLst>
                            <p:childTnLst>
                              <p:par>
                                <p:cTn id="202" presetID="10" presetClass="entr" presetSubtype="0" fill="hold" grpId="0" nodeType="afterEffect">
                                  <p:stCondLst>
                                    <p:cond delay="0"/>
                                  </p:stCondLst>
                                  <p:childTnLst>
                                    <p:set>
                                      <p:cBhvr>
                                        <p:cTn id="203" dur="1" fill="hold">
                                          <p:stCondLst>
                                            <p:cond delay="0"/>
                                          </p:stCondLst>
                                        </p:cTn>
                                        <p:tgtEl>
                                          <p:spTgt spid="86"/>
                                        </p:tgtEl>
                                        <p:attrNameLst>
                                          <p:attrName>style.visibility</p:attrName>
                                        </p:attrNameLst>
                                      </p:cBhvr>
                                      <p:to>
                                        <p:strVal val="visible"/>
                                      </p:to>
                                    </p:set>
                                    <p:animEffect transition="in" filter="fade">
                                      <p:cBhvr>
                                        <p:cTn id="204"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6" grpId="0"/>
      <p:bldP spid="87" grpId="0"/>
      <p:bldP spid="124" grpId="0" animBg="1"/>
      <p:bldP spid="124" grpId="1" animBg="1"/>
      <p:bldP spid="124" grpId="2" animBg="1"/>
      <p:bldP spid="125" grpId="0" animBg="1"/>
      <p:bldP spid="125" grpId="1" animBg="1"/>
      <p:bldP spid="125" grpId="2" animBg="1"/>
      <p:bldP spid="126" grpId="0" animBg="1"/>
      <p:bldP spid="126" grpId="1" animBg="1"/>
      <p:bldP spid="126" grpId="2" animBg="1"/>
      <p:bldP spid="127" grpId="0" animBg="1"/>
      <p:bldP spid="127" grpId="1" animBg="1"/>
      <p:bldP spid="127" grpId="2" animBg="1"/>
      <p:bldP spid="128" grpId="0" animBg="1"/>
      <p:bldP spid="128" grpId="1" animBg="1"/>
      <p:bldP spid="128" grpId="2" animBg="1"/>
      <p:bldP spid="129" grpId="0" animBg="1"/>
      <p:bldP spid="129" grpId="1" animBg="1"/>
      <p:bldP spid="129" grpId="2" animBg="1"/>
      <p:bldP spid="130" grpId="0" animBg="1"/>
      <p:bldP spid="130" grpId="1" animBg="1"/>
      <p:bldP spid="130" grpId="2" animBg="1"/>
      <p:bldP spid="131" grpId="0" animBg="1"/>
      <p:bldP spid="131" grpId="1" animBg="1"/>
      <p:bldP spid="131" grpId="2" animBg="1"/>
      <p:bldP spid="132" grpId="0" animBg="1"/>
      <p:bldP spid="132" grpId="1" animBg="1"/>
      <p:bldP spid="132" grpId="2" animBg="1"/>
      <p:bldP spid="133" grpId="0" animBg="1"/>
      <p:bldP spid="133" grpId="1" animBg="1"/>
      <p:bldP spid="133" grpId="2" animBg="1"/>
      <p:bldP spid="134" grpId="0" animBg="1"/>
      <p:bldP spid="134" grpId="1" animBg="1"/>
      <p:bldP spid="134" grpId="2" animBg="1"/>
      <p:bldP spid="135" grpId="0" animBg="1"/>
      <p:bldP spid="135" grpId="1" animBg="1"/>
      <p:bldP spid="135" grpId="2" animBg="1"/>
      <p:bldP spid="136" grpId="0" animBg="1"/>
      <p:bldP spid="136" grpId="1" animBg="1"/>
      <p:bldP spid="136" grpId="2" animBg="1"/>
      <p:bldP spid="138" grpId="0" animBg="1"/>
      <p:bldP spid="138" grpId="1" animBg="1"/>
      <p:bldP spid="139" grpId="0" animBg="1"/>
      <p:bldP spid="139" grpId="1" animBg="1"/>
      <p:bldP spid="140" grpId="0" animBg="1"/>
      <p:bldP spid="140" grpId="1" animBg="1"/>
      <p:bldP spid="141" grpId="0" animBg="1"/>
      <p:bldP spid="141" grpId="1" animBg="1"/>
      <p:bldP spid="142" grpId="0" animBg="1"/>
      <p:bldP spid="142" grpId="1" animBg="1"/>
      <p:bldP spid="143" grpId="0" animBg="1"/>
      <p:bldP spid="143" grpId="1" animBg="1"/>
      <p:bldP spid="144" grpId="0" animBg="1"/>
      <p:bldP spid="144" grpId="1" animBg="1"/>
      <p:bldP spid="145" grpId="0" animBg="1"/>
      <p:bldP spid="145" grpId="1" animBg="1"/>
      <p:bldP spid="146" grpId="0" animBg="1"/>
      <p:bldP spid="146" grpId="1" animBg="1"/>
      <p:bldP spid="147" grpId="0" animBg="1"/>
      <p:bldP spid="147" grpId="1" animBg="1"/>
      <p:bldP spid="148" grpId="0" animBg="1"/>
      <p:bldP spid="148" grpId="1" animBg="1"/>
      <p:bldP spid="149" grpId="0" animBg="1"/>
      <p:bldP spid="149" grpId="1" animBg="1"/>
      <p:bldP spid="150" grpId="0" animBg="1"/>
      <p:bldP spid="150"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281686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3" nodeType="with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grpId="3" nodeType="withEffect">
                                  <p:stCondLst>
                                    <p:cond delay="0"/>
                                  </p:stCondLst>
                                  <p:childTnLst>
                                    <p:set>
                                      <p:cBhvr>
                                        <p:cTn id="9" dur="indefinite"/>
                                        <p:tgtEl>
                                          <p:spTgt spid="3">
                                            <p:txEl>
                                              <p:pRg st="1" end="1"/>
                                            </p:txEl>
                                          </p:spTgt>
                                        </p:tgtEl>
                                        <p:attrNameLst>
                                          <p:attrName>style.opacity</p:attrName>
                                        </p:attrNameLst>
                                      </p:cBhvr>
                                      <p:to>
                                        <p:strVal val="0.25"/>
                                      </p:to>
                                    </p:set>
                                    <p:animEffect filter="image" prLst="opacity: 0.25">
                                      <p:cBhvr rctx="IE">
                                        <p:cTn id="10" dur="indefinite"/>
                                        <p:tgtEl>
                                          <p:spTgt spid="3">
                                            <p:txEl>
                                              <p:pRg st="1" end="1"/>
                                            </p:txEl>
                                          </p:spTgt>
                                        </p:tgtEl>
                                      </p:cBhvr>
                                    </p:animEffect>
                                  </p:childTnLst>
                                </p:cTn>
                              </p:par>
                              <p:par>
                                <p:cTn id="11" presetID="9" presetClass="emph" presetSubtype="0" grpId="3" nodeType="withEffect">
                                  <p:stCondLst>
                                    <p:cond delay="0"/>
                                  </p:stCondLst>
                                  <p:childTnLst>
                                    <p:set>
                                      <p:cBhvr>
                                        <p:cTn id="12" dur="indefinite"/>
                                        <p:tgtEl>
                                          <p:spTgt spid="3">
                                            <p:txEl>
                                              <p:pRg st="2" end="2"/>
                                            </p:txEl>
                                          </p:spTgt>
                                        </p:tgtEl>
                                        <p:attrNameLst>
                                          <p:attrName>style.opacity</p:attrName>
                                        </p:attrNameLst>
                                      </p:cBhvr>
                                      <p:to>
                                        <p:strVal val="0.25"/>
                                      </p:to>
                                    </p:set>
                                    <p:animEffect filter="image" prLst="opacity: 0.25">
                                      <p:cBhvr rctx="IE">
                                        <p:cTn id="13" dur="indefinite"/>
                                        <p:tgtEl>
                                          <p:spTgt spid="3">
                                            <p:txEl>
                                              <p:pRg st="2" end="2"/>
                                            </p:txEl>
                                          </p:spTgt>
                                        </p:tgtEl>
                                      </p:cBhvr>
                                    </p:animEffect>
                                  </p:childTnLst>
                                </p:cTn>
                              </p:par>
                              <p:par>
                                <p:cTn id="14" presetID="9" presetClass="emph" presetSubtype="0" grpId="3" nodeType="withEffect">
                                  <p:stCondLst>
                                    <p:cond delay="0"/>
                                  </p:stCondLst>
                                  <p:childTnLst>
                                    <p:set>
                                      <p:cBhvr>
                                        <p:cTn id="15" dur="indefinite"/>
                                        <p:tgtEl>
                                          <p:spTgt spid="3">
                                            <p:txEl>
                                              <p:pRg st="4" end="4"/>
                                            </p:txEl>
                                          </p:spTgt>
                                        </p:tgtEl>
                                        <p:attrNameLst>
                                          <p:attrName>style.opacity</p:attrName>
                                        </p:attrNameLst>
                                      </p:cBhvr>
                                      <p:to>
                                        <p:strVal val="0.25"/>
                                      </p:to>
                                    </p:set>
                                    <p:animEffect filter="image" prLst="opacity: 0.25">
                                      <p:cBhvr rctx="IE">
                                        <p:cTn id="16" dur="indefinite"/>
                                        <p:tgtEl>
                                          <p:spTgt spid="3">
                                            <p:txEl>
                                              <p:pRg st="4" end="4"/>
                                            </p:txEl>
                                          </p:spTgt>
                                        </p:tgtEl>
                                      </p:cBhvr>
                                    </p:animEffect>
                                  </p:childTnLst>
                                </p:cTn>
                              </p:par>
                              <p:par>
                                <p:cTn id="17" presetID="9" presetClass="emph" presetSubtype="0" grpId="3" nodeType="withEffect">
                                  <p:stCondLst>
                                    <p:cond delay="0"/>
                                  </p:stCondLst>
                                  <p:childTnLst>
                                    <p:set>
                                      <p:cBhvr>
                                        <p:cTn id="18" dur="indefinite"/>
                                        <p:tgtEl>
                                          <p:spTgt spid="3">
                                            <p:txEl>
                                              <p:pRg st="5" end="5"/>
                                            </p:txEl>
                                          </p:spTgt>
                                        </p:tgtEl>
                                        <p:attrNameLst>
                                          <p:attrName>style.opacity</p:attrName>
                                        </p:attrNameLst>
                                      </p:cBhvr>
                                      <p:to>
                                        <p:strVal val="0.25"/>
                                      </p:to>
                                    </p:set>
                                    <p:animEffect filter="image" prLst="opacity: 0.25">
                                      <p:cBhvr rctx="IE">
                                        <p:cTn id="19" dur="indefinite"/>
                                        <p:tgtEl>
                                          <p:spTgt spid="3">
                                            <p:txEl>
                                              <p:pRg st="5" end="5"/>
                                            </p:txEl>
                                          </p:spTgt>
                                        </p:tgtEl>
                                      </p:cBhvr>
                                    </p:animEffect>
                                  </p:childTnLst>
                                </p:cTn>
                              </p:par>
                              <p:par>
                                <p:cTn id="20" presetID="9" presetClass="emph" presetSubtype="0" grpId="3" nodeType="withEffect">
                                  <p:stCondLst>
                                    <p:cond delay="0"/>
                                  </p:stCondLst>
                                  <p:childTnLst>
                                    <p:set>
                                      <p:cBhvr>
                                        <p:cTn id="21" dur="indefinite"/>
                                        <p:tgtEl>
                                          <p:spTgt spid="3">
                                            <p:txEl>
                                              <p:pRg st="6" end="6"/>
                                            </p:txEl>
                                          </p:spTgt>
                                        </p:tgtEl>
                                        <p:attrNameLst>
                                          <p:attrName>style.opacity</p:attrName>
                                        </p:attrNameLst>
                                      </p:cBhvr>
                                      <p:to>
                                        <p:strVal val="0.25"/>
                                      </p:to>
                                    </p:set>
                                    <p:animEffect filter="image" prLst="opacity: 0.25">
                                      <p:cBhvr rctx="IE">
                                        <p:cTn id="22" dur="indefinite"/>
                                        <p:tgtEl>
                                          <p:spTgt spid="3">
                                            <p:txEl>
                                              <p:pRg st="6" end="6"/>
                                            </p:txEl>
                                          </p:spTgt>
                                        </p:tgtEl>
                                      </p:cBhvr>
                                    </p:animEffect>
                                  </p:childTnLst>
                                </p:cTn>
                              </p:par>
                              <p:par>
                                <p:cTn id="23" presetID="9" presetClass="emph" presetSubtype="0" grpId="3" nodeType="withEffect">
                                  <p:stCondLst>
                                    <p:cond delay="0"/>
                                  </p:stCondLst>
                                  <p:childTnLst>
                                    <p:set>
                                      <p:cBhvr>
                                        <p:cTn id="24" dur="indefinite"/>
                                        <p:tgtEl>
                                          <p:spTgt spid="3">
                                            <p:txEl>
                                              <p:pRg st="7" end="7"/>
                                            </p:txEl>
                                          </p:spTgt>
                                        </p:tgtEl>
                                        <p:attrNameLst>
                                          <p:attrName>style.opacity</p:attrName>
                                        </p:attrNameLst>
                                      </p:cBhvr>
                                      <p:to>
                                        <p:strVal val="0.25"/>
                                      </p:to>
                                    </p:set>
                                    <p:animEffect filter="image" prLst="opacity: 0.25">
                                      <p:cBhvr rctx="IE">
                                        <p:cTn id="25" dur="indefinite"/>
                                        <p:tgtEl>
                                          <p:spTgt spid="3">
                                            <p:txEl>
                                              <p:pRg st="7" end="7"/>
                                            </p:txEl>
                                          </p:spTgt>
                                        </p:tgtEl>
                                      </p:cBhvr>
                                    </p:animEffect>
                                  </p:childTnLst>
                                </p:cTn>
                              </p:par>
                              <p:par>
                                <p:cTn id="26" presetID="9" presetClass="emph" presetSubtype="0" grpId="3" nodeType="withEffect">
                                  <p:stCondLst>
                                    <p:cond delay="0"/>
                                  </p:stCondLst>
                                  <p:childTnLst>
                                    <p:set>
                                      <p:cBhvr>
                                        <p:cTn id="27" dur="indefinite"/>
                                        <p:tgtEl>
                                          <p:spTgt spid="3">
                                            <p:txEl>
                                              <p:pRg st="8" end="8"/>
                                            </p:txEl>
                                          </p:spTgt>
                                        </p:tgtEl>
                                        <p:attrNameLst>
                                          <p:attrName>style.opacity</p:attrName>
                                        </p:attrNameLst>
                                      </p:cBhvr>
                                      <p:to>
                                        <p:strVal val="0.25"/>
                                      </p:to>
                                    </p:set>
                                    <p:animEffect filter="image" prLst="opacity: 0.25">
                                      <p:cBhvr rctx="IE">
                                        <p:cTn id="28" dur="indefinite"/>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2" nodeType="clickEffect">
                                  <p:stCondLst>
                                    <p:cond delay="0"/>
                                  </p:stCondLst>
                                  <p:childTnLst>
                                    <p:set>
                                      <p:cBhvr>
                                        <p:cTn id="32" dur="indefinite"/>
                                        <p:tgtEl>
                                          <p:spTgt spid="3">
                                            <p:txEl>
                                              <p:pRg st="3" end="3"/>
                                            </p:txEl>
                                          </p:spTgt>
                                        </p:tgtEl>
                                        <p:attrNameLst>
                                          <p:attrName>style.opacity</p:attrName>
                                        </p:attrNameLst>
                                      </p:cBhvr>
                                      <p:to>
                                        <p:strVal val="0.25"/>
                                      </p:to>
                                    </p:set>
                                    <p:animEffect filter="image" prLst="opacity: 0.25">
                                      <p:cBhvr rctx="IE">
                                        <p:cTn id="33" dur="indefinite"/>
                                        <p:tgtEl>
                                          <p:spTgt spid="3">
                                            <p:txEl>
                                              <p:pRg st="3" end="3"/>
                                            </p:txEl>
                                          </p:spTgt>
                                        </p:tgtEl>
                                      </p:cBhvr>
                                    </p:animEffect>
                                  </p:childTnLst>
                                </p:cTn>
                              </p:par>
                              <p:par>
                                <p:cTn id="34" presetID="9" presetClass="emph" presetSubtype="0" grpId="2" nodeType="withEffect">
                                  <p:stCondLst>
                                    <p:cond delay="0"/>
                                  </p:stCondLst>
                                  <p:childTnLst>
                                    <p:set>
                                      <p:cBhvr>
                                        <p:cTn id="35" dur="indefinite"/>
                                        <p:tgtEl>
                                          <p:spTgt spid="3">
                                            <p:txEl>
                                              <p:pRg st="4" end="4"/>
                                            </p:txEl>
                                          </p:spTgt>
                                        </p:tgtEl>
                                        <p:attrNameLst>
                                          <p:attrName>style.opacity</p:attrName>
                                        </p:attrNameLst>
                                      </p:cBhvr>
                                      <p:to>
                                        <p:strVal val="1"/>
                                      </p:to>
                                    </p:set>
                                    <p:animEffect filter="image" prLst="opacity: 1">
                                      <p:cBhvr rctx="IE">
                                        <p:cTn id="36"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2" uiExpand="1" build="p"/>
      <p:bldP spid="3" grpId="3"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77766-E5AF-ECEB-0422-715E33A7BC67}"/>
              </a:ext>
            </a:extLst>
          </p:cNvPr>
          <p:cNvSpPr>
            <a:spLocks noGrp="1"/>
          </p:cNvSpPr>
          <p:nvPr>
            <p:ph type="title"/>
          </p:nvPr>
        </p:nvSpPr>
        <p:spPr/>
        <p:txBody>
          <a:bodyPr>
            <a:normAutofit/>
          </a:bodyPr>
          <a:lstStyle/>
          <a:p>
            <a:r>
              <a:rPr lang="en-US" dirty="0"/>
              <a:t>What Is Wrong with Imbalanced Data?</a:t>
            </a:r>
          </a:p>
        </p:txBody>
      </p:sp>
      <p:sp>
        <p:nvSpPr>
          <p:cNvPr id="3" name="Content Placeholder 2">
            <a:extLst>
              <a:ext uri="{FF2B5EF4-FFF2-40B4-BE49-F238E27FC236}">
                <a16:creationId xmlns:a16="http://schemas.microsoft.com/office/drawing/2014/main" id="{2B40AE65-B831-95B5-9B5B-92F032E269DD}"/>
              </a:ext>
            </a:extLst>
          </p:cNvPr>
          <p:cNvSpPr>
            <a:spLocks noGrp="1"/>
          </p:cNvSpPr>
          <p:nvPr>
            <p:ph idx="1"/>
          </p:nvPr>
        </p:nvSpPr>
        <p:spPr>
          <a:xfrm>
            <a:off x="609600" y="1600201"/>
            <a:ext cx="7848600" cy="4983161"/>
          </a:xfrm>
        </p:spPr>
        <p:txBody>
          <a:bodyPr>
            <a:noAutofit/>
          </a:bodyPr>
          <a:lstStyle/>
          <a:p>
            <a:pPr>
              <a:spcAft>
                <a:spcPts val="1800"/>
              </a:spcAft>
            </a:pPr>
            <a:r>
              <a:rPr lang="en-US" sz="2800" dirty="0"/>
              <a:t>Imagine that we are trying to build a classifier for a rare disease and have a label distribution shown on the right</a:t>
            </a:r>
          </a:p>
          <a:p>
            <a:r>
              <a:rPr lang="en-US" sz="2800" dirty="0"/>
              <a:t>How should we feel about a model with 95% prediction accuracy?</a:t>
            </a:r>
          </a:p>
          <a:p>
            <a:pPr marL="457200" indent="-457200">
              <a:spcAft>
                <a:spcPts val="1800"/>
              </a:spcAft>
              <a:buFont typeface="Arial" panose="020B0604020202020204" pitchFamily="34" charset="0"/>
              <a:buChar char="•"/>
            </a:pPr>
            <a:r>
              <a:rPr lang="en-US" sz="2800" dirty="0"/>
              <a:t>The model might have just learned that people are typically healthy</a:t>
            </a:r>
          </a:p>
          <a:p>
            <a:r>
              <a:rPr lang="en-US" sz="2800" dirty="0"/>
              <a:t>Similar considerations should be considered with regression, only that there are more than two possible outcomes</a:t>
            </a:r>
          </a:p>
        </p:txBody>
      </p:sp>
      <p:graphicFrame>
        <p:nvGraphicFramePr>
          <p:cNvPr id="5" name="Content Placeholder 3">
            <a:extLst>
              <a:ext uri="{FF2B5EF4-FFF2-40B4-BE49-F238E27FC236}">
                <a16:creationId xmlns:a16="http://schemas.microsoft.com/office/drawing/2014/main" id="{A7FC6CB9-5BD5-46D4-FF19-FB6A89B5C9DA}"/>
              </a:ext>
            </a:extLst>
          </p:cNvPr>
          <p:cNvGraphicFramePr>
            <a:graphicFrameLocks/>
          </p:cNvGraphicFramePr>
          <p:nvPr>
            <p:extLst>
              <p:ext uri="{D42A27DB-BD31-4B8C-83A1-F6EECF244321}">
                <p14:modId xmlns:p14="http://schemas.microsoft.com/office/powerpoint/2010/main" val="3228404601"/>
              </p:ext>
            </p:extLst>
          </p:nvPr>
        </p:nvGraphicFramePr>
        <p:xfrm>
          <a:off x="8305800" y="2265515"/>
          <a:ext cx="3505200" cy="36525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9813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Graphic spid="5"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44CF-47B4-160E-8FEE-134B3933027B}"/>
              </a:ext>
            </a:extLst>
          </p:cNvPr>
          <p:cNvSpPr>
            <a:spLocks noGrp="1"/>
          </p:cNvSpPr>
          <p:nvPr>
            <p:ph type="title"/>
          </p:nvPr>
        </p:nvSpPr>
        <p:spPr/>
        <p:txBody>
          <a:bodyPr>
            <a:normAutofit fontScale="90000"/>
          </a:bodyPr>
          <a:lstStyle/>
          <a:p>
            <a:r>
              <a:rPr lang="en-US" dirty="0"/>
              <a:t>Potential Solutions for Handling </a:t>
            </a:r>
            <a:br>
              <a:rPr lang="en-US" dirty="0"/>
            </a:br>
            <a:r>
              <a:rPr lang="en-US" dirty="0"/>
              <a:t>Imbalanced Data</a:t>
            </a:r>
          </a:p>
        </p:txBody>
      </p:sp>
      <p:sp>
        <p:nvSpPr>
          <p:cNvPr id="3" name="Content Placeholder 2">
            <a:extLst>
              <a:ext uri="{FF2B5EF4-FFF2-40B4-BE49-F238E27FC236}">
                <a16:creationId xmlns:a16="http://schemas.microsoft.com/office/drawing/2014/main" id="{10905F65-71B5-483C-160D-D8A5BD290D2E}"/>
              </a:ext>
            </a:extLst>
          </p:cNvPr>
          <p:cNvSpPr>
            <a:spLocks noGrp="1"/>
          </p:cNvSpPr>
          <p:nvPr>
            <p:ph idx="1"/>
          </p:nvPr>
        </p:nvSpPr>
        <p:spPr>
          <a:xfrm>
            <a:off x="609600" y="1600201"/>
            <a:ext cx="10972800" cy="4983161"/>
          </a:xfrm>
        </p:spPr>
        <p:txBody>
          <a:bodyPr>
            <a:normAutofit fontScale="92500" lnSpcReduction="10000"/>
          </a:bodyPr>
          <a:lstStyle/>
          <a:p>
            <a:pPr marL="514350" indent="-514350">
              <a:buFont typeface="+mj-lt"/>
              <a:buAutoNum type="arabicPeriod"/>
            </a:pPr>
            <a:r>
              <a:rPr lang="en-US" dirty="0"/>
              <a:t>Optimize our pipeline for an accuracy metric that accounts for data imbalance</a:t>
            </a:r>
          </a:p>
          <a:p>
            <a:pPr marL="1257300" lvl="1" indent="-514350"/>
            <a:r>
              <a:rPr lang="en-US" dirty="0"/>
              <a:t>I.e., if there are only a few positive samples, getting those samples correct should “mean more” when judging performance</a:t>
            </a:r>
          </a:p>
          <a:p>
            <a:pPr marL="514350" indent="-514350">
              <a:buFont typeface="+mj-lt"/>
              <a:buAutoNum type="arabicPeriod"/>
            </a:pPr>
            <a:r>
              <a:rPr lang="en-US" dirty="0"/>
              <a:t>Use models that allow you to consider some samples as “more important” than others</a:t>
            </a:r>
          </a:p>
          <a:p>
            <a:pPr marL="1257300" lvl="1" indent="-514350"/>
            <a:r>
              <a:rPr lang="en-US" dirty="0"/>
              <a:t>I.e., if there are only a few positive samples, those samples should “mean more” during model training</a:t>
            </a:r>
          </a:p>
          <a:p>
            <a:pPr marL="514350" indent="-514350">
              <a:buFont typeface="+mj-lt"/>
              <a:buAutoNum type="arabicPeriod"/>
            </a:pPr>
            <a:r>
              <a:rPr lang="en-US" dirty="0"/>
              <a:t>Manipulate our dataset so that it is balanced for model training (not testing)</a:t>
            </a:r>
          </a:p>
        </p:txBody>
      </p:sp>
    </p:spTree>
    <p:extLst>
      <p:ext uri="{BB962C8B-B14F-4D97-AF65-F5344CB8AC3E}">
        <p14:creationId xmlns:p14="http://schemas.microsoft.com/office/powerpoint/2010/main" val="72303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ED28E-432A-6A4D-85AB-8054E23A2405}"/>
              </a:ext>
            </a:extLst>
          </p:cNvPr>
          <p:cNvSpPr>
            <a:spLocks noGrp="1"/>
          </p:cNvSpPr>
          <p:nvPr>
            <p:ph type="title"/>
          </p:nvPr>
        </p:nvSpPr>
        <p:spPr/>
        <p:txBody>
          <a:bodyPr>
            <a:normAutofit fontScale="90000"/>
          </a:bodyPr>
          <a:lstStyle/>
          <a:p>
            <a:r>
              <a:rPr lang="en-US" dirty="0"/>
              <a:t>How To Create A Balanced Dataset:</a:t>
            </a:r>
            <a:br>
              <a:rPr lang="en-US" dirty="0"/>
            </a:br>
            <a:r>
              <a:rPr lang="en-US" dirty="0"/>
              <a:t>Random </a:t>
            </a:r>
            <a:r>
              <a:rPr lang="en-US" dirty="0" err="1"/>
              <a:t>Undersampling</a:t>
            </a:r>
            <a:endParaRPr lang="en-US" dirty="0"/>
          </a:p>
        </p:txBody>
      </p:sp>
      <p:sp>
        <p:nvSpPr>
          <p:cNvPr id="6" name="Content Placeholder 5">
            <a:extLst>
              <a:ext uri="{FF2B5EF4-FFF2-40B4-BE49-F238E27FC236}">
                <a16:creationId xmlns:a16="http://schemas.microsoft.com/office/drawing/2014/main" id="{DF24E9EF-2FBB-5E12-5E4E-0976D93B864A}"/>
              </a:ext>
            </a:extLst>
          </p:cNvPr>
          <p:cNvSpPr>
            <a:spLocks noGrp="1"/>
          </p:cNvSpPr>
          <p:nvPr>
            <p:ph idx="1"/>
          </p:nvPr>
        </p:nvSpPr>
        <p:spPr>
          <a:xfrm>
            <a:off x="609600" y="1600201"/>
            <a:ext cx="6600514" cy="4983161"/>
          </a:xfrm>
        </p:spPr>
        <p:txBody>
          <a:bodyPr>
            <a:normAutofit/>
          </a:bodyPr>
          <a:lstStyle/>
          <a:p>
            <a:r>
              <a:rPr lang="en-US" dirty="0"/>
              <a:t>Randomly </a:t>
            </a:r>
            <a:r>
              <a:rPr lang="en-US" b="1" u="sng" dirty="0"/>
              <a:t>remove samples from the majority</a:t>
            </a:r>
            <a:r>
              <a:rPr lang="en-US" b="1" dirty="0"/>
              <a:t> </a:t>
            </a:r>
            <a:r>
              <a:rPr lang="en-US" dirty="0"/>
              <a:t>class to make the number of samples in the majority class equal to the number of samples in the minority class</a:t>
            </a:r>
          </a:p>
          <a:p>
            <a:pPr marL="457200" indent="-457200">
              <a:buClr>
                <a:srgbClr val="00B050"/>
              </a:buClr>
              <a:buFont typeface="System Font Regular"/>
              <a:buChar char="+"/>
            </a:pPr>
            <a:r>
              <a:rPr lang="en-US" b="1" u="sng" dirty="0"/>
              <a:t>Pros</a:t>
            </a:r>
            <a:r>
              <a:rPr lang="en-US" b="1" dirty="0"/>
              <a:t>: </a:t>
            </a:r>
            <a:r>
              <a:rPr lang="en-US" dirty="0"/>
              <a:t>Relies solely on real data</a:t>
            </a:r>
          </a:p>
          <a:p>
            <a:pPr marL="457200" indent="-457200">
              <a:buClr>
                <a:srgbClr val="FF0000"/>
              </a:buClr>
              <a:buFont typeface="System Font Regular"/>
              <a:buChar char="–"/>
            </a:pPr>
            <a:r>
              <a:rPr lang="en-US" b="1" u="sng" dirty="0"/>
              <a:t>Cons</a:t>
            </a:r>
            <a:r>
              <a:rPr lang="en-US" b="1" dirty="0"/>
              <a:t>: </a:t>
            </a:r>
            <a:r>
              <a:rPr lang="en-US" dirty="0"/>
              <a:t>Reduces the number of samples available for model training</a:t>
            </a:r>
          </a:p>
        </p:txBody>
      </p:sp>
      <p:sp>
        <p:nvSpPr>
          <p:cNvPr id="9" name="TextBox 8">
            <a:extLst>
              <a:ext uri="{FF2B5EF4-FFF2-40B4-BE49-F238E27FC236}">
                <a16:creationId xmlns:a16="http://schemas.microsoft.com/office/drawing/2014/main" id="{BF2B1374-9C4D-891F-B7CD-2A7EB1F29643}"/>
              </a:ext>
            </a:extLst>
          </p:cNvPr>
          <p:cNvSpPr txBox="1"/>
          <p:nvPr/>
        </p:nvSpPr>
        <p:spPr>
          <a:xfrm>
            <a:off x="7174554" y="3273408"/>
            <a:ext cx="1425390" cy="461665"/>
          </a:xfrm>
          <a:prstGeom prst="rect">
            <a:avLst/>
          </a:prstGeom>
          <a:noFill/>
        </p:spPr>
        <p:txBody>
          <a:bodyPr wrap="none" rtlCol="0" anchor="ctr">
            <a:spAutoFit/>
          </a:bodyPr>
          <a:lstStyle/>
          <a:p>
            <a:pPr algn="r"/>
            <a:r>
              <a:rPr lang="en-US" sz="2400" b="1" dirty="0"/>
              <a:t>Original:</a:t>
            </a:r>
          </a:p>
        </p:txBody>
      </p:sp>
      <p:graphicFrame>
        <p:nvGraphicFramePr>
          <p:cNvPr id="10" name="Table 7">
            <a:extLst>
              <a:ext uri="{FF2B5EF4-FFF2-40B4-BE49-F238E27FC236}">
                <a16:creationId xmlns:a16="http://schemas.microsoft.com/office/drawing/2014/main" id="{4060583D-A9CF-283D-C834-40F8DB04C09C}"/>
              </a:ext>
            </a:extLst>
          </p:cNvPr>
          <p:cNvGraphicFramePr>
            <a:graphicFrameLocks noGrp="1"/>
          </p:cNvGraphicFramePr>
          <p:nvPr>
            <p:extLst>
              <p:ext uri="{D42A27DB-BD31-4B8C-83A1-F6EECF244321}">
                <p14:modId xmlns:p14="http://schemas.microsoft.com/office/powerpoint/2010/main" val="229891465"/>
              </p:ext>
            </p:extLst>
          </p:nvPr>
        </p:nvGraphicFramePr>
        <p:xfrm>
          <a:off x="8687634" y="2971800"/>
          <a:ext cx="3120788" cy="990600"/>
        </p:xfrm>
        <a:graphic>
          <a:graphicData uri="http://schemas.openxmlformats.org/drawingml/2006/table">
            <a:tbl>
              <a:tblPr firstRow="1" bandRow="1">
                <a:tableStyleId>{073A0DAA-6AF3-43AB-8588-CEC1D06C72B9}</a:tableStyleId>
              </a:tblPr>
              <a:tblGrid>
                <a:gridCol w="1560394">
                  <a:extLst>
                    <a:ext uri="{9D8B030D-6E8A-4147-A177-3AD203B41FA5}">
                      <a16:colId xmlns:a16="http://schemas.microsoft.com/office/drawing/2014/main" val="1571447975"/>
                    </a:ext>
                  </a:extLst>
                </a:gridCol>
                <a:gridCol w="1560394">
                  <a:extLst>
                    <a:ext uri="{9D8B030D-6E8A-4147-A177-3AD203B41FA5}">
                      <a16:colId xmlns:a16="http://schemas.microsoft.com/office/drawing/2014/main" val="1550805326"/>
                    </a:ext>
                  </a:extLst>
                </a:gridCol>
              </a:tblGrid>
              <a:tr h="495300">
                <a:tc>
                  <a:txBody>
                    <a:bodyPr/>
                    <a:lstStyle/>
                    <a:p>
                      <a:pPr algn="ctr"/>
                      <a:r>
                        <a:rPr lang="en-US" sz="2400" dirty="0"/>
                        <a:t># Healthy</a:t>
                      </a:r>
                    </a:p>
                  </a:txBody>
                  <a:tcPr anchor="ctr"/>
                </a:tc>
                <a:tc>
                  <a:txBody>
                    <a:bodyPr/>
                    <a:lstStyle/>
                    <a:p>
                      <a:pPr algn="ctr"/>
                      <a:r>
                        <a:rPr lang="en-US" sz="2400" dirty="0"/>
                        <a:t># Sick</a:t>
                      </a:r>
                    </a:p>
                  </a:txBody>
                  <a:tcPr anchor="ctr"/>
                </a:tc>
                <a:extLst>
                  <a:ext uri="{0D108BD9-81ED-4DB2-BD59-A6C34878D82A}">
                    <a16:rowId xmlns:a16="http://schemas.microsoft.com/office/drawing/2014/main" val="2668513280"/>
                  </a:ext>
                </a:extLst>
              </a:tr>
              <a:tr h="495300">
                <a:tc>
                  <a:txBody>
                    <a:bodyPr/>
                    <a:lstStyle/>
                    <a:p>
                      <a:pPr algn="ctr"/>
                      <a:r>
                        <a:rPr lang="en-US" sz="2400" dirty="0"/>
                        <a:t>900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100</a:t>
                      </a:r>
                    </a:p>
                  </a:txBody>
                  <a:tcPr anchor="ctr"/>
                </a:tc>
                <a:extLst>
                  <a:ext uri="{0D108BD9-81ED-4DB2-BD59-A6C34878D82A}">
                    <a16:rowId xmlns:a16="http://schemas.microsoft.com/office/drawing/2014/main" val="2796125423"/>
                  </a:ext>
                </a:extLst>
              </a:tr>
            </a:tbl>
          </a:graphicData>
        </a:graphic>
      </p:graphicFrame>
      <p:sp>
        <p:nvSpPr>
          <p:cNvPr id="12" name="TextBox 11">
            <a:extLst>
              <a:ext uri="{FF2B5EF4-FFF2-40B4-BE49-F238E27FC236}">
                <a16:creationId xmlns:a16="http://schemas.microsoft.com/office/drawing/2014/main" id="{B2FA4347-1ACE-5130-4E6B-F59AABB6707A}"/>
              </a:ext>
            </a:extLst>
          </p:cNvPr>
          <p:cNvSpPr txBox="1"/>
          <p:nvPr/>
        </p:nvSpPr>
        <p:spPr>
          <a:xfrm>
            <a:off x="8756176" y="2025740"/>
            <a:ext cx="1378424" cy="830997"/>
          </a:xfrm>
          <a:prstGeom prst="rect">
            <a:avLst/>
          </a:prstGeom>
          <a:noFill/>
        </p:spPr>
        <p:txBody>
          <a:bodyPr wrap="square" rtlCol="0">
            <a:spAutoFit/>
          </a:bodyPr>
          <a:lstStyle/>
          <a:p>
            <a:pPr algn="ctr"/>
            <a:r>
              <a:rPr lang="en-US" sz="2400" b="1" dirty="0"/>
              <a:t>Majority Class</a:t>
            </a:r>
          </a:p>
        </p:txBody>
      </p:sp>
      <p:sp>
        <p:nvSpPr>
          <p:cNvPr id="13" name="TextBox 12">
            <a:extLst>
              <a:ext uri="{FF2B5EF4-FFF2-40B4-BE49-F238E27FC236}">
                <a16:creationId xmlns:a16="http://schemas.microsoft.com/office/drawing/2014/main" id="{F7CC9F1F-E5F6-4EAA-75A7-0B76D8C4E2F0}"/>
              </a:ext>
            </a:extLst>
          </p:cNvPr>
          <p:cNvSpPr txBox="1"/>
          <p:nvPr/>
        </p:nvSpPr>
        <p:spPr>
          <a:xfrm>
            <a:off x="10305576" y="2025740"/>
            <a:ext cx="1378424" cy="830997"/>
          </a:xfrm>
          <a:prstGeom prst="rect">
            <a:avLst/>
          </a:prstGeom>
          <a:noFill/>
        </p:spPr>
        <p:txBody>
          <a:bodyPr wrap="square" rtlCol="0">
            <a:spAutoFit/>
          </a:bodyPr>
          <a:lstStyle/>
          <a:p>
            <a:pPr algn="ctr"/>
            <a:r>
              <a:rPr lang="en-US" sz="2400" b="1" dirty="0"/>
              <a:t>Minority Class</a:t>
            </a:r>
          </a:p>
        </p:txBody>
      </p:sp>
      <p:sp>
        <p:nvSpPr>
          <p:cNvPr id="3" name="TextBox 2">
            <a:extLst>
              <a:ext uri="{FF2B5EF4-FFF2-40B4-BE49-F238E27FC236}">
                <a16:creationId xmlns:a16="http://schemas.microsoft.com/office/drawing/2014/main" id="{2F4F9D67-271A-A45D-D077-340C70E9BA55}"/>
              </a:ext>
            </a:extLst>
          </p:cNvPr>
          <p:cNvSpPr txBox="1"/>
          <p:nvPr/>
        </p:nvSpPr>
        <p:spPr>
          <a:xfrm>
            <a:off x="7123258" y="4731036"/>
            <a:ext cx="1476686" cy="461665"/>
          </a:xfrm>
          <a:prstGeom prst="rect">
            <a:avLst/>
          </a:prstGeom>
          <a:noFill/>
        </p:spPr>
        <p:txBody>
          <a:bodyPr wrap="square" rtlCol="0" anchor="ctr">
            <a:spAutoFit/>
          </a:bodyPr>
          <a:lstStyle/>
          <a:p>
            <a:pPr algn="r"/>
            <a:r>
              <a:rPr lang="en-US" sz="2400" b="1" dirty="0"/>
              <a:t>New:</a:t>
            </a:r>
          </a:p>
        </p:txBody>
      </p:sp>
      <p:graphicFrame>
        <p:nvGraphicFramePr>
          <p:cNvPr id="4" name="Table 7">
            <a:extLst>
              <a:ext uri="{FF2B5EF4-FFF2-40B4-BE49-F238E27FC236}">
                <a16:creationId xmlns:a16="http://schemas.microsoft.com/office/drawing/2014/main" id="{E67B8E94-2408-860F-32D9-0A20C1D051EF}"/>
              </a:ext>
            </a:extLst>
          </p:cNvPr>
          <p:cNvGraphicFramePr>
            <a:graphicFrameLocks noGrp="1"/>
          </p:cNvGraphicFramePr>
          <p:nvPr>
            <p:extLst>
              <p:ext uri="{D42A27DB-BD31-4B8C-83A1-F6EECF244321}">
                <p14:modId xmlns:p14="http://schemas.microsoft.com/office/powerpoint/2010/main" val="2981007029"/>
              </p:ext>
            </p:extLst>
          </p:nvPr>
        </p:nvGraphicFramePr>
        <p:xfrm>
          <a:off x="8687634" y="4495800"/>
          <a:ext cx="3120788" cy="1318260"/>
        </p:xfrm>
        <a:graphic>
          <a:graphicData uri="http://schemas.openxmlformats.org/drawingml/2006/table">
            <a:tbl>
              <a:tblPr firstRow="1" bandRow="1">
                <a:tableStyleId>{073A0DAA-6AF3-43AB-8588-CEC1D06C72B9}</a:tableStyleId>
              </a:tblPr>
              <a:tblGrid>
                <a:gridCol w="1560394">
                  <a:extLst>
                    <a:ext uri="{9D8B030D-6E8A-4147-A177-3AD203B41FA5}">
                      <a16:colId xmlns:a16="http://schemas.microsoft.com/office/drawing/2014/main" val="1571447975"/>
                    </a:ext>
                  </a:extLst>
                </a:gridCol>
                <a:gridCol w="1560394">
                  <a:extLst>
                    <a:ext uri="{9D8B030D-6E8A-4147-A177-3AD203B41FA5}">
                      <a16:colId xmlns:a16="http://schemas.microsoft.com/office/drawing/2014/main" val="1550805326"/>
                    </a:ext>
                  </a:extLst>
                </a:gridCol>
              </a:tblGrid>
              <a:tr h="495300">
                <a:tc>
                  <a:txBody>
                    <a:bodyPr/>
                    <a:lstStyle/>
                    <a:p>
                      <a:pPr algn="ctr"/>
                      <a:r>
                        <a:rPr lang="en-US" sz="2400" dirty="0"/>
                        <a:t># Healthy</a:t>
                      </a:r>
                    </a:p>
                  </a:txBody>
                  <a:tcPr anchor="ctr"/>
                </a:tc>
                <a:tc>
                  <a:txBody>
                    <a:bodyPr/>
                    <a:lstStyle/>
                    <a:p>
                      <a:pPr algn="ctr"/>
                      <a:r>
                        <a:rPr lang="en-US" sz="2400" dirty="0"/>
                        <a:t># Sick</a:t>
                      </a:r>
                    </a:p>
                  </a:txBody>
                  <a:tcPr anchor="ctr"/>
                </a:tc>
                <a:extLst>
                  <a:ext uri="{0D108BD9-81ED-4DB2-BD59-A6C34878D82A}">
                    <a16:rowId xmlns:a16="http://schemas.microsoft.com/office/drawing/2014/main" val="2668513280"/>
                  </a:ext>
                </a:extLst>
              </a:tr>
              <a:tr h="495300">
                <a:tc>
                  <a:txBody>
                    <a:bodyPr/>
                    <a:lstStyle/>
                    <a:p>
                      <a:pPr algn="ctr"/>
                      <a:r>
                        <a:rPr lang="en-US" sz="2400" dirty="0"/>
                        <a:t>900-800 = 100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100</a:t>
                      </a:r>
                    </a:p>
                  </a:txBody>
                  <a:tcPr anchor="ctr"/>
                </a:tc>
                <a:extLst>
                  <a:ext uri="{0D108BD9-81ED-4DB2-BD59-A6C34878D82A}">
                    <a16:rowId xmlns:a16="http://schemas.microsoft.com/office/drawing/2014/main" val="2796125423"/>
                  </a:ext>
                </a:extLst>
              </a:tr>
            </a:tbl>
          </a:graphicData>
        </a:graphic>
      </p:graphicFrame>
    </p:spTree>
    <p:extLst>
      <p:ext uri="{BB962C8B-B14F-4D97-AF65-F5344CB8AC3E}">
        <p14:creationId xmlns:p14="http://schemas.microsoft.com/office/powerpoint/2010/main" val="98008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par>
                                <p:cTn id="20" presetID="10"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fade">
                                      <p:cBhvr>
                                        <p:cTn id="30" dur="500"/>
                                        <p:tgtEl>
                                          <p:spTgt spid="6">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9" grpId="0"/>
      <p:bldP spid="12" grpId="0"/>
      <p:bldP spid="13"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ED28E-432A-6A4D-85AB-8054E23A2405}"/>
              </a:ext>
            </a:extLst>
          </p:cNvPr>
          <p:cNvSpPr>
            <a:spLocks noGrp="1"/>
          </p:cNvSpPr>
          <p:nvPr>
            <p:ph type="title"/>
          </p:nvPr>
        </p:nvSpPr>
        <p:spPr/>
        <p:txBody>
          <a:bodyPr>
            <a:normAutofit fontScale="90000"/>
          </a:bodyPr>
          <a:lstStyle/>
          <a:p>
            <a:r>
              <a:rPr lang="en-US" dirty="0"/>
              <a:t>How To Create A Balanced Dataset:</a:t>
            </a:r>
            <a:br>
              <a:rPr lang="en-US" dirty="0"/>
            </a:br>
            <a:r>
              <a:rPr lang="en-US" dirty="0"/>
              <a:t>Random Oversampling</a:t>
            </a:r>
          </a:p>
        </p:txBody>
      </p:sp>
      <p:sp>
        <p:nvSpPr>
          <p:cNvPr id="6" name="Content Placeholder 5">
            <a:extLst>
              <a:ext uri="{FF2B5EF4-FFF2-40B4-BE49-F238E27FC236}">
                <a16:creationId xmlns:a16="http://schemas.microsoft.com/office/drawing/2014/main" id="{DF24E9EF-2FBB-5E12-5E4E-0976D93B864A}"/>
              </a:ext>
            </a:extLst>
          </p:cNvPr>
          <p:cNvSpPr>
            <a:spLocks noGrp="1"/>
          </p:cNvSpPr>
          <p:nvPr>
            <p:ph idx="1"/>
          </p:nvPr>
        </p:nvSpPr>
        <p:spPr>
          <a:xfrm>
            <a:off x="609600" y="1600201"/>
            <a:ext cx="6600514" cy="4983161"/>
          </a:xfrm>
        </p:spPr>
        <p:txBody>
          <a:bodyPr>
            <a:normAutofit lnSpcReduction="10000"/>
          </a:bodyPr>
          <a:lstStyle/>
          <a:p>
            <a:r>
              <a:rPr lang="en-US" dirty="0"/>
              <a:t>Randomly </a:t>
            </a:r>
            <a:r>
              <a:rPr lang="en-US" b="1" u="sng" dirty="0"/>
              <a:t>copy samples from the minority class</a:t>
            </a:r>
            <a:r>
              <a:rPr lang="en-US" b="1" dirty="0"/>
              <a:t> </a:t>
            </a:r>
            <a:r>
              <a:rPr lang="en-US" dirty="0"/>
              <a:t>to make the number of samples in the minority class equal to the number of samples in the majority class</a:t>
            </a:r>
          </a:p>
          <a:p>
            <a:pPr marL="457200" indent="-457200">
              <a:buClr>
                <a:srgbClr val="00B050"/>
              </a:buClr>
              <a:buFont typeface="System Font Regular"/>
              <a:buChar char="+"/>
            </a:pPr>
            <a:r>
              <a:rPr lang="en-US" b="1" u="sng" dirty="0"/>
              <a:t>Pros</a:t>
            </a:r>
            <a:r>
              <a:rPr lang="en-US" b="1" dirty="0"/>
              <a:t>: </a:t>
            </a:r>
            <a:r>
              <a:rPr lang="en-US" dirty="0"/>
              <a:t>Relies solely on real data; generates lots of samples for model training</a:t>
            </a:r>
          </a:p>
          <a:p>
            <a:pPr marL="457200" indent="-457200">
              <a:buClr>
                <a:srgbClr val="FF0000"/>
              </a:buClr>
              <a:buFont typeface="System Font Regular"/>
              <a:buChar char="–"/>
            </a:pPr>
            <a:r>
              <a:rPr lang="en-US" b="1" u="sng" dirty="0"/>
              <a:t>Cons</a:t>
            </a:r>
            <a:r>
              <a:rPr lang="en-US" b="1" dirty="0"/>
              <a:t>: </a:t>
            </a:r>
            <a:r>
              <a:rPr lang="en-US" dirty="0"/>
              <a:t>Repeated samples may skew how the model learns</a:t>
            </a:r>
          </a:p>
        </p:txBody>
      </p:sp>
      <p:sp>
        <p:nvSpPr>
          <p:cNvPr id="9" name="TextBox 8">
            <a:extLst>
              <a:ext uri="{FF2B5EF4-FFF2-40B4-BE49-F238E27FC236}">
                <a16:creationId xmlns:a16="http://schemas.microsoft.com/office/drawing/2014/main" id="{BF2B1374-9C4D-891F-B7CD-2A7EB1F29643}"/>
              </a:ext>
            </a:extLst>
          </p:cNvPr>
          <p:cNvSpPr txBox="1"/>
          <p:nvPr/>
        </p:nvSpPr>
        <p:spPr>
          <a:xfrm>
            <a:off x="7174554" y="3273408"/>
            <a:ext cx="1425390" cy="461665"/>
          </a:xfrm>
          <a:prstGeom prst="rect">
            <a:avLst/>
          </a:prstGeom>
          <a:noFill/>
        </p:spPr>
        <p:txBody>
          <a:bodyPr wrap="none" rtlCol="0" anchor="ctr">
            <a:spAutoFit/>
          </a:bodyPr>
          <a:lstStyle/>
          <a:p>
            <a:pPr algn="r"/>
            <a:r>
              <a:rPr lang="en-US" sz="2400" b="1" dirty="0"/>
              <a:t>Original:</a:t>
            </a:r>
          </a:p>
        </p:txBody>
      </p:sp>
      <p:graphicFrame>
        <p:nvGraphicFramePr>
          <p:cNvPr id="10" name="Table 7">
            <a:extLst>
              <a:ext uri="{FF2B5EF4-FFF2-40B4-BE49-F238E27FC236}">
                <a16:creationId xmlns:a16="http://schemas.microsoft.com/office/drawing/2014/main" id="{4060583D-A9CF-283D-C834-40F8DB04C09C}"/>
              </a:ext>
            </a:extLst>
          </p:cNvPr>
          <p:cNvGraphicFramePr>
            <a:graphicFrameLocks noGrp="1"/>
          </p:cNvGraphicFramePr>
          <p:nvPr/>
        </p:nvGraphicFramePr>
        <p:xfrm>
          <a:off x="8687634" y="2971800"/>
          <a:ext cx="3120788" cy="990600"/>
        </p:xfrm>
        <a:graphic>
          <a:graphicData uri="http://schemas.openxmlformats.org/drawingml/2006/table">
            <a:tbl>
              <a:tblPr firstRow="1" bandRow="1">
                <a:tableStyleId>{073A0DAA-6AF3-43AB-8588-CEC1D06C72B9}</a:tableStyleId>
              </a:tblPr>
              <a:tblGrid>
                <a:gridCol w="1560394">
                  <a:extLst>
                    <a:ext uri="{9D8B030D-6E8A-4147-A177-3AD203B41FA5}">
                      <a16:colId xmlns:a16="http://schemas.microsoft.com/office/drawing/2014/main" val="1571447975"/>
                    </a:ext>
                  </a:extLst>
                </a:gridCol>
                <a:gridCol w="1560394">
                  <a:extLst>
                    <a:ext uri="{9D8B030D-6E8A-4147-A177-3AD203B41FA5}">
                      <a16:colId xmlns:a16="http://schemas.microsoft.com/office/drawing/2014/main" val="1550805326"/>
                    </a:ext>
                  </a:extLst>
                </a:gridCol>
              </a:tblGrid>
              <a:tr h="495300">
                <a:tc>
                  <a:txBody>
                    <a:bodyPr/>
                    <a:lstStyle/>
                    <a:p>
                      <a:pPr algn="ctr"/>
                      <a:r>
                        <a:rPr lang="en-US" sz="2400" dirty="0"/>
                        <a:t># Healthy</a:t>
                      </a:r>
                    </a:p>
                  </a:txBody>
                  <a:tcPr anchor="ctr"/>
                </a:tc>
                <a:tc>
                  <a:txBody>
                    <a:bodyPr/>
                    <a:lstStyle/>
                    <a:p>
                      <a:pPr algn="ctr"/>
                      <a:r>
                        <a:rPr lang="en-US" sz="2400" dirty="0"/>
                        <a:t># Sick</a:t>
                      </a:r>
                    </a:p>
                  </a:txBody>
                  <a:tcPr anchor="ctr"/>
                </a:tc>
                <a:extLst>
                  <a:ext uri="{0D108BD9-81ED-4DB2-BD59-A6C34878D82A}">
                    <a16:rowId xmlns:a16="http://schemas.microsoft.com/office/drawing/2014/main" val="2668513280"/>
                  </a:ext>
                </a:extLst>
              </a:tr>
              <a:tr h="495300">
                <a:tc>
                  <a:txBody>
                    <a:bodyPr/>
                    <a:lstStyle/>
                    <a:p>
                      <a:pPr algn="ctr"/>
                      <a:r>
                        <a:rPr lang="en-US" sz="2400" dirty="0"/>
                        <a:t>900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100</a:t>
                      </a:r>
                    </a:p>
                  </a:txBody>
                  <a:tcPr anchor="ctr"/>
                </a:tc>
                <a:extLst>
                  <a:ext uri="{0D108BD9-81ED-4DB2-BD59-A6C34878D82A}">
                    <a16:rowId xmlns:a16="http://schemas.microsoft.com/office/drawing/2014/main" val="2796125423"/>
                  </a:ext>
                </a:extLst>
              </a:tr>
            </a:tbl>
          </a:graphicData>
        </a:graphic>
      </p:graphicFrame>
      <p:sp>
        <p:nvSpPr>
          <p:cNvPr id="12" name="TextBox 11">
            <a:extLst>
              <a:ext uri="{FF2B5EF4-FFF2-40B4-BE49-F238E27FC236}">
                <a16:creationId xmlns:a16="http://schemas.microsoft.com/office/drawing/2014/main" id="{B2FA4347-1ACE-5130-4E6B-F59AABB6707A}"/>
              </a:ext>
            </a:extLst>
          </p:cNvPr>
          <p:cNvSpPr txBox="1"/>
          <p:nvPr/>
        </p:nvSpPr>
        <p:spPr>
          <a:xfrm>
            <a:off x="8756176" y="2025740"/>
            <a:ext cx="1378424" cy="830997"/>
          </a:xfrm>
          <a:prstGeom prst="rect">
            <a:avLst/>
          </a:prstGeom>
          <a:noFill/>
        </p:spPr>
        <p:txBody>
          <a:bodyPr wrap="square" rtlCol="0">
            <a:spAutoFit/>
          </a:bodyPr>
          <a:lstStyle/>
          <a:p>
            <a:pPr algn="ctr"/>
            <a:r>
              <a:rPr lang="en-US" sz="2400" b="1" dirty="0"/>
              <a:t>Majority Class</a:t>
            </a:r>
          </a:p>
        </p:txBody>
      </p:sp>
      <p:sp>
        <p:nvSpPr>
          <p:cNvPr id="13" name="TextBox 12">
            <a:extLst>
              <a:ext uri="{FF2B5EF4-FFF2-40B4-BE49-F238E27FC236}">
                <a16:creationId xmlns:a16="http://schemas.microsoft.com/office/drawing/2014/main" id="{F7CC9F1F-E5F6-4EAA-75A7-0B76D8C4E2F0}"/>
              </a:ext>
            </a:extLst>
          </p:cNvPr>
          <p:cNvSpPr txBox="1"/>
          <p:nvPr/>
        </p:nvSpPr>
        <p:spPr>
          <a:xfrm>
            <a:off x="10305576" y="2025740"/>
            <a:ext cx="1378424" cy="830997"/>
          </a:xfrm>
          <a:prstGeom prst="rect">
            <a:avLst/>
          </a:prstGeom>
          <a:noFill/>
        </p:spPr>
        <p:txBody>
          <a:bodyPr wrap="square" rtlCol="0">
            <a:spAutoFit/>
          </a:bodyPr>
          <a:lstStyle/>
          <a:p>
            <a:pPr algn="ctr"/>
            <a:r>
              <a:rPr lang="en-US" sz="2400" b="1" dirty="0"/>
              <a:t>Minority Class</a:t>
            </a:r>
          </a:p>
        </p:txBody>
      </p:sp>
      <p:sp>
        <p:nvSpPr>
          <p:cNvPr id="3" name="TextBox 2">
            <a:extLst>
              <a:ext uri="{FF2B5EF4-FFF2-40B4-BE49-F238E27FC236}">
                <a16:creationId xmlns:a16="http://schemas.microsoft.com/office/drawing/2014/main" id="{2F4F9D67-271A-A45D-D077-340C70E9BA55}"/>
              </a:ext>
            </a:extLst>
          </p:cNvPr>
          <p:cNvSpPr txBox="1"/>
          <p:nvPr/>
        </p:nvSpPr>
        <p:spPr>
          <a:xfrm>
            <a:off x="7123258" y="4731036"/>
            <a:ext cx="1476686" cy="461665"/>
          </a:xfrm>
          <a:prstGeom prst="rect">
            <a:avLst/>
          </a:prstGeom>
          <a:noFill/>
        </p:spPr>
        <p:txBody>
          <a:bodyPr wrap="square" rtlCol="0" anchor="ctr">
            <a:spAutoFit/>
          </a:bodyPr>
          <a:lstStyle/>
          <a:p>
            <a:pPr algn="r"/>
            <a:r>
              <a:rPr lang="en-US" sz="2400" b="1" dirty="0"/>
              <a:t>New:</a:t>
            </a:r>
          </a:p>
        </p:txBody>
      </p:sp>
      <p:graphicFrame>
        <p:nvGraphicFramePr>
          <p:cNvPr id="4" name="Table 7">
            <a:extLst>
              <a:ext uri="{FF2B5EF4-FFF2-40B4-BE49-F238E27FC236}">
                <a16:creationId xmlns:a16="http://schemas.microsoft.com/office/drawing/2014/main" id="{E67B8E94-2408-860F-32D9-0A20C1D051EF}"/>
              </a:ext>
            </a:extLst>
          </p:cNvPr>
          <p:cNvGraphicFramePr>
            <a:graphicFrameLocks noGrp="1"/>
          </p:cNvGraphicFramePr>
          <p:nvPr>
            <p:extLst>
              <p:ext uri="{D42A27DB-BD31-4B8C-83A1-F6EECF244321}">
                <p14:modId xmlns:p14="http://schemas.microsoft.com/office/powerpoint/2010/main" val="2077740306"/>
              </p:ext>
            </p:extLst>
          </p:nvPr>
        </p:nvGraphicFramePr>
        <p:xfrm>
          <a:off x="8687634" y="4495800"/>
          <a:ext cx="3120788" cy="1318260"/>
        </p:xfrm>
        <a:graphic>
          <a:graphicData uri="http://schemas.openxmlformats.org/drawingml/2006/table">
            <a:tbl>
              <a:tblPr firstRow="1" bandRow="1">
                <a:tableStyleId>{073A0DAA-6AF3-43AB-8588-CEC1D06C72B9}</a:tableStyleId>
              </a:tblPr>
              <a:tblGrid>
                <a:gridCol w="1560394">
                  <a:extLst>
                    <a:ext uri="{9D8B030D-6E8A-4147-A177-3AD203B41FA5}">
                      <a16:colId xmlns:a16="http://schemas.microsoft.com/office/drawing/2014/main" val="1571447975"/>
                    </a:ext>
                  </a:extLst>
                </a:gridCol>
                <a:gridCol w="1560394">
                  <a:extLst>
                    <a:ext uri="{9D8B030D-6E8A-4147-A177-3AD203B41FA5}">
                      <a16:colId xmlns:a16="http://schemas.microsoft.com/office/drawing/2014/main" val="1550805326"/>
                    </a:ext>
                  </a:extLst>
                </a:gridCol>
              </a:tblGrid>
              <a:tr h="495300">
                <a:tc>
                  <a:txBody>
                    <a:bodyPr/>
                    <a:lstStyle/>
                    <a:p>
                      <a:pPr algn="ctr"/>
                      <a:r>
                        <a:rPr lang="en-US" sz="2400" dirty="0"/>
                        <a:t># Healthy</a:t>
                      </a:r>
                    </a:p>
                  </a:txBody>
                  <a:tcPr anchor="ctr"/>
                </a:tc>
                <a:tc>
                  <a:txBody>
                    <a:bodyPr/>
                    <a:lstStyle/>
                    <a:p>
                      <a:pPr algn="ctr"/>
                      <a:r>
                        <a:rPr lang="en-US" sz="2400" dirty="0"/>
                        <a:t># Sick</a:t>
                      </a:r>
                    </a:p>
                  </a:txBody>
                  <a:tcPr anchor="ctr"/>
                </a:tc>
                <a:extLst>
                  <a:ext uri="{0D108BD9-81ED-4DB2-BD59-A6C34878D82A}">
                    <a16:rowId xmlns:a16="http://schemas.microsoft.com/office/drawing/2014/main" val="2668513280"/>
                  </a:ext>
                </a:extLst>
              </a:tr>
              <a:tr h="495300">
                <a:tc>
                  <a:txBody>
                    <a:bodyPr/>
                    <a:lstStyle/>
                    <a:p>
                      <a:pPr algn="ctr"/>
                      <a:r>
                        <a:rPr lang="en-US" sz="2400" dirty="0"/>
                        <a:t>900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100×9 = 900</a:t>
                      </a:r>
                    </a:p>
                  </a:txBody>
                  <a:tcPr anchor="ctr"/>
                </a:tc>
                <a:extLst>
                  <a:ext uri="{0D108BD9-81ED-4DB2-BD59-A6C34878D82A}">
                    <a16:rowId xmlns:a16="http://schemas.microsoft.com/office/drawing/2014/main" val="2796125423"/>
                  </a:ext>
                </a:extLst>
              </a:tr>
            </a:tbl>
          </a:graphicData>
        </a:graphic>
      </p:graphicFrame>
    </p:spTree>
    <p:extLst>
      <p:ext uri="{BB962C8B-B14F-4D97-AF65-F5344CB8AC3E}">
        <p14:creationId xmlns:p14="http://schemas.microsoft.com/office/powerpoint/2010/main" val="39482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par>
                                <p:cTn id="20" presetID="10"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fade">
                                      <p:cBhvr>
                                        <p:cTn id="30" dur="500"/>
                                        <p:tgtEl>
                                          <p:spTgt spid="6">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9" grpId="0"/>
      <p:bldP spid="12" grpId="0"/>
      <p:bldP spid="13"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ED28E-432A-6A4D-85AB-8054E23A2405}"/>
              </a:ext>
            </a:extLst>
          </p:cNvPr>
          <p:cNvSpPr>
            <a:spLocks noGrp="1"/>
          </p:cNvSpPr>
          <p:nvPr>
            <p:ph type="title"/>
          </p:nvPr>
        </p:nvSpPr>
        <p:spPr/>
        <p:txBody>
          <a:bodyPr>
            <a:noAutofit/>
          </a:bodyPr>
          <a:lstStyle/>
          <a:p>
            <a:r>
              <a:rPr lang="en-US" sz="4000" dirty="0"/>
              <a:t>How To Create A Balanced Dataset: Synthetic Minority Oversampling Technique (SMOTE)</a:t>
            </a:r>
          </a:p>
        </p:txBody>
      </p:sp>
      <p:sp>
        <p:nvSpPr>
          <p:cNvPr id="6" name="Content Placeholder 5">
            <a:extLst>
              <a:ext uri="{FF2B5EF4-FFF2-40B4-BE49-F238E27FC236}">
                <a16:creationId xmlns:a16="http://schemas.microsoft.com/office/drawing/2014/main" id="{DF24E9EF-2FBB-5E12-5E4E-0976D93B864A}"/>
              </a:ext>
            </a:extLst>
          </p:cNvPr>
          <p:cNvSpPr>
            <a:spLocks noGrp="1"/>
          </p:cNvSpPr>
          <p:nvPr>
            <p:ph idx="1"/>
          </p:nvPr>
        </p:nvSpPr>
        <p:spPr>
          <a:xfrm>
            <a:off x="609600" y="1600201"/>
            <a:ext cx="6600514" cy="4983161"/>
          </a:xfrm>
        </p:spPr>
        <p:txBody>
          <a:bodyPr>
            <a:normAutofit lnSpcReduction="10000"/>
          </a:bodyPr>
          <a:lstStyle/>
          <a:p>
            <a:r>
              <a:rPr lang="en-US" dirty="0"/>
              <a:t>Randomly </a:t>
            </a:r>
            <a:r>
              <a:rPr lang="en-US" b="1" u="sng" dirty="0"/>
              <a:t>create fake samples from the minority class</a:t>
            </a:r>
            <a:r>
              <a:rPr lang="en-US" b="1" dirty="0"/>
              <a:t> </a:t>
            </a:r>
            <a:r>
              <a:rPr lang="en-US" dirty="0"/>
              <a:t>to make the number of samples in the minority class equal to the number of samples in the majority class</a:t>
            </a:r>
          </a:p>
          <a:p>
            <a:pPr marL="457200" indent="-457200">
              <a:buClr>
                <a:srgbClr val="00B050"/>
              </a:buClr>
              <a:buFont typeface="System Font Regular"/>
              <a:buChar char="+"/>
            </a:pPr>
            <a:r>
              <a:rPr lang="en-US" b="1" u="sng" dirty="0"/>
              <a:t>Pros</a:t>
            </a:r>
            <a:r>
              <a:rPr lang="en-US" b="1" dirty="0"/>
              <a:t>: </a:t>
            </a:r>
            <a:r>
              <a:rPr lang="en-US" dirty="0"/>
              <a:t>Generates lots of samples for model training without repeats</a:t>
            </a:r>
          </a:p>
          <a:p>
            <a:pPr marL="457200" indent="-457200">
              <a:buClr>
                <a:srgbClr val="FF0000"/>
              </a:buClr>
              <a:buFont typeface="System Font Regular"/>
              <a:buChar char="–"/>
            </a:pPr>
            <a:r>
              <a:rPr lang="en-US" b="1" u="sng" dirty="0"/>
              <a:t>Cons</a:t>
            </a:r>
            <a:r>
              <a:rPr lang="en-US" b="1" dirty="0"/>
              <a:t>: </a:t>
            </a:r>
            <a:r>
              <a:rPr lang="en-US" dirty="0"/>
              <a:t>Creates fake data that may not be realistic</a:t>
            </a:r>
          </a:p>
        </p:txBody>
      </p:sp>
      <p:sp>
        <p:nvSpPr>
          <p:cNvPr id="9" name="TextBox 8">
            <a:extLst>
              <a:ext uri="{FF2B5EF4-FFF2-40B4-BE49-F238E27FC236}">
                <a16:creationId xmlns:a16="http://schemas.microsoft.com/office/drawing/2014/main" id="{BF2B1374-9C4D-891F-B7CD-2A7EB1F29643}"/>
              </a:ext>
            </a:extLst>
          </p:cNvPr>
          <p:cNvSpPr txBox="1"/>
          <p:nvPr/>
        </p:nvSpPr>
        <p:spPr>
          <a:xfrm>
            <a:off x="7174554" y="3273408"/>
            <a:ext cx="1425390" cy="461665"/>
          </a:xfrm>
          <a:prstGeom prst="rect">
            <a:avLst/>
          </a:prstGeom>
          <a:noFill/>
        </p:spPr>
        <p:txBody>
          <a:bodyPr wrap="none" rtlCol="0" anchor="ctr">
            <a:spAutoFit/>
          </a:bodyPr>
          <a:lstStyle/>
          <a:p>
            <a:pPr algn="r"/>
            <a:r>
              <a:rPr lang="en-US" sz="2400" b="1" dirty="0"/>
              <a:t>Original:</a:t>
            </a:r>
          </a:p>
        </p:txBody>
      </p:sp>
      <p:graphicFrame>
        <p:nvGraphicFramePr>
          <p:cNvPr id="10" name="Table 7">
            <a:extLst>
              <a:ext uri="{FF2B5EF4-FFF2-40B4-BE49-F238E27FC236}">
                <a16:creationId xmlns:a16="http://schemas.microsoft.com/office/drawing/2014/main" id="{4060583D-A9CF-283D-C834-40F8DB04C09C}"/>
              </a:ext>
            </a:extLst>
          </p:cNvPr>
          <p:cNvGraphicFramePr>
            <a:graphicFrameLocks noGrp="1"/>
          </p:cNvGraphicFramePr>
          <p:nvPr/>
        </p:nvGraphicFramePr>
        <p:xfrm>
          <a:off x="8687634" y="2971800"/>
          <a:ext cx="3120788" cy="990600"/>
        </p:xfrm>
        <a:graphic>
          <a:graphicData uri="http://schemas.openxmlformats.org/drawingml/2006/table">
            <a:tbl>
              <a:tblPr firstRow="1" bandRow="1">
                <a:tableStyleId>{073A0DAA-6AF3-43AB-8588-CEC1D06C72B9}</a:tableStyleId>
              </a:tblPr>
              <a:tblGrid>
                <a:gridCol w="1560394">
                  <a:extLst>
                    <a:ext uri="{9D8B030D-6E8A-4147-A177-3AD203B41FA5}">
                      <a16:colId xmlns:a16="http://schemas.microsoft.com/office/drawing/2014/main" val="1571447975"/>
                    </a:ext>
                  </a:extLst>
                </a:gridCol>
                <a:gridCol w="1560394">
                  <a:extLst>
                    <a:ext uri="{9D8B030D-6E8A-4147-A177-3AD203B41FA5}">
                      <a16:colId xmlns:a16="http://schemas.microsoft.com/office/drawing/2014/main" val="1550805326"/>
                    </a:ext>
                  </a:extLst>
                </a:gridCol>
              </a:tblGrid>
              <a:tr h="495300">
                <a:tc>
                  <a:txBody>
                    <a:bodyPr/>
                    <a:lstStyle/>
                    <a:p>
                      <a:pPr algn="ctr"/>
                      <a:r>
                        <a:rPr lang="en-US" sz="2400" dirty="0"/>
                        <a:t># Healthy</a:t>
                      </a:r>
                    </a:p>
                  </a:txBody>
                  <a:tcPr anchor="ctr"/>
                </a:tc>
                <a:tc>
                  <a:txBody>
                    <a:bodyPr/>
                    <a:lstStyle/>
                    <a:p>
                      <a:pPr algn="ctr"/>
                      <a:r>
                        <a:rPr lang="en-US" sz="2400" dirty="0"/>
                        <a:t># Sick</a:t>
                      </a:r>
                    </a:p>
                  </a:txBody>
                  <a:tcPr anchor="ctr"/>
                </a:tc>
                <a:extLst>
                  <a:ext uri="{0D108BD9-81ED-4DB2-BD59-A6C34878D82A}">
                    <a16:rowId xmlns:a16="http://schemas.microsoft.com/office/drawing/2014/main" val="2668513280"/>
                  </a:ext>
                </a:extLst>
              </a:tr>
              <a:tr h="495300">
                <a:tc>
                  <a:txBody>
                    <a:bodyPr/>
                    <a:lstStyle/>
                    <a:p>
                      <a:pPr algn="ctr"/>
                      <a:r>
                        <a:rPr lang="en-US" sz="2400" dirty="0"/>
                        <a:t>900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100</a:t>
                      </a:r>
                    </a:p>
                  </a:txBody>
                  <a:tcPr anchor="ctr"/>
                </a:tc>
                <a:extLst>
                  <a:ext uri="{0D108BD9-81ED-4DB2-BD59-A6C34878D82A}">
                    <a16:rowId xmlns:a16="http://schemas.microsoft.com/office/drawing/2014/main" val="2796125423"/>
                  </a:ext>
                </a:extLst>
              </a:tr>
            </a:tbl>
          </a:graphicData>
        </a:graphic>
      </p:graphicFrame>
      <p:sp>
        <p:nvSpPr>
          <p:cNvPr id="12" name="TextBox 11">
            <a:extLst>
              <a:ext uri="{FF2B5EF4-FFF2-40B4-BE49-F238E27FC236}">
                <a16:creationId xmlns:a16="http://schemas.microsoft.com/office/drawing/2014/main" id="{B2FA4347-1ACE-5130-4E6B-F59AABB6707A}"/>
              </a:ext>
            </a:extLst>
          </p:cNvPr>
          <p:cNvSpPr txBox="1"/>
          <p:nvPr/>
        </p:nvSpPr>
        <p:spPr>
          <a:xfrm>
            <a:off x="8756176" y="2025740"/>
            <a:ext cx="1378424" cy="830997"/>
          </a:xfrm>
          <a:prstGeom prst="rect">
            <a:avLst/>
          </a:prstGeom>
          <a:noFill/>
        </p:spPr>
        <p:txBody>
          <a:bodyPr wrap="square" rtlCol="0">
            <a:spAutoFit/>
          </a:bodyPr>
          <a:lstStyle/>
          <a:p>
            <a:pPr algn="ctr"/>
            <a:r>
              <a:rPr lang="en-US" sz="2400" b="1" dirty="0"/>
              <a:t>Majority Class</a:t>
            </a:r>
          </a:p>
        </p:txBody>
      </p:sp>
      <p:sp>
        <p:nvSpPr>
          <p:cNvPr id="13" name="TextBox 12">
            <a:extLst>
              <a:ext uri="{FF2B5EF4-FFF2-40B4-BE49-F238E27FC236}">
                <a16:creationId xmlns:a16="http://schemas.microsoft.com/office/drawing/2014/main" id="{F7CC9F1F-E5F6-4EAA-75A7-0B76D8C4E2F0}"/>
              </a:ext>
            </a:extLst>
          </p:cNvPr>
          <p:cNvSpPr txBox="1"/>
          <p:nvPr/>
        </p:nvSpPr>
        <p:spPr>
          <a:xfrm>
            <a:off x="10305576" y="2025740"/>
            <a:ext cx="1378424" cy="830997"/>
          </a:xfrm>
          <a:prstGeom prst="rect">
            <a:avLst/>
          </a:prstGeom>
          <a:noFill/>
        </p:spPr>
        <p:txBody>
          <a:bodyPr wrap="square" rtlCol="0">
            <a:spAutoFit/>
          </a:bodyPr>
          <a:lstStyle/>
          <a:p>
            <a:pPr algn="ctr"/>
            <a:r>
              <a:rPr lang="en-US" sz="2400" b="1" dirty="0"/>
              <a:t>Minority Class</a:t>
            </a:r>
          </a:p>
        </p:txBody>
      </p:sp>
      <p:sp>
        <p:nvSpPr>
          <p:cNvPr id="3" name="TextBox 2">
            <a:extLst>
              <a:ext uri="{FF2B5EF4-FFF2-40B4-BE49-F238E27FC236}">
                <a16:creationId xmlns:a16="http://schemas.microsoft.com/office/drawing/2014/main" id="{2F4F9D67-271A-A45D-D077-340C70E9BA55}"/>
              </a:ext>
            </a:extLst>
          </p:cNvPr>
          <p:cNvSpPr txBox="1"/>
          <p:nvPr/>
        </p:nvSpPr>
        <p:spPr>
          <a:xfrm>
            <a:off x="7123258" y="4731036"/>
            <a:ext cx="1476686" cy="461665"/>
          </a:xfrm>
          <a:prstGeom prst="rect">
            <a:avLst/>
          </a:prstGeom>
          <a:noFill/>
        </p:spPr>
        <p:txBody>
          <a:bodyPr wrap="square" rtlCol="0" anchor="ctr">
            <a:spAutoFit/>
          </a:bodyPr>
          <a:lstStyle/>
          <a:p>
            <a:pPr algn="r"/>
            <a:r>
              <a:rPr lang="en-US" sz="2400" b="1" dirty="0"/>
              <a:t>New:</a:t>
            </a:r>
          </a:p>
        </p:txBody>
      </p:sp>
      <p:graphicFrame>
        <p:nvGraphicFramePr>
          <p:cNvPr id="4" name="Table 7">
            <a:extLst>
              <a:ext uri="{FF2B5EF4-FFF2-40B4-BE49-F238E27FC236}">
                <a16:creationId xmlns:a16="http://schemas.microsoft.com/office/drawing/2014/main" id="{E67B8E94-2408-860F-32D9-0A20C1D051EF}"/>
              </a:ext>
            </a:extLst>
          </p:cNvPr>
          <p:cNvGraphicFramePr>
            <a:graphicFrameLocks noGrp="1"/>
          </p:cNvGraphicFramePr>
          <p:nvPr>
            <p:extLst>
              <p:ext uri="{D42A27DB-BD31-4B8C-83A1-F6EECF244321}">
                <p14:modId xmlns:p14="http://schemas.microsoft.com/office/powerpoint/2010/main" val="703539595"/>
              </p:ext>
            </p:extLst>
          </p:nvPr>
        </p:nvGraphicFramePr>
        <p:xfrm>
          <a:off x="8687634" y="4495800"/>
          <a:ext cx="3120788" cy="1318260"/>
        </p:xfrm>
        <a:graphic>
          <a:graphicData uri="http://schemas.openxmlformats.org/drawingml/2006/table">
            <a:tbl>
              <a:tblPr firstRow="1" bandRow="1">
                <a:tableStyleId>{073A0DAA-6AF3-43AB-8588-CEC1D06C72B9}</a:tableStyleId>
              </a:tblPr>
              <a:tblGrid>
                <a:gridCol w="1560394">
                  <a:extLst>
                    <a:ext uri="{9D8B030D-6E8A-4147-A177-3AD203B41FA5}">
                      <a16:colId xmlns:a16="http://schemas.microsoft.com/office/drawing/2014/main" val="1571447975"/>
                    </a:ext>
                  </a:extLst>
                </a:gridCol>
                <a:gridCol w="1560394">
                  <a:extLst>
                    <a:ext uri="{9D8B030D-6E8A-4147-A177-3AD203B41FA5}">
                      <a16:colId xmlns:a16="http://schemas.microsoft.com/office/drawing/2014/main" val="1550805326"/>
                    </a:ext>
                  </a:extLst>
                </a:gridCol>
              </a:tblGrid>
              <a:tr h="495300">
                <a:tc>
                  <a:txBody>
                    <a:bodyPr/>
                    <a:lstStyle/>
                    <a:p>
                      <a:pPr algn="ctr"/>
                      <a:r>
                        <a:rPr lang="en-US" sz="2400" dirty="0"/>
                        <a:t># Healthy</a:t>
                      </a:r>
                    </a:p>
                  </a:txBody>
                  <a:tcPr anchor="ctr"/>
                </a:tc>
                <a:tc>
                  <a:txBody>
                    <a:bodyPr/>
                    <a:lstStyle/>
                    <a:p>
                      <a:pPr algn="ctr"/>
                      <a:r>
                        <a:rPr lang="en-US" sz="2400" dirty="0"/>
                        <a:t># Sick</a:t>
                      </a:r>
                    </a:p>
                  </a:txBody>
                  <a:tcPr anchor="ctr"/>
                </a:tc>
                <a:extLst>
                  <a:ext uri="{0D108BD9-81ED-4DB2-BD59-A6C34878D82A}">
                    <a16:rowId xmlns:a16="http://schemas.microsoft.com/office/drawing/2014/main" val="2668513280"/>
                  </a:ext>
                </a:extLst>
              </a:tr>
              <a:tr h="495300">
                <a:tc>
                  <a:txBody>
                    <a:bodyPr/>
                    <a:lstStyle/>
                    <a:p>
                      <a:pPr algn="ctr"/>
                      <a:r>
                        <a:rPr lang="en-US" sz="2400" dirty="0"/>
                        <a:t>900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100+800 = 900</a:t>
                      </a:r>
                    </a:p>
                  </a:txBody>
                  <a:tcPr anchor="ctr"/>
                </a:tc>
                <a:extLst>
                  <a:ext uri="{0D108BD9-81ED-4DB2-BD59-A6C34878D82A}">
                    <a16:rowId xmlns:a16="http://schemas.microsoft.com/office/drawing/2014/main" val="2796125423"/>
                  </a:ext>
                </a:extLst>
              </a:tr>
            </a:tbl>
          </a:graphicData>
        </a:graphic>
      </p:graphicFrame>
    </p:spTree>
    <p:extLst>
      <p:ext uri="{BB962C8B-B14F-4D97-AF65-F5344CB8AC3E}">
        <p14:creationId xmlns:p14="http://schemas.microsoft.com/office/powerpoint/2010/main" val="193400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par>
                                <p:cTn id="20" presetID="10"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fade">
                                      <p:cBhvr>
                                        <p:cTn id="30" dur="500"/>
                                        <p:tgtEl>
                                          <p:spTgt spid="6">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9" grpId="0"/>
      <p:bldP spid="12" grpId="0"/>
      <p:bldP spid="13"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DF8C7-DB99-80B3-401D-09188956BB6E}"/>
              </a:ext>
            </a:extLst>
          </p:cNvPr>
          <p:cNvSpPr>
            <a:spLocks noGrp="1"/>
          </p:cNvSpPr>
          <p:nvPr>
            <p:ph type="title"/>
          </p:nvPr>
        </p:nvSpPr>
        <p:spPr/>
        <p:txBody>
          <a:bodyPr>
            <a:normAutofit/>
          </a:bodyPr>
          <a:lstStyle/>
          <a:p>
            <a:r>
              <a:rPr lang="en-US" dirty="0"/>
              <a:t>How Balanced Should The Dataset Be?</a:t>
            </a:r>
          </a:p>
        </p:txBody>
      </p:sp>
      <p:sp>
        <p:nvSpPr>
          <p:cNvPr id="3" name="Content Placeholder 2">
            <a:extLst>
              <a:ext uri="{FF2B5EF4-FFF2-40B4-BE49-F238E27FC236}">
                <a16:creationId xmlns:a16="http://schemas.microsoft.com/office/drawing/2014/main" id="{6512977F-2016-1387-B094-9AE2F1329C3C}"/>
              </a:ext>
            </a:extLst>
          </p:cNvPr>
          <p:cNvSpPr>
            <a:spLocks noGrp="1"/>
          </p:cNvSpPr>
          <p:nvPr>
            <p:ph idx="1"/>
          </p:nvPr>
        </p:nvSpPr>
        <p:spPr>
          <a:xfrm>
            <a:off x="609600" y="1600201"/>
            <a:ext cx="10972800" cy="4800599"/>
          </a:xfrm>
        </p:spPr>
        <p:txBody>
          <a:bodyPr>
            <a:normAutofit fontScale="77500" lnSpcReduction="20000"/>
          </a:bodyPr>
          <a:lstStyle/>
          <a:p>
            <a:r>
              <a:rPr lang="en-US" dirty="0"/>
              <a:t>There is no rule of thumb, but be reasonable</a:t>
            </a:r>
          </a:p>
          <a:p>
            <a:pPr marL="457200" indent="-457200">
              <a:buFont typeface="Arial" panose="020B0604020202020204" pitchFamily="34" charset="0"/>
              <a:buChar char="•"/>
            </a:pPr>
            <a:r>
              <a:rPr lang="en-US" dirty="0"/>
              <a:t>If most of your data is synthetic, then you aren’t learning from real data</a:t>
            </a:r>
          </a:p>
          <a:p>
            <a:pPr marL="457200" indent="-457200">
              <a:buFont typeface="Arial" panose="020B0604020202020204" pitchFamily="34" charset="0"/>
              <a:buChar char="•"/>
            </a:pPr>
            <a:r>
              <a:rPr lang="en-US" dirty="0"/>
              <a:t>If you remove too much data, your claims about accuracy will be weaker</a:t>
            </a:r>
          </a:p>
          <a:p>
            <a:pPr marL="457200" indent="-457200">
              <a:buFont typeface="Arial" panose="020B0604020202020204" pitchFamily="34" charset="0"/>
              <a:buChar char="•"/>
            </a:pPr>
            <a:endParaRPr lang="en-US" dirty="0"/>
          </a:p>
          <a:p>
            <a:r>
              <a:rPr lang="en-US" dirty="0"/>
              <a:t>Many people use </a:t>
            </a:r>
            <a:r>
              <a:rPr lang="en-US" dirty="0" err="1"/>
              <a:t>undersampling</a:t>
            </a:r>
            <a:r>
              <a:rPr lang="en-US" dirty="0"/>
              <a:t> + oversampling to achieve a happy middle-ground</a:t>
            </a:r>
          </a:p>
          <a:p>
            <a:endParaRPr lang="en-US" dirty="0"/>
          </a:p>
          <a:p>
            <a:r>
              <a:rPr lang="en-US" dirty="0"/>
              <a:t>Pay attention to the balance of all dataset splits</a:t>
            </a:r>
          </a:p>
          <a:p>
            <a:pPr marL="457200" indent="-457200">
              <a:buFont typeface="Arial" panose="020B0604020202020204" pitchFamily="34" charset="0"/>
              <a:buChar char="•"/>
            </a:pPr>
            <a:r>
              <a:rPr lang="en-US" dirty="0">
                <a:latin typeface="Avenir Book" panose="02000503020000020003" pitchFamily="2" charset="0"/>
              </a:rPr>
              <a:t>If your train split only includes healthy patients and your test split only includes sick patients, then you will get bad performance</a:t>
            </a:r>
          </a:p>
          <a:p>
            <a:pPr marL="457200" indent="-457200">
              <a:buFont typeface="Arial" panose="020B0604020202020204" pitchFamily="34" charset="0"/>
              <a:buChar char="•"/>
            </a:pPr>
            <a:r>
              <a:rPr lang="en-US" dirty="0">
                <a:latin typeface="Avenir Book" panose="02000503020000020003" pitchFamily="2" charset="0"/>
              </a:rPr>
              <a:t>This problem becomes more apparent as your dataset and splits become smaller</a:t>
            </a:r>
          </a:p>
        </p:txBody>
      </p:sp>
    </p:spTree>
    <p:extLst>
      <p:ext uri="{BB962C8B-B14F-4D97-AF65-F5344CB8AC3E}">
        <p14:creationId xmlns:p14="http://schemas.microsoft.com/office/powerpoint/2010/main" val="3243891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C3980-C0E7-0A5D-F0C8-8086D53B2C45}"/>
              </a:ext>
            </a:extLst>
          </p:cNvPr>
          <p:cNvSpPr>
            <a:spLocks noGrp="1"/>
          </p:cNvSpPr>
          <p:nvPr>
            <p:ph type="title"/>
          </p:nvPr>
        </p:nvSpPr>
        <p:spPr/>
        <p:txBody>
          <a:bodyPr>
            <a:normAutofit/>
          </a:bodyPr>
          <a:lstStyle/>
          <a:p>
            <a:r>
              <a:rPr lang="en-US" dirty="0"/>
              <a:t>When Should We Balance The Dataset?</a:t>
            </a:r>
          </a:p>
        </p:txBody>
      </p:sp>
      <p:sp>
        <p:nvSpPr>
          <p:cNvPr id="10" name="Content Placeholder 5">
            <a:extLst>
              <a:ext uri="{FF2B5EF4-FFF2-40B4-BE49-F238E27FC236}">
                <a16:creationId xmlns:a16="http://schemas.microsoft.com/office/drawing/2014/main" id="{46EC5F7D-145E-FCB7-84B5-FDDC00433190}"/>
              </a:ext>
            </a:extLst>
          </p:cNvPr>
          <p:cNvSpPr>
            <a:spLocks noGrp="1"/>
          </p:cNvSpPr>
          <p:nvPr>
            <p:ph idx="1"/>
          </p:nvPr>
        </p:nvSpPr>
        <p:spPr>
          <a:xfrm>
            <a:off x="609600" y="1600201"/>
            <a:ext cx="10972800" cy="4983161"/>
          </a:xfrm>
        </p:spPr>
        <p:txBody>
          <a:bodyPr>
            <a:normAutofit/>
          </a:bodyPr>
          <a:lstStyle/>
          <a:p>
            <a:r>
              <a:rPr lang="en-US" sz="2800" dirty="0" err="1"/>
              <a:t>Undersampling</a:t>
            </a:r>
            <a:r>
              <a:rPr lang="en-US" sz="2800" dirty="0"/>
              <a:t> can be done before or after splitting</a:t>
            </a:r>
          </a:p>
          <a:p>
            <a:pPr marL="457200" indent="-457200">
              <a:buFont typeface="Arial" panose="020B0604020202020204" pitchFamily="34" charset="0"/>
              <a:buChar char="•"/>
            </a:pPr>
            <a:r>
              <a:rPr lang="en-US" sz="2800" dirty="0"/>
              <a:t>We aren’t creating new data, so removing before or after splitting doesn’t matter</a:t>
            </a:r>
          </a:p>
          <a:p>
            <a:endParaRPr lang="en-US" sz="2800" dirty="0"/>
          </a:p>
          <a:p>
            <a:r>
              <a:rPr lang="en-US" sz="2800" dirty="0"/>
              <a:t>Synthetic oversampling should be done </a:t>
            </a:r>
            <a:r>
              <a:rPr lang="en-US" sz="2800" b="1" u="sng" dirty="0"/>
              <a:t>after</a:t>
            </a:r>
            <a:r>
              <a:rPr lang="en-US" sz="2800" dirty="0"/>
              <a:t> splitting</a:t>
            </a:r>
          </a:p>
          <a:p>
            <a:pPr marL="457200" indent="-457200">
              <a:buFont typeface="Arial" panose="020B0604020202020204" pitchFamily="34" charset="0"/>
              <a:buChar char="•"/>
            </a:pPr>
            <a:r>
              <a:rPr lang="en-US" sz="2800" dirty="0"/>
              <a:t>We are using existing data to generate new data, and we should never look at our test split until the very end</a:t>
            </a:r>
          </a:p>
          <a:p>
            <a:pPr marL="457200" indent="-457200">
              <a:buFont typeface="Arial" panose="020B0604020202020204" pitchFamily="34" charset="0"/>
              <a:buChar char="•"/>
            </a:pPr>
            <a:r>
              <a:rPr lang="en-US" sz="2800" dirty="0"/>
              <a:t>If we replicate new data and then split, then copies of the same sample can be in both train and test</a:t>
            </a:r>
          </a:p>
        </p:txBody>
      </p:sp>
    </p:spTree>
    <p:extLst>
      <p:ext uri="{BB962C8B-B14F-4D97-AF65-F5344CB8AC3E}">
        <p14:creationId xmlns:p14="http://schemas.microsoft.com/office/powerpoint/2010/main" val="311083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fade">
                                      <p:cBhvr>
                                        <p:cTn id="10" dur="500"/>
                                        <p:tgtEl>
                                          <p:spTgt spid="1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fade">
                                      <p:cBhvr>
                                        <p:cTn id="15" dur="500"/>
                                        <p:tgtEl>
                                          <p:spTgt spid="10">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4" end="4"/>
                                            </p:txEl>
                                          </p:spTgt>
                                        </p:tgtEl>
                                        <p:attrNameLst>
                                          <p:attrName>style.visibility</p:attrName>
                                        </p:attrNameLst>
                                      </p:cBhvr>
                                      <p:to>
                                        <p:strVal val="visible"/>
                                      </p:to>
                                    </p:set>
                                    <p:animEffect transition="in" filter="fade">
                                      <p:cBhvr>
                                        <p:cTn id="18" dur="500"/>
                                        <p:tgtEl>
                                          <p:spTgt spid="10">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animEffect transition="in" filter="fade">
                                      <p:cBhvr>
                                        <p:cTn id="21"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65744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2" nodeType="with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grpId="2" nodeType="withEffect">
                                  <p:stCondLst>
                                    <p:cond delay="0"/>
                                  </p:stCondLst>
                                  <p:childTnLst>
                                    <p:set>
                                      <p:cBhvr>
                                        <p:cTn id="9" dur="indefinite"/>
                                        <p:tgtEl>
                                          <p:spTgt spid="3">
                                            <p:txEl>
                                              <p:pRg st="1" end="1"/>
                                            </p:txEl>
                                          </p:spTgt>
                                        </p:tgtEl>
                                        <p:attrNameLst>
                                          <p:attrName>style.opacity</p:attrName>
                                        </p:attrNameLst>
                                      </p:cBhvr>
                                      <p:to>
                                        <p:strVal val="0.25"/>
                                      </p:to>
                                    </p:set>
                                    <p:animEffect filter="image" prLst="opacity: 0.25">
                                      <p:cBhvr rctx="IE">
                                        <p:cTn id="10" dur="indefinite"/>
                                        <p:tgtEl>
                                          <p:spTgt spid="3">
                                            <p:txEl>
                                              <p:pRg st="1" end="1"/>
                                            </p:txEl>
                                          </p:spTgt>
                                        </p:tgtEl>
                                      </p:cBhvr>
                                    </p:animEffect>
                                  </p:childTnLst>
                                </p:cTn>
                              </p:par>
                              <p:par>
                                <p:cTn id="11" presetID="9" presetClass="emph" presetSubtype="0" grpId="2" nodeType="withEffect">
                                  <p:stCondLst>
                                    <p:cond delay="0"/>
                                  </p:stCondLst>
                                  <p:childTnLst>
                                    <p:set>
                                      <p:cBhvr>
                                        <p:cTn id="12" dur="indefinite"/>
                                        <p:tgtEl>
                                          <p:spTgt spid="3">
                                            <p:txEl>
                                              <p:pRg st="2" end="2"/>
                                            </p:txEl>
                                          </p:spTgt>
                                        </p:tgtEl>
                                        <p:attrNameLst>
                                          <p:attrName>style.opacity</p:attrName>
                                        </p:attrNameLst>
                                      </p:cBhvr>
                                      <p:to>
                                        <p:strVal val="0.25"/>
                                      </p:to>
                                    </p:set>
                                    <p:animEffect filter="image" prLst="opacity: 0.25">
                                      <p:cBhvr rctx="IE">
                                        <p:cTn id="13" dur="indefinite"/>
                                        <p:tgtEl>
                                          <p:spTgt spid="3">
                                            <p:txEl>
                                              <p:pRg st="2" end="2"/>
                                            </p:txEl>
                                          </p:spTgt>
                                        </p:tgtEl>
                                      </p:cBhvr>
                                    </p:animEffect>
                                  </p:childTnLst>
                                </p:cTn>
                              </p:par>
                              <p:par>
                                <p:cTn id="14" presetID="9" presetClass="emph" presetSubtype="0" grpId="2" nodeType="withEffect">
                                  <p:stCondLst>
                                    <p:cond delay="0"/>
                                  </p:stCondLst>
                                  <p:childTnLst>
                                    <p:set>
                                      <p:cBhvr>
                                        <p:cTn id="15" dur="indefinite"/>
                                        <p:tgtEl>
                                          <p:spTgt spid="3">
                                            <p:txEl>
                                              <p:pRg st="3" end="3"/>
                                            </p:txEl>
                                          </p:spTgt>
                                        </p:tgtEl>
                                        <p:attrNameLst>
                                          <p:attrName>style.opacity</p:attrName>
                                        </p:attrNameLst>
                                      </p:cBhvr>
                                      <p:to>
                                        <p:strVal val="0.25"/>
                                      </p:to>
                                    </p:set>
                                    <p:animEffect filter="image" prLst="opacity: 0.25">
                                      <p:cBhvr rctx="IE">
                                        <p:cTn id="16" dur="indefinite"/>
                                        <p:tgtEl>
                                          <p:spTgt spid="3">
                                            <p:txEl>
                                              <p:pRg st="3" end="3"/>
                                            </p:txEl>
                                          </p:spTgt>
                                        </p:tgtEl>
                                      </p:cBhvr>
                                    </p:animEffect>
                                  </p:childTnLst>
                                </p:cTn>
                              </p:par>
                              <p:par>
                                <p:cTn id="17" presetID="9" presetClass="emph" presetSubtype="0" grpId="2" nodeType="withEffect">
                                  <p:stCondLst>
                                    <p:cond delay="0"/>
                                  </p:stCondLst>
                                  <p:childTnLst>
                                    <p:set>
                                      <p:cBhvr>
                                        <p:cTn id="18" dur="indefinite"/>
                                        <p:tgtEl>
                                          <p:spTgt spid="3">
                                            <p:txEl>
                                              <p:pRg st="5" end="5"/>
                                            </p:txEl>
                                          </p:spTgt>
                                        </p:tgtEl>
                                        <p:attrNameLst>
                                          <p:attrName>style.opacity</p:attrName>
                                        </p:attrNameLst>
                                      </p:cBhvr>
                                      <p:to>
                                        <p:strVal val="0.25"/>
                                      </p:to>
                                    </p:set>
                                    <p:animEffect filter="image" prLst="opacity: 0.25">
                                      <p:cBhvr rctx="IE">
                                        <p:cTn id="19" dur="indefinite"/>
                                        <p:tgtEl>
                                          <p:spTgt spid="3">
                                            <p:txEl>
                                              <p:pRg st="5" end="5"/>
                                            </p:txEl>
                                          </p:spTgt>
                                        </p:tgtEl>
                                      </p:cBhvr>
                                    </p:animEffect>
                                  </p:childTnLst>
                                </p:cTn>
                              </p:par>
                              <p:par>
                                <p:cTn id="20" presetID="9" presetClass="emph" presetSubtype="0" grpId="2" nodeType="withEffect">
                                  <p:stCondLst>
                                    <p:cond delay="0"/>
                                  </p:stCondLst>
                                  <p:childTnLst>
                                    <p:set>
                                      <p:cBhvr>
                                        <p:cTn id="21" dur="indefinite"/>
                                        <p:tgtEl>
                                          <p:spTgt spid="3">
                                            <p:txEl>
                                              <p:pRg st="6" end="6"/>
                                            </p:txEl>
                                          </p:spTgt>
                                        </p:tgtEl>
                                        <p:attrNameLst>
                                          <p:attrName>style.opacity</p:attrName>
                                        </p:attrNameLst>
                                      </p:cBhvr>
                                      <p:to>
                                        <p:strVal val="0.25"/>
                                      </p:to>
                                    </p:set>
                                    <p:animEffect filter="image" prLst="opacity: 0.25">
                                      <p:cBhvr rctx="IE">
                                        <p:cTn id="22" dur="indefinite"/>
                                        <p:tgtEl>
                                          <p:spTgt spid="3">
                                            <p:txEl>
                                              <p:pRg st="6" end="6"/>
                                            </p:txEl>
                                          </p:spTgt>
                                        </p:tgtEl>
                                      </p:cBhvr>
                                    </p:animEffect>
                                  </p:childTnLst>
                                </p:cTn>
                              </p:par>
                              <p:par>
                                <p:cTn id="23" presetID="9" presetClass="emph" presetSubtype="0" grpId="2" nodeType="withEffect">
                                  <p:stCondLst>
                                    <p:cond delay="0"/>
                                  </p:stCondLst>
                                  <p:childTnLst>
                                    <p:set>
                                      <p:cBhvr>
                                        <p:cTn id="24" dur="indefinite"/>
                                        <p:tgtEl>
                                          <p:spTgt spid="3">
                                            <p:txEl>
                                              <p:pRg st="7" end="7"/>
                                            </p:txEl>
                                          </p:spTgt>
                                        </p:tgtEl>
                                        <p:attrNameLst>
                                          <p:attrName>style.opacity</p:attrName>
                                        </p:attrNameLst>
                                      </p:cBhvr>
                                      <p:to>
                                        <p:strVal val="0.25"/>
                                      </p:to>
                                    </p:set>
                                    <p:animEffect filter="image" prLst="opacity: 0.25">
                                      <p:cBhvr rctx="IE">
                                        <p:cTn id="25" dur="indefinite"/>
                                        <p:tgtEl>
                                          <p:spTgt spid="3">
                                            <p:txEl>
                                              <p:pRg st="7" end="7"/>
                                            </p:txEl>
                                          </p:spTgt>
                                        </p:tgtEl>
                                      </p:cBhvr>
                                    </p:animEffect>
                                  </p:childTnLst>
                                </p:cTn>
                              </p:par>
                              <p:par>
                                <p:cTn id="26" presetID="9" presetClass="emph" presetSubtype="0" grpId="2" nodeType="withEffect">
                                  <p:stCondLst>
                                    <p:cond delay="0"/>
                                  </p:stCondLst>
                                  <p:childTnLst>
                                    <p:set>
                                      <p:cBhvr>
                                        <p:cTn id="27" dur="indefinite"/>
                                        <p:tgtEl>
                                          <p:spTgt spid="3">
                                            <p:txEl>
                                              <p:pRg st="8" end="8"/>
                                            </p:txEl>
                                          </p:spTgt>
                                        </p:tgtEl>
                                        <p:attrNameLst>
                                          <p:attrName>style.opacity</p:attrName>
                                        </p:attrNameLst>
                                      </p:cBhvr>
                                      <p:to>
                                        <p:strVal val="0.25"/>
                                      </p:to>
                                    </p:set>
                                    <p:animEffect filter="image" prLst="opacity: 0.25">
                                      <p:cBhvr rctx="IE">
                                        <p:cTn id="28" dur="indefinite"/>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1" nodeType="clickEffect">
                                  <p:stCondLst>
                                    <p:cond delay="0"/>
                                  </p:stCondLst>
                                  <p:childTnLst>
                                    <p:set>
                                      <p:cBhvr>
                                        <p:cTn id="32" dur="indefinite"/>
                                        <p:tgtEl>
                                          <p:spTgt spid="3">
                                            <p:txEl>
                                              <p:pRg st="4" end="4"/>
                                            </p:txEl>
                                          </p:spTgt>
                                        </p:tgtEl>
                                        <p:attrNameLst>
                                          <p:attrName>style.opacity</p:attrName>
                                        </p:attrNameLst>
                                      </p:cBhvr>
                                      <p:to>
                                        <p:strVal val="0.25"/>
                                      </p:to>
                                    </p:set>
                                    <p:animEffect filter="image" prLst="opacity: 0.25">
                                      <p:cBhvr rctx="IE">
                                        <p:cTn id="33" dur="indefinite"/>
                                        <p:tgtEl>
                                          <p:spTgt spid="3">
                                            <p:txEl>
                                              <p:pRg st="4" end="4"/>
                                            </p:txEl>
                                          </p:spTgt>
                                        </p:tgtEl>
                                      </p:cBhvr>
                                    </p:animEffect>
                                  </p:childTnLst>
                                </p:cTn>
                              </p:par>
                              <p:par>
                                <p:cTn id="34" presetID="9" presetClass="emph" presetSubtype="0" grpId="1" nodeType="withEffect">
                                  <p:stCondLst>
                                    <p:cond delay="0"/>
                                  </p:stCondLst>
                                  <p:childTnLst>
                                    <p:set>
                                      <p:cBhvr>
                                        <p:cTn id="35" dur="indefinite"/>
                                        <p:tgtEl>
                                          <p:spTgt spid="3">
                                            <p:txEl>
                                              <p:pRg st="5" end="5"/>
                                            </p:txEl>
                                          </p:spTgt>
                                        </p:tgtEl>
                                        <p:attrNameLst>
                                          <p:attrName>style.opacity</p:attrName>
                                        </p:attrNameLst>
                                      </p:cBhvr>
                                      <p:to>
                                        <p:strVal val="1"/>
                                      </p:to>
                                    </p:set>
                                    <p:animEffect filter="image" prLst="opacity: 1">
                                      <p:cBhvr rctx="IE">
                                        <p:cTn id="36"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build="p"/>
      <p:bldP spid="3" grpId="2"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078B7-4422-D8F6-3A15-424BC5F59670}"/>
              </a:ext>
            </a:extLst>
          </p:cNvPr>
          <p:cNvSpPr>
            <a:spLocks noGrp="1"/>
          </p:cNvSpPr>
          <p:nvPr>
            <p:ph type="title"/>
          </p:nvPr>
        </p:nvSpPr>
        <p:spPr/>
        <p:txBody>
          <a:bodyPr/>
          <a:lstStyle/>
          <a:p>
            <a:r>
              <a:rPr lang="en-US" dirty="0"/>
              <a:t>Regression: Linear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B89D0A-533A-AFC3-BA29-C41D74D344D5}"/>
                  </a:ext>
                </a:extLst>
              </p:cNvPr>
              <p:cNvSpPr>
                <a:spLocks noGrp="1"/>
              </p:cNvSpPr>
              <p:nvPr>
                <p:ph idx="1"/>
              </p:nvPr>
            </p:nvSpPr>
            <p:spPr>
              <a:xfrm>
                <a:off x="609600" y="1600202"/>
                <a:ext cx="10972800" cy="1112087"/>
              </a:xfrm>
            </p:spPr>
            <p:txBody>
              <a:bodyPr/>
              <a:lstStyle/>
              <a:p>
                <a:r>
                  <a:rPr lang="en-US" dirty="0">
                    <a:latin typeface="Avenir Book" panose="02000503020000020003" pitchFamily="2" charset="0"/>
                  </a:rPr>
                  <a:t>Maps a linear combination of features to a continuous </a:t>
                </a:r>
                <a:br>
                  <a:rPr lang="en-US" dirty="0">
                    <a:latin typeface="Avenir Book" panose="02000503020000020003" pitchFamily="2" charset="0"/>
                  </a:rPr>
                </a:br>
                <a:r>
                  <a:rPr lang="en-US" dirty="0">
                    <a:latin typeface="Avenir Book" panose="02000503020000020003" pitchFamily="2" charset="0"/>
                  </a:rPr>
                  <a:t>label </a:t>
                </a:r>
                <a14:m>
                  <m:oMath xmlns:m="http://schemas.openxmlformats.org/officeDocument/2006/math">
                    <m:d>
                      <m:dPr>
                        <m:ctrlPr>
                          <a:rPr lang="mr-IN" i="1">
                            <a:latin typeface="Cambria Math" panose="02040503050406030204" pitchFamily="18" charset="0"/>
                          </a:rPr>
                        </m:ctrlPr>
                      </m:dPr>
                      <m:e>
                        <m:r>
                          <a:rPr lang="en-US" i="1">
                            <a:latin typeface="Cambria Math" charset="0"/>
                          </a:rPr>
                          <m:t>−</m:t>
                        </m:r>
                        <m:r>
                          <a:rPr lang="mr-IN" i="1">
                            <a:latin typeface="Cambria Math" charset="0"/>
                            <a:ea typeface="Cambria Math" charset="0"/>
                            <a:cs typeface="Cambria Math" charset="0"/>
                          </a:rPr>
                          <m:t>∞</m:t>
                        </m:r>
                        <m:r>
                          <a:rPr lang="en-US" i="1">
                            <a:latin typeface="Cambria Math" charset="0"/>
                            <a:ea typeface="Cambria Math" charset="0"/>
                            <a:cs typeface="Cambria Math" charset="0"/>
                          </a:rPr>
                          <m:t>, ∞</m:t>
                        </m:r>
                      </m:e>
                    </m:d>
                  </m:oMath>
                </a14:m>
                <a:endParaRPr lang="en-US" dirty="0">
                  <a:latin typeface="Avenir Book" panose="02000503020000020003" pitchFamily="2" charset="0"/>
                </a:endParaRPr>
              </a:p>
            </p:txBody>
          </p:sp>
        </mc:Choice>
        <mc:Fallback xmlns="">
          <p:sp>
            <p:nvSpPr>
              <p:cNvPr id="3" name="Content Placeholder 2">
                <a:extLst>
                  <a:ext uri="{FF2B5EF4-FFF2-40B4-BE49-F238E27FC236}">
                    <a16:creationId xmlns:a16="http://schemas.microsoft.com/office/drawing/2014/main" id="{9FB89D0A-533A-AFC3-BA29-C41D74D344D5}"/>
                  </a:ext>
                </a:extLst>
              </p:cNvPr>
              <p:cNvSpPr>
                <a:spLocks noGrp="1" noRot="1" noChangeAspect="1" noMove="1" noResize="1" noEditPoints="1" noAdjustHandles="1" noChangeArrowheads="1" noChangeShapeType="1" noTextEdit="1"/>
              </p:cNvSpPr>
              <p:nvPr>
                <p:ph idx="1"/>
              </p:nvPr>
            </p:nvSpPr>
            <p:spPr>
              <a:xfrm>
                <a:off x="609600" y="1600202"/>
                <a:ext cx="10972800" cy="1112087"/>
              </a:xfrm>
              <a:blipFill>
                <a:blip r:embed="rId2"/>
                <a:stretch>
                  <a:fillRect l="-1387" t="-5682" b="-15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0A821D9-C60A-833D-2D5B-AC2C7162F35E}"/>
                  </a:ext>
                </a:extLst>
              </p:cNvPr>
              <p:cNvSpPr txBox="1"/>
              <p:nvPr/>
            </p:nvSpPr>
            <p:spPr>
              <a:xfrm>
                <a:off x="3435015" y="2743200"/>
                <a:ext cx="5321970"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a:latin typeface="Cambria Math" charset="0"/>
                        </a:rPr>
                        <m:t>𝑦</m:t>
                      </m:r>
                      <m:r>
                        <a:rPr lang="en-US" sz="3600" i="1">
                          <a:latin typeface="Cambria Math" charset="0"/>
                        </a:rPr>
                        <m:t>= </m:t>
                      </m:r>
                      <m:sSub>
                        <m:sSubPr>
                          <m:ctrlPr>
                            <a:rPr lang="en-US" sz="3600" i="1">
                              <a:latin typeface="Cambria Math" panose="02040503050406030204" pitchFamily="18" charset="0"/>
                            </a:rPr>
                          </m:ctrlPr>
                        </m:sSubPr>
                        <m:e>
                          <m:r>
                            <a:rPr lang="en-US" sz="3600" i="1">
                              <a:latin typeface="Cambria Math" charset="0"/>
                            </a:rPr>
                            <m:t>𝑤</m:t>
                          </m:r>
                        </m:e>
                        <m:sub>
                          <m:r>
                            <a:rPr lang="en-US" sz="3600" i="1">
                              <a:latin typeface="Cambria Math" charset="0"/>
                            </a:rPr>
                            <m:t>1</m:t>
                          </m:r>
                        </m:sub>
                      </m:sSub>
                      <m:sSub>
                        <m:sSubPr>
                          <m:ctrlPr>
                            <a:rPr lang="en-US" sz="3600" i="1">
                              <a:latin typeface="Cambria Math" panose="02040503050406030204" pitchFamily="18" charset="0"/>
                            </a:rPr>
                          </m:ctrlPr>
                        </m:sSubPr>
                        <m:e>
                          <m:r>
                            <a:rPr lang="en-US" sz="3600" i="1">
                              <a:latin typeface="Cambria Math" charset="0"/>
                            </a:rPr>
                            <m:t>𝑥</m:t>
                          </m:r>
                        </m:e>
                        <m:sub>
                          <m:r>
                            <a:rPr lang="en-US" sz="3600" i="1">
                              <a:latin typeface="Cambria Math" charset="0"/>
                            </a:rPr>
                            <m:t>1</m:t>
                          </m:r>
                        </m:sub>
                      </m:sSub>
                      <m:r>
                        <a:rPr lang="en-US" sz="3600" i="1">
                          <a:latin typeface="Cambria Math" charset="0"/>
                        </a:rPr>
                        <m:t>+</m:t>
                      </m:r>
                      <m:sSub>
                        <m:sSubPr>
                          <m:ctrlPr>
                            <a:rPr lang="en-US" sz="3600" i="1">
                              <a:latin typeface="Cambria Math" panose="02040503050406030204" pitchFamily="18" charset="0"/>
                            </a:rPr>
                          </m:ctrlPr>
                        </m:sSubPr>
                        <m:e>
                          <m:r>
                            <a:rPr lang="en-US" sz="3600" i="1">
                              <a:latin typeface="Cambria Math" charset="0"/>
                            </a:rPr>
                            <m:t>𝑤</m:t>
                          </m:r>
                        </m:e>
                        <m:sub>
                          <m:r>
                            <a:rPr lang="en-US" sz="3600" i="1">
                              <a:latin typeface="Cambria Math" charset="0"/>
                            </a:rPr>
                            <m:t>2</m:t>
                          </m:r>
                        </m:sub>
                      </m:sSub>
                      <m:sSub>
                        <m:sSubPr>
                          <m:ctrlPr>
                            <a:rPr lang="en-US" sz="3600" i="1">
                              <a:latin typeface="Cambria Math" panose="02040503050406030204" pitchFamily="18" charset="0"/>
                            </a:rPr>
                          </m:ctrlPr>
                        </m:sSubPr>
                        <m:e>
                          <m:r>
                            <a:rPr lang="en-US" sz="3600" i="1">
                              <a:latin typeface="Cambria Math" charset="0"/>
                            </a:rPr>
                            <m:t>𝑥</m:t>
                          </m:r>
                        </m:e>
                        <m:sub>
                          <m:r>
                            <a:rPr lang="en-US" sz="3600" i="1">
                              <a:latin typeface="Cambria Math" charset="0"/>
                            </a:rPr>
                            <m:t>2</m:t>
                          </m:r>
                        </m:sub>
                      </m:sSub>
                      <m:r>
                        <a:rPr lang="en-US" sz="3600" i="1">
                          <a:latin typeface="Cambria Math" charset="0"/>
                        </a:rPr>
                        <m:t>+…+</m:t>
                      </m:r>
                      <m:r>
                        <a:rPr lang="en-US" sz="3600" i="1">
                          <a:latin typeface="Cambria Math" charset="0"/>
                        </a:rPr>
                        <m:t>𝑏</m:t>
                      </m:r>
                    </m:oMath>
                  </m:oMathPara>
                </a14:m>
                <a:endParaRPr lang="en-US" sz="3600" dirty="0">
                  <a:latin typeface="Avenir Book" panose="02000503020000020003" pitchFamily="2" charset="0"/>
                </a:endParaRPr>
              </a:p>
            </p:txBody>
          </p:sp>
        </mc:Choice>
        <mc:Fallback xmlns="">
          <p:sp>
            <p:nvSpPr>
              <p:cNvPr id="5" name="TextBox 4">
                <a:extLst>
                  <a:ext uri="{FF2B5EF4-FFF2-40B4-BE49-F238E27FC236}">
                    <a16:creationId xmlns:a16="http://schemas.microsoft.com/office/drawing/2014/main" id="{70A821D9-C60A-833D-2D5B-AC2C7162F35E}"/>
                  </a:ext>
                </a:extLst>
              </p:cNvPr>
              <p:cNvSpPr txBox="1">
                <a:spLocks noRot="1" noChangeAspect="1" noMove="1" noResize="1" noEditPoints="1" noAdjustHandles="1" noChangeArrowheads="1" noChangeShapeType="1" noTextEdit="1"/>
              </p:cNvSpPr>
              <p:nvPr/>
            </p:nvSpPr>
            <p:spPr>
              <a:xfrm>
                <a:off x="3435015" y="2743200"/>
                <a:ext cx="5321970" cy="553998"/>
              </a:xfrm>
              <a:prstGeom prst="rect">
                <a:avLst/>
              </a:prstGeom>
              <a:blipFill>
                <a:blip r:embed="rId3"/>
                <a:stretch>
                  <a:fillRect l="-1429" t="-11364" r="-1429" b="-36364"/>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BDB01007-CD85-E278-E9DC-DE34270AFE16}"/>
              </a:ext>
            </a:extLst>
          </p:cNvPr>
          <p:cNvGrpSpPr/>
          <p:nvPr/>
        </p:nvGrpSpPr>
        <p:grpSpPr>
          <a:xfrm>
            <a:off x="3036595" y="3360783"/>
            <a:ext cx="5878806" cy="3268618"/>
            <a:chOff x="3036595" y="3360783"/>
            <a:chExt cx="5878806" cy="3268618"/>
          </a:xfrm>
        </p:grpSpPr>
        <p:grpSp>
          <p:nvGrpSpPr>
            <p:cNvPr id="6" name="Group 5">
              <a:extLst>
                <a:ext uri="{FF2B5EF4-FFF2-40B4-BE49-F238E27FC236}">
                  <a16:creationId xmlns:a16="http://schemas.microsoft.com/office/drawing/2014/main" id="{C3B8DDF9-B402-9A7E-BF02-6F283F75B609}"/>
                </a:ext>
              </a:extLst>
            </p:cNvPr>
            <p:cNvGrpSpPr/>
            <p:nvPr/>
          </p:nvGrpSpPr>
          <p:grpSpPr>
            <a:xfrm>
              <a:off x="3503220" y="6167736"/>
              <a:ext cx="5412181" cy="461665"/>
              <a:chOff x="1066800" y="5331767"/>
              <a:chExt cx="7429152" cy="461665"/>
            </a:xfrm>
          </p:grpSpPr>
          <p:cxnSp>
            <p:nvCxnSpPr>
              <p:cNvPr id="7" name="Straight Connector 6">
                <a:extLst>
                  <a:ext uri="{FF2B5EF4-FFF2-40B4-BE49-F238E27FC236}">
                    <a16:creationId xmlns:a16="http://schemas.microsoft.com/office/drawing/2014/main" id="{3E79A3FA-777E-1214-433E-6EB9E8D41B57}"/>
                  </a:ext>
                </a:extLst>
              </p:cNvPr>
              <p:cNvCxnSpPr/>
              <p:nvPr/>
            </p:nvCxnSpPr>
            <p:spPr>
              <a:xfrm flipH="1">
                <a:off x="1066800" y="5562600"/>
                <a:ext cx="6781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BA48E8D-9DAC-3E5F-BF64-ACB5D18D9EF5}"/>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latin typeface="Cambria Math" charset="0"/>
                              <a:ea typeface="Avenir Book" charset="0"/>
                              <a:cs typeface="Avenir Book" charset="0"/>
                            </a:rPr>
                            <m:t>𝑥</m:t>
                          </m:r>
                        </m:oMath>
                      </m:oMathPara>
                    </a14:m>
                    <a:endParaRPr lang="en-US" sz="2400" dirty="0">
                      <a:latin typeface="Avenir Book" panose="02000503020000020003" pitchFamily="2" charset="0"/>
                      <a:ea typeface="Avenir Book" charset="0"/>
                      <a:cs typeface="Avenir Book"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a:blip r:embed="rId4"/>
                    <a:stretch>
                      <a:fillRect/>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08E8024A-8ECD-C34E-AB48-93BB3E6B95B0}"/>
                </a:ext>
              </a:extLst>
            </p:cNvPr>
            <p:cNvGrpSpPr/>
            <p:nvPr/>
          </p:nvGrpSpPr>
          <p:grpSpPr>
            <a:xfrm>
              <a:off x="3036595" y="3360783"/>
              <a:ext cx="933248" cy="3044929"/>
              <a:chOff x="4105376" y="1980618"/>
              <a:chExt cx="933248" cy="4496382"/>
            </a:xfrm>
          </p:grpSpPr>
          <p:cxnSp>
            <p:nvCxnSpPr>
              <p:cNvPr id="10" name="Straight Connector 9">
                <a:extLst>
                  <a:ext uri="{FF2B5EF4-FFF2-40B4-BE49-F238E27FC236}">
                    <a16:creationId xmlns:a16="http://schemas.microsoft.com/office/drawing/2014/main" id="{FC02F862-E831-3EDF-753A-67439F20A2D2}"/>
                  </a:ext>
                </a:extLst>
              </p:cNvPr>
              <p:cNvCxnSpPr/>
              <p:nvPr/>
            </p:nvCxnSpPr>
            <p:spPr>
              <a:xfrm>
                <a:off x="4572000" y="2662347"/>
                <a:ext cx="0" cy="38146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D49F5E0-20E5-E14E-5FF3-8E1D3E5BF043}"/>
                      </a:ext>
                    </a:extLst>
                  </p:cNvPr>
                  <p:cNvSpPr txBox="1"/>
                  <p:nvPr/>
                </p:nvSpPr>
                <p:spPr>
                  <a:xfrm>
                    <a:off x="4105376" y="1980618"/>
                    <a:ext cx="933248" cy="6817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latin typeface="Cambria Math" charset="0"/>
                              <a:ea typeface="Avenir Book" charset="0"/>
                              <a:cs typeface="Avenir Book" charset="0"/>
                            </a:rPr>
                            <m:t>𝑓</m:t>
                          </m:r>
                          <m:r>
                            <a:rPr lang="en-US" sz="2400" i="1">
                              <a:latin typeface="Cambria Math" charset="0"/>
                              <a:ea typeface="Avenir Book" charset="0"/>
                              <a:cs typeface="Avenir Book" charset="0"/>
                            </a:rPr>
                            <m:t>(</m:t>
                          </m:r>
                          <m:r>
                            <a:rPr lang="en-US" sz="2400" i="1">
                              <a:latin typeface="Cambria Math" charset="0"/>
                              <a:ea typeface="Avenir Book" charset="0"/>
                              <a:cs typeface="Avenir Book" charset="0"/>
                            </a:rPr>
                            <m:t>𝑥</m:t>
                          </m:r>
                          <m:r>
                            <a:rPr lang="en-US" sz="2400" i="1">
                              <a:latin typeface="Cambria Math" charset="0"/>
                              <a:ea typeface="Avenir Book" charset="0"/>
                              <a:cs typeface="Avenir Book" charset="0"/>
                            </a:rPr>
                            <m:t>)</m:t>
                          </m:r>
                        </m:oMath>
                      </m:oMathPara>
                    </a14:m>
                    <a:endParaRPr lang="en-US" sz="2400" dirty="0">
                      <a:latin typeface="Avenir Book" panose="02000503020000020003" pitchFamily="2" charset="0"/>
                      <a:ea typeface="Avenir Book" charset="0"/>
                      <a:cs typeface="Avenir Book"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105376" y="1980618"/>
                    <a:ext cx="933248" cy="681731"/>
                  </a:xfrm>
                  <a:prstGeom prst="rect">
                    <a:avLst/>
                  </a:prstGeom>
                  <a:blipFill>
                    <a:blip r:embed="rId5"/>
                    <a:stretch>
                      <a:fillRect l="-2703" b="-16216"/>
                    </a:stretch>
                  </a:blipFill>
                </p:spPr>
                <p:txBody>
                  <a:bodyPr/>
                  <a:lstStyle/>
                  <a:p>
                    <a:r>
                      <a:rPr lang="en-US">
                        <a:noFill/>
                      </a:rPr>
                      <a:t> </a:t>
                    </a:r>
                  </a:p>
                </p:txBody>
              </p:sp>
            </mc:Fallback>
          </mc:AlternateContent>
        </p:grpSp>
        <p:cxnSp>
          <p:nvCxnSpPr>
            <p:cNvPr id="12" name="Straight Connector 11">
              <a:extLst>
                <a:ext uri="{FF2B5EF4-FFF2-40B4-BE49-F238E27FC236}">
                  <a16:creationId xmlns:a16="http://schemas.microsoft.com/office/drawing/2014/main" id="{3A6D1678-71B4-A16D-1E32-349480E4B4DE}"/>
                </a:ext>
              </a:extLst>
            </p:cNvPr>
            <p:cNvCxnSpPr/>
            <p:nvPr/>
          </p:nvCxnSpPr>
          <p:spPr>
            <a:xfrm flipV="1">
              <a:off x="3503220" y="4392910"/>
              <a:ext cx="5031181" cy="1069322"/>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537E4E53-9282-AC16-1E17-E648F585A268}"/>
                </a:ext>
              </a:extLst>
            </p:cNvPr>
            <p:cNvGrpSpPr/>
            <p:nvPr/>
          </p:nvGrpSpPr>
          <p:grpSpPr>
            <a:xfrm>
              <a:off x="3817443" y="4093644"/>
              <a:ext cx="4658110" cy="1837152"/>
              <a:chOff x="2293443" y="4093644"/>
              <a:chExt cx="4658110" cy="1837152"/>
            </a:xfrm>
          </p:grpSpPr>
          <p:sp>
            <p:nvSpPr>
              <p:cNvPr id="14" name="Oval 13">
                <a:extLst>
                  <a:ext uri="{FF2B5EF4-FFF2-40B4-BE49-F238E27FC236}">
                    <a16:creationId xmlns:a16="http://schemas.microsoft.com/office/drawing/2014/main" id="{29CC854F-2078-F522-CD6B-93AD43E474F3}"/>
                  </a:ext>
                </a:extLst>
              </p:cNvPr>
              <p:cNvSpPr/>
              <p:nvPr/>
            </p:nvSpPr>
            <p:spPr>
              <a:xfrm>
                <a:off x="3655619" y="5365731"/>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5" name="Oval 14">
                <a:extLst>
                  <a:ext uri="{FF2B5EF4-FFF2-40B4-BE49-F238E27FC236}">
                    <a16:creationId xmlns:a16="http://schemas.microsoft.com/office/drawing/2014/main" id="{57A93C49-537B-789A-14F0-1A6F1DCCF881}"/>
                  </a:ext>
                </a:extLst>
              </p:cNvPr>
              <p:cNvSpPr/>
              <p:nvPr/>
            </p:nvSpPr>
            <p:spPr>
              <a:xfrm>
                <a:off x="4373310" y="46376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6" name="Oval 15">
                <a:extLst>
                  <a:ext uri="{FF2B5EF4-FFF2-40B4-BE49-F238E27FC236}">
                    <a16:creationId xmlns:a16="http://schemas.microsoft.com/office/drawing/2014/main" id="{2C1E11BF-0A18-B785-13C9-B5BF70A207AD}"/>
                  </a:ext>
                </a:extLst>
              </p:cNvPr>
              <p:cNvSpPr/>
              <p:nvPr/>
            </p:nvSpPr>
            <p:spPr>
              <a:xfrm>
                <a:off x="2913914" y="46376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7" name="Oval 16">
                <a:extLst>
                  <a:ext uri="{FF2B5EF4-FFF2-40B4-BE49-F238E27FC236}">
                    <a16:creationId xmlns:a16="http://schemas.microsoft.com/office/drawing/2014/main" id="{77AB3106-3CF2-0016-EFB5-3079E7F2E566}"/>
                  </a:ext>
                </a:extLst>
              </p:cNvPr>
              <p:cNvSpPr/>
              <p:nvPr/>
            </p:nvSpPr>
            <p:spPr>
              <a:xfrm>
                <a:off x="2293443" y="5778396"/>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8" name="Oval 17">
                <a:extLst>
                  <a:ext uri="{FF2B5EF4-FFF2-40B4-BE49-F238E27FC236}">
                    <a16:creationId xmlns:a16="http://schemas.microsoft.com/office/drawing/2014/main" id="{2FBDFD12-959D-B062-0D41-25995B4DA22A}"/>
                  </a:ext>
                </a:extLst>
              </p:cNvPr>
              <p:cNvSpPr/>
              <p:nvPr/>
            </p:nvSpPr>
            <p:spPr>
              <a:xfrm>
                <a:off x="6019800" y="4734077"/>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9" name="Oval 18">
                <a:extLst>
                  <a:ext uri="{FF2B5EF4-FFF2-40B4-BE49-F238E27FC236}">
                    <a16:creationId xmlns:a16="http://schemas.microsoft.com/office/drawing/2014/main" id="{C250A615-31FD-706D-D0BC-9B61439721B6}"/>
                  </a:ext>
                </a:extLst>
              </p:cNvPr>
              <p:cNvSpPr/>
              <p:nvPr/>
            </p:nvSpPr>
            <p:spPr>
              <a:xfrm>
                <a:off x="5179619" y="4323023"/>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0" name="Oval 19">
                <a:extLst>
                  <a:ext uri="{FF2B5EF4-FFF2-40B4-BE49-F238E27FC236}">
                    <a16:creationId xmlns:a16="http://schemas.microsoft.com/office/drawing/2014/main" id="{A0A64AAF-A1FC-4EBE-5241-60A92A636436}"/>
                  </a:ext>
                </a:extLst>
              </p:cNvPr>
              <p:cNvSpPr/>
              <p:nvPr/>
            </p:nvSpPr>
            <p:spPr>
              <a:xfrm>
                <a:off x="6799153" y="4093644"/>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spTree>
    <p:extLst>
      <p:ext uri="{BB962C8B-B14F-4D97-AF65-F5344CB8AC3E}">
        <p14:creationId xmlns:p14="http://schemas.microsoft.com/office/powerpoint/2010/main" val="888676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9387D-34D1-1849-A85B-4867AC98C06E}"/>
              </a:ext>
            </a:extLst>
          </p:cNvPr>
          <p:cNvSpPr>
            <a:spLocks noGrp="1"/>
          </p:cNvSpPr>
          <p:nvPr>
            <p:ph type="title"/>
          </p:nvPr>
        </p:nvSpPr>
        <p:spPr/>
        <p:txBody>
          <a:bodyPr/>
          <a:lstStyle/>
          <a:p>
            <a:r>
              <a:rPr lang="en-US" dirty="0"/>
              <a:t>Regression: Logistic Regression</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F47302F-C0F9-9B3F-DD89-C7752E3A1B67}"/>
                  </a:ext>
                </a:extLst>
              </p:cNvPr>
              <p:cNvSpPr txBox="1">
                <a:spLocks/>
              </p:cNvSpPr>
              <p:nvPr/>
            </p:nvSpPr>
            <p:spPr>
              <a:xfrm>
                <a:off x="609600" y="1600202"/>
                <a:ext cx="10972800" cy="1112087"/>
              </a:xfrm>
              <a:prstGeom prst="rect">
                <a:avLst/>
              </a:prstGeom>
            </p:spPr>
            <p:txBody>
              <a:bodyPr vert="horz" lIns="91440" tIns="45720" rIns="91440" bIns="45720" rtlCol="0" anchor="ctr">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Avenir Book" panose="02000503020000020003" pitchFamily="2" charset="0"/>
                  </a:rPr>
                  <a:t>Maps a logit function on a combination of features to a </a:t>
                </a:r>
                <a:br>
                  <a:rPr lang="en-US" dirty="0">
                    <a:latin typeface="Avenir Book" panose="02000503020000020003" pitchFamily="2" charset="0"/>
                  </a:rPr>
                </a:br>
                <a:r>
                  <a:rPr lang="en-US" dirty="0">
                    <a:latin typeface="Avenir Book" panose="02000503020000020003" pitchFamily="2" charset="0"/>
                  </a:rPr>
                  <a:t>continuous label </a:t>
                </a:r>
                <a14:m>
                  <m:oMath xmlns:m="http://schemas.openxmlformats.org/officeDocument/2006/math">
                    <m:d>
                      <m:dPr>
                        <m:ctrlPr>
                          <a:rPr lang="mr-IN" i="1">
                            <a:latin typeface="Cambria Math" panose="02040503050406030204" pitchFamily="18" charset="0"/>
                          </a:rPr>
                        </m:ctrlPr>
                      </m:dPr>
                      <m:e>
                        <m:r>
                          <a:rPr lang="en-US" b="0" i="1" smtClean="0">
                            <a:latin typeface="Cambria Math" panose="02040503050406030204" pitchFamily="18" charset="0"/>
                          </a:rPr>
                          <m:t>0</m:t>
                        </m:r>
                        <m:r>
                          <a:rPr lang="en-US" i="1">
                            <a:latin typeface="Cambria Math" charset="0"/>
                            <a:ea typeface="Cambria Math" charset="0"/>
                            <a:cs typeface="Cambria Math" charset="0"/>
                          </a:rPr>
                          <m:t>, </m:t>
                        </m:r>
                        <m:r>
                          <a:rPr lang="en-US" b="0" i="1" smtClean="0">
                            <a:latin typeface="Cambria Math" panose="02040503050406030204" pitchFamily="18" charset="0"/>
                            <a:ea typeface="Cambria Math" charset="0"/>
                            <a:cs typeface="Cambria Math" charset="0"/>
                          </a:rPr>
                          <m:t>1</m:t>
                        </m:r>
                      </m:e>
                    </m:d>
                  </m:oMath>
                </a14:m>
                <a:endParaRPr lang="en-US" dirty="0">
                  <a:latin typeface="Avenir Book" panose="02000503020000020003" pitchFamily="2" charset="0"/>
                </a:endParaRPr>
              </a:p>
            </p:txBody>
          </p:sp>
        </mc:Choice>
        <mc:Fallback xmlns="">
          <p:sp>
            <p:nvSpPr>
              <p:cNvPr id="4" name="Content Placeholder 2">
                <a:extLst>
                  <a:ext uri="{FF2B5EF4-FFF2-40B4-BE49-F238E27FC236}">
                    <a16:creationId xmlns:a16="http://schemas.microsoft.com/office/drawing/2014/main" id="{4F47302F-C0F9-9B3F-DD89-C7752E3A1B67}"/>
                  </a:ext>
                </a:extLst>
              </p:cNvPr>
              <p:cNvSpPr txBox="1">
                <a:spLocks noRot="1" noChangeAspect="1" noMove="1" noResize="1" noEditPoints="1" noAdjustHandles="1" noChangeArrowheads="1" noChangeShapeType="1" noTextEdit="1"/>
              </p:cNvSpPr>
              <p:nvPr/>
            </p:nvSpPr>
            <p:spPr>
              <a:xfrm>
                <a:off x="609600" y="1600202"/>
                <a:ext cx="10972800" cy="1112087"/>
              </a:xfrm>
              <a:prstGeom prst="rect">
                <a:avLst/>
              </a:prstGeom>
              <a:blipFill>
                <a:blip r:embed="rId2"/>
                <a:stretch>
                  <a:fillRect l="-1387" t="-5682" b="-15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20647B7-06CD-A958-E405-AB36AF4C094F}"/>
                  </a:ext>
                </a:extLst>
              </p:cNvPr>
              <p:cNvSpPr txBox="1"/>
              <p:nvPr/>
            </p:nvSpPr>
            <p:spPr>
              <a:xfrm>
                <a:off x="3435016" y="2743201"/>
                <a:ext cx="5554469" cy="10593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a:latin typeface="Cambria Math" charset="0"/>
                        </a:rPr>
                        <m:t>𝑦</m:t>
                      </m:r>
                      <m:r>
                        <a:rPr lang="en-US" sz="3600" i="1">
                          <a:latin typeface="Cambria Math" charset="0"/>
                        </a:rPr>
                        <m:t>=</m:t>
                      </m:r>
                      <m:f>
                        <m:fPr>
                          <m:ctrlPr>
                            <a:rPr lang="mr-IN" sz="3600" i="1">
                              <a:latin typeface="Cambria Math" panose="02040503050406030204" pitchFamily="18" charset="0"/>
                            </a:rPr>
                          </m:ctrlPr>
                        </m:fPr>
                        <m:num>
                          <m:r>
                            <a:rPr lang="en-US" sz="3600" i="1">
                              <a:latin typeface="Cambria Math" charset="0"/>
                            </a:rPr>
                            <m:t>1</m:t>
                          </m:r>
                        </m:num>
                        <m:den>
                          <m:r>
                            <a:rPr lang="en-US" sz="3600" i="1">
                              <a:latin typeface="Cambria Math" charset="0"/>
                            </a:rPr>
                            <m:t>1+</m:t>
                          </m:r>
                          <m:sSup>
                            <m:sSupPr>
                              <m:ctrlPr>
                                <a:rPr lang="en-US" sz="3600" i="1">
                                  <a:latin typeface="Cambria Math" panose="02040503050406030204" pitchFamily="18" charset="0"/>
                                </a:rPr>
                              </m:ctrlPr>
                            </m:sSupPr>
                            <m:e>
                              <m:r>
                                <a:rPr lang="en-US" sz="3600" i="1">
                                  <a:latin typeface="Cambria Math" charset="0"/>
                                </a:rPr>
                                <m:t>𝑒</m:t>
                              </m:r>
                            </m:e>
                            <m:sup>
                              <m:r>
                                <a:rPr lang="en-US" sz="3600" i="1">
                                  <a:latin typeface="Cambria Math" charset="0"/>
                                </a:rPr>
                                <m:t>−(</m:t>
                              </m:r>
                              <m:sSub>
                                <m:sSubPr>
                                  <m:ctrlPr>
                                    <a:rPr lang="en-US" sz="3600" i="1">
                                      <a:latin typeface="Cambria Math" panose="02040503050406030204" pitchFamily="18" charset="0"/>
                                    </a:rPr>
                                  </m:ctrlPr>
                                </m:sSubPr>
                                <m:e>
                                  <m:r>
                                    <a:rPr lang="en-US" sz="3600" i="1">
                                      <a:latin typeface="Cambria Math" charset="0"/>
                                    </a:rPr>
                                    <m:t>𝑤</m:t>
                                  </m:r>
                                </m:e>
                                <m:sub>
                                  <m:r>
                                    <a:rPr lang="en-US" sz="3600" i="1">
                                      <a:latin typeface="Cambria Math" charset="0"/>
                                    </a:rPr>
                                    <m:t>1</m:t>
                                  </m:r>
                                </m:sub>
                              </m:sSub>
                              <m:sSub>
                                <m:sSubPr>
                                  <m:ctrlPr>
                                    <a:rPr lang="en-US" sz="3600" i="1">
                                      <a:latin typeface="Cambria Math" panose="02040503050406030204" pitchFamily="18" charset="0"/>
                                    </a:rPr>
                                  </m:ctrlPr>
                                </m:sSubPr>
                                <m:e>
                                  <m:r>
                                    <a:rPr lang="en-US" sz="3600" i="1">
                                      <a:latin typeface="Cambria Math" charset="0"/>
                                    </a:rPr>
                                    <m:t>𝑥</m:t>
                                  </m:r>
                                </m:e>
                                <m:sub>
                                  <m:r>
                                    <a:rPr lang="en-US" sz="3600" i="1">
                                      <a:latin typeface="Cambria Math" charset="0"/>
                                    </a:rPr>
                                    <m:t>1</m:t>
                                  </m:r>
                                </m:sub>
                              </m:sSub>
                              <m:r>
                                <a:rPr lang="en-US" sz="3600" i="1">
                                  <a:latin typeface="Cambria Math" charset="0"/>
                                </a:rPr>
                                <m:t>+</m:t>
                              </m:r>
                              <m:sSub>
                                <m:sSubPr>
                                  <m:ctrlPr>
                                    <a:rPr lang="en-US" sz="3600" i="1">
                                      <a:latin typeface="Cambria Math" panose="02040503050406030204" pitchFamily="18" charset="0"/>
                                    </a:rPr>
                                  </m:ctrlPr>
                                </m:sSubPr>
                                <m:e>
                                  <m:r>
                                    <a:rPr lang="en-US" sz="3600" i="1">
                                      <a:latin typeface="Cambria Math" charset="0"/>
                                    </a:rPr>
                                    <m:t>𝑤</m:t>
                                  </m:r>
                                </m:e>
                                <m:sub>
                                  <m:r>
                                    <a:rPr lang="en-US" sz="3600" i="1">
                                      <a:latin typeface="Cambria Math" charset="0"/>
                                    </a:rPr>
                                    <m:t>2</m:t>
                                  </m:r>
                                </m:sub>
                              </m:sSub>
                              <m:sSub>
                                <m:sSubPr>
                                  <m:ctrlPr>
                                    <a:rPr lang="en-US" sz="3600" i="1">
                                      <a:latin typeface="Cambria Math" panose="02040503050406030204" pitchFamily="18" charset="0"/>
                                    </a:rPr>
                                  </m:ctrlPr>
                                </m:sSubPr>
                                <m:e>
                                  <m:r>
                                    <a:rPr lang="en-US" sz="3600" i="1">
                                      <a:latin typeface="Cambria Math" charset="0"/>
                                    </a:rPr>
                                    <m:t>𝑥</m:t>
                                  </m:r>
                                </m:e>
                                <m:sub>
                                  <m:r>
                                    <a:rPr lang="en-US" sz="3600" i="1">
                                      <a:latin typeface="Cambria Math" charset="0"/>
                                    </a:rPr>
                                    <m:t>2</m:t>
                                  </m:r>
                                </m:sub>
                              </m:sSub>
                              <m:r>
                                <a:rPr lang="en-US" sz="3600" i="1">
                                  <a:latin typeface="Cambria Math" charset="0"/>
                                </a:rPr>
                                <m:t>+…+</m:t>
                              </m:r>
                              <m:r>
                                <a:rPr lang="en-US" sz="3600" i="1">
                                  <a:latin typeface="Cambria Math" charset="0"/>
                                </a:rPr>
                                <m:t>𝑏</m:t>
                              </m:r>
                              <m:r>
                                <m:rPr>
                                  <m:nor/>
                                </m:rPr>
                                <a:rPr lang="en-US" sz="3600" dirty="0">
                                  <a:latin typeface="Avenir Book" panose="02000503020000020003" pitchFamily="2" charset="0"/>
                                </a:rPr>
                                <m:t> </m:t>
                              </m:r>
                              <m:r>
                                <a:rPr lang="en-US" sz="3600" i="1" dirty="0">
                                  <a:latin typeface="Cambria Math" charset="0"/>
                                </a:rPr>
                                <m:t>)</m:t>
                              </m:r>
                            </m:sup>
                          </m:sSup>
                        </m:den>
                      </m:f>
                    </m:oMath>
                  </m:oMathPara>
                </a14:m>
                <a:endParaRPr lang="en-US" sz="3600" dirty="0">
                  <a:latin typeface="Avenir Book" panose="02000503020000020003" pitchFamily="2" charset="0"/>
                </a:endParaRPr>
              </a:p>
            </p:txBody>
          </p:sp>
        </mc:Choice>
        <mc:Fallback xmlns="">
          <p:sp>
            <p:nvSpPr>
              <p:cNvPr id="5" name="TextBox 4">
                <a:extLst>
                  <a:ext uri="{FF2B5EF4-FFF2-40B4-BE49-F238E27FC236}">
                    <a16:creationId xmlns:a16="http://schemas.microsoft.com/office/drawing/2014/main" id="{E20647B7-06CD-A958-E405-AB36AF4C094F}"/>
                  </a:ext>
                </a:extLst>
              </p:cNvPr>
              <p:cNvSpPr txBox="1">
                <a:spLocks noRot="1" noChangeAspect="1" noMove="1" noResize="1" noEditPoints="1" noAdjustHandles="1" noChangeArrowheads="1" noChangeShapeType="1" noTextEdit="1"/>
              </p:cNvSpPr>
              <p:nvPr/>
            </p:nvSpPr>
            <p:spPr>
              <a:xfrm>
                <a:off x="3435016" y="2743201"/>
                <a:ext cx="5554469" cy="1059329"/>
              </a:xfrm>
              <a:prstGeom prst="rect">
                <a:avLst/>
              </a:prstGeom>
              <a:blipFill>
                <a:blip r:embed="rId3"/>
                <a:stretch>
                  <a:fillRect l="-1598" t="-1190" r="-1370" b="-20238"/>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4412D05B-CA0B-D77D-6305-9DD1D1BE1DF9}"/>
              </a:ext>
            </a:extLst>
          </p:cNvPr>
          <p:cNvGrpSpPr/>
          <p:nvPr/>
        </p:nvGrpSpPr>
        <p:grpSpPr>
          <a:xfrm>
            <a:off x="3036595" y="3962401"/>
            <a:ext cx="5878806" cy="2667000"/>
            <a:chOff x="3036595" y="3962401"/>
            <a:chExt cx="5878806" cy="2667000"/>
          </a:xfrm>
        </p:grpSpPr>
        <p:grpSp>
          <p:nvGrpSpPr>
            <p:cNvPr id="7" name="Group 6">
              <a:extLst>
                <a:ext uri="{FF2B5EF4-FFF2-40B4-BE49-F238E27FC236}">
                  <a16:creationId xmlns:a16="http://schemas.microsoft.com/office/drawing/2014/main" id="{51F0F6E1-40C1-AEB0-5342-9FD91A34B87C}"/>
                </a:ext>
              </a:extLst>
            </p:cNvPr>
            <p:cNvGrpSpPr/>
            <p:nvPr/>
          </p:nvGrpSpPr>
          <p:grpSpPr>
            <a:xfrm>
              <a:off x="3503220" y="6167736"/>
              <a:ext cx="5412181" cy="461665"/>
              <a:chOff x="1066800" y="5331767"/>
              <a:chExt cx="7429152" cy="461665"/>
            </a:xfrm>
          </p:grpSpPr>
          <p:cxnSp>
            <p:nvCxnSpPr>
              <p:cNvPr id="8" name="Straight Connector 7">
                <a:extLst>
                  <a:ext uri="{FF2B5EF4-FFF2-40B4-BE49-F238E27FC236}">
                    <a16:creationId xmlns:a16="http://schemas.microsoft.com/office/drawing/2014/main" id="{A8BEC664-8F34-C5A3-9A04-A262DA08C738}"/>
                  </a:ext>
                </a:extLst>
              </p:cNvPr>
              <p:cNvCxnSpPr/>
              <p:nvPr/>
            </p:nvCxnSpPr>
            <p:spPr>
              <a:xfrm flipH="1">
                <a:off x="1066800" y="5562600"/>
                <a:ext cx="6781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4D88F75-EA9B-4F55-F3C3-FD4456930235}"/>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latin typeface="Cambria Math" charset="0"/>
                              <a:ea typeface="Avenir Book" charset="0"/>
                              <a:cs typeface="Avenir Book" charset="0"/>
                            </a:rPr>
                            <m:t>𝑥</m:t>
                          </m:r>
                        </m:oMath>
                      </m:oMathPara>
                    </a14:m>
                    <a:endParaRPr lang="en-US" sz="2400" dirty="0">
                      <a:latin typeface="Avenir Book" panose="02000503020000020003" pitchFamily="2" charset="0"/>
                      <a:ea typeface="Avenir Book" charset="0"/>
                      <a:cs typeface="Avenir Book" charset="0"/>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a:blip r:embed="rId4"/>
                    <a:stretch>
                      <a:fillRect/>
                    </a:stretch>
                  </a:blipFill>
                </p:spPr>
                <p:txBody>
                  <a:bodyPr/>
                  <a:lstStyle/>
                  <a:p>
                    <a:r>
                      <a:rPr lang="en-US">
                        <a:noFill/>
                      </a:rPr>
                      <a:t> </a:t>
                    </a:r>
                  </a:p>
                </p:txBody>
              </p:sp>
            </mc:Fallback>
          </mc:AlternateContent>
        </p:grpSp>
        <p:grpSp>
          <p:nvGrpSpPr>
            <p:cNvPr id="10" name="Group 9">
              <a:extLst>
                <a:ext uri="{FF2B5EF4-FFF2-40B4-BE49-F238E27FC236}">
                  <a16:creationId xmlns:a16="http://schemas.microsoft.com/office/drawing/2014/main" id="{BA091295-505B-02B5-6A9C-6D92221B4043}"/>
                </a:ext>
              </a:extLst>
            </p:cNvPr>
            <p:cNvGrpSpPr/>
            <p:nvPr/>
          </p:nvGrpSpPr>
          <p:grpSpPr>
            <a:xfrm>
              <a:off x="3036595" y="3962401"/>
              <a:ext cx="933248" cy="2443311"/>
              <a:chOff x="4105376" y="1980618"/>
              <a:chExt cx="933248" cy="4496382"/>
            </a:xfrm>
          </p:grpSpPr>
          <p:cxnSp>
            <p:nvCxnSpPr>
              <p:cNvPr id="11" name="Straight Connector 10">
                <a:extLst>
                  <a:ext uri="{FF2B5EF4-FFF2-40B4-BE49-F238E27FC236}">
                    <a16:creationId xmlns:a16="http://schemas.microsoft.com/office/drawing/2014/main" id="{CCA7E43C-54F1-0908-513A-71FFC71F9785}"/>
                  </a:ext>
                </a:extLst>
              </p:cNvPr>
              <p:cNvCxnSpPr/>
              <p:nvPr/>
            </p:nvCxnSpPr>
            <p:spPr>
              <a:xfrm>
                <a:off x="4572000" y="2962225"/>
                <a:ext cx="0" cy="35147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B2DFD91-F152-293D-47E8-B4511BB025A4}"/>
                      </a:ext>
                    </a:extLst>
                  </p:cNvPr>
                  <p:cNvSpPr txBox="1"/>
                  <p:nvPr/>
                </p:nvSpPr>
                <p:spPr>
                  <a:xfrm>
                    <a:off x="4105376" y="1980618"/>
                    <a:ext cx="933248" cy="84959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latin typeface="Cambria Math" charset="0"/>
                              <a:ea typeface="Avenir Book" charset="0"/>
                              <a:cs typeface="Avenir Book" charset="0"/>
                            </a:rPr>
                            <m:t>𝑓</m:t>
                          </m:r>
                          <m:r>
                            <a:rPr lang="en-US" sz="2400" i="1">
                              <a:latin typeface="Cambria Math" charset="0"/>
                              <a:ea typeface="Avenir Book" charset="0"/>
                              <a:cs typeface="Avenir Book" charset="0"/>
                            </a:rPr>
                            <m:t>(</m:t>
                          </m:r>
                          <m:r>
                            <a:rPr lang="en-US" sz="2400" i="1">
                              <a:latin typeface="Cambria Math" charset="0"/>
                              <a:ea typeface="Avenir Book" charset="0"/>
                              <a:cs typeface="Avenir Book" charset="0"/>
                            </a:rPr>
                            <m:t>𝑥</m:t>
                          </m:r>
                          <m:r>
                            <a:rPr lang="en-US" sz="2400" i="1">
                              <a:latin typeface="Cambria Math" charset="0"/>
                              <a:ea typeface="Avenir Book" charset="0"/>
                              <a:cs typeface="Avenir Book" charset="0"/>
                            </a:rPr>
                            <m:t>)</m:t>
                          </m:r>
                        </m:oMath>
                      </m:oMathPara>
                    </a14:m>
                    <a:endParaRPr lang="en-US" sz="2400" dirty="0">
                      <a:latin typeface="Avenir Book" panose="02000503020000020003" pitchFamily="2" charset="0"/>
                      <a:ea typeface="Avenir Book" charset="0"/>
                      <a:cs typeface="Avenir Book"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4105376" y="1980618"/>
                    <a:ext cx="933248" cy="849594"/>
                  </a:xfrm>
                  <a:prstGeom prst="rect">
                    <a:avLst/>
                  </a:prstGeom>
                  <a:blipFill>
                    <a:blip r:embed="rId5"/>
                    <a:stretch>
                      <a:fillRect l="-2703" b="-13514"/>
                    </a:stretch>
                  </a:blipFill>
                </p:spPr>
                <p:txBody>
                  <a:bodyPr/>
                  <a:lstStyle/>
                  <a:p>
                    <a:r>
                      <a:rPr lang="en-US">
                        <a:noFill/>
                      </a:rPr>
                      <a:t> </a:t>
                    </a:r>
                  </a:p>
                </p:txBody>
              </p:sp>
            </mc:Fallback>
          </mc:AlternateContent>
        </p:grpSp>
        <p:grpSp>
          <p:nvGrpSpPr>
            <p:cNvPr id="13" name="Group 12">
              <a:extLst>
                <a:ext uri="{FF2B5EF4-FFF2-40B4-BE49-F238E27FC236}">
                  <a16:creationId xmlns:a16="http://schemas.microsoft.com/office/drawing/2014/main" id="{754B9C20-6208-3E4B-4DDE-6E2686407C27}"/>
                </a:ext>
              </a:extLst>
            </p:cNvPr>
            <p:cNvGrpSpPr/>
            <p:nvPr/>
          </p:nvGrpSpPr>
          <p:grpSpPr>
            <a:xfrm>
              <a:off x="3766945" y="4592459"/>
              <a:ext cx="4658110" cy="1837152"/>
              <a:chOff x="2293443" y="4093644"/>
              <a:chExt cx="4658110" cy="1837152"/>
            </a:xfrm>
          </p:grpSpPr>
          <p:sp>
            <p:nvSpPr>
              <p:cNvPr id="14" name="Oval 13">
                <a:extLst>
                  <a:ext uri="{FF2B5EF4-FFF2-40B4-BE49-F238E27FC236}">
                    <a16:creationId xmlns:a16="http://schemas.microsoft.com/office/drawing/2014/main" id="{E1EE067E-74CE-D2DF-12A8-3B2EF78B1AB5}"/>
                  </a:ext>
                </a:extLst>
              </p:cNvPr>
              <p:cNvSpPr/>
              <p:nvPr/>
            </p:nvSpPr>
            <p:spPr>
              <a:xfrm>
                <a:off x="3655619" y="56733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5" name="Oval 14">
                <a:extLst>
                  <a:ext uri="{FF2B5EF4-FFF2-40B4-BE49-F238E27FC236}">
                    <a16:creationId xmlns:a16="http://schemas.microsoft.com/office/drawing/2014/main" id="{9C06ACAE-A23E-19CB-44E1-44CDBAA44F2A}"/>
                  </a:ext>
                </a:extLst>
              </p:cNvPr>
              <p:cNvSpPr/>
              <p:nvPr/>
            </p:nvSpPr>
            <p:spPr>
              <a:xfrm>
                <a:off x="4373310" y="50637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6" name="Oval 15">
                <a:extLst>
                  <a:ext uri="{FF2B5EF4-FFF2-40B4-BE49-F238E27FC236}">
                    <a16:creationId xmlns:a16="http://schemas.microsoft.com/office/drawing/2014/main" id="{2BF80618-9143-667F-3BFE-05A7E2370421}"/>
                  </a:ext>
                </a:extLst>
              </p:cNvPr>
              <p:cNvSpPr/>
              <p:nvPr/>
            </p:nvSpPr>
            <p:spPr>
              <a:xfrm>
                <a:off x="2913914" y="55209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7" name="Oval 16">
                <a:extLst>
                  <a:ext uri="{FF2B5EF4-FFF2-40B4-BE49-F238E27FC236}">
                    <a16:creationId xmlns:a16="http://schemas.microsoft.com/office/drawing/2014/main" id="{430587D5-E3E4-21B0-69D7-EA3FE944B5B4}"/>
                  </a:ext>
                </a:extLst>
              </p:cNvPr>
              <p:cNvSpPr/>
              <p:nvPr/>
            </p:nvSpPr>
            <p:spPr>
              <a:xfrm>
                <a:off x="2293443" y="5778396"/>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8" name="Oval 17">
                <a:extLst>
                  <a:ext uri="{FF2B5EF4-FFF2-40B4-BE49-F238E27FC236}">
                    <a16:creationId xmlns:a16="http://schemas.microsoft.com/office/drawing/2014/main" id="{28F08BD7-30D7-A0B8-3271-0927FFDBE361}"/>
                  </a:ext>
                </a:extLst>
              </p:cNvPr>
              <p:cNvSpPr/>
              <p:nvPr/>
            </p:nvSpPr>
            <p:spPr>
              <a:xfrm>
                <a:off x="6019800" y="43017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9" name="Oval 18">
                <a:extLst>
                  <a:ext uri="{FF2B5EF4-FFF2-40B4-BE49-F238E27FC236}">
                    <a16:creationId xmlns:a16="http://schemas.microsoft.com/office/drawing/2014/main" id="{41BC283F-CCF3-FA4B-CD1E-E4473FD46E03}"/>
                  </a:ext>
                </a:extLst>
              </p:cNvPr>
              <p:cNvSpPr/>
              <p:nvPr/>
            </p:nvSpPr>
            <p:spPr>
              <a:xfrm>
                <a:off x="5179619" y="41493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0" name="Oval 19">
                <a:extLst>
                  <a:ext uri="{FF2B5EF4-FFF2-40B4-BE49-F238E27FC236}">
                    <a16:creationId xmlns:a16="http://schemas.microsoft.com/office/drawing/2014/main" id="{CBBB1388-CBD5-668F-DA11-49D35E7D326A}"/>
                  </a:ext>
                </a:extLst>
              </p:cNvPr>
              <p:cNvSpPr/>
              <p:nvPr/>
            </p:nvSpPr>
            <p:spPr>
              <a:xfrm>
                <a:off x="6799153" y="4093644"/>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21" name="Group 20">
              <a:extLst>
                <a:ext uri="{FF2B5EF4-FFF2-40B4-BE49-F238E27FC236}">
                  <a16:creationId xmlns:a16="http://schemas.microsoft.com/office/drawing/2014/main" id="{A31DC6B6-E703-ECFE-B08A-FEDC6063B40B}"/>
                </a:ext>
              </a:extLst>
            </p:cNvPr>
            <p:cNvGrpSpPr/>
            <p:nvPr/>
          </p:nvGrpSpPr>
          <p:grpSpPr>
            <a:xfrm>
              <a:off x="3118765" y="4482435"/>
              <a:ext cx="316251" cy="2100799"/>
              <a:chOff x="1594764" y="4482434"/>
              <a:chExt cx="316251" cy="2100799"/>
            </a:xfrm>
          </p:grpSpPr>
          <p:sp>
            <p:nvSpPr>
              <p:cNvPr id="22" name="TextBox 21">
                <a:extLst>
                  <a:ext uri="{FF2B5EF4-FFF2-40B4-BE49-F238E27FC236}">
                    <a16:creationId xmlns:a16="http://schemas.microsoft.com/office/drawing/2014/main" id="{584E1ED7-AC15-ECF1-537E-AC24D9CC7C9E}"/>
                  </a:ext>
                </a:extLst>
              </p:cNvPr>
              <p:cNvSpPr txBox="1"/>
              <p:nvPr/>
            </p:nvSpPr>
            <p:spPr>
              <a:xfrm>
                <a:off x="1598109" y="4482434"/>
                <a:ext cx="312906" cy="369332"/>
              </a:xfrm>
              <a:prstGeom prst="rect">
                <a:avLst/>
              </a:prstGeom>
              <a:noFill/>
            </p:spPr>
            <p:txBody>
              <a:bodyPr wrap="none" rtlCol="0">
                <a:spAutoFit/>
              </a:bodyPr>
              <a:lstStyle/>
              <a:p>
                <a:r>
                  <a:rPr lang="en-US" dirty="0">
                    <a:latin typeface="Avenir Book" panose="02000503020000020003" pitchFamily="2" charset="0"/>
                    <a:ea typeface="Avenir Book" charset="0"/>
                    <a:cs typeface="Avenir Book" charset="0"/>
                  </a:rPr>
                  <a:t>1</a:t>
                </a:r>
              </a:p>
            </p:txBody>
          </p:sp>
          <p:sp>
            <p:nvSpPr>
              <p:cNvPr id="23" name="TextBox 22">
                <a:extLst>
                  <a:ext uri="{FF2B5EF4-FFF2-40B4-BE49-F238E27FC236}">
                    <a16:creationId xmlns:a16="http://schemas.microsoft.com/office/drawing/2014/main" id="{27051B91-3B33-3FBB-EF79-B3D5708AD2AD}"/>
                  </a:ext>
                </a:extLst>
              </p:cNvPr>
              <p:cNvSpPr txBox="1"/>
              <p:nvPr/>
            </p:nvSpPr>
            <p:spPr>
              <a:xfrm>
                <a:off x="1594764" y="6213901"/>
                <a:ext cx="312906" cy="369332"/>
              </a:xfrm>
              <a:prstGeom prst="rect">
                <a:avLst/>
              </a:prstGeom>
              <a:noFill/>
            </p:spPr>
            <p:txBody>
              <a:bodyPr wrap="none" rtlCol="0">
                <a:spAutoFit/>
              </a:bodyPr>
              <a:lstStyle/>
              <a:p>
                <a:r>
                  <a:rPr lang="en-US" dirty="0">
                    <a:latin typeface="Avenir Book" panose="02000503020000020003" pitchFamily="2" charset="0"/>
                    <a:ea typeface="Avenir Book" charset="0"/>
                    <a:cs typeface="Avenir Book" charset="0"/>
                  </a:rPr>
                  <a:t>0</a:t>
                </a:r>
              </a:p>
            </p:txBody>
          </p:sp>
        </p:grpSp>
        <p:sp>
          <p:nvSpPr>
            <p:cNvPr id="6" name="Freeform 5">
              <a:extLst>
                <a:ext uri="{FF2B5EF4-FFF2-40B4-BE49-F238E27FC236}">
                  <a16:creationId xmlns:a16="http://schemas.microsoft.com/office/drawing/2014/main" id="{C79FAC57-7BD8-4AFD-F166-84BC8E19BBD0}"/>
                </a:ext>
              </a:extLst>
            </p:cNvPr>
            <p:cNvSpPr/>
            <p:nvPr/>
          </p:nvSpPr>
          <p:spPr>
            <a:xfrm>
              <a:off x="3563364" y="4564112"/>
              <a:ext cx="4820290" cy="1753160"/>
            </a:xfrm>
            <a:custGeom>
              <a:avLst/>
              <a:gdLst>
                <a:gd name="connsiteX0" fmla="*/ 0 w 4899804"/>
                <a:gd name="connsiteY0" fmla="*/ 2596551 h 2596551"/>
                <a:gd name="connsiteX1" fmla="*/ 1544128 w 4899804"/>
                <a:gd name="connsiteY1" fmla="*/ 60385 h 2596551"/>
                <a:gd name="connsiteX2" fmla="*/ 3010619 w 4899804"/>
                <a:gd name="connsiteY2" fmla="*/ 2242868 h 2596551"/>
                <a:gd name="connsiteX3" fmla="*/ 4899804 w 4899804"/>
                <a:gd name="connsiteY3" fmla="*/ 0 h 2596551"/>
                <a:gd name="connsiteX0" fmla="*/ 0 w 4899804"/>
                <a:gd name="connsiteY0" fmla="*/ 2596551 h 2596551"/>
                <a:gd name="connsiteX1" fmla="*/ 1578634 w 4899804"/>
                <a:gd name="connsiteY1" fmla="*/ 526212 h 2596551"/>
                <a:gd name="connsiteX2" fmla="*/ 3010619 w 4899804"/>
                <a:gd name="connsiteY2" fmla="*/ 2242868 h 2596551"/>
                <a:gd name="connsiteX3" fmla="*/ 4899804 w 4899804"/>
                <a:gd name="connsiteY3" fmla="*/ 0 h 2596551"/>
                <a:gd name="connsiteX0" fmla="*/ 0 w 4899804"/>
                <a:gd name="connsiteY0" fmla="*/ 2596551 h 2596551"/>
                <a:gd name="connsiteX1" fmla="*/ 1578634 w 4899804"/>
                <a:gd name="connsiteY1" fmla="*/ 526212 h 2596551"/>
                <a:gd name="connsiteX2" fmla="*/ 3071004 w 4899804"/>
                <a:gd name="connsiteY2" fmla="*/ 2035834 h 2596551"/>
                <a:gd name="connsiteX3" fmla="*/ 4899804 w 4899804"/>
                <a:gd name="connsiteY3" fmla="*/ 0 h 2596551"/>
                <a:gd name="connsiteX0" fmla="*/ 0 w 4899804"/>
                <a:gd name="connsiteY0" fmla="*/ 2596551 h 2596551"/>
                <a:gd name="connsiteX1" fmla="*/ 1578634 w 4899804"/>
                <a:gd name="connsiteY1" fmla="*/ 526212 h 2596551"/>
                <a:gd name="connsiteX2" fmla="*/ 3071004 w 4899804"/>
                <a:gd name="connsiteY2" fmla="*/ 2035834 h 2596551"/>
                <a:gd name="connsiteX3" fmla="*/ 4899804 w 4899804"/>
                <a:gd name="connsiteY3" fmla="*/ 0 h 2596551"/>
                <a:gd name="connsiteX0" fmla="*/ 0 w 4899804"/>
                <a:gd name="connsiteY0" fmla="*/ 2596551 h 2596551"/>
                <a:gd name="connsiteX1" fmla="*/ 1578634 w 4899804"/>
                <a:gd name="connsiteY1" fmla="*/ 483080 h 2596551"/>
                <a:gd name="connsiteX2" fmla="*/ 3071004 w 4899804"/>
                <a:gd name="connsiteY2" fmla="*/ 2035834 h 2596551"/>
                <a:gd name="connsiteX3" fmla="*/ 4899804 w 4899804"/>
                <a:gd name="connsiteY3" fmla="*/ 0 h 2596551"/>
                <a:gd name="connsiteX0" fmla="*/ 0 w 4899804"/>
                <a:gd name="connsiteY0" fmla="*/ 2596551 h 2596551"/>
                <a:gd name="connsiteX1" fmla="*/ 1446112 w 4899804"/>
                <a:gd name="connsiteY1" fmla="*/ 2484159 h 2596551"/>
                <a:gd name="connsiteX2" fmla="*/ 3071004 w 4899804"/>
                <a:gd name="connsiteY2" fmla="*/ 2035834 h 2596551"/>
                <a:gd name="connsiteX3" fmla="*/ 4899804 w 4899804"/>
                <a:gd name="connsiteY3" fmla="*/ 0 h 2596551"/>
                <a:gd name="connsiteX0" fmla="*/ 0 w 4899804"/>
                <a:gd name="connsiteY0" fmla="*/ 2596551 h 2596551"/>
                <a:gd name="connsiteX1" fmla="*/ 1446112 w 4899804"/>
                <a:gd name="connsiteY1" fmla="*/ 2484159 h 2596551"/>
                <a:gd name="connsiteX2" fmla="*/ 3071004 w 4899804"/>
                <a:gd name="connsiteY2" fmla="*/ 2035834 h 2596551"/>
                <a:gd name="connsiteX3" fmla="*/ 4899804 w 4899804"/>
                <a:gd name="connsiteY3" fmla="*/ 0 h 2596551"/>
                <a:gd name="connsiteX0" fmla="*/ 0 w 4899804"/>
                <a:gd name="connsiteY0" fmla="*/ 2596551 h 2596551"/>
                <a:gd name="connsiteX1" fmla="*/ 2426773 w 4899804"/>
                <a:gd name="connsiteY1" fmla="*/ 1476994 h 2596551"/>
                <a:gd name="connsiteX2" fmla="*/ 3071004 w 4899804"/>
                <a:gd name="connsiteY2" fmla="*/ 2035834 h 2596551"/>
                <a:gd name="connsiteX3" fmla="*/ 4899804 w 4899804"/>
                <a:gd name="connsiteY3" fmla="*/ 0 h 2596551"/>
                <a:gd name="connsiteX0" fmla="*/ 0 w 4899804"/>
                <a:gd name="connsiteY0" fmla="*/ 2596551 h 2596551"/>
                <a:gd name="connsiteX1" fmla="*/ 2426773 w 4899804"/>
                <a:gd name="connsiteY1" fmla="*/ 1476994 h 2596551"/>
                <a:gd name="connsiteX2" fmla="*/ 4899804 w 4899804"/>
                <a:gd name="connsiteY2" fmla="*/ 0 h 2596551"/>
                <a:gd name="connsiteX0" fmla="*/ 0 w 4793786"/>
                <a:gd name="connsiteY0" fmla="*/ 1827925 h 1827925"/>
                <a:gd name="connsiteX1" fmla="*/ 2426773 w 4793786"/>
                <a:gd name="connsiteY1" fmla="*/ 708368 h 1827925"/>
                <a:gd name="connsiteX2" fmla="*/ 4793786 w 4793786"/>
                <a:gd name="connsiteY2" fmla="*/ 0 h 1827925"/>
                <a:gd name="connsiteX0" fmla="*/ 0 w 4793786"/>
                <a:gd name="connsiteY0" fmla="*/ 1830094 h 1830094"/>
                <a:gd name="connsiteX1" fmla="*/ 2426773 w 4793786"/>
                <a:gd name="connsiteY1" fmla="*/ 710537 h 1830094"/>
                <a:gd name="connsiteX2" fmla="*/ 4793786 w 4793786"/>
                <a:gd name="connsiteY2" fmla="*/ 2169 h 1830094"/>
                <a:gd name="connsiteX0" fmla="*/ 0 w 4820290"/>
                <a:gd name="connsiteY0" fmla="*/ 1737754 h 1737754"/>
                <a:gd name="connsiteX1" fmla="*/ 2426773 w 4820290"/>
                <a:gd name="connsiteY1" fmla="*/ 618197 h 1737754"/>
                <a:gd name="connsiteX2" fmla="*/ 4820290 w 4820290"/>
                <a:gd name="connsiteY2" fmla="*/ 2594 h 1737754"/>
                <a:gd name="connsiteX0" fmla="*/ 0 w 4820290"/>
                <a:gd name="connsiteY0" fmla="*/ 1736775 h 1736775"/>
                <a:gd name="connsiteX1" fmla="*/ 2509900 w 4820290"/>
                <a:gd name="connsiteY1" fmla="*/ 857363 h 1736775"/>
                <a:gd name="connsiteX2" fmla="*/ 4820290 w 4820290"/>
                <a:gd name="connsiteY2" fmla="*/ 1615 h 1736775"/>
                <a:gd name="connsiteX0" fmla="*/ 0 w 4820290"/>
                <a:gd name="connsiteY0" fmla="*/ 1737516 h 1737516"/>
                <a:gd name="connsiteX1" fmla="*/ 2509900 w 4820290"/>
                <a:gd name="connsiteY1" fmla="*/ 858104 h 1737516"/>
                <a:gd name="connsiteX2" fmla="*/ 4820290 w 4820290"/>
                <a:gd name="connsiteY2" fmla="*/ 2356 h 1737516"/>
                <a:gd name="connsiteX0" fmla="*/ 0 w 4820290"/>
                <a:gd name="connsiteY0" fmla="*/ 1778780 h 1778780"/>
                <a:gd name="connsiteX1" fmla="*/ 2509900 w 4820290"/>
                <a:gd name="connsiteY1" fmla="*/ 899368 h 1778780"/>
                <a:gd name="connsiteX2" fmla="*/ 4820290 w 4820290"/>
                <a:gd name="connsiteY2" fmla="*/ 43620 h 1778780"/>
                <a:gd name="connsiteX0" fmla="*/ 0 w 4820290"/>
                <a:gd name="connsiteY0" fmla="*/ 1737779 h 1737779"/>
                <a:gd name="connsiteX1" fmla="*/ 2509900 w 4820290"/>
                <a:gd name="connsiteY1" fmla="*/ 858367 h 1737779"/>
                <a:gd name="connsiteX2" fmla="*/ 4820290 w 4820290"/>
                <a:gd name="connsiteY2" fmla="*/ 2619 h 1737779"/>
                <a:gd name="connsiteX0" fmla="*/ 0 w 4820290"/>
                <a:gd name="connsiteY0" fmla="*/ 1737779 h 1753160"/>
                <a:gd name="connsiteX1" fmla="*/ 2509900 w 4820290"/>
                <a:gd name="connsiteY1" fmla="*/ 858367 h 1753160"/>
                <a:gd name="connsiteX2" fmla="*/ 4820290 w 4820290"/>
                <a:gd name="connsiteY2" fmla="*/ 2619 h 1753160"/>
              </a:gdLst>
              <a:ahLst/>
              <a:cxnLst>
                <a:cxn ang="0">
                  <a:pos x="connsiteX0" y="connsiteY0"/>
                </a:cxn>
                <a:cxn ang="0">
                  <a:pos x="connsiteX1" y="connsiteY1"/>
                </a:cxn>
                <a:cxn ang="0">
                  <a:pos x="connsiteX2" y="connsiteY2"/>
                </a:cxn>
              </a:cxnLst>
              <a:rect l="l" t="t" r="r" b="b"/>
              <a:pathLst>
                <a:path w="4820290" h="1753160">
                  <a:moveTo>
                    <a:pt x="0" y="1737779"/>
                  </a:moveTo>
                  <a:cubicBezTo>
                    <a:pt x="785420" y="1723188"/>
                    <a:pt x="2039027" y="1978833"/>
                    <a:pt x="2509900" y="858367"/>
                  </a:cubicBezTo>
                  <a:cubicBezTo>
                    <a:pt x="2980773" y="-262099"/>
                    <a:pt x="4167333" y="58132"/>
                    <a:pt x="4820290" y="2619"/>
                  </a:cubicBezTo>
                </a:path>
              </a:pathLst>
            </a:cu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p:grpSp>
    </p:spTree>
    <p:extLst>
      <p:ext uri="{BB962C8B-B14F-4D97-AF65-F5344CB8AC3E}">
        <p14:creationId xmlns:p14="http://schemas.microsoft.com/office/powerpoint/2010/main" val="261701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9387D-34D1-1849-A85B-4867AC98C06E}"/>
              </a:ext>
            </a:extLst>
          </p:cNvPr>
          <p:cNvSpPr>
            <a:spLocks noGrp="1"/>
          </p:cNvSpPr>
          <p:nvPr>
            <p:ph type="title"/>
          </p:nvPr>
        </p:nvSpPr>
        <p:spPr/>
        <p:txBody>
          <a:bodyPr/>
          <a:lstStyle/>
          <a:p>
            <a:r>
              <a:rPr lang="en-US" dirty="0"/>
              <a:t>Regression: K-Nearest Neighbor</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F47302F-C0F9-9B3F-DD89-C7752E3A1B67}"/>
                  </a:ext>
                </a:extLst>
              </p:cNvPr>
              <p:cNvSpPr txBox="1">
                <a:spLocks/>
              </p:cNvSpPr>
              <p:nvPr/>
            </p:nvSpPr>
            <p:spPr>
              <a:xfrm>
                <a:off x="609600" y="1600202"/>
                <a:ext cx="10972800" cy="1471146"/>
              </a:xfrm>
              <a:prstGeom prst="rect">
                <a:avLst/>
              </a:prstGeom>
            </p:spPr>
            <p:txBody>
              <a:bodyPr vert="horz" lIns="91440" tIns="45720" rIns="91440" bIns="45720" rtlCol="0" anchor="ctr">
                <a:normAutofit lnSpcReduction="10000"/>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Avenir Book" panose="02000503020000020003" pitchFamily="2" charset="0"/>
                  </a:rPr>
                  <a:t>Finds the </a:t>
                </a:r>
                <a14:m>
                  <m:oMath xmlns:m="http://schemas.openxmlformats.org/officeDocument/2006/math">
                    <m:r>
                      <a:rPr lang="en-US" b="0" i="1" smtClean="0">
                        <a:latin typeface="Cambria Math" panose="02040503050406030204" pitchFamily="18" charset="0"/>
                      </a:rPr>
                      <m:t>𝑘</m:t>
                    </m:r>
                  </m:oMath>
                </a14:m>
                <a:r>
                  <a:rPr lang="en-US" dirty="0">
                    <a:latin typeface="Avenir Book" panose="02000503020000020003" pitchFamily="2" charset="0"/>
                  </a:rPr>
                  <a:t> training examples that are most similar and computes the new result based on their labels </a:t>
                </a:r>
                <a:br>
                  <a:rPr lang="en-US" dirty="0">
                    <a:latin typeface="Avenir Book" panose="02000503020000020003" pitchFamily="2" charset="0"/>
                  </a:rPr>
                </a:br>
                <a:r>
                  <a:rPr lang="en-US" dirty="0">
                    <a:latin typeface="Avenir Book" panose="02000503020000020003" pitchFamily="2" charset="0"/>
                  </a:rPr>
                  <a:t>(e.g., average, median)</a:t>
                </a:r>
              </a:p>
            </p:txBody>
          </p:sp>
        </mc:Choice>
        <mc:Fallback xmlns="">
          <p:sp>
            <p:nvSpPr>
              <p:cNvPr id="4" name="Content Placeholder 2">
                <a:extLst>
                  <a:ext uri="{FF2B5EF4-FFF2-40B4-BE49-F238E27FC236}">
                    <a16:creationId xmlns:a16="http://schemas.microsoft.com/office/drawing/2014/main" id="{4F47302F-C0F9-9B3F-DD89-C7752E3A1B67}"/>
                  </a:ext>
                </a:extLst>
              </p:cNvPr>
              <p:cNvSpPr txBox="1">
                <a:spLocks noRot="1" noChangeAspect="1" noMove="1" noResize="1" noEditPoints="1" noAdjustHandles="1" noChangeArrowheads="1" noChangeShapeType="1" noTextEdit="1"/>
              </p:cNvSpPr>
              <p:nvPr/>
            </p:nvSpPr>
            <p:spPr>
              <a:xfrm>
                <a:off x="609600" y="1600202"/>
                <a:ext cx="10972800" cy="1471146"/>
              </a:xfrm>
              <a:prstGeom prst="rect">
                <a:avLst/>
              </a:prstGeom>
              <a:blipFill>
                <a:blip r:embed="rId2"/>
                <a:stretch>
                  <a:fillRect l="-1387" t="-6034" b="-11207"/>
                </a:stretch>
              </a:blipFill>
            </p:spPr>
            <p:txBody>
              <a:bodyPr/>
              <a:lstStyle/>
              <a:p>
                <a:r>
                  <a:rPr lang="en-US">
                    <a:noFill/>
                  </a:rPr>
                  <a:t> </a:t>
                </a:r>
              </a:p>
            </p:txBody>
          </p:sp>
        </mc:Fallback>
      </mc:AlternateContent>
      <p:grpSp>
        <p:nvGrpSpPr>
          <p:cNvPr id="77" name="Group 76">
            <a:extLst>
              <a:ext uri="{FF2B5EF4-FFF2-40B4-BE49-F238E27FC236}">
                <a16:creationId xmlns:a16="http://schemas.microsoft.com/office/drawing/2014/main" id="{E8D0839A-6557-066F-95F6-0A57E6D3640A}"/>
              </a:ext>
            </a:extLst>
          </p:cNvPr>
          <p:cNvGrpSpPr/>
          <p:nvPr/>
        </p:nvGrpSpPr>
        <p:grpSpPr>
          <a:xfrm>
            <a:off x="304603" y="3490777"/>
            <a:ext cx="5878806" cy="3145572"/>
            <a:chOff x="217194" y="3483829"/>
            <a:chExt cx="5878806" cy="3145572"/>
          </a:xfrm>
        </p:grpSpPr>
        <p:grpSp>
          <p:nvGrpSpPr>
            <p:cNvPr id="24" name="Group 23">
              <a:extLst>
                <a:ext uri="{FF2B5EF4-FFF2-40B4-BE49-F238E27FC236}">
                  <a16:creationId xmlns:a16="http://schemas.microsoft.com/office/drawing/2014/main" id="{08BA984E-59CD-DEC6-124F-8360ABCD1DC5}"/>
                </a:ext>
              </a:extLst>
            </p:cNvPr>
            <p:cNvGrpSpPr/>
            <p:nvPr/>
          </p:nvGrpSpPr>
          <p:grpSpPr>
            <a:xfrm>
              <a:off x="683819" y="6167736"/>
              <a:ext cx="5412181" cy="461665"/>
              <a:chOff x="1066800" y="5331767"/>
              <a:chExt cx="7429152" cy="461665"/>
            </a:xfrm>
          </p:grpSpPr>
          <p:cxnSp>
            <p:nvCxnSpPr>
              <p:cNvPr id="25" name="Straight Connector 24">
                <a:extLst>
                  <a:ext uri="{FF2B5EF4-FFF2-40B4-BE49-F238E27FC236}">
                    <a16:creationId xmlns:a16="http://schemas.microsoft.com/office/drawing/2014/main" id="{A8B112AE-A2AC-FC0E-5B89-A14C4FA6DF62}"/>
                  </a:ext>
                </a:extLst>
              </p:cNvPr>
              <p:cNvCxnSpPr/>
              <p:nvPr/>
            </p:nvCxnSpPr>
            <p:spPr>
              <a:xfrm flipH="1">
                <a:off x="1066800" y="5562600"/>
                <a:ext cx="6781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F36C83C-68C3-AEB7-0ACA-89D7908C79B3}"/>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latin typeface="Cambria Math" charset="0"/>
                              <a:ea typeface="Avenir Book" charset="0"/>
                              <a:cs typeface="Avenir Book" charset="0"/>
                            </a:rPr>
                            <m:t>𝑥</m:t>
                          </m:r>
                        </m:oMath>
                      </m:oMathPara>
                    </a14:m>
                    <a:endParaRPr lang="en-US" sz="2400" dirty="0">
                      <a:latin typeface="Avenir Book" panose="02000503020000020003" pitchFamily="2" charset="0"/>
                      <a:ea typeface="Avenir Book" charset="0"/>
                      <a:cs typeface="Avenir Book"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rotWithShape="0">
                    <a:blip r:embed="rId3"/>
                    <a:stretch>
                      <a:fillRect/>
                    </a:stretch>
                  </a:blipFill>
                </p:spPr>
                <p:txBody>
                  <a:bodyPr/>
                  <a:lstStyle/>
                  <a:p>
                    <a:r>
                      <a:rPr lang="en-US">
                        <a:noFill/>
                      </a:rPr>
                      <a:t> </a:t>
                    </a:r>
                  </a:p>
                </p:txBody>
              </p:sp>
            </mc:Fallback>
          </mc:AlternateContent>
        </p:grpSp>
        <p:grpSp>
          <p:nvGrpSpPr>
            <p:cNvPr id="27" name="Group 26">
              <a:extLst>
                <a:ext uri="{FF2B5EF4-FFF2-40B4-BE49-F238E27FC236}">
                  <a16:creationId xmlns:a16="http://schemas.microsoft.com/office/drawing/2014/main" id="{AB029F16-F3A3-E1AB-DAFE-F8EF0A17616D}"/>
                </a:ext>
              </a:extLst>
            </p:cNvPr>
            <p:cNvGrpSpPr/>
            <p:nvPr/>
          </p:nvGrpSpPr>
          <p:grpSpPr>
            <a:xfrm>
              <a:off x="217194" y="3490777"/>
              <a:ext cx="933248" cy="2914934"/>
              <a:chOff x="4105376" y="1112698"/>
              <a:chExt cx="933248" cy="5364302"/>
            </a:xfrm>
          </p:grpSpPr>
          <p:cxnSp>
            <p:nvCxnSpPr>
              <p:cNvPr id="28" name="Straight Connector 27">
                <a:extLst>
                  <a:ext uri="{FF2B5EF4-FFF2-40B4-BE49-F238E27FC236}">
                    <a16:creationId xmlns:a16="http://schemas.microsoft.com/office/drawing/2014/main" id="{6F1F36B0-37F8-B1FA-C41A-82DE3A14B366}"/>
                  </a:ext>
                </a:extLst>
              </p:cNvPr>
              <p:cNvCxnSpPr>
                <a:cxnSpLocks/>
              </p:cNvCxnSpPr>
              <p:nvPr/>
            </p:nvCxnSpPr>
            <p:spPr>
              <a:xfrm>
                <a:off x="4572000" y="2120847"/>
                <a:ext cx="0" cy="43561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4A5A070-54F8-2CB6-2A37-97716385D659}"/>
                      </a:ext>
                    </a:extLst>
                  </p:cNvPr>
                  <p:cNvSpPr txBox="1"/>
                  <p:nvPr/>
                </p:nvSpPr>
                <p:spPr>
                  <a:xfrm>
                    <a:off x="4105376" y="1112698"/>
                    <a:ext cx="933248" cy="84959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latin typeface="Cambria Math" charset="0"/>
                              <a:ea typeface="Avenir Book" charset="0"/>
                              <a:cs typeface="Avenir Book" charset="0"/>
                            </a:rPr>
                            <m:t>𝑓</m:t>
                          </m:r>
                          <m:r>
                            <a:rPr lang="en-US" sz="2400" i="1">
                              <a:latin typeface="Cambria Math" charset="0"/>
                              <a:ea typeface="Avenir Book" charset="0"/>
                              <a:cs typeface="Avenir Book" charset="0"/>
                            </a:rPr>
                            <m:t>(</m:t>
                          </m:r>
                          <m:r>
                            <a:rPr lang="en-US" sz="2400" i="1">
                              <a:latin typeface="Cambria Math" charset="0"/>
                              <a:ea typeface="Avenir Book" charset="0"/>
                              <a:cs typeface="Avenir Book" charset="0"/>
                            </a:rPr>
                            <m:t>𝑥</m:t>
                          </m:r>
                          <m:r>
                            <a:rPr lang="en-US" sz="2400" i="1">
                              <a:latin typeface="Cambria Math" charset="0"/>
                              <a:ea typeface="Avenir Book" charset="0"/>
                              <a:cs typeface="Avenir Book" charset="0"/>
                            </a:rPr>
                            <m:t>)</m:t>
                          </m:r>
                        </m:oMath>
                      </m:oMathPara>
                    </a14:m>
                    <a:endParaRPr lang="en-US" sz="2400" dirty="0">
                      <a:latin typeface="Avenir Book" panose="02000503020000020003" pitchFamily="2" charset="0"/>
                      <a:ea typeface="Avenir Book" charset="0"/>
                      <a:cs typeface="Avenir Book"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4105376" y="1112698"/>
                    <a:ext cx="933248" cy="849594"/>
                  </a:xfrm>
                  <a:prstGeom prst="rect">
                    <a:avLst/>
                  </a:prstGeom>
                  <a:blipFill>
                    <a:blip r:embed="rId4"/>
                    <a:stretch>
                      <a:fillRect l="-1333" b="-13514"/>
                    </a:stretch>
                  </a:blipFill>
                </p:spPr>
                <p:txBody>
                  <a:bodyPr/>
                  <a:lstStyle/>
                  <a:p>
                    <a:r>
                      <a:rPr lang="en-US">
                        <a:noFill/>
                      </a:rPr>
                      <a:t> </a:t>
                    </a:r>
                  </a:p>
                </p:txBody>
              </p:sp>
            </mc:Fallback>
          </mc:AlternateContent>
        </p:grpSp>
        <p:grpSp>
          <p:nvGrpSpPr>
            <p:cNvPr id="30" name="Group 29">
              <a:extLst>
                <a:ext uri="{FF2B5EF4-FFF2-40B4-BE49-F238E27FC236}">
                  <a16:creationId xmlns:a16="http://schemas.microsoft.com/office/drawing/2014/main" id="{92A42F4A-3029-F339-0F86-6A7F04613CE3}"/>
                </a:ext>
              </a:extLst>
            </p:cNvPr>
            <p:cNvGrpSpPr/>
            <p:nvPr/>
          </p:nvGrpSpPr>
          <p:grpSpPr>
            <a:xfrm>
              <a:off x="1568015" y="4154318"/>
              <a:ext cx="3258286" cy="1789283"/>
              <a:chOff x="2913914" y="3426902"/>
              <a:chExt cx="3258286" cy="1789283"/>
            </a:xfrm>
          </p:grpSpPr>
          <p:sp>
            <p:nvSpPr>
              <p:cNvPr id="31" name="Oval 30">
                <a:extLst>
                  <a:ext uri="{FF2B5EF4-FFF2-40B4-BE49-F238E27FC236}">
                    <a16:creationId xmlns:a16="http://schemas.microsoft.com/office/drawing/2014/main" id="{EA5B574B-2F3B-BAAA-990B-264C61DF9B4E}"/>
                  </a:ext>
                </a:extLst>
              </p:cNvPr>
              <p:cNvSpPr/>
              <p:nvPr/>
            </p:nvSpPr>
            <p:spPr>
              <a:xfrm>
                <a:off x="3655619" y="3808743"/>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2" name="Oval 31">
                <a:extLst>
                  <a:ext uri="{FF2B5EF4-FFF2-40B4-BE49-F238E27FC236}">
                    <a16:creationId xmlns:a16="http://schemas.microsoft.com/office/drawing/2014/main" id="{DCC4DDFF-DEC7-C9EC-3BFA-4F51F938E29A}"/>
                  </a:ext>
                </a:extLst>
              </p:cNvPr>
              <p:cNvSpPr/>
              <p:nvPr/>
            </p:nvSpPr>
            <p:spPr>
              <a:xfrm>
                <a:off x="4373310" y="50637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3" name="Oval 32">
                <a:extLst>
                  <a:ext uri="{FF2B5EF4-FFF2-40B4-BE49-F238E27FC236}">
                    <a16:creationId xmlns:a16="http://schemas.microsoft.com/office/drawing/2014/main" id="{8694FC06-2E5F-81BA-7557-C7FB35DEE3D6}"/>
                  </a:ext>
                </a:extLst>
              </p:cNvPr>
              <p:cNvSpPr/>
              <p:nvPr/>
            </p:nvSpPr>
            <p:spPr>
              <a:xfrm>
                <a:off x="2913914" y="4621852"/>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4" name="Oval 33">
                <a:extLst>
                  <a:ext uri="{FF2B5EF4-FFF2-40B4-BE49-F238E27FC236}">
                    <a16:creationId xmlns:a16="http://schemas.microsoft.com/office/drawing/2014/main" id="{31B0D6DB-0A88-2057-7036-36495759C676}"/>
                  </a:ext>
                </a:extLst>
              </p:cNvPr>
              <p:cNvSpPr/>
              <p:nvPr/>
            </p:nvSpPr>
            <p:spPr>
              <a:xfrm>
                <a:off x="6019800" y="4477690"/>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5" name="Oval 34">
                <a:extLst>
                  <a:ext uri="{FF2B5EF4-FFF2-40B4-BE49-F238E27FC236}">
                    <a16:creationId xmlns:a16="http://schemas.microsoft.com/office/drawing/2014/main" id="{D70BFE10-98EE-9D8F-70C9-087BCBBC12C5}"/>
                  </a:ext>
                </a:extLst>
              </p:cNvPr>
              <p:cNvSpPr/>
              <p:nvPr/>
            </p:nvSpPr>
            <p:spPr>
              <a:xfrm>
                <a:off x="5179619" y="3426902"/>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36" name="Group 35">
              <a:extLst>
                <a:ext uri="{FF2B5EF4-FFF2-40B4-BE49-F238E27FC236}">
                  <a16:creationId xmlns:a16="http://schemas.microsoft.com/office/drawing/2014/main" id="{BDAAD425-5EF9-F054-25EE-6622DB764EDF}"/>
                </a:ext>
              </a:extLst>
            </p:cNvPr>
            <p:cNvGrpSpPr/>
            <p:nvPr/>
          </p:nvGrpSpPr>
          <p:grpSpPr>
            <a:xfrm>
              <a:off x="683819" y="4230516"/>
              <a:ext cx="4802581" cy="1636884"/>
              <a:chOff x="1979219" y="4230516"/>
              <a:chExt cx="4802581" cy="1636884"/>
            </a:xfrm>
          </p:grpSpPr>
          <p:cxnSp>
            <p:nvCxnSpPr>
              <p:cNvPr id="37" name="Straight Connector 36">
                <a:extLst>
                  <a:ext uri="{FF2B5EF4-FFF2-40B4-BE49-F238E27FC236}">
                    <a16:creationId xmlns:a16="http://schemas.microsoft.com/office/drawing/2014/main" id="{788153BF-F988-06BC-F554-4C9A9721ACBA}"/>
                  </a:ext>
                </a:extLst>
              </p:cNvPr>
              <p:cNvCxnSpPr/>
              <p:nvPr/>
            </p:nvCxnSpPr>
            <p:spPr>
              <a:xfrm>
                <a:off x="1979219" y="5408804"/>
                <a:ext cx="1373581" cy="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8F5CF4F-076A-A4B4-4F07-4A94CCA97222}"/>
                  </a:ext>
                </a:extLst>
              </p:cNvPr>
              <p:cNvCxnSpPr>
                <a:cxnSpLocks/>
              </p:cNvCxnSpPr>
              <p:nvPr/>
            </p:nvCxnSpPr>
            <p:spPr>
              <a:xfrm>
                <a:off x="3409059" y="4612358"/>
                <a:ext cx="629541" cy="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7C75052-2220-73A9-5BC6-D6E0E5378366}"/>
                  </a:ext>
                </a:extLst>
              </p:cNvPr>
              <p:cNvCxnSpPr>
                <a:cxnSpLocks/>
              </p:cNvCxnSpPr>
              <p:nvPr/>
            </p:nvCxnSpPr>
            <p:spPr>
              <a:xfrm>
                <a:off x="4069589" y="5867400"/>
                <a:ext cx="688970" cy="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161D4E4-DBE4-C14C-B12E-9AD6C36E725D}"/>
                  </a:ext>
                </a:extLst>
              </p:cNvPr>
              <p:cNvCxnSpPr>
                <a:cxnSpLocks/>
              </p:cNvCxnSpPr>
              <p:nvPr/>
            </p:nvCxnSpPr>
            <p:spPr>
              <a:xfrm>
                <a:off x="4758559" y="4230517"/>
                <a:ext cx="789354" cy="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D491B1B-B1E5-7246-DFF6-88EB6E281C44}"/>
                  </a:ext>
                </a:extLst>
              </p:cNvPr>
              <p:cNvCxnSpPr>
                <a:cxnSpLocks/>
              </p:cNvCxnSpPr>
              <p:nvPr/>
            </p:nvCxnSpPr>
            <p:spPr>
              <a:xfrm>
                <a:off x="5562600" y="5281305"/>
                <a:ext cx="1219200" cy="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373461-335B-410B-ADFE-001D1BC1230C}"/>
                  </a:ext>
                </a:extLst>
              </p:cNvPr>
              <p:cNvCxnSpPr>
                <a:cxnSpLocks/>
              </p:cNvCxnSpPr>
              <p:nvPr/>
            </p:nvCxnSpPr>
            <p:spPr>
              <a:xfrm>
                <a:off x="3349063" y="4612358"/>
                <a:ext cx="0" cy="813109"/>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A829E08-C3C3-CF29-1421-83685056DB03}"/>
                  </a:ext>
                </a:extLst>
              </p:cNvPr>
              <p:cNvCxnSpPr>
                <a:cxnSpLocks/>
              </p:cNvCxnSpPr>
              <p:nvPr/>
            </p:nvCxnSpPr>
            <p:spPr>
              <a:xfrm>
                <a:off x="4038600" y="4612358"/>
                <a:ext cx="0" cy="1255042"/>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26EC0C5-3E7C-4282-FEB9-01CC27F98493}"/>
                  </a:ext>
                </a:extLst>
              </p:cNvPr>
              <p:cNvCxnSpPr>
                <a:cxnSpLocks/>
              </p:cNvCxnSpPr>
              <p:nvPr/>
            </p:nvCxnSpPr>
            <p:spPr>
              <a:xfrm>
                <a:off x="4758559" y="4230517"/>
                <a:ext cx="0" cy="1636883"/>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9A77739-1B80-96BB-2251-6AF2B4CE73B5}"/>
                  </a:ext>
                </a:extLst>
              </p:cNvPr>
              <p:cNvCxnSpPr>
                <a:cxnSpLocks/>
              </p:cNvCxnSpPr>
              <p:nvPr/>
            </p:nvCxnSpPr>
            <p:spPr>
              <a:xfrm>
                <a:off x="5562600" y="4230516"/>
                <a:ext cx="0" cy="1050789"/>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999AEB9-66CD-614E-5253-7A14AA8AE182}"/>
                    </a:ext>
                  </a:extLst>
                </p:cNvPr>
                <p:cNvSpPr txBox="1"/>
                <p:nvPr/>
              </p:nvSpPr>
              <p:spPr>
                <a:xfrm>
                  <a:off x="4536150" y="3483829"/>
                  <a:ext cx="1018677" cy="461665"/>
                </a:xfrm>
                <a:prstGeom prst="rect">
                  <a:avLst/>
                </a:prstGeom>
                <a:noFill/>
                <a:ln w="28575">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𝑘</m:t>
                        </m:r>
                        <m:r>
                          <a:rPr lang="en-US" sz="2400" b="0" i="1" dirty="0" smtClean="0">
                            <a:latin typeface="Cambria Math" panose="02040503050406030204" pitchFamily="18" charset="0"/>
                          </a:rPr>
                          <m:t>=1</m:t>
                        </m:r>
                      </m:oMath>
                    </m:oMathPara>
                  </a14:m>
                  <a:endParaRPr lang="en-US" sz="2400" dirty="0">
                    <a:latin typeface="Avenir Book" panose="02000503020000020003" pitchFamily="2" charset="0"/>
                  </a:endParaRPr>
                </a:p>
              </p:txBody>
            </p:sp>
          </mc:Choice>
          <mc:Fallback xmlns="">
            <p:sp>
              <p:nvSpPr>
                <p:cNvPr id="46" name="TextBox 45">
                  <a:extLst>
                    <a:ext uri="{FF2B5EF4-FFF2-40B4-BE49-F238E27FC236}">
                      <a16:creationId xmlns:a16="http://schemas.microsoft.com/office/drawing/2014/main" id="{0999AEB9-66CD-614E-5253-7A14AA8AE182}"/>
                    </a:ext>
                  </a:extLst>
                </p:cNvPr>
                <p:cNvSpPr txBox="1">
                  <a:spLocks noRot="1" noChangeAspect="1" noMove="1" noResize="1" noEditPoints="1" noAdjustHandles="1" noChangeArrowheads="1" noChangeShapeType="1" noTextEdit="1"/>
                </p:cNvSpPr>
                <p:nvPr/>
              </p:nvSpPr>
              <p:spPr>
                <a:xfrm>
                  <a:off x="4536150" y="3483829"/>
                  <a:ext cx="1018677" cy="461665"/>
                </a:xfrm>
                <a:prstGeom prst="rect">
                  <a:avLst/>
                </a:prstGeom>
                <a:blipFill>
                  <a:blip r:embed="rId5"/>
                  <a:stretch>
                    <a:fillRect/>
                  </a:stretch>
                </a:blipFill>
                <a:ln w="28575">
                  <a:solidFill>
                    <a:schemeClr val="tx1"/>
                  </a:solidFill>
                </a:ln>
              </p:spPr>
              <p:txBody>
                <a:bodyPr/>
                <a:lstStyle/>
                <a:p>
                  <a:r>
                    <a:rPr lang="en-US">
                      <a:noFill/>
                    </a:rPr>
                    <a:t> </a:t>
                  </a:r>
                </a:p>
              </p:txBody>
            </p:sp>
          </mc:Fallback>
        </mc:AlternateContent>
      </p:grpSp>
      <p:grpSp>
        <p:nvGrpSpPr>
          <p:cNvPr id="78" name="Group 77">
            <a:extLst>
              <a:ext uri="{FF2B5EF4-FFF2-40B4-BE49-F238E27FC236}">
                <a16:creationId xmlns:a16="http://schemas.microsoft.com/office/drawing/2014/main" id="{B1FBFEE5-DA14-CBD6-726F-EF560E6BB716}"/>
              </a:ext>
            </a:extLst>
          </p:cNvPr>
          <p:cNvGrpSpPr/>
          <p:nvPr/>
        </p:nvGrpSpPr>
        <p:grpSpPr>
          <a:xfrm>
            <a:off x="6146435" y="3483829"/>
            <a:ext cx="5878806" cy="3145572"/>
            <a:chOff x="6146435" y="3483829"/>
            <a:chExt cx="5878806" cy="3145572"/>
          </a:xfrm>
        </p:grpSpPr>
        <p:grpSp>
          <p:nvGrpSpPr>
            <p:cNvPr id="47" name="Group 46">
              <a:extLst>
                <a:ext uri="{FF2B5EF4-FFF2-40B4-BE49-F238E27FC236}">
                  <a16:creationId xmlns:a16="http://schemas.microsoft.com/office/drawing/2014/main" id="{73075480-3C77-8369-89FF-F408DBEC3BC5}"/>
                </a:ext>
              </a:extLst>
            </p:cNvPr>
            <p:cNvGrpSpPr/>
            <p:nvPr/>
          </p:nvGrpSpPr>
          <p:grpSpPr>
            <a:xfrm>
              <a:off x="6613060" y="6167736"/>
              <a:ext cx="5412181" cy="461665"/>
              <a:chOff x="1066800" y="5331767"/>
              <a:chExt cx="7429152" cy="461665"/>
            </a:xfrm>
          </p:grpSpPr>
          <p:cxnSp>
            <p:nvCxnSpPr>
              <p:cNvPr id="48" name="Straight Connector 47">
                <a:extLst>
                  <a:ext uri="{FF2B5EF4-FFF2-40B4-BE49-F238E27FC236}">
                    <a16:creationId xmlns:a16="http://schemas.microsoft.com/office/drawing/2014/main" id="{C0A67D5C-3C06-6EAA-2C6C-168651B9235F}"/>
                  </a:ext>
                </a:extLst>
              </p:cNvPr>
              <p:cNvCxnSpPr/>
              <p:nvPr/>
            </p:nvCxnSpPr>
            <p:spPr>
              <a:xfrm flipH="1">
                <a:off x="1066800" y="5562600"/>
                <a:ext cx="6781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4D50BBA-1F14-5693-9119-F6FDC517EE59}"/>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latin typeface="Cambria Math" charset="0"/>
                              <a:ea typeface="Avenir Book" charset="0"/>
                              <a:cs typeface="Avenir Book" charset="0"/>
                            </a:rPr>
                            <m:t>𝑥</m:t>
                          </m:r>
                        </m:oMath>
                      </m:oMathPara>
                    </a14:m>
                    <a:endParaRPr lang="en-US" sz="2400" dirty="0">
                      <a:latin typeface="Avenir Book" panose="02000503020000020003" pitchFamily="2" charset="0"/>
                      <a:ea typeface="Avenir Book" charset="0"/>
                      <a:cs typeface="Avenir Book"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rotWithShape="0">
                    <a:blip r:embed="rId3"/>
                    <a:stretch>
                      <a:fillRect/>
                    </a:stretch>
                  </a:blipFill>
                </p:spPr>
                <p:txBody>
                  <a:bodyPr/>
                  <a:lstStyle/>
                  <a:p>
                    <a:r>
                      <a:rPr lang="en-US">
                        <a:noFill/>
                      </a:rPr>
                      <a:t> </a:t>
                    </a:r>
                  </a:p>
                </p:txBody>
              </p:sp>
            </mc:Fallback>
          </mc:AlternateContent>
        </p:grpSp>
        <p:grpSp>
          <p:nvGrpSpPr>
            <p:cNvPr id="50" name="Group 49">
              <a:extLst>
                <a:ext uri="{FF2B5EF4-FFF2-40B4-BE49-F238E27FC236}">
                  <a16:creationId xmlns:a16="http://schemas.microsoft.com/office/drawing/2014/main" id="{88396B12-4899-0F07-10EB-1B3390904F15}"/>
                </a:ext>
              </a:extLst>
            </p:cNvPr>
            <p:cNvGrpSpPr/>
            <p:nvPr/>
          </p:nvGrpSpPr>
          <p:grpSpPr>
            <a:xfrm>
              <a:off x="6146435" y="3490777"/>
              <a:ext cx="933248" cy="2914934"/>
              <a:chOff x="4105376" y="1112698"/>
              <a:chExt cx="933248" cy="5364302"/>
            </a:xfrm>
          </p:grpSpPr>
          <p:cxnSp>
            <p:nvCxnSpPr>
              <p:cNvPr id="51" name="Straight Connector 50">
                <a:extLst>
                  <a:ext uri="{FF2B5EF4-FFF2-40B4-BE49-F238E27FC236}">
                    <a16:creationId xmlns:a16="http://schemas.microsoft.com/office/drawing/2014/main" id="{85B4BB6C-B8ED-C777-24EB-EF4139DC08B7}"/>
                  </a:ext>
                </a:extLst>
              </p:cNvPr>
              <p:cNvCxnSpPr>
                <a:cxnSpLocks/>
              </p:cNvCxnSpPr>
              <p:nvPr/>
            </p:nvCxnSpPr>
            <p:spPr>
              <a:xfrm>
                <a:off x="4572000" y="2120847"/>
                <a:ext cx="0" cy="43561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045DDE5-FED5-BA22-FC35-98B257D014EF}"/>
                      </a:ext>
                    </a:extLst>
                  </p:cNvPr>
                  <p:cNvSpPr txBox="1"/>
                  <p:nvPr/>
                </p:nvSpPr>
                <p:spPr>
                  <a:xfrm>
                    <a:off x="4105376" y="1112698"/>
                    <a:ext cx="933248" cy="84959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a:latin typeface="Cambria Math" charset="0"/>
                              <a:ea typeface="Avenir Book" charset="0"/>
                              <a:cs typeface="Avenir Book" charset="0"/>
                            </a:rPr>
                            <m:t>𝑓</m:t>
                          </m:r>
                          <m:r>
                            <a:rPr lang="en-US" sz="2400" i="1">
                              <a:latin typeface="Cambria Math" charset="0"/>
                              <a:ea typeface="Avenir Book" charset="0"/>
                              <a:cs typeface="Avenir Book" charset="0"/>
                            </a:rPr>
                            <m:t>(</m:t>
                          </m:r>
                          <m:r>
                            <a:rPr lang="en-US" sz="2400" i="1">
                              <a:latin typeface="Cambria Math" charset="0"/>
                              <a:ea typeface="Avenir Book" charset="0"/>
                              <a:cs typeface="Avenir Book" charset="0"/>
                            </a:rPr>
                            <m:t>𝑥</m:t>
                          </m:r>
                          <m:r>
                            <a:rPr lang="en-US" sz="2400" i="1">
                              <a:latin typeface="Cambria Math" charset="0"/>
                              <a:ea typeface="Avenir Book" charset="0"/>
                              <a:cs typeface="Avenir Book" charset="0"/>
                            </a:rPr>
                            <m:t>)</m:t>
                          </m:r>
                        </m:oMath>
                      </m:oMathPara>
                    </a14:m>
                    <a:endParaRPr lang="en-US" sz="2400" dirty="0">
                      <a:latin typeface="Avenir Book" panose="02000503020000020003" pitchFamily="2" charset="0"/>
                      <a:ea typeface="Avenir Book" charset="0"/>
                      <a:cs typeface="Avenir Book"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4105376" y="1112698"/>
                    <a:ext cx="933248" cy="849594"/>
                  </a:xfrm>
                  <a:prstGeom prst="rect">
                    <a:avLst/>
                  </a:prstGeom>
                  <a:blipFill>
                    <a:blip r:embed="rId4"/>
                    <a:stretch>
                      <a:fillRect l="-1333" b="-13514"/>
                    </a:stretch>
                  </a:blipFill>
                </p:spPr>
                <p:txBody>
                  <a:bodyPr/>
                  <a:lstStyle/>
                  <a:p>
                    <a:r>
                      <a:rPr lang="en-US">
                        <a:noFill/>
                      </a:rPr>
                      <a:t> </a:t>
                    </a:r>
                  </a:p>
                </p:txBody>
              </p:sp>
            </mc:Fallback>
          </mc:AlternateContent>
        </p:grpSp>
        <p:grpSp>
          <p:nvGrpSpPr>
            <p:cNvPr id="53" name="Group 52">
              <a:extLst>
                <a:ext uri="{FF2B5EF4-FFF2-40B4-BE49-F238E27FC236}">
                  <a16:creationId xmlns:a16="http://schemas.microsoft.com/office/drawing/2014/main" id="{DAFA17A8-29A7-17E6-68BE-22DF3902B377}"/>
                </a:ext>
              </a:extLst>
            </p:cNvPr>
            <p:cNvGrpSpPr/>
            <p:nvPr/>
          </p:nvGrpSpPr>
          <p:grpSpPr>
            <a:xfrm>
              <a:off x="7497256" y="4154318"/>
              <a:ext cx="3258286" cy="1789283"/>
              <a:chOff x="2913914" y="3426902"/>
              <a:chExt cx="3258286" cy="1789283"/>
            </a:xfrm>
          </p:grpSpPr>
          <p:sp>
            <p:nvSpPr>
              <p:cNvPr id="54" name="Oval 53">
                <a:extLst>
                  <a:ext uri="{FF2B5EF4-FFF2-40B4-BE49-F238E27FC236}">
                    <a16:creationId xmlns:a16="http://schemas.microsoft.com/office/drawing/2014/main" id="{0E0A8AA4-2BAE-A1D6-840F-8723AB34868F}"/>
                  </a:ext>
                </a:extLst>
              </p:cNvPr>
              <p:cNvSpPr/>
              <p:nvPr/>
            </p:nvSpPr>
            <p:spPr>
              <a:xfrm>
                <a:off x="3655619" y="3808743"/>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5" name="Oval 54">
                <a:extLst>
                  <a:ext uri="{FF2B5EF4-FFF2-40B4-BE49-F238E27FC236}">
                    <a16:creationId xmlns:a16="http://schemas.microsoft.com/office/drawing/2014/main" id="{E832BC66-6A0D-D183-35D5-3EBCCB5EF543}"/>
                  </a:ext>
                </a:extLst>
              </p:cNvPr>
              <p:cNvSpPr/>
              <p:nvPr/>
            </p:nvSpPr>
            <p:spPr>
              <a:xfrm>
                <a:off x="4373310" y="5063785"/>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6" name="Oval 55">
                <a:extLst>
                  <a:ext uri="{FF2B5EF4-FFF2-40B4-BE49-F238E27FC236}">
                    <a16:creationId xmlns:a16="http://schemas.microsoft.com/office/drawing/2014/main" id="{8772DA9D-1A61-050B-3FDF-593704E38C0C}"/>
                  </a:ext>
                </a:extLst>
              </p:cNvPr>
              <p:cNvSpPr/>
              <p:nvPr/>
            </p:nvSpPr>
            <p:spPr>
              <a:xfrm>
                <a:off x="2913914" y="4621852"/>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7" name="Oval 56">
                <a:extLst>
                  <a:ext uri="{FF2B5EF4-FFF2-40B4-BE49-F238E27FC236}">
                    <a16:creationId xmlns:a16="http://schemas.microsoft.com/office/drawing/2014/main" id="{D043F323-2048-9EF7-91A6-BC882794E1CE}"/>
                  </a:ext>
                </a:extLst>
              </p:cNvPr>
              <p:cNvSpPr/>
              <p:nvPr/>
            </p:nvSpPr>
            <p:spPr>
              <a:xfrm>
                <a:off x="6019800" y="4477690"/>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8" name="Oval 57">
                <a:extLst>
                  <a:ext uri="{FF2B5EF4-FFF2-40B4-BE49-F238E27FC236}">
                    <a16:creationId xmlns:a16="http://schemas.microsoft.com/office/drawing/2014/main" id="{C196D51F-E76A-4597-76AD-A1E02B3CD439}"/>
                  </a:ext>
                </a:extLst>
              </p:cNvPr>
              <p:cNvSpPr/>
              <p:nvPr/>
            </p:nvSpPr>
            <p:spPr>
              <a:xfrm>
                <a:off x="5179619" y="3426902"/>
                <a:ext cx="152400" cy="15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59" name="Group 58">
              <a:extLst>
                <a:ext uri="{FF2B5EF4-FFF2-40B4-BE49-F238E27FC236}">
                  <a16:creationId xmlns:a16="http://schemas.microsoft.com/office/drawing/2014/main" id="{30B5FF60-4215-98CF-C20F-606BF0DF889E}"/>
                </a:ext>
              </a:extLst>
            </p:cNvPr>
            <p:cNvGrpSpPr/>
            <p:nvPr/>
          </p:nvGrpSpPr>
          <p:grpSpPr>
            <a:xfrm>
              <a:off x="6613060" y="4800600"/>
              <a:ext cx="4802581" cy="404506"/>
              <a:chOff x="1979219" y="4800600"/>
              <a:chExt cx="4802581" cy="404506"/>
            </a:xfrm>
          </p:grpSpPr>
          <p:cxnSp>
            <p:nvCxnSpPr>
              <p:cNvPr id="60" name="Straight Connector 59">
                <a:extLst>
                  <a:ext uri="{FF2B5EF4-FFF2-40B4-BE49-F238E27FC236}">
                    <a16:creationId xmlns:a16="http://schemas.microsoft.com/office/drawing/2014/main" id="{B437115B-FE4F-E7EB-D093-7AA72FB665B2}"/>
                  </a:ext>
                </a:extLst>
              </p:cNvPr>
              <p:cNvCxnSpPr>
                <a:cxnSpLocks/>
              </p:cNvCxnSpPr>
              <p:nvPr/>
            </p:nvCxnSpPr>
            <p:spPr>
              <a:xfrm>
                <a:off x="1979219" y="5205106"/>
                <a:ext cx="2059381" cy="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46F5371-5B83-7685-E594-D6BCDE1ABA50}"/>
                  </a:ext>
                </a:extLst>
              </p:cNvPr>
              <p:cNvCxnSpPr>
                <a:cxnSpLocks/>
              </p:cNvCxnSpPr>
              <p:nvPr/>
            </p:nvCxnSpPr>
            <p:spPr>
              <a:xfrm>
                <a:off x="4069589" y="5029200"/>
                <a:ext cx="688970" cy="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417A467-8521-57BC-FD56-91198DF9830F}"/>
                  </a:ext>
                </a:extLst>
              </p:cNvPr>
              <p:cNvCxnSpPr>
                <a:cxnSpLocks/>
              </p:cNvCxnSpPr>
              <p:nvPr/>
            </p:nvCxnSpPr>
            <p:spPr>
              <a:xfrm>
                <a:off x="4758559" y="4800600"/>
                <a:ext cx="2023241" cy="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273C792-C025-0E81-A4CD-7B3BF6AC7899}"/>
                  </a:ext>
                </a:extLst>
              </p:cNvPr>
              <p:cNvCxnSpPr>
                <a:cxnSpLocks/>
              </p:cNvCxnSpPr>
              <p:nvPr/>
            </p:nvCxnSpPr>
            <p:spPr>
              <a:xfrm>
                <a:off x="4038600" y="5029200"/>
                <a:ext cx="0" cy="175906"/>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67D25AB-6AC1-55DC-17BA-5421C283286D}"/>
                  </a:ext>
                </a:extLst>
              </p:cNvPr>
              <p:cNvCxnSpPr>
                <a:cxnSpLocks/>
              </p:cNvCxnSpPr>
              <p:nvPr/>
            </p:nvCxnSpPr>
            <p:spPr>
              <a:xfrm>
                <a:off x="4758559" y="4800600"/>
                <a:ext cx="0" cy="228600"/>
              </a:xfrm>
              <a:prstGeom prst="line">
                <a:avLst/>
              </a:prstGeom>
              <a:ln w="50800">
                <a:solidFill>
                  <a:srgbClr val="0070C0"/>
                </a:solidFill>
                <a:prstDash val="sys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DC3678B8-1CF9-31A2-5CDC-033D1489AD2B}"/>
                    </a:ext>
                  </a:extLst>
                </p:cNvPr>
                <p:cNvSpPr txBox="1"/>
                <p:nvPr/>
              </p:nvSpPr>
              <p:spPr>
                <a:xfrm>
                  <a:off x="10465391" y="3483829"/>
                  <a:ext cx="1018677" cy="461665"/>
                </a:xfrm>
                <a:prstGeom prst="rect">
                  <a:avLst/>
                </a:prstGeom>
                <a:noFill/>
                <a:ln w="28575">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𝑘</m:t>
                        </m:r>
                        <m:r>
                          <a:rPr lang="en-US" sz="2400" b="0" i="1" dirty="0" smtClean="0">
                            <a:latin typeface="Cambria Math" panose="02040503050406030204" pitchFamily="18" charset="0"/>
                          </a:rPr>
                          <m:t>=3</m:t>
                        </m:r>
                      </m:oMath>
                    </m:oMathPara>
                  </a14:m>
                  <a:endParaRPr lang="en-US" sz="2400" dirty="0">
                    <a:latin typeface="Avenir Book" panose="02000503020000020003" pitchFamily="2" charset="0"/>
                  </a:endParaRPr>
                </a:p>
              </p:txBody>
            </p:sp>
          </mc:Choice>
          <mc:Fallback xmlns="">
            <p:sp>
              <p:nvSpPr>
                <p:cNvPr id="69" name="TextBox 68">
                  <a:extLst>
                    <a:ext uri="{FF2B5EF4-FFF2-40B4-BE49-F238E27FC236}">
                      <a16:creationId xmlns:a16="http://schemas.microsoft.com/office/drawing/2014/main" id="{DC3678B8-1CF9-31A2-5CDC-033D1489AD2B}"/>
                    </a:ext>
                  </a:extLst>
                </p:cNvPr>
                <p:cNvSpPr txBox="1">
                  <a:spLocks noRot="1" noChangeAspect="1" noMove="1" noResize="1" noEditPoints="1" noAdjustHandles="1" noChangeArrowheads="1" noChangeShapeType="1" noTextEdit="1"/>
                </p:cNvSpPr>
                <p:nvPr/>
              </p:nvSpPr>
              <p:spPr>
                <a:xfrm>
                  <a:off x="10465391" y="3483829"/>
                  <a:ext cx="1018677" cy="461665"/>
                </a:xfrm>
                <a:prstGeom prst="rect">
                  <a:avLst/>
                </a:prstGeom>
                <a:blipFill>
                  <a:blip r:embed="rId6"/>
                  <a:stretch>
                    <a:fillRect/>
                  </a:stretch>
                </a:blipFill>
                <a:ln w="28575">
                  <a:solidFill>
                    <a:schemeClr val="tx1"/>
                  </a:solidFill>
                </a:ln>
              </p:spPr>
              <p:txBody>
                <a:bodyPr/>
                <a:lstStyle/>
                <a:p>
                  <a:r>
                    <a:rPr lang="en-US">
                      <a:noFill/>
                    </a:rPr>
                    <a:t> </a:t>
                  </a:r>
                </a:p>
              </p:txBody>
            </p:sp>
          </mc:Fallback>
        </mc:AlternateContent>
      </p:grpSp>
    </p:spTree>
    <p:extLst>
      <p:ext uri="{BB962C8B-B14F-4D97-AF65-F5344CB8AC3E}">
        <p14:creationId xmlns:p14="http://schemas.microsoft.com/office/powerpoint/2010/main" val="335924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fade">
                                      <p:cBhvr>
                                        <p:cTn id="12" dur="5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fade">
                                      <p:cBhvr>
                                        <p:cTn id="1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D5477-5405-100C-5D7A-F91D2CE2E568}"/>
              </a:ext>
            </a:extLst>
          </p:cNvPr>
          <p:cNvSpPr>
            <a:spLocks noGrp="1"/>
          </p:cNvSpPr>
          <p:nvPr>
            <p:ph type="title"/>
          </p:nvPr>
        </p:nvSpPr>
        <p:spPr/>
        <p:txBody>
          <a:bodyPr>
            <a:normAutofit fontScale="90000"/>
          </a:bodyPr>
          <a:lstStyle/>
          <a:p>
            <a:r>
              <a:rPr lang="en-US" dirty="0"/>
              <a:t>Classification: Support Vector Machine (SVM)</a:t>
            </a:r>
          </a:p>
        </p:txBody>
      </p:sp>
      <p:sp>
        <p:nvSpPr>
          <p:cNvPr id="4" name="Content Placeholder 2">
            <a:extLst>
              <a:ext uri="{FF2B5EF4-FFF2-40B4-BE49-F238E27FC236}">
                <a16:creationId xmlns:a16="http://schemas.microsoft.com/office/drawing/2014/main" id="{A551EEBC-A5DD-896D-15A0-F0D265ADA840}"/>
              </a:ext>
            </a:extLst>
          </p:cNvPr>
          <p:cNvSpPr>
            <a:spLocks noGrp="1"/>
          </p:cNvSpPr>
          <p:nvPr>
            <p:ph idx="1"/>
          </p:nvPr>
        </p:nvSpPr>
        <p:spPr>
          <a:xfrm>
            <a:off x="609600" y="1600202"/>
            <a:ext cx="10972800" cy="1112087"/>
          </a:xfrm>
        </p:spPr>
        <p:txBody>
          <a:bodyPr>
            <a:normAutofit/>
          </a:bodyPr>
          <a:lstStyle/>
          <a:p>
            <a:r>
              <a:rPr lang="en-US" dirty="0">
                <a:latin typeface="Avenir Book" panose="02000503020000020003" pitchFamily="2" charset="0"/>
              </a:rPr>
              <a:t>Separates two different classes with a hyperplane that maximizes the separation between the classes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3AF5634-3686-2A9B-CF79-1E7B1BF08449}"/>
                  </a:ext>
                </a:extLst>
              </p:cNvPr>
              <p:cNvSpPr txBox="1"/>
              <p:nvPr/>
            </p:nvSpPr>
            <p:spPr>
              <a:xfrm>
                <a:off x="3435016" y="2743200"/>
                <a:ext cx="532357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i="1">
                          <a:latin typeface="Cambria Math" charset="0"/>
                        </a:rPr>
                        <m:t>𝑦</m:t>
                      </m:r>
                      <m:r>
                        <a:rPr lang="en-US" sz="3600" i="1">
                          <a:latin typeface="Cambria Math" panose="02040503050406030204" pitchFamily="18" charset="0"/>
                          <a:ea typeface="Cambria Math" panose="02040503050406030204" pitchFamily="18" charset="0"/>
                          <a:cs typeface="Cambria Math" charset="0"/>
                        </a:rPr>
                        <m:t>≥</m:t>
                      </m:r>
                      <m:r>
                        <a:rPr lang="en-US" sz="3600" i="1">
                          <a:latin typeface="Cambria Math" charset="0"/>
                        </a:rPr>
                        <m:t> </m:t>
                      </m:r>
                      <m:sSub>
                        <m:sSubPr>
                          <m:ctrlPr>
                            <a:rPr lang="en-US" sz="3600" i="1">
                              <a:latin typeface="Cambria Math" panose="02040503050406030204" pitchFamily="18" charset="0"/>
                            </a:rPr>
                          </m:ctrlPr>
                        </m:sSubPr>
                        <m:e>
                          <m:r>
                            <a:rPr lang="en-US" sz="3600" i="1">
                              <a:latin typeface="Cambria Math" charset="0"/>
                            </a:rPr>
                            <m:t>𝑤</m:t>
                          </m:r>
                        </m:e>
                        <m:sub>
                          <m:r>
                            <a:rPr lang="en-US" sz="3600" i="1">
                              <a:latin typeface="Cambria Math" charset="0"/>
                            </a:rPr>
                            <m:t>1</m:t>
                          </m:r>
                        </m:sub>
                      </m:sSub>
                      <m:sSub>
                        <m:sSubPr>
                          <m:ctrlPr>
                            <a:rPr lang="en-US" sz="3600" i="1">
                              <a:latin typeface="Cambria Math" panose="02040503050406030204" pitchFamily="18" charset="0"/>
                            </a:rPr>
                          </m:ctrlPr>
                        </m:sSubPr>
                        <m:e>
                          <m:r>
                            <a:rPr lang="en-US" sz="3600" i="1">
                              <a:latin typeface="Cambria Math" charset="0"/>
                            </a:rPr>
                            <m:t>𝑥</m:t>
                          </m:r>
                        </m:e>
                        <m:sub>
                          <m:r>
                            <a:rPr lang="en-US" sz="3600" i="1">
                              <a:latin typeface="Cambria Math" charset="0"/>
                            </a:rPr>
                            <m:t>1</m:t>
                          </m:r>
                        </m:sub>
                      </m:sSub>
                      <m:r>
                        <a:rPr lang="en-US" sz="3600" i="1">
                          <a:latin typeface="Cambria Math" charset="0"/>
                        </a:rPr>
                        <m:t>+</m:t>
                      </m:r>
                      <m:sSub>
                        <m:sSubPr>
                          <m:ctrlPr>
                            <a:rPr lang="en-US" sz="3600" i="1">
                              <a:latin typeface="Cambria Math" panose="02040503050406030204" pitchFamily="18" charset="0"/>
                            </a:rPr>
                          </m:ctrlPr>
                        </m:sSubPr>
                        <m:e>
                          <m:r>
                            <a:rPr lang="en-US" sz="3600" i="1">
                              <a:latin typeface="Cambria Math" charset="0"/>
                            </a:rPr>
                            <m:t>𝑤</m:t>
                          </m:r>
                        </m:e>
                        <m:sub>
                          <m:r>
                            <a:rPr lang="en-US" sz="3600" i="1">
                              <a:latin typeface="Cambria Math" charset="0"/>
                            </a:rPr>
                            <m:t>2</m:t>
                          </m:r>
                        </m:sub>
                      </m:sSub>
                      <m:sSub>
                        <m:sSubPr>
                          <m:ctrlPr>
                            <a:rPr lang="en-US" sz="3600" i="1">
                              <a:latin typeface="Cambria Math" panose="02040503050406030204" pitchFamily="18" charset="0"/>
                            </a:rPr>
                          </m:ctrlPr>
                        </m:sSubPr>
                        <m:e>
                          <m:r>
                            <a:rPr lang="en-US" sz="3600" i="1">
                              <a:latin typeface="Cambria Math" charset="0"/>
                            </a:rPr>
                            <m:t>𝑥</m:t>
                          </m:r>
                        </m:e>
                        <m:sub>
                          <m:r>
                            <a:rPr lang="en-US" sz="3600" i="1">
                              <a:latin typeface="Cambria Math" charset="0"/>
                            </a:rPr>
                            <m:t>2</m:t>
                          </m:r>
                        </m:sub>
                      </m:sSub>
                      <m:r>
                        <a:rPr lang="en-US" sz="3600" i="1">
                          <a:latin typeface="Cambria Math" charset="0"/>
                        </a:rPr>
                        <m:t>+…+</m:t>
                      </m:r>
                      <m:r>
                        <a:rPr lang="en-US" sz="3600" i="1">
                          <a:latin typeface="Cambria Math" charset="0"/>
                        </a:rPr>
                        <m:t>𝑏</m:t>
                      </m:r>
                    </m:oMath>
                  </m:oMathPara>
                </a14:m>
                <a:endParaRPr lang="en-US" sz="3600" dirty="0">
                  <a:latin typeface="Avenir Book" panose="02000503020000020003" pitchFamily="2" charset="0"/>
                </a:endParaRPr>
              </a:p>
            </p:txBody>
          </p:sp>
        </mc:Choice>
        <mc:Fallback xmlns="">
          <p:sp>
            <p:nvSpPr>
              <p:cNvPr id="7" name="TextBox 6">
                <a:extLst>
                  <a:ext uri="{FF2B5EF4-FFF2-40B4-BE49-F238E27FC236}">
                    <a16:creationId xmlns:a16="http://schemas.microsoft.com/office/drawing/2014/main" id="{B3AF5634-3686-2A9B-CF79-1E7B1BF08449}"/>
                  </a:ext>
                </a:extLst>
              </p:cNvPr>
              <p:cNvSpPr txBox="1">
                <a:spLocks noRot="1" noChangeAspect="1" noMove="1" noResize="1" noEditPoints="1" noAdjustHandles="1" noChangeArrowheads="1" noChangeShapeType="1" noTextEdit="1"/>
              </p:cNvSpPr>
              <p:nvPr/>
            </p:nvSpPr>
            <p:spPr>
              <a:xfrm>
                <a:off x="3435016" y="2743200"/>
                <a:ext cx="5323573" cy="553998"/>
              </a:xfrm>
              <a:prstGeom prst="rect">
                <a:avLst/>
              </a:prstGeom>
              <a:blipFill>
                <a:blip r:embed="rId2"/>
                <a:stretch>
                  <a:fillRect l="-1429" t="-11364" r="-1429" b="-36364"/>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2589F463-8A75-BBD8-8B54-DB164D73696F}"/>
              </a:ext>
            </a:extLst>
          </p:cNvPr>
          <p:cNvGrpSpPr/>
          <p:nvPr/>
        </p:nvGrpSpPr>
        <p:grpSpPr>
          <a:xfrm>
            <a:off x="3645253" y="6233051"/>
            <a:ext cx="5412181" cy="461665"/>
            <a:chOff x="1066800" y="5331767"/>
            <a:chExt cx="7429152" cy="461665"/>
          </a:xfrm>
        </p:grpSpPr>
        <p:cxnSp>
          <p:nvCxnSpPr>
            <p:cNvPr id="9" name="Straight Connector 8">
              <a:extLst>
                <a:ext uri="{FF2B5EF4-FFF2-40B4-BE49-F238E27FC236}">
                  <a16:creationId xmlns:a16="http://schemas.microsoft.com/office/drawing/2014/main" id="{1974D094-7696-F9CB-FCFB-3DBD3470DB0B}"/>
                </a:ext>
              </a:extLst>
            </p:cNvPr>
            <p:cNvCxnSpPr/>
            <p:nvPr/>
          </p:nvCxnSpPr>
          <p:spPr>
            <a:xfrm flipH="1">
              <a:off x="1066800" y="5562600"/>
              <a:ext cx="6781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68DF7F1-00CD-9D4D-CFF3-0A910CD4B074}"/>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1</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a:blip r:embed="rId3"/>
                  <a:stretch>
                    <a:fillRect l="-5263"/>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52B34EF3-0154-F276-7425-BB597B12D613}"/>
              </a:ext>
            </a:extLst>
          </p:cNvPr>
          <p:cNvGrpSpPr/>
          <p:nvPr/>
        </p:nvGrpSpPr>
        <p:grpSpPr>
          <a:xfrm>
            <a:off x="3181552" y="3432072"/>
            <a:ext cx="933248" cy="3044929"/>
            <a:chOff x="4105376" y="1980618"/>
            <a:chExt cx="933248" cy="4496382"/>
          </a:xfrm>
        </p:grpSpPr>
        <p:cxnSp>
          <p:nvCxnSpPr>
            <p:cNvPr id="12" name="Straight Connector 11">
              <a:extLst>
                <a:ext uri="{FF2B5EF4-FFF2-40B4-BE49-F238E27FC236}">
                  <a16:creationId xmlns:a16="http://schemas.microsoft.com/office/drawing/2014/main" id="{6D68799B-EEE7-30BC-C191-9C447D2892CE}"/>
                </a:ext>
              </a:extLst>
            </p:cNvPr>
            <p:cNvCxnSpPr/>
            <p:nvPr/>
          </p:nvCxnSpPr>
          <p:spPr>
            <a:xfrm>
              <a:off x="4572000" y="2662347"/>
              <a:ext cx="0" cy="38146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DFF10C0-F33F-B4C5-A6D5-1EBCDDCB80ED}"/>
                    </a:ext>
                  </a:extLst>
                </p:cNvPr>
                <p:cNvSpPr txBox="1"/>
                <p:nvPr/>
              </p:nvSpPr>
              <p:spPr>
                <a:xfrm>
                  <a:off x="4105376" y="1980618"/>
                  <a:ext cx="933248" cy="6817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2</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105376" y="1980618"/>
                  <a:ext cx="933248" cy="681731"/>
                </a:xfrm>
                <a:prstGeom prst="rect">
                  <a:avLst/>
                </a:prstGeom>
                <a:blipFill>
                  <a:blip r:embed="rId4"/>
                  <a:stretch>
                    <a:fillRect/>
                  </a:stretch>
                </a:blipFill>
              </p:spPr>
              <p:txBody>
                <a:bodyPr/>
                <a:lstStyle/>
                <a:p>
                  <a:r>
                    <a:rPr lang="en-US">
                      <a:noFill/>
                    </a:rPr>
                    <a:t> </a:t>
                  </a:r>
                </a:p>
              </p:txBody>
            </p:sp>
          </mc:Fallback>
        </mc:AlternateContent>
      </p:grpSp>
      <p:cxnSp>
        <p:nvCxnSpPr>
          <p:cNvPr id="14" name="Straight Connector 13">
            <a:extLst>
              <a:ext uri="{FF2B5EF4-FFF2-40B4-BE49-F238E27FC236}">
                <a16:creationId xmlns:a16="http://schemas.microsoft.com/office/drawing/2014/main" id="{F2EAC1B2-DEF7-92F3-6E1E-342B1DC5AA6A}"/>
              </a:ext>
            </a:extLst>
          </p:cNvPr>
          <p:cNvCxnSpPr/>
          <p:nvPr/>
        </p:nvCxnSpPr>
        <p:spPr>
          <a:xfrm>
            <a:off x="5290806" y="3628232"/>
            <a:ext cx="1333488" cy="2848768"/>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0B4DFB20-C0C7-ECB4-A320-EE97DD49C1EC}"/>
              </a:ext>
            </a:extLst>
          </p:cNvPr>
          <p:cNvGrpSpPr/>
          <p:nvPr/>
        </p:nvGrpSpPr>
        <p:grpSpPr>
          <a:xfrm>
            <a:off x="5984914" y="3941888"/>
            <a:ext cx="2274982" cy="2135507"/>
            <a:chOff x="3537090" y="3829070"/>
            <a:chExt cx="2274982" cy="2135507"/>
          </a:xfrm>
          <a:solidFill>
            <a:srgbClr val="00B050"/>
          </a:solidFill>
        </p:grpSpPr>
        <p:sp>
          <p:nvSpPr>
            <p:cNvPr id="16" name="Oval 15">
              <a:extLst>
                <a:ext uri="{FF2B5EF4-FFF2-40B4-BE49-F238E27FC236}">
                  <a16:creationId xmlns:a16="http://schemas.microsoft.com/office/drawing/2014/main" id="{615F560E-B4A0-0967-85B9-87A9C2ECF9EA}"/>
                </a:ext>
              </a:extLst>
            </p:cNvPr>
            <p:cNvSpPr/>
            <p:nvPr/>
          </p:nvSpPr>
          <p:spPr>
            <a:xfrm>
              <a:off x="3537090" y="3829070"/>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7" name="Oval 16">
              <a:extLst>
                <a:ext uri="{FF2B5EF4-FFF2-40B4-BE49-F238E27FC236}">
                  <a16:creationId xmlns:a16="http://schemas.microsoft.com/office/drawing/2014/main" id="{38981567-1583-3541-4312-C329D79F1EE6}"/>
                </a:ext>
              </a:extLst>
            </p:cNvPr>
            <p:cNvSpPr/>
            <p:nvPr/>
          </p:nvSpPr>
          <p:spPr>
            <a:xfrm>
              <a:off x="4343400" y="4815284"/>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8" name="Oval 17">
              <a:extLst>
                <a:ext uri="{FF2B5EF4-FFF2-40B4-BE49-F238E27FC236}">
                  <a16:creationId xmlns:a16="http://schemas.microsoft.com/office/drawing/2014/main" id="{4A1C2BD9-4959-EA73-E94A-4158009865D3}"/>
                </a:ext>
              </a:extLst>
            </p:cNvPr>
            <p:cNvSpPr/>
            <p:nvPr/>
          </p:nvSpPr>
          <p:spPr>
            <a:xfrm>
              <a:off x="4489037" y="4121567"/>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9" name="Oval 18">
              <a:extLst>
                <a:ext uri="{FF2B5EF4-FFF2-40B4-BE49-F238E27FC236}">
                  <a16:creationId xmlns:a16="http://schemas.microsoft.com/office/drawing/2014/main" id="{C1F3C5B9-D359-C177-FA3E-417896ABD543}"/>
                </a:ext>
              </a:extLst>
            </p:cNvPr>
            <p:cNvSpPr/>
            <p:nvPr/>
          </p:nvSpPr>
          <p:spPr>
            <a:xfrm>
              <a:off x="5583472" y="3926163"/>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0" name="Oval 19">
              <a:extLst>
                <a:ext uri="{FF2B5EF4-FFF2-40B4-BE49-F238E27FC236}">
                  <a16:creationId xmlns:a16="http://schemas.microsoft.com/office/drawing/2014/main" id="{10D61404-6191-1437-223C-8271D6E9B1D8}"/>
                </a:ext>
              </a:extLst>
            </p:cNvPr>
            <p:cNvSpPr/>
            <p:nvPr/>
          </p:nvSpPr>
          <p:spPr>
            <a:xfrm>
              <a:off x="5303217" y="4693423"/>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1" name="Oval 20">
              <a:extLst>
                <a:ext uri="{FF2B5EF4-FFF2-40B4-BE49-F238E27FC236}">
                  <a16:creationId xmlns:a16="http://schemas.microsoft.com/office/drawing/2014/main" id="{26C051AD-0571-E0B7-B8C8-CC1E4D2F9EDB}"/>
                </a:ext>
              </a:extLst>
            </p:cNvPr>
            <p:cNvSpPr/>
            <p:nvPr/>
          </p:nvSpPr>
          <p:spPr>
            <a:xfrm>
              <a:off x="5549017" y="5735977"/>
              <a:ext cx="228600" cy="2286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22" name="Group 21">
            <a:extLst>
              <a:ext uri="{FF2B5EF4-FFF2-40B4-BE49-F238E27FC236}">
                <a16:creationId xmlns:a16="http://schemas.microsoft.com/office/drawing/2014/main" id="{F7874422-5BCE-8A6B-229C-F5FB95F248B6}"/>
              </a:ext>
            </a:extLst>
          </p:cNvPr>
          <p:cNvGrpSpPr/>
          <p:nvPr/>
        </p:nvGrpSpPr>
        <p:grpSpPr>
          <a:xfrm>
            <a:off x="3875488" y="4057586"/>
            <a:ext cx="1763313" cy="2038414"/>
            <a:chOff x="1344844" y="3926163"/>
            <a:chExt cx="1763313" cy="2038414"/>
          </a:xfrm>
          <a:solidFill>
            <a:srgbClr val="FF0000"/>
          </a:solidFill>
        </p:grpSpPr>
        <p:sp>
          <p:nvSpPr>
            <p:cNvPr id="23" name="Triangle 22">
              <a:extLst>
                <a:ext uri="{FF2B5EF4-FFF2-40B4-BE49-F238E27FC236}">
                  <a16:creationId xmlns:a16="http://schemas.microsoft.com/office/drawing/2014/main" id="{74F3B458-51C1-28DC-D551-BAEAEC754461}"/>
                </a:ext>
              </a:extLst>
            </p:cNvPr>
            <p:cNvSpPr/>
            <p:nvPr/>
          </p:nvSpPr>
          <p:spPr>
            <a:xfrm>
              <a:off x="1888063" y="3926163"/>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4" name="Triangle 23">
              <a:extLst>
                <a:ext uri="{FF2B5EF4-FFF2-40B4-BE49-F238E27FC236}">
                  <a16:creationId xmlns:a16="http://schemas.microsoft.com/office/drawing/2014/main" id="{9A2FAC4C-8E17-4969-F3D7-94F35860DC69}"/>
                </a:ext>
              </a:extLst>
            </p:cNvPr>
            <p:cNvSpPr/>
            <p:nvPr/>
          </p:nvSpPr>
          <p:spPr>
            <a:xfrm>
              <a:off x="1344844" y="4470213"/>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5" name="Triangle 24">
              <a:extLst>
                <a:ext uri="{FF2B5EF4-FFF2-40B4-BE49-F238E27FC236}">
                  <a16:creationId xmlns:a16="http://schemas.microsoft.com/office/drawing/2014/main" id="{4E9495E4-9CDD-F34A-A327-47BE2F56DC7E}"/>
                </a:ext>
              </a:extLst>
            </p:cNvPr>
            <p:cNvSpPr/>
            <p:nvPr/>
          </p:nvSpPr>
          <p:spPr>
            <a:xfrm>
              <a:off x="2590800" y="4785573"/>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6" name="Triangle 25">
              <a:extLst>
                <a:ext uri="{FF2B5EF4-FFF2-40B4-BE49-F238E27FC236}">
                  <a16:creationId xmlns:a16="http://schemas.microsoft.com/office/drawing/2014/main" id="{EF72E808-2840-E827-425C-AC14AE426932}"/>
                </a:ext>
              </a:extLst>
            </p:cNvPr>
            <p:cNvSpPr/>
            <p:nvPr/>
          </p:nvSpPr>
          <p:spPr>
            <a:xfrm>
              <a:off x="1464053" y="5735977"/>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7" name="Triangle 26">
              <a:extLst>
                <a:ext uri="{FF2B5EF4-FFF2-40B4-BE49-F238E27FC236}">
                  <a16:creationId xmlns:a16="http://schemas.microsoft.com/office/drawing/2014/main" id="{01099011-557B-EAEC-35D7-9CDA41F81F6E}"/>
                </a:ext>
              </a:extLst>
            </p:cNvPr>
            <p:cNvSpPr/>
            <p:nvPr/>
          </p:nvSpPr>
          <p:spPr>
            <a:xfrm>
              <a:off x="2842982" y="5665818"/>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8" name="Triangle 27">
              <a:extLst>
                <a:ext uri="{FF2B5EF4-FFF2-40B4-BE49-F238E27FC236}">
                  <a16:creationId xmlns:a16="http://schemas.microsoft.com/office/drawing/2014/main" id="{74AEA021-DC64-E60C-221E-8C0E142853EB}"/>
                </a:ext>
              </a:extLst>
            </p:cNvPr>
            <p:cNvSpPr/>
            <p:nvPr/>
          </p:nvSpPr>
          <p:spPr>
            <a:xfrm>
              <a:off x="1954444" y="5274348"/>
              <a:ext cx="265175" cy="2286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29" name="Group 28">
            <a:extLst>
              <a:ext uri="{FF2B5EF4-FFF2-40B4-BE49-F238E27FC236}">
                <a16:creationId xmlns:a16="http://schemas.microsoft.com/office/drawing/2014/main" id="{EB45C15E-47AD-F224-F2FA-438BF1DE0A2B}"/>
              </a:ext>
            </a:extLst>
          </p:cNvPr>
          <p:cNvGrpSpPr/>
          <p:nvPr/>
        </p:nvGrpSpPr>
        <p:grpSpPr>
          <a:xfrm>
            <a:off x="6170978" y="5102228"/>
            <a:ext cx="2227690" cy="535127"/>
            <a:chOff x="4646978" y="5102227"/>
            <a:chExt cx="2227690" cy="535127"/>
          </a:xfrm>
        </p:grpSpPr>
        <p:cxnSp>
          <p:nvCxnSpPr>
            <p:cNvPr id="30" name="Straight Connector 29">
              <a:extLst>
                <a:ext uri="{FF2B5EF4-FFF2-40B4-BE49-F238E27FC236}">
                  <a16:creationId xmlns:a16="http://schemas.microsoft.com/office/drawing/2014/main" id="{391EF1A0-9D64-DCC1-F9E6-E1C994908296}"/>
                </a:ext>
              </a:extLst>
            </p:cNvPr>
            <p:cNvCxnSpPr>
              <a:cxnSpLocks/>
            </p:cNvCxnSpPr>
            <p:nvPr/>
          </p:nvCxnSpPr>
          <p:spPr>
            <a:xfrm flipH="1">
              <a:off x="4646978" y="5102227"/>
              <a:ext cx="609600" cy="363222"/>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BE422AC-E94D-DB69-99F3-982BBA27D7D4}"/>
                </a:ext>
              </a:extLst>
            </p:cNvPr>
            <p:cNvSpPr txBox="1"/>
            <p:nvPr/>
          </p:nvSpPr>
          <p:spPr>
            <a:xfrm>
              <a:off x="4894639" y="5268022"/>
              <a:ext cx="1980029" cy="369332"/>
            </a:xfrm>
            <a:prstGeom prst="rect">
              <a:avLst/>
            </a:prstGeom>
            <a:noFill/>
          </p:spPr>
          <p:txBody>
            <a:bodyPr wrap="none" rtlCol="0">
              <a:spAutoFit/>
            </a:bodyPr>
            <a:lstStyle/>
            <a:p>
              <a:r>
                <a:rPr lang="en-US" dirty="0">
                  <a:latin typeface="Avenir Book" panose="02000503020000020003" pitchFamily="2" charset="0"/>
                </a:rPr>
                <a:t>“support vector”</a:t>
              </a:r>
            </a:p>
          </p:txBody>
        </p:sp>
      </p:grpSp>
    </p:spTree>
    <p:extLst>
      <p:ext uri="{BB962C8B-B14F-4D97-AF65-F5344CB8AC3E}">
        <p14:creationId xmlns:p14="http://schemas.microsoft.com/office/powerpoint/2010/main" val="196399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EC408-D6FD-4E31-B6DA-6BC6C08F4AFA}"/>
              </a:ext>
            </a:extLst>
          </p:cNvPr>
          <p:cNvSpPr>
            <a:spLocks noGrp="1"/>
          </p:cNvSpPr>
          <p:nvPr>
            <p:ph type="title"/>
          </p:nvPr>
        </p:nvSpPr>
        <p:spPr/>
        <p:txBody>
          <a:bodyPr>
            <a:normAutofit fontScale="90000"/>
          </a:bodyPr>
          <a:lstStyle/>
          <a:p>
            <a:r>
              <a:rPr lang="en-US" dirty="0"/>
              <a:t>Classification: Support Vector Machine (SVM)</a:t>
            </a:r>
          </a:p>
        </p:txBody>
      </p:sp>
      <p:sp>
        <p:nvSpPr>
          <p:cNvPr id="4" name="Content Placeholder 2">
            <a:extLst>
              <a:ext uri="{FF2B5EF4-FFF2-40B4-BE49-F238E27FC236}">
                <a16:creationId xmlns:a16="http://schemas.microsoft.com/office/drawing/2014/main" id="{6C9E2C88-9295-DD44-04C6-D04BCD39968B}"/>
              </a:ext>
            </a:extLst>
          </p:cNvPr>
          <p:cNvSpPr>
            <a:spLocks noGrp="1"/>
          </p:cNvSpPr>
          <p:nvPr>
            <p:ph idx="1"/>
          </p:nvPr>
        </p:nvSpPr>
        <p:spPr>
          <a:xfrm>
            <a:off x="609600" y="1600202"/>
            <a:ext cx="10972800" cy="1112087"/>
          </a:xfrm>
        </p:spPr>
        <p:txBody>
          <a:bodyPr>
            <a:normAutofit/>
          </a:bodyPr>
          <a:lstStyle/>
          <a:p>
            <a:r>
              <a:rPr lang="en-US" dirty="0">
                <a:latin typeface="Avenir Book" panose="02000503020000020003" pitchFamily="2" charset="0"/>
              </a:rPr>
              <a:t>Can separate between multiple classes by combining the results of multiple one-versus-rest classifiers</a:t>
            </a:r>
          </a:p>
        </p:txBody>
      </p:sp>
      <p:grpSp>
        <p:nvGrpSpPr>
          <p:cNvPr id="94" name="Group 93">
            <a:extLst>
              <a:ext uri="{FF2B5EF4-FFF2-40B4-BE49-F238E27FC236}">
                <a16:creationId xmlns:a16="http://schemas.microsoft.com/office/drawing/2014/main" id="{BE9099CC-A1D1-75F2-BAB6-ACDB2F84279E}"/>
              </a:ext>
            </a:extLst>
          </p:cNvPr>
          <p:cNvGrpSpPr/>
          <p:nvPr/>
        </p:nvGrpSpPr>
        <p:grpSpPr>
          <a:xfrm>
            <a:off x="-25081" y="2597431"/>
            <a:ext cx="3987482" cy="2507605"/>
            <a:chOff x="-25081" y="2597431"/>
            <a:chExt cx="3987482" cy="2507605"/>
          </a:xfrm>
        </p:grpSpPr>
        <p:grpSp>
          <p:nvGrpSpPr>
            <p:cNvPr id="93" name="Group 92">
              <a:extLst>
                <a:ext uri="{FF2B5EF4-FFF2-40B4-BE49-F238E27FC236}">
                  <a16:creationId xmlns:a16="http://schemas.microsoft.com/office/drawing/2014/main" id="{07B0DA99-5902-90CB-1221-B1648A317C12}"/>
                </a:ext>
              </a:extLst>
            </p:cNvPr>
            <p:cNvGrpSpPr/>
            <p:nvPr/>
          </p:nvGrpSpPr>
          <p:grpSpPr>
            <a:xfrm>
              <a:off x="104846" y="2597431"/>
              <a:ext cx="3693463" cy="2202918"/>
              <a:chOff x="104846" y="2597431"/>
              <a:chExt cx="3693463" cy="2202918"/>
            </a:xfrm>
          </p:grpSpPr>
          <p:grpSp>
            <p:nvGrpSpPr>
              <p:cNvPr id="8" name="Group 7">
                <a:extLst>
                  <a:ext uri="{FF2B5EF4-FFF2-40B4-BE49-F238E27FC236}">
                    <a16:creationId xmlns:a16="http://schemas.microsoft.com/office/drawing/2014/main" id="{89E0015A-B573-45FD-A7BF-5F23ECAF6F10}"/>
                  </a:ext>
                </a:extLst>
              </p:cNvPr>
              <p:cNvGrpSpPr/>
              <p:nvPr/>
            </p:nvGrpSpPr>
            <p:grpSpPr>
              <a:xfrm>
                <a:off x="546193" y="4338684"/>
                <a:ext cx="3252116" cy="461665"/>
                <a:chOff x="3325607" y="5331767"/>
                <a:chExt cx="5170345" cy="461665"/>
              </a:xfrm>
            </p:grpSpPr>
            <p:cxnSp>
              <p:nvCxnSpPr>
                <p:cNvPr id="24" name="Straight Connector 23">
                  <a:extLst>
                    <a:ext uri="{FF2B5EF4-FFF2-40B4-BE49-F238E27FC236}">
                      <a16:creationId xmlns:a16="http://schemas.microsoft.com/office/drawing/2014/main" id="{27DFF3F8-842C-C735-FB5F-BCCB30D3EEAC}"/>
                    </a:ext>
                  </a:extLst>
                </p:cNvPr>
                <p:cNvCxnSpPr/>
                <p:nvPr/>
              </p:nvCxnSpPr>
              <p:spPr>
                <a:xfrm flipH="1">
                  <a:off x="3325607" y="5562600"/>
                  <a:ext cx="45229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62CCAB-F621-4E72-C011-B6102A02C507}"/>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1</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a:blip r:embed="rId3"/>
                      <a:stretch>
                        <a:fillRect l="-8108"/>
                      </a:stretch>
                    </a:blipFill>
                  </p:spPr>
                  <p:txBody>
                    <a:bodyPr/>
                    <a:lstStyle/>
                    <a:p>
                      <a:r>
                        <a:rPr lang="en-US">
                          <a:noFill/>
                        </a:rPr>
                        <a:t> </a:t>
                      </a:r>
                    </a:p>
                  </p:txBody>
                </p:sp>
              </mc:Fallback>
            </mc:AlternateContent>
          </p:grpSp>
          <p:cxnSp>
            <p:nvCxnSpPr>
              <p:cNvPr id="6" name="Straight Connector 5">
                <a:extLst>
                  <a:ext uri="{FF2B5EF4-FFF2-40B4-BE49-F238E27FC236}">
                    <a16:creationId xmlns:a16="http://schemas.microsoft.com/office/drawing/2014/main" id="{CF9AFF50-D614-23FC-684D-1A0A83EFC269}"/>
                  </a:ext>
                </a:extLst>
              </p:cNvPr>
              <p:cNvCxnSpPr>
                <a:cxnSpLocks/>
              </p:cNvCxnSpPr>
              <p:nvPr/>
            </p:nvCxnSpPr>
            <p:spPr>
              <a:xfrm>
                <a:off x="1043728" y="3054040"/>
                <a:ext cx="1242959" cy="1493065"/>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9449D36C-636F-461C-16EA-5D45F8F24E15}"/>
                  </a:ext>
                </a:extLst>
              </p:cNvPr>
              <p:cNvGrpSpPr/>
              <p:nvPr/>
            </p:nvGrpSpPr>
            <p:grpSpPr>
              <a:xfrm>
                <a:off x="104846" y="2597431"/>
                <a:ext cx="933248" cy="1969720"/>
                <a:chOff x="4105376" y="2178462"/>
                <a:chExt cx="933248" cy="2908643"/>
              </a:xfrm>
            </p:grpSpPr>
            <p:cxnSp>
              <p:nvCxnSpPr>
                <p:cNvPr id="22" name="Straight Connector 21">
                  <a:extLst>
                    <a:ext uri="{FF2B5EF4-FFF2-40B4-BE49-F238E27FC236}">
                      <a16:creationId xmlns:a16="http://schemas.microsoft.com/office/drawing/2014/main" id="{F0656D8E-EE77-A83C-7514-BF8C947559AC}"/>
                    </a:ext>
                  </a:extLst>
                </p:cNvPr>
                <p:cNvCxnSpPr>
                  <a:stCxn id="23" idx="2"/>
                </p:cNvCxnSpPr>
                <p:nvPr/>
              </p:nvCxnSpPr>
              <p:spPr>
                <a:xfrm>
                  <a:off x="4572000" y="2860193"/>
                  <a:ext cx="0" cy="22269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211B4BA-2D06-A23D-323F-B5F7260E3D6B}"/>
                        </a:ext>
                      </a:extLst>
                    </p:cNvPr>
                    <p:cNvSpPr txBox="1"/>
                    <p:nvPr/>
                  </p:nvSpPr>
                  <p:spPr>
                    <a:xfrm>
                      <a:off x="4105376" y="2178462"/>
                      <a:ext cx="933248" cy="6817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2</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105376" y="2178462"/>
                      <a:ext cx="933248" cy="681731"/>
                    </a:xfrm>
                    <a:prstGeom prst="rect">
                      <a:avLst/>
                    </a:prstGeom>
                    <a:blipFill>
                      <a:blip r:embed="rId4"/>
                      <a:stretch>
                        <a:fillRect/>
                      </a:stretch>
                    </a:blipFill>
                  </p:spPr>
                  <p:txBody>
                    <a:bodyPr/>
                    <a:lstStyle/>
                    <a:p>
                      <a:r>
                        <a:rPr lang="en-US">
                          <a:noFill/>
                        </a:rPr>
                        <a:t> </a:t>
                      </a:r>
                    </a:p>
                  </p:txBody>
                </p:sp>
              </mc:Fallback>
            </mc:AlternateContent>
          </p:grpSp>
          <p:grpSp>
            <p:nvGrpSpPr>
              <p:cNvPr id="10" name="Group 9">
                <a:extLst>
                  <a:ext uri="{FF2B5EF4-FFF2-40B4-BE49-F238E27FC236}">
                    <a16:creationId xmlns:a16="http://schemas.microsoft.com/office/drawing/2014/main" id="{0449B2D6-89F7-79D0-0AEB-4DF6B439970D}"/>
                  </a:ext>
                </a:extLst>
              </p:cNvPr>
              <p:cNvGrpSpPr/>
              <p:nvPr/>
            </p:nvGrpSpPr>
            <p:grpSpPr>
              <a:xfrm>
                <a:off x="1592271" y="2902231"/>
                <a:ext cx="1318602" cy="532808"/>
                <a:chOff x="2454392" y="3745388"/>
                <a:chExt cx="1318602" cy="532808"/>
              </a:xfrm>
            </p:grpSpPr>
            <p:sp>
              <p:nvSpPr>
                <p:cNvPr id="19" name="Oval 18">
                  <a:extLst>
                    <a:ext uri="{FF2B5EF4-FFF2-40B4-BE49-F238E27FC236}">
                      <a16:creationId xmlns:a16="http://schemas.microsoft.com/office/drawing/2014/main" id="{CE6674AA-B2EA-E088-1C59-33A1AA4BE609}"/>
                    </a:ext>
                  </a:extLst>
                </p:cNvPr>
                <p:cNvSpPr/>
                <p:nvPr/>
              </p:nvSpPr>
              <p:spPr>
                <a:xfrm>
                  <a:off x="2454392" y="3897196"/>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20" name="Oval 19">
                  <a:extLst>
                    <a:ext uri="{FF2B5EF4-FFF2-40B4-BE49-F238E27FC236}">
                      <a16:creationId xmlns:a16="http://schemas.microsoft.com/office/drawing/2014/main" id="{48685F44-F662-A974-3890-41C34BC1104C}"/>
                    </a:ext>
                  </a:extLst>
                </p:cNvPr>
                <p:cNvSpPr/>
                <p:nvPr/>
              </p:nvSpPr>
              <p:spPr>
                <a:xfrm>
                  <a:off x="3544394" y="4049596"/>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1" name="Oval 20">
                  <a:extLst>
                    <a:ext uri="{FF2B5EF4-FFF2-40B4-BE49-F238E27FC236}">
                      <a16:creationId xmlns:a16="http://schemas.microsoft.com/office/drawing/2014/main" id="{B8B4FD78-4863-9BA0-BE60-497169E8BDD4}"/>
                    </a:ext>
                  </a:extLst>
                </p:cNvPr>
                <p:cNvSpPr/>
                <p:nvPr/>
              </p:nvSpPr>
              <p:spPr>
                <a:xfrm>
                  <a:off x="3142128" y="3745388"/>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11" name="Group 10">
                <a:extLst>
                  <a:ext uri="{FF2B5EF4-FFF2-40B4-BE49-F238E27FC236}">
                    <a16:creationId xmlns:a16="http://schemas.microsoft.com/office/drawing/2014/main" id="{1F514954-B963-4435-2F27-961A1C00CCAF}"/>
                  </a:ext>
                </a:extLst>
              </p:cNvPr>
              <p:cNvGrpSpPr/>
              <p:nvPr/>
            </p:nvGrpSpPr>
            <p:grpSpPr>
              <a:xfrm>
                <a:off x="879539" y="3478567"/>
                <a:ext cx="977907" cy="837705"/>
                <a:chOff x="1344844" y="3861108"/>
                <a:chExt cx="977907" cy="837705"/>
              </a:xfrm>
            </p:grpSpPr>
            <p:sp>
              <p:nvSpPr>
                <p:cNvPr id="16" name="Triangle 15">
                  <a:extLst>
                    <a:ext uri="{FF2B5EF4-FFF2-40B4-BE49-F238E27FC236}">
                      <a16:creationId xmlns:a16="http://schemas.microsoft.com/office/drawing/2014/main" id="{FCC37DC6-A3E2-23A1-4024-BD9921CD12EE}"/>
                    </a:ext>
                  </a:extLst>
                </p:cNvPr>
                <p:cNvSpPr/>
                <p:nvPr/>
              </p:nvSpPr>
              <p:spPr>
                <a:xfrm>
                  <a:off x="1370811" y="3861108"/>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sp>
              <p:nvSpPr>
                <p:cNvPr id="17" name="Triangle 16">
                  <a:extLst>
                    <a:ext uri="{FF2B5EF4-FFF2-40B4-BE49-F238E27FC236}">
                      <a16:creationId xmlns:a16="http://schemas.microsoft.com/office/drawing/2014/main" id="{5FC7B71E-DA10-0F38-085E-2DC9A6A6CDBA}"/>
                    </a:ext>
                  </a:extLst>
                </p:cNvPr>
                <p:cNvSpPr/>
                <p:nvPr/>
              </p:nvSpPr>
              <p:spPr>
                <a:xfrm>
                  <a:off x="1344844" y="4470213"/>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sp>
              <p:nvSpPr>
                <p:cNvPr id="18" name="Triangle 17">
                  <a:extLst>
                    <a:ext uri="{FF2B5EF4-FFF2-40B4-BE49-F238E27FC236}">
                      <a16:creationId xmlns:a16="http://schemas.microsoft.com/office/drawing/2014/main" id="{5F8E2B39-8018-19EE-C8ED-73AD05A17E57}"/>
                    </a:ext>
                  </a:extLst>
                </p:cNvPr>
                <p:cNvSpPr/>
                <p:nvPr/>
              </p:nvSpPr>
              <p:spPr>
                <a:xfrm>
                  <a:off x="2057576" y="4470213"/>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12" name="Group 11">
                <a:extLst>
                  <a:ext uri="{FF2B5EF4-FFF2-40B4-BE49-F238E27FC236}">
                    <a16:creationId xmlns:a16="http://schemas.microsoft.com/office/drawing/2014/main" id="{ACE688A5-90FB-DC86-8C96-81E244D2191A}"/>
                  </a:ext>
                </a:extLst>
              </p:cNvPr>
              <p:cNvGrpSpPr/>
              <p:nvPr/>
            </p:nvGrpSpPr>
            <p:grpSpPr>
              <a:xfrm>
                <a:off x="2286000" y="3675163"/>
                <a:ext cx="1098243" cy="674868"/>
                <a:chOff x="5807963" y="4194782"/>
                <a:chExt cx="1098243" cy="674868"/>
              </a:xfrm>
            </p:grpSpPr>
            <p:sp>
              <p:nvSpPr>
                <p:cNvPr id="13" name="Rectangle 12">
                  <a:extLst>
                    <a:ext uri="{FF2B5EF4-FFF2-40B4-BE49-F238E27FC236}">
                      <a16:creationId xmlns:a16="http://schemas.microsoft.com/office/drawing/2014/main" id="{862E7018-9810-64C0-9C9E-C02303B9CA10}"/>
                    </a:ext>
                  </a:extLst>
                </p:cNvPr>
                <p:cNvSpPr/>
                <p:nvPr/>
              </p:nvSpPr>
              <p:spPr>
                <a:xfrm>
                  <a:off x="5807963" y="4629703"/>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Avenir Book" panose="02000503020000020003" pitchFamily="2" charset="0"/>
                  </a:endParaRPr>
                </a:p>
              </p:txBody>
            </p:sp>
            <p:sp>
              <p:nvSpPr>
                <p:cNvPr id="14" name="Rectangle 13">
                  <a:extLst>
                    <a:ext uri="{FF2B5EF4-FFF2-40B4-BE49-F238E27FC236}">
                      <a16:creationId xmlns:a16="http://schemas.microsoft.com/office/drawing/2014/main" id="{E7E128A2-ED2F-7D36-FECC-91A16D688C15}"/>
                    </a:ext>
                  </a:extLst>
                </p:cNvPr>
                <p:cNvSpPr/>
                <p:nvPr/>
              </p:nvSpPr>
              <p:spPr>
                <a:xfrm>
                  <a:off x="6493763" y="4641050"/>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Avenir Book" panose="02000503020000020003" pitchFamily="2" charset="0"/>
                  </a:endParaRPr>
                </a:p>
              </p:txBody>
            </p:sp>
            <p:sp>
              <p:nvSpPr>
                <p:cNvPr id="15" name="Rectangle 14">
                  <a:extLst>
                    <a:ext uri="{FF2B5EF4-FFF2-40B4-BE49-F238E27FC236}">
                      <a16:creationId xmlns:a16="http://schemas.microsoft.com/office/drawing/2014/main" id="{EE676D24-592C-D832-11DA-08D79A1B90FB}"/>
                    </a:ext>
                  </a:extLst>
                </p:cNvPr>
                <p:cNvSpPr/>
                <p:nvPr/>
              </p:nvSpPr>
              <p:spPr>
                <a:xfrm>
                  <a:off x="6677606" y="4194782"/>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Avenir Book" panose="02000503020000020003" pitchFamily="2" charset="0"/>
                  </a:endParaRPr>
                </a:p>
              </p:txBody>
            </p:sp>
          </p:grpSp>
        </p:grpSp>
        <p:sp>
          <p:nvSpPr>
            <p:cNvPr id="69" name="TextBox 68">
              <a:extLst>
                <a:ext uri="{FF2B5EF4-FFF2-40B4-BE49-F238E27FC236}">
                  <a16:creationId xmlns:a16="http://schemas.microsoft.com/office/drawing/2014/main" id="{96F0CC7A-4F25-A0CF-144B-827CC502DD0E}"/>
                </a:ext>
              </a:extLst>
            </p:cNvPr>
            <p:cNvSpPr txBox="1"/>
            <p:nvPr/>
          </p:nvSpPr>
          <p:spPr>
            <a:xfrm>
              <a:off x="-25081" y="4735704"/>
              <a:ext cx="3987482" cy="369332"/>
            </a:xfrm>
            <a:prstGeom prst="rect">
              <a:avLst/>
            </a:prstGeom>
            <a:noFill/>
            <a:ln w="28575">
              <a:noFill/>
            </a:ln>
          </p:spPr>
          <p:txBody>
            <a:bodyPr wrap="square" rtlCol="0">
              <a:spAutoFit/>
            </a:bodyPr>
            <a:lstStyle/>
            <a:p>
              <a:pPr algn="ctr"/>
              <a:r>
                <a:rPr lang="en-US" dirty="0"/>
                <a:t>Hypertensive vs. non-hypertensive</a:t>
              </a:r>
            </a:p>
          </p:txBody>
        </p:sp>
      </p:grpSp>
      <p:grpSp>
        <p:nvGrpSpPr>
          <p:cNvPr id="74" name="Group 73">
            <a:extLst>
              <a:ext uri="{FF2B5EF4-FFF2-40B4-BE49-F238E27FC236}">
                <a16:creationId xmlns:a16="http://schemas.microsoft.com/office/drawing/2014/main" id="{4BA8D02F-90F2-F11D-3292-5961D6E3AEFF}"/>
              </a:ext>
            </a:extLst>
          </p:cNvPr>
          <p:cNvGrpSpPr/>
          <p:nvPr/>
        </p:nvGrpSpPr>
        <p:grpSpPr>
          <a:xfrm>
            <a:off x="2614966" y="5612914"/>
            <a:ext cx="6921870" cy="1115307"/>
            <a:chOff x="1090965" y="5199113"/>
            <a:chExt cx="6921870" cy="1115307"/>
          </a:xfrm>
        </p:grpSpPr>
        <p:sp>
          <p:nvSpPr>
            <p:cNvPr id="75" name="Left Brace 74">
              <a:extLst>
                <a:ext uri="{FF2B5EF4-FFF2-40B4-BE49-F238E27FC236}">
                  <a16:creationId xmlns:a16="http://schemas.microsoft.com/office/drawing/2014/main" id="{7FE56DB7-1EA8-E365-DF49-1759A56558C6}"/>
                </a:ext>
              </a:extLst>
            </p:cNvPr>
            <p:cNvSpPr/>
            <p:nvPr/>
          </p:nvSpPr>
          <p:spPr>
            <a:xfrm rot="16200000" flipV="1">
              <a:off x="4310956" y="1979122"/>
              <a:ext cx="481888" cy="6921870"/>
            </a:xfrm>
            <a:prstGeom prst="leftBrac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8E8C303-2043-17E2-F850-C042CE91BA39}"/>
                    </a:ext>
                  </a:extLst>
                </p:cNvPr>
                <p:cNvSpPr txBox="1"/>
                <p:nvPr/>
              </p:nvSpPr>
              <p:spPr>
                <a:xfrm>
                  <a:off x="3570702" y="5791200"/>
                  <a:ext cx="2002601" cy="523220"/>
                </a:xfrm>
                <a:prstGeom prst="rect">
                  <a:avLst/>
                </a:prstGeom>
                <a:noFill/>
              </p:spPr>
              <p:txBody>
                <a:bodyPr wrap="none" rtlCol="0">
                  <a:spAutoFit/>
                </a:bodyPr>
                <a:lstStyle/>
                <a:p>
                  <a:pPr algn="ctr"/>
                  <a14:m>
                    <m:oMath xmlns:m="http://schemas.openxmlformats.org/officeDocument/2006/math">
                      <m:r>
                        <a:rPr lang="en-US" sz="2800" i="1" dirty="0">
                          <a:latin typeface="Cambria Math" panose="02040503050406030204" pitchFamily="18" charset="0"/>
                          <a:ea typeface="Avenir Book" charset="0"/>
                          <a:cs typeface="Avenir Book" charset="0"/>
                        </a:rPr>
                        <m:t>𝑦</m:t>
                      </m:r>
                      <m:r>
                        <a:rPr lang="en-US" sz="2800" i="1" dirty="0">
                          <a:latin typeface="Cambria Math" panose="02040503050406030204" pitchFamily="18" charset="0"/>
                          <a:ea typeface="Avenir Book" charset="0"/>
                          <a:cs typeface="Avenir Book" charset="0"/>
                        </a:rPr>
                        <m:t>= </m:t>
                      </m:r>
                    </m:oMath>
                  </a14:m>
                  <a:r>
                    <a:rPr lang="en-US" sz="2800" dirty="0">
                      <a:latin typeface="Avenir Book" panose="02000503020000020003" pitchFamily="2" charset="0"/>
                      <a:ea typeface="Avenir Book" charset="0"/>
                      <a:cs typeface="Avenir Book" charset="0"/>
                    </a:rPr>
                    <a:t>healthy</a:t>
                  </a:r>
                </a:p>
              </p:txBody>
            </p:sp>
          </mc:Choice>
          <mc:Fallback xmlns="">
            <p:sp>
              <p:nvSpPr>
                <p:cNvPr id="76" name="TextBox 75">
                  <a:extLst>
                    <a:ext uri="{FF2B5EF4-FFF2-40B4-BE49-F238E27FC236}">
                      <a16:creationId xmlns:a16="http://schemas.microsoft.com/office/drawing/2014/main" id="{68E8C303-2043-17E2-F850-C042CE91BA39}"/>
                    </a:ext>
                  </a:extLst>
                </p:cNvPr>
                <p:cNvSpPr txBox="1">
                  <a:spLocks noRot="1" noChangeAspect="1" noMove="1" noResize="1" noEditPoints="1" noAdjustHandles="1" noChangeArrowheads="1" noChangeShapeType="1" noTextEdit="1"/>
                </p:cNvSpPr>
                <p:nvPr/>
              </p:nvSpPr>
              <p:spPr>
                <a:xfrm>
                  <a:off x="3570702" y="5791200"/>
                  <a:ext cx="2002601" cy="523220"/>
                </a:xfrm>
                <a:prstGeom prst="rect">
                  <a:avLst/>
                </a:prstGeom>
                <a:blipFill>
                  <a:blip r:embed="rId5"/>
                  <a:stretch>
                    <a:fillRect l="-1266" t="-9524" r="-6329" b="-33333"/>
                  </a:stretch>
                </a:blipFill>
              </p:spPr>
              <p:txBody>
                <a:bodyPr/>
                <a:lstStyle/>
                <a:p>
                  <a:r>
                    <a:rPr lang="en-US">
                      <a:noFill/>
                    </a:rPr>
                    <a:t> </a:t>
                  </a:r>
                </a:p>
              </p:txBody>
            </p:sp>
          </mc:Fallback>
        </mc:AlternateContent>
      </p:grpSp>
      <p:grpSp>
        <p:nvGrpSpPr>
          <p:cNvPr id="89" name="Group 88">
            <a:extLst>
              <a:ext uri="{FF2B5EF4-FFF2-40B4-BE49-F238E27FC236}">
                <a16:creationId xmlns:a16="http://schemas.microsoft.com/office/drawing/2014/main" id="{1A0BBB16-ED7E-970C-E223-81B70F1583DA}"/>
              </a:ext>
            </a:extLst>
          </p:cNvPr>
          <p:cNvGrpSpPr/>
          <p:nvPr/>
        </p:nvGrpSpPr>
        <p:grpSpPr>
          <a:xfrm>
            <a:off x="3971880" y="2611877"/>
            <a:ext cx="3987482" cy="2520246"/>
            <a:chOff x="3971880" y="2611877"/>
            <a:chExt cx="3987482" cy="2520246"/>
          </a:xfrm>
        </p:grpSpPr>
        <p:grpSp>
          <p:nvGrpSpPr>
            <p:cNvPr id="86" name="Group 85">
              <a:extLst>
                <a:ext uri="{FF2B5EF4-FFF2-40B4-BE49-F238E27FC236}">
                  <a16:creationId xmlns:a16="http://schemas.microsoft.com/office/drawing/2014/main" id="{D9DCAAFF-006A-2AC1-6E61-94EDCA1BC525}"/>
                </a:ext>
              </a:extLst>
            </p:cNvPr>
            <p:cNvGrpSpPr/>
            <p:nvPr/>
          </p:nvGrpSpPr>
          <p:grpSpPr>
            <a:xfrm>
              <a:off x="4101807" y="2611877"/>
              <a:ext cx="3748791" cy="2209800"/>
              <a:chOff x="4101807" y="2611877"/>
              <a:chExt cx="3748791" cy="2209800"/>
            </a:xfrm>
          </p:grpSpPr>
          <p:grpSp>
            <p:nvGrpSpPr>
              <p:cNvPr id="46" name="Group 45">
                <a:extLst>
                  <a:ext uri="{FF2B5EF4-FFF2-40B4-BE49-F238E27FC236}">
                    <a16:creationId xmlns:a16="http://schemas.microsoft.com/office/drawing/2014/main" id="{02517B67-8E51-9662-66E9-EB5378690684}"/>
                  </a:ext>
                </a:extLst>
              </p:cNvPr>
              <p:cNvGrpSpPr/>
              <p:nvPr/>
            </p:nvGrpSpPr>
            <p:grpSpPr>
              <a:xfrm>
                <a:off x="4543154" y="4360012"/>
                <a:ext cx="3252116" cy="461665"/>
                <a:chOff x="3325607" y="5331767"/>
                <a:chExt cx="5170345" cy="461665"/>
              </a:xfrm>
            </p:grpSpPr>
            <p:cxnSp>
              <p:nvCxnSpPr>
                <p:cNvPr id="62" name="Straight Connector 61">
                  <a:extLst>
                    <a:ext uri="{FF2B5EF4-FFF2-40B4-BE49-F238E27FC236}">
                      <a16:creationId xmlns:a16="http://schemas.microsoft.com/office/drawing/2014/main" id="{9A7623D9-27DB-0F4D-C015-23CD2CAB6676}"/>
                    </a:ext>
                  </a:extLst>
                </p:cNvPr>
                <p:cNvCxnSpPr/>
                <p:nvPr/>
              </p:nvCxnSpPr>
              <p:spPr>
                <a:xfrm flipH="1">
                  <a:off x="3325607" y="5562600"/>
                  <a:ext cx="45229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836D86E1-5870-32A6-4282-56F3BAAE46AB}"/>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1</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109" name="TextBox 108"/>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a:blip r:embed="rId6"/>
                      <a:stretch>
                        <a:fillRect l="-5405"/>
                      </a:stretch>
                    </a:blipFill>
                  </p:spPr>
                  <p:txBody>
                    <a:bodyPr/>
                    <a:lstStyle/>
                    <a:p>
                      <a:r>
                        <a:rPr lang="en-US">
                          <a:noFill/>
                        </a:rPr>
                        <a:t> </a:t>
                      </a:r>
                    </a:p>
                  </p:txBody>
                </p:sp>
              </mc:Fallback>
            </mc:AlternateContent>
          </p:grpSp>
          <p:grpSp>
            <p:nvGrpSpPr>
              <p:cNvPr id="47" name="Group 46">
                <a:extLst>
                  <a:ext uri="{FF2B5EF4-FFF2-40B4-BE49-F238E27FC236}">
                    <a16:creationId xmlns:a16="http://schemas.microsoft.com/office/drawing/2014/main" id="{09D21FC9-DDC2-405D-747D-4F3B5A8BA662}"/>
                  </a:ext>
                </a:extLst>
              </p:cNvPr>
              <p:cNvGrpSpPr/>
              <p:nvPr/>
            </p:nvGrpSpPr>
            <p:grpSpPr>
              <a:xfrm>
                <a:off x="4101807" y="2611877"/>
                <a:ext cx="933248" cy="1999014"/>
                <a:chOff x="4105376" y="2168300"/>
                <a:chExt cx="933248" cy="2951900"/>
              </a:xfrm>
            </p:grpSpPr>
            <p:cxnSp>
              <p:nvCxnSpPr>
                <p:cNvPr id="60" name="Straight Connector 59">
                  <a:extLst>
                    <a:ext uri="{FF2B5EF4-FFF2-40B4-BE49-F238E27FC236}">
                      <a16:creationId xmlns:a16="http://schemas.microsoft.com/office/drawing/2014/main" id="{477AC881-7A30-6D98-DD03-9D6AED00113C}"/>
                    </a:ext>
                  </a:extLst>
                </p:cNvPr>
                <p:cNvCxnSpPr/>
                <p:nvPr/>
              </p:nvCxnSpPr>
              <p:spPr>
                <a:xfrm>
                  <a:off x="4539174" y="2844862"/>
                  <a:ext cx="0" cy="22753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04EBF48A-89CC-783F-9ADD-C31D513B92F6}"/>
                        </a:ext>
                      </a:extLst>
                    </p:cNvPr>
                    <p:cNvSpPr txBox="1"/>
                    <p:nvPr/>
                  </p:nvSpPr>
                  <p:spPr>
                    <a:xfrm>
                      <a:off x="4105376" y="2168300"/>
                      <a:ext cx="933248" cy="6817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2</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112" name="TextBox 111"/>
                    <p:cNvSpPr txBox="1">
                      <a:spLocks noRot="1" noChangeAspect="1" noMove="1" noResize="1" noEditPoints="1" noAdjustHandles="1" noChangeArrowheads="1" noChangeShapeType="1" noTextEdit="1"/>
                    </p:cNvSpPr>
                    <p:nvPr/>
                  </p:nvSpPr>
                  <p:spPr>
                    <a:xfrm>
                      <a:off x="4105376" y="2168300"/>
                      <a:ext cx="933248" cy="681731"/>
                    </a:xfrm>
                    <a:prstGeom prst="rect">
                      <a:avLst/>
                    </a:prstGeom>
                    <a:blipFill>
                      <a:blip r:embed="rId7"/>
                      <a:stretch>
                        <a:fillRect/>
                      </a:stretch>
                    </a:blipFill>
                  </p:spPr>
                  <p:txBody>
                    <a:bodyPr/>
                    <a:lstStyle/>
                    <a:p>
                      <a:r>
                        <a:rPr lang="en-US">
                          <a:noFill/>
                        </a:rPr>
                        <a:t> </a:t>
                      </a:r>
                    </a:p>
                  </p:txBody>
                </p:sp>
              </mc:Fallback>
            </mc:AlternateContent>
          </p:grpSp>
          <p:grpSp>
            <p:nvGrpSpPr>
              <p:cNvPr id="48" name="Group 47">
                <a:extLst>
                  <a:ext uri="{FF2B5EF4-FFF2-40B4-BE49-F238E27FC236}">
                    <a16:creationId xmlns:a16="http://schemas.microsoft.com/office/drawing/2014/main" id="{36E127AA-945A-1DA0-2427-FD0BDDF6E3A0}"/>
                  </a:ext>
                </a:extLst>
              </p:cNvPr>
              <p:cNvGrpSpPr/>
              <p:nvPr/>
            </p:nvGrpSpPr>
            <p:grpSpPr>
              <a:xfrm>
                <a:off x="5589232" y="2965262"/>
                <a:ext cx="1318602" cy="532808"/>
                <a:chOff x="2454392" y="3745388"/>
                <a:chExt cx="1318602" cy="532808"/>
              </a:xfrm>
            </p:grpSpPr>
            <p:sp>
              <p:nvSpPr>
                <p:cNvPr id="57" name="Oval 56">
                  <a:extLst>
                    <a:ext uri="{FF2B5EF4-FFF2-40B4-BE49-F238E27FC236}">
                      <a16:creationId xmlns:a16="http://schemas.microsoft.com/office/drawing/2014/main" id="{4F0BAB0D-BC22-3675-0742-ED12CC1D562F}"/>
                    </a:ext>
                  </a:extLst>
                </p:cNvPr>
                <p:cNvSpPr/>
                <p:nvPr/>
              </p:nvSpPr>
              <p:spPr>
                <a:xfrm>
                  <a:off x="2454392" y="3897196"/>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8" name="Oval 57">
                  <a:extLst>
                    <a:ext uri="{FF2B5EF4-FFF2-40B4-BE49-F238E27FC236}">
                      <a16:creationId xmlns:a16="http://schemas.microsoft.com/office/drawing/2014/main" id="{1734419B-A5AB-5185-04DA-FF9E40D3537F}"/>
                    </a:ext>
                  </a:extLst>
                </p:cNvPr>
                <p:cNvSpPr/>
                <p:nvPr/>
              </p:nvSpPr>
              <p:spPr>
                <a:xfrm>
                  <a:off x="3544394" y="4049596"/>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59" name="Oval 58">
                  <a:extLst>
                    <a:ext uri="{FF2B5EF4-FFF2-40B4-BE49-F238E27FC236}">
                      <a16:creationId xmlns:a16="http://schemas.microsoft.com/office/drawing/2014/main" id="{635A9FED-59AE-8F0A-653B-9B7C30BA52F2}"/>
                    </a:ext>
                  </a:extLst>
                </p:cNvPr>
                <p:cNvSpPr/>
                <p:nvPr/>
              </p:nvSpPr>
              <p:spPr>
                <a:xfrm>
                  <a:off x="3142128" y="3745388"/>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49" name="Group 48">
                <a:extLst>
                  <a:ext uri="{FF2B5EF4-FFF2-40B4-BE49-F238E27FC236}">
                    <a16:creationId xmlns:a16="http://schemas.microsoft.com/office/drawing/2014/main" id="{2832CC5F-561C-A015-72DF-1BEADD44765C}"/>
                  </a:ext>
                </a:extLst>
              </p:cNvPr>
              <p:cNvGrpSpPr/>
              <p:nvPr/>
            </p:nvGrpSpPr>
            <p:grpSpPr>
              <a:xfrm>
                <a:off x="4876500" y="3499895"/>
                <a:ext cx="977907" cy="837705"/>
                <a:chOff x="1344844" y="3861108"/>
                <a:chExt cx="977907" cy="837705"/>
              </a:xfrm>
            </p:grpSpPr>
            <p:sp>
              <p:nvSpPr>
                <p:cNvPr id="54" name="Triangle 53">
                  <a:extLst>
                    <a:ext uri="{FF2B5EF4-FFF2-40B4-BE49-F238E27FC236}">
                      <a16:creationId xmlns:a16="http://schemas.microsoft.com/office/drawing/2014/main" id="{361128DF-7A12-2F43-DA20-5583294BE56B}"/>
                    </a:ext>
                  </a:extLst>
                </p:cNvPr>
                <p:cNvSpPr/>
                <p:nvPr/>
              </p:nvSpPr>
              <p:spPr>
                <a:xfrm>
                  <a:off x="1370811" y="3861108"/>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sp>
              <p:nvSpPr>
                <p:cNvPr id="55" name="Triangle 54">
                  <a:extLst>
                    <a:ext uri="{FF2B5EF4-FFF2-40B4-BE49-F238E27FC236}">
                      <a16:creationId xmlns:a16="http://schemas.microsoft.com/office/drawing/2014/main" id="{7F7484F6-C3E1-4CA6-CDCD-1DF5D5D90BF1}"/>
                    </a:ext>
                  </a:extLst>
                </p:cNvPr>
                <p:cNvSpPr/>
                <p:nvPr/>
              </p:nvSpPr>
              <p:spPr>
                <a:xfrm>
                  <a:off x="1344844" y="4470213"/>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sp>
              <p:nvSpPr>
                <p:cNvPr id="56" name="Triangle 55">
                  <a:extLst>
                    <a:ext uri="{FF2B5EF4-FFF2-40B4-BE49-F238E27FC236}">
                      <a16:creationId xmlns:a16="http://schemas.microsoft.com/office/drawing/2014/main" id="{190B01F4-3486-16EA-EEFA-43FB37FC1322}"/>
                    </a:ext>
                  </a:extLst>
                </p:cNvPr>
                <p:cNvSpPr/>
                <p:nvPr/>
              </p:nvSpPr>
              <p:spPr>
                <a:xfrm>
                  <a:off x="2057576" y="4470213"/>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50" name="Group 49">
                <a:extLst>
                  <a:ext uri="{FF2B5EF4-FFF2-40B4-BE49-F238E27FC236}">
                    <a16:creationId xmlns:a16="http://schemas.microsoft.com/office/drawing/2014/main" id="{F3D490AE-4CB5-418D-CCE1-E0725639469B}"/>
                  </a:ext>
                </a:extLst>
              </p:cNvPr>
              <p:cNvGrpSpPr/>
              <p:nvPr/>
            </p:nvGrpSpPr>
            <p:grpSpPr>
              <a:xfrm>
                <a:off x="6282961" y="3696491"/>
                <a:ext cx="1098243" cy="674868"/>
                <a:chOff x="5807963" y="4194782"/>
                <a:chExt cx="1098243" cy="674868"/>
              </a:xfrm>
            </p:grpSpPr>
            <p:sp>
              <p:nvSpPr>
                <p:cNvPr id="51" name="Rectangle 50">
                  <a:extLst>
                    <a:ext uri="{FF2B5EF4-FFF2-40B4-BE49-F238E27FC236}">
                      <a16:creationId xmlns:a16="http://schemas.microsoft.com/office/drawing/2014/main" id="{F3DE56E9-5C2F-A24C-FD62-AFFF15499673}"/>
                    </a:ext>
                  </a:extLst>
                </p:cNvPr>
                <p:cNvSpPr/>
                <p:nvPr/>
              </p:nvSpPr>
              <p:spPr>
                <a:xfrm>
                  <a:off x="5807963" y="4629703"/>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Avenir Book" panose="02000503020000020003" pitchFamily="2" charset="0"/>
                  </a:endParaRPr>
                </a:p>
              </p:txBody>
            </p:sp>
            <p:sp>
              <p:nvSpPr>
                <p:cNvPr id="52" name="Rectangle 51">
                  <a:extLst>
                    <a:ext uri="{FF2B5EF4-FFF2-40B4-BE49-F238E27FC236}">
                      <a16:creationId xmlns:a16="http://schemas.microsoft.com/office/drawing/2014/main" id="{5AFBA30D-0230-2A12-B84A-1AC68B9B8056}"/>
                    </a:ext>
                  </a:extLst>
                </p:cNvPr>
                <p:cNvSpPr/>
                <p:nvPr/>
              </p:nvSpPr>
              <p:spPr>
                <a:xfrm>
                  <a:off x="6493763" y="4641050"/>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Avenir Book" panose="02000503020000020003" pitchFamily="2" charset="0"/>
                  </a:endParaRPr>
                </a:p>
              </p:txBody>
            </p:sp>
            <p:sp>
              <p:nvSpPr>
                <p:cNvPr id="53" name="Rectangle 52">
                  <a:extLst>
                    <a:ext uri="{FF2B5EF4-FFF2-40B4-BE49-F238E27FC236}">
                      <a16:creationId xmlns:a16="http://schemas.microsoft.com/office/drawing/2014/main" id="{1752B071-ED59-044D-FBF0-04F7DC60CD6C}"/>
                    </a:ext>
                  </a:extLst>
                </p:cNvPr>
                <p:cNvSpPr/>
                <p:nvPr/>
              </p:nvSpPr>
              <p:spPr>
                <a:xfrm>
                  <a:off x="6677606" y="4194782"/>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latin typeface="Avenir Book" panose="02000503020000020003" pitchFamily="2" charset="0"/>
                  </a:endParaRPr>
                </a:p>
              </p:txBody>
            </p:sp>
          </p:grpSp>
          <p:cxnSp>
            <p:nvCxnSpPr>
              <p:cNvPr id="65" name="Straight Connector 64">
                <a:extLst>
                  <a:ext uri="{FF2B5EF4-FFF2-40B4-BE49-F238E27FC236}">
                    <a16:creationId xmlns:a16="http://schemas.microsoft.com/office/drawing/2014/main" id="{1D84B51D-AEB6-18B6-5D94-114F29018272}"/>
                  </a:ext>
                </a:extLst>
              </p:cNvPr>
              <p:cNvCxnSpPr/>
              <p:nvPr/>
            </p:nvCxnSpPr>
            <p:spPr>
              <a:xfrm flipH="1" flipV="1">
                <a:off x="4535604" y="3414544"/>
                <a:ext cx="3314994" cy="216635"/>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sp>
          <p:nvSpPr>
            <p:cNvPr id="70" name="TextBox 69">
              <a:extLst>
                <a:ext uri="{FF2B5EF4-FFF2-40B4-BE49-F238E27FC236}">
                  <a16:creationId xmlns:a16="http://schemas.microsoft.com/office/drawing/2014/main" id="{B3EFEE57-BF60-1439-4067-0633F7B32CF4}"/>
                </a:ext>
              </a:extLst>
            </p:cNvPr>
            <p:cNvSpPr txBox="1"/>
            <p:nvPr/>
          </p:nvSpPr>
          <p:spPr>
            <a:xfrm>
              <a:off x="3971880" y="4762791"/>
              <a:ext cx="3987482" cy="369332"/>
            </a:xfrm>
            <a:prstGeom prst="rect">
              <a:avLst/>
            </a:prstGeom>
            <a:noFill/>
            <a:ln w="28575">
              <a:noFill/>
            </a:ln>
          </p:spPr>
          <p:txBody>
            <a:bodyPr wrap="square" rtlCol="0">
              <a:spAutoFit/>
            </a:bodyPr>
            <a:lstStyle/>
            <a:p>
              <a:pPr algn="ctr"/>
              <a:r>
                <a:rPr lang="en-US" dirty="0"/>
                <a:t>healthy vs. non-healthy</a:t>
              </a:r>
            </a:p>
          </p:txBody>
        </p:sp>
      </p:grpSp>
      <p:grpSp>
        <p:nvGrpSpPr>
          <p:cNvPr id="88" name="Group 87">
            <a:extLst>
              <a:ext uri="{FF2B5EF4-FFF2-40B4-BE49-F238E27FC236}">
                <a16:creationId xmlns:a16="http://schemas.microsoft.com/office/drawing/2014/main" id="{D453DA1D-6A85-FDC8-3CB2-7B38D30F46A2}"/>
              </a:ext>
            </a:extLst>
          </p:cNvPr>
          <p:cNvGrpSpPr/>
          <p:nvPr/>
        </p:nvGrpSpPr>
        <p:grpSpPr>
          <a:xfrm>
            <a:off x="8024167" y="2597431"/>
            <a:ext cx="3987482" cy="2507605"/>
            <a:chOff x="8024167" y="2597431"/>
            <a:chExt cx="3987482" cy="2507605"/>
          </a:xfrm>
        </p:grpSpPr>
        <p:grpSp>
          <p:nvGrpSpPr>
            <p:cNvPr id="87" name="Group 86">
              <a:extLst>
                <a:ext uri="{FF2B5EF4-FFF2-40B4-BE49-F238E27FC236}">
                  <a16:creationId xmlns:a16="http://schemas.microsoft.com/office/drawing/2014/main" id="{26B9C8FA-8D1B-C51E-38DB-61699550DDC6}"/>
                </a:ext>
              </a:extLst>
            </p:cNvPr>
            <p:cNvGrpSpPr/>
            <p:nvPr/>
          </p:nvGrpSpPr>
          <p:grpSpPr>
            <a:xfrm>
              <a:off x="8154095" y="2597431"/>
              <a:ext cx="3693463" cy="2180506"/>
              <a:chOff x="8154095" y="2597431"/>
              <a:chExt cx="3693463" cy="2180506"/>
            </a:xfrm>
          </p:grpSpPr>
          <p:grpSp>
            <p:nvGrpSpPr>
              <p:cNvPr id="27" name="Group 26">
                <a:extLst>
                  <a:ext uri="{FF2B5EF4-FFF2-40B4-BE49-F238E27FC236}">
                    <a16:creationId xmlns:a16="http://schemas.microsoft.com/office/drawing/2014/main" id="{A2C0914D-3823-A210-782A-2B2707304592}"/>
                  </a:ext>
                </a:extLst>
              </p:cNvPr>
              <p:cNvGrpSpPr/>
              <p:nvPr/>
            </p:nvGrpSpPr>
            <p:grpSpPr>
              <a:xfrm>
                <a:off x="8595442" y="4316272"/>
                <a:ext cx="3252116" cy="461665"/>
                <a:chOff x="3325607" y="5331767"/>
                <a:chExt cx="5170345" cy="461665"/>
              </a:xfrm>
            </p:grpSpPr>
            <p:cxnSp>
              <p:nvCxnSpPr>
                <p:cNvPr id="43" name="Straight Connector 42">
                  <a:extLst>
                    <a:ext uri="{FF2B5EF4-FFF2-40B4-BE49-F238E27FC236}">
                      <a16:creationId xmlns:a16="http://schemas.microsoft.com/office/drawing/2014/main" id="{B96A803B-49F4-DB5C-7E71-978DDDE39A0C}"/>
                    </a:ext>
                  </a:extLst>
                </p:cNvPr>
                <p:cNvCxnSpPr/>
                <p:nvPr/>
              </p:nvCxnSpPr>
              <p:spPr>
                <a:xfrm flipH="1">
                  <a:off x="3325607" y="5562600"/>
                  <a:ext cx="45229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A32B35E-BD85-75B1-63BC-3C54755C83AE}"/>
                        </a:ext>
                      </a:extLst>
                    </p:cNvPr>
                    <p:cNvSpPr txBox="1"/>
                    <p:nvPr/>
                  </p:nvSpPr>
                  <p:spPr>
                    <a:xfrm>
                      <a:off x="7865647" y="5331767"/>
                      <a:ext cx="630305"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1</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73" name="TextBox 72"/>
                    <p:cNvSpPr txBox="1">
                      <a:spLocks noRot="1" noChangeAspect="1" noMove="1" noResize="1" noEditPoints="1" noAdjustHandles="1" noChangeArrowheads="1" noChangeShapeType="1" noTextEdit="1"/>
                    </p:cNvSpPr>
                    <p:nvPr/>
                  </p:nvSpPr>
                  <p:spPr>
                    <a:xfrm>
                      <a:off x="7865647" y="5331767"/>
                      <a:ext cx="630305" cy="461665"/>
                    </a:xfrm>
                    <a:prstGeom prst="rect">
                      <a:avLst/>
                    </a:prstGeom>
                    <a:blipFill>
                      <a:blip r:embed="rId8"/>
                      <a:stretch>
                        <a:fillRect l="-8108"/>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3686552C-CBA8-4BE6-BC5E-153F926B6191}"/>
                  </a:ext>
                </a:extLst>
              </p:cNvPr>
              <p:cNvGrpSpPr/>
              <p:nvPr/>
            </p:nvGrpSpPr>
            <p:grpSpPr>
              <a:xfrm>
                <a:off x="8154095" y="2597431"/>
                <a:ext cx="933248" cy="1969719"/>
                <a:chOff x="4105376" y="2211559"/>
                <a:chExt cx="933248" cy="2908641"/>
              </a:xfrm>
            </p:grpSpPr>
            <p:cxnSp>
              <p:nvCxnSpPr>
                <p:cNvPr id="41" name="Straight Connector 40">
                  <a:extLst>
                    <a:ext uri="{FF2B5EF4-FFF2-40B4-BE49-F238E27FC236}">
                      <a16:creationId xmlns:a16="http://schemas.microsoft.com/office/drawing/2014/main" id="{73FD05A8-664A-536E-61DC-D1EBA162E2B2}"/>
                    </a:ext>
                  </a:extLst>
                </p:cNvPr>
                <p:cNvCxnSpPr/>
                <p:nvPr/>
              </p:nvCxnSpPr>
              <p:spPr>
                <a:xfrm>
                  <a:off x="4539174" y="2885822"/>
                  <a:ext cx="0" cy="22343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990015F-2C75-4C7D-9019-1CD0A107DB80}"/>
                        </a:ext>
                      </a:extLst>
                    </p:cNvPr>
                    <p:cNvSpPr txBox="1"/>
                    <p:nvPr/>
                  </p:nvSpPr>
                  <p:spPr>
                    <a:xfrm>
                      <a:off x="4105376" y="2211559"/>
                      <a:ext cx="933248" cy="6817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𝑥</m:t>
                                </m:r>
                              </m:e>
                              <m:sub>
                                <m:r>
                                  <a:rPr lang="en-US" sz="2400" i="1">
                                    <a:latin typeface="Cambria Math" charset="0"/>
                                    <a:ea typeface="Avenir Book" charset="0"/>
                                    <a:cs typeface="Avenir Book" charset="0"/>
                                  </a:rPr>
                                  <m:t>2</m:t>
                                </m:r>
                              </m:sub>
                            </m:sSub>
                          </m:oMath>
                        </m:oMathPara>
                      </a14:m>
                      <a:endParaRPr lang="en-US" sz="2400" dirty="0">
                        <a:latin typeface="Avenir Book" panose="02000503020000020003" pitchFamily="2" charset="0"/>
                        <a:ea typeface="Avenir Book" charset="0"/>
                        <a:cs typeface="Avenir Book" charset="0"/>
                      </a:endParaRPr>
                    </a:p>
                  </p:txBody>
                </p:sp>
              </mc:Choice>
              <mc:Fallback xmlns="">
                <p:sp>
                  <p:nvSpPr>
                    <p:cNvPr id="76" name="TextBox 75"/>
                    <p:cNvSpPr txBox="1">
                      <a:spLocks noRot="1" noChangeAspect="1" noMove="1" noResize="1" noEditPoints="1" noAdjustHandles="1" noChangeArrowheads="1" noChangeShapeType="1" noTextEdit="1"/>
                    </p:cNvSpPr>
                    <p:nvPr/>
                  </p:nvSpPr>
                  <p:spPr>
                    <a:xfrm>
                      <a:off x="4105376" y="2211559"/>
                      <a:ext cx="933248" cy="681731"/>
                    </a:xfrm>
                    <a:prstGeom prst="rect">
                      <a:avLst/>
                    </a:prstGeom>
                    <a:blipFill>
                      <a:blip r:embed="rId4"/>
                      <a:stretch>
                        <a:fillRect/>
                      </a:stretch>
                    </a:blipFill>
                  </p:spPr>
                  <p:txBody>
                    <a:bodyPr/>
                    <a:lstStyle/>
                    <a:p>
                      <a:r>
                        <a:rPr lang="en-US">
                          <a:noFill/>
                        </a:rPr>
                        <a:t> </a:t>
                      </a:r>
                    </a:p>
                  </p:txBody>
                </p:sp>
              </mc:Fallback>
            </mc:AlternateContent>
          </p:grpSp>
          <p:grpSp>
            <p:nvGrpSpPr>
              <p:cNvPr id="29" name="Group 28">
                <a:extLst>
                  <a:ext uri="{FF2B5EF4-FFF2-40B4-BE49-F238E27FC236}">
                    <a16:creationId xmlns:a16="http://schemas.microsoft.com/office/drawing/2014/main" id="{5183C08B-8E15-37F2-D533-3DAD9309A697}"/>
                  </a:ext>
                </a:extLst>
              </p:cNvPr>
              <p:cNvGrpSpPr/>
              <p:nvPr/>
            </p:nvGrpSpPr>
            <p:grpSpPr>
              <a:xfrm>
                <a:off x="9641520" y="2902231"/>
                <a:ext cx="1318602" cy="532808"/>
                <a:chOff x="2454392" y="3745388"/>
                <a:chExt cx="1318602" cy="532808"/>
              </a:xfrm>
            </p:grpSpPr>
            <p:sp>
              <p:nvSpPr>
                <p:cNvPr id="38" name="Oval 37">
                  <a:extLst>
                    <a:ext uri="{FF2B5EF4-FFF2-40B4-BE49-F238E27FC236}">
                      <a16:creationId xmlns:a16="http://schemas.microsoft.com/office/drawing/2014/main" id="{7AE9CA76-D988-DD24-78C1-250BD3F94D3C}"/>
                    </a:ext>
                  </a:extLst>
                </p:cNvPr>
                <p:cNvSpPr/>
                <p:nvPr/>
              </p:nvSpPr>
              <p:spPr>
                <a:xfrm>
                  <a:off x="2454392" y="3897196"/>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9" name="Oval 38">
                  <a:extLst>
                    <a:ext uri="{FF2B5EF4-FFF2-40B4-BE49-F238E27FC236}">
                      <a16:creationId xmlns:a16="http://schemas.microsoft.com/office/drawing/2014/main" id="{910D50A5-924A-2FA4-3B0D-B5ABF2A6041F}"/>
                    </a:ext>
                  </a:extLst>
                </p:cNvPr>
                <p:cNvSpPr/>
                <p:nvPr/>
              </p:nvSpPr>
              <p:spPr>
                <a:xfrm>
                  <a:off x="3544394" y="4049596"/>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0" name="Oval 39">
                  <a:extLst>
                    <a:ext uri="{FF2B5EF4-FFF2-40B4-BE49-F238E27FC236}">
                      <a16:creationId xmlns:a16="http://schemas.microsoft.com/office/drawing/2014/main" id="{61EFB8BE-F020-F423-B7F6-B8AA734A7FEA}"/>
                    </a:ext>
                  </a:extLst>
                </p:cNvPr>
                <p:cNvSpPr/>
                <p:nvPr/>
              </p:nvSpPr>
              <p:spPr>
                <a:xfrm>
                  <a:off x="3142128" y="3745388"/>
                  <a:ext cx="228600" cy="2286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30" name="Group 29">
                <a:extLst>
                  <a:ext uri="{FF2B5EF4-FFF2-40B4-BE49-F238E27FC236}">
                    <a16:creationId xmlns:a16="http://schemas.microsoft.com/office/drawing/2014/main" id="{AF9A1758-4582-5B9E-B37E-746E85FE31BC}"/>
                  </a:ext>
                </a:extLst>
              </p:cNvPr>
              <p:cNvGrpSpPr/>
              <p:nvPr/>
            </p:nvGrpSpPr>
            <p:grpSpPr>
              <a:xfrm>
                <a:off x="8928788" y="3456155"/>
                <a:ext cx="977907" cy="837705"/>
                <a:chOff x="1344844" y="3861108"/>
                <a:chExt cx="977907" cy="837705"/>
              </a:xfrm>
            </p:grpSpPr>
            <p:sp>
              <p:nvSpPr>
                <p:cNvPr id="35" name="Triangle 34">
                  <a:extLst>
                    <a:ext uri="{FF2B5EF4-FFF2-40B4-BE49-F238E27FC236}">
                      <a16:creationId xmlns:a16="http://schemas.microsoft.com/office/drawing/2014/main" id="{BB0C2502-A285-73B1-2D7D-61C20A70B52F}"/>
                    </a:ext>
                  </a:extLst>
                </p:cNvPr>
                <p:cNvSpPr/>
                <p:nvPr/>
              </p:nvSpPr>
              <p:spPr>
                <a:xfrm>
                  <a:off x="1370811" y="3861108"/>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sp>
              <p:nvSpPr>
                <p:cNvPr id="36" name="Triangle 35">
                  <a:extLst>
                    <a:ext uri="{FF2B5EF4-FFF2-40B4-BE49-F238E27FC236}">
                      <a16:creationId xmlns:a16="http://schemas.microsoft.com/office/drawing/2014/main" id="{9B14E73E-A7D4-94B7-53D0-CC6D7610361C}"/>
                    </a:ext>
                  </a:extLst>
                </p:cNvPr>
                <p:cNvSpPr/>
                <p:nvPr/>
              </p:nvSpPr>
              <p:spPr>
                <a:xfrm>
                  <a:off x="1344844" y="4470213"/>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sp>
              <p:nvSpPr>
                <p:cNvPr id="37" name="Triangle 36">
                  <a:extLst>
                    <a:ext uri="{FF2B5EF4-FFF2-40B4-BE49-F238E27FC236}">
                      <a16:creationId xmlns:a16="http://schemas.microsoft.com/office/drawing/2014/main" id="{2C0D2CE6-45F8-C088-89B2-0931BF19EE09}"/>
                    </a:ext>
                  </a:extLst>
                </p:cNvPr>
                <p:cNvSpPr/>
                <p:nvPr/>
              </p:nvSpPr>
              <p:spPr>
                <a:xfrm>
                  <a:off x="2057576" y="4470213"/>
                  <a:ext cx="265175" cy="228600"/>
                </a:xfrm>
                <a:prstGeom prst="triangl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atin typeface="Avenir Book" panose="02000503020000020003" pitchFamily="2" charset="0"/>
                  </a:endParaRPr>
                </a:p>
              </p:txBody>
            </p:sp>
          </p:grpSp>
          <p:grpSp>
            <p:nvGrpSpPr>
              <p:cNvPr id="31" name="Group 30">
                <a:extLst>
                  <a:ext uri="{FF2B5EF4-FFF2-40B4-BE49-F238E27FC236}">
                    <a16:creationId xmlns:a16="http://schemas.microsoft.com/office/drawing/2014/main" id="{57F82D30-9B93-08DA-CDB6-A63DD63EA6D0}"/>
                  </a:ext>
                </a:extLst>
              </p:cNvPr>
              <p:cNvGrpSpPr/>
              <p:nvPr/>
            </p:nvGrpSpPr>
            <p:grpSpPr>
              <a:xfrm>
                <a:off x="10335249" y="3652751"/>
                <a:ext cx="1098243" cy="674868"/>
                <a:chOff x="5807963" y="4194782"/>
                <a:chExt cx="1098243" cy="674868"/>
              </a:xfrm>
            </p:grpSpPr>
            <p:sp>
              <p:nvSpPr>
                <p:cNvPr id="32" name="Rectangle 31">
                  <a:extLst>
                    <a:ext uri="{FF2B5EF4-FFF2-40B4-BE49-F238E27FC236}">
                      <a16:creationId xmlns:a16="http://schemas.microsoft.com/office/drawing/2014/main" id="{B0535819-123B-3BF4-B3F2-B47B9B435337}"/>
                    </a:ext>
                  </a:extLst>
                </p:cNvPr>
                <p:cNvSpPr/>
                <p:nvPr/>
              </p:nvSpPr>
              <p:spPr>
                <a:xfrm>
                  <a:off x="5807963" y="4629703"/>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Avenir Book" panose="02000503020000020003" pitchFamily="2" charset="0"/>
                  </a:endParaRPr>
                </a:p>
              </p:txBody>
            </p:sp>
            <p:sp>
              <p:nvSpPr>
                <p:cNvPr id="33" name="Rectangle 32">
                  <a:extLst>
                    <a:ext uri="{FF2B5EF4-FFF2-40B4-BE49-F238E27FC236}">
                      <a16:creationId xmlns:a16="http://schemas.microsoft.com/office/drawing/2014/main" id="{54B83BF8-09E4-70B3-31CC-50728F355942}"/>
                    </a:ext>
                  </a:extLst>
                </p:cNvPr>
                <p:cNvSpPr/>
                <p:nvPr/>
              </p:nvSpPr>
              <p:spPr>
                <a:xfrm>
                  <a:off x="6493763" y="4641050"/>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Avenir Book" panose="02000503020000020003" pitchFamily="2" charset="0"/>
                  </a:endParaRPr>
                </a:p>
              </p:txBody>
            </p:sp>
            <p:sp>
              <p:nvSpPr>
                <p:cNvPr id="34" name="Rectangle 33">
                  <a:extLst>
                    <a:ext uri="{FF2B5EF4-FFF2-40B4-BE49-F238E27FC236}">
                      <a16:creationId xmlns:a16="http://schemas.microsoft.com/office/drawing/2014/main" id="{6D92BBB4-3285-4EB7-A160-B3D8DE9DBBCE}"/>
                    </a:ext>
                  </a:extLst>
                </p:cNvPr>
                <p:cNvSpPr/>
                <p:nvPr/>
              </p:nvSpPr>
              <p:spPr>
                <a:xfrm>
                  <a:off x="6677606" y="4194782"/>
                  <a:ext cx="228600" cy="228600"/>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latin typeface="Avenir Book" panose="02000503020000020003" pitchFamily="2" charset="0"/>
                  </a:endParaRPr>
                </a:p>
              </p:txBody>
            </p:sp>
          </p:grpSp>
          <p:cxnSp>
            <p:nvCxnSpPr>
              <p:cNvPr id="64" name="Straight Connector 63">
                <a:extLst>
                  <a:ext uri="{FF2B5EF4-FFF2-40B4-BE49-F238E27FC236}">
                    <a16:creationId xmlns:a16="http://schemas.microsoft.com/office/drawing/2014/main" id="{E9E65A59-0BD2-5D1F-E776-D5D4A700CE76}"/>
                  </a:ext>
                </a:extLst>
              </p:cNvPr>
              <p:cNvCxnSpPr>
                <a:cxnSpLocks/>
              </p:cNvCxnSpPr>
              <p:nvPr/>
            </p:nvCxnSpPr>
            <p:spPr>
              <a:xfrm flipH="1">
                <a:off x="9677895" y="3054040"/>
                <a:ext cx="2072841" cy="146155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sp>
          <p:nvSpPr>
            <p:cNvPr id="71" name="TextBox 70">
              <a:extLst>
                <a:ext uri="{FF2B5EF4-FFF2-40B4-BE49-F238E27FC236}">
                  <a16:creationId xmlns:a16="http://schemas.microsoft.com/office/drawing/2014/main" id="{5C99F5EF-CEE8-CB9F-24E5-845D94654AAF}"/>
                </a:ext>
              </a:extLst>
            </p:cNvPr>
            <p:cNvSpPr txBox="1"/>
            <p:nvPr/>
          </p:nvSpPr>
          <p:spPr>
            <a:xfrm>
              <a:off x="8024167" y="4735704"/>
              <a:ext cx="3987482" cy="369332"/>
            </a:xfrm>
            <a:prstGeom prst="rect">
              <a:avLst/>
            </a:prstGeom>
            <a:noFill/>
            <a:ln w="28575">
              <a:noFill/>
            </a:ln>
          </p:spPr>
          <p:txBody>
            <a:bodyPr wrap="square" rtlCol="0">
              <a:spAutoFit/>
            </a:bodyPr>
            <a:lstStyle/>
            <a:p>
              <a:pPr algn="ctr"/>
              <a:r>
                <a:rPr lang="en-US" dirty="0"/>
                <a:t>Hypotensive vs. non-hypotensive</a:t>
              </a:r>
            </a:p>
          </p:txBody>
        </p:sp>
      </p:grpSp>
      <p:grpSp>
        <p:nvGrpSpPr>
          <p:cNvPr id="92" name="Group 91">
            <a:extLst>
              <a:ext uri="{FF2B5EF4-FFF2-40B4-BE49-F238E27FC236}">
                <a16:creationId xmlns:a16="http://schemas.microsoft.com/office/drawing/2014/main" id="{8D5CEF6C-9226-B7B7-790B-F1323648FC51}"/>
              </a:ext>
            </a:extLst>
          </p:cNvPr>
          <p:cNvGrpSpPr/>
          <p:nvPr/>
        </p:nvGrpSpPr>
        <p:grpSpPr>
          <a:xfrm>
            <a:off x="234947" y="5050308"/>
            <a:ext cx="11537676" cy="523220"/>
            <a:chOff x="234947" y="5100935"/>
            <a:chExt cx="11537676" cy="523220"/>
          </a:xfrm>
        </p:grpSpPr>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3461584-9EC7-17CD-4DCE-216B5EEC96E5}"/>
                    </a:ext>
                  </a:extLst>
                </p:cNvPr>
                <p:cNvSpPr txBox="1"/>
                <p:nvPr/>
              </p:nvSpPr>
              <p:spPr>
                <a:xfrm>
                  <a:off x="234947" y="5100935"/>
                  <a:ext cx="3615220" cy="523220"/>
                </a:xfrm>
                <a:prstGeom prst="rect">
                  <a:avLst/>
                </a:prstGeom>
                <a:noFill/>
              </p:spPr>
              <p:txBody>
                <a:bodyPr wrap="none" rtlCol="0">
                  <a:spAutoFit/>
                </a:bodyPr>
                <a:lstStyle/>
                <a:p>
                  <a:pPr algn="ctr"/>
                  <a14:m>
                    <m:oMath xmlns:m="http://schemas.openxmlformats.org/officeDocument/2006/math">
                      <m:r>
                        <a:rPr lang="en-US" sz="2800" i="1" dirty="0">
                          <a:latin typeface="Cambria Math" panose="02040503050406030204" pitchFamily="18" charset="0"/>
                          <a:ea typeface="Avenir Book" charset="0"/>
                          <a:cs typeface="Avenir Book" charset="0"/>
                        </a:rPr>
                        <m:t>𝑦</m:t>
                      </m:r>
                      <m:r>
                        <a:rPr lang="en-US" sz="2800" i="1" dirty="0">
                          <a:latin typeface="Cambria Math" panose="02040503050406030204" pitchFamily="18" charset="0"/>
                          <a:ea typeface="Avenir Book" charset="0"/>
                          <a:cs typeface="Avenir Book" charset="0"/>
                        </a:rPr>
                        <m:t>= </m:t>
                      </m:r>
                    </m:oMath>
                  </a14:m>
                  <a:r>
                    <a:rPr lang="en-US" sz="2800" dirty="0">
                      <a:latin typeface="Avenir Book" panose="02000503020000020003" pitchFamily="2" charset="0"/>
                      <a:ea typeface="Avenir Book" charset="0"/>
                      <a:cs typeface="Avenir Book" charset="0"/>
                    </a:rPr>
                    <a:t>non-hypertensive</a:t>
                  </a:r>
                </a:p>
              </p:txBody>
            </p:sp>
          </mc:Choice>
          <mc:Fallback xmlns="">
            <p:sp>
              <p:nvSpPr>
                <p:cNvPr id="73" name="TextBox 72">
                  <a:extLst>
                    <a:ext uri="{FF2B5EF4-FFF2-40B4-BE49-F238E27FC236}">
                      <a16:creationId xmlns:a16="http://schemas.microsoft.com/office/drawing/2014/main" id="{D3461584-9EC7-17CD-4DCE-216B5EEC96E5}"/>
                    </a:ext>
                  </a:extLst>
                </p:cNvPr>
                <p:cNvSpPr txBox="1">
                  <a:spLocks noRot="1" noChangeAspect="1" noMove="1" noResize="1" noEditPoints="1" noAdjustHandles="1" noChangeArrowheads="1" noChangeShapeType="1" noTextEdit="1"/>
                </p:cNvSpPr>
                <p:nvPr/>
              </p:nvSpPr>
              <p:spPr>
                <a:xfrm>
                  <a:off x="234947" y="5100935"/>
                  <a:ext cx="3615220" cy="523220"/>
                </a:xfrm>
                <a:prstGeom prst="rect">
                  <a:avLst/>
                </a:prstGeom>
                <a:blipFill>
                  <a:blip r:embed="rId9"/>
                  <a:stretch>
                    <a:fillRect l="-350" t="-9524" r="-2797"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DF363E50-206C-8321-4197-EAF5D4CE46E4}"/>
                    </a:ext>
                  </a:extLst>
                </p:cNvPr>
                <p:cNvSpPr txBox="1"/>
                <p:nvPr/>
              </p:nvSpPr>
              <p:spPr>
                <a:xfrm>
                  <a:off x="5094701" y="5100935"/>
                  <a:ext cx="2002600" cy="523220"/>
                </a:xfrm>
                <a:prstGeom prst="rect">
                  <a:avLst/>
                </a:prstGeom>
                <a:noFill/>
              </p:spPr>
              <p:txBody>
                <a:bodyPr wrap="none" rtlCol="0">
                  <a:spAutoFit/>
                </a:bodyPr>
                <a:lstStyle/>
                <a:p>
                  <a:pPr algn="ctr"/>
                  <a14:m>
                    <m:oMath xmlns:m="http://schemas.openxmlformats.org/officeDocument/2006/math">
                      <m:r>
                        <a:rPr lang="en-US" sz="2800" i="1" dirty="0">
                          <a:latin typeface="Cambria Math" panose="02040503050406030204" pitchFamily="18" charset="0"/>
                          <a:ea typeface="Avenir Book" charset="0"/>
                          <a:cs typeface="Avenir Book" charset="0"/>
                        </a:rPr>
                        <m:t>𝑦</m:t>
                      </m:r>
                      <m:r>
                        <a:rPr lang="en-US" sz="2800" i="1" dirty="0">
                          <a:latin typeface="Cambria Math" panose="02040503050406030204" pitchFamily="18" charset="0"/>
                          <a:ea typeface="Avenir Book" charset="0"/>
                          <a:cs typeface="Avenir Book" charset="0"/>
                        </a:rPr>
                        <m:t>= </m:t>
                      </m:r>
                    </m:oMath>
                  </a14:m>
                  <a:r>
                    <a:rPr lang="en-US" sz="2800" dirty="0">
                      <a:latin typeface="Avenir Book" panose="02000503020000020003" pitchFamily="2" charset="0"/>
                      <a:ea typeface="Avenir Book" charset="0"/>
                      <a:cs typeface="Avenir Book" charset="0"/>
                    </a:rPr>
                    <a:t>healthy</a:t>
                  </a:r>
                </a:p>
              </p:txBody>
            </p:sp>
          </mc:Choice>
          <mc:Fallback xmlns="">
            <p:sp>
              <p:nvSpPr>
                <p:cNvPr id="77" name="TextBox 76">
                  <a:extLst>
                    <a:ext uri="{FF2B5EF4-FFF2-40B4-BE49-F238E27FC236}">
                      <a16:creationId xmlns:a16="http://schemas.microsoft.com/office/drawing/2014/main" id="{DF363E50-206C-8321-4197-EAF5D4CE46E4}"/>
                    </a:ext>
                  </a:extLst>
                </p:cNvPr>
                <p:cNvSpPr txBox="1">
                  <a:spLocks noRot="1" noChangeAspect="1" noMove="1" noResize="1" noEditPoints="1" noAdjustHandles="1" noChangeArrowheads="1" noChangeShapeType="1" noTextEdit="1"/>
                </p:cNvSpPr>
                <p:nvPr/>
              </p:nvSpPr>
              <p:spPr>
                <a:xfrm>
                  <a:off x="5094701" y="5100935"/>
                  <a:ext cx="2002600" cy="523220"/>
                </a:xfrm>
                <a:prstGeom prst="rect">
                  <a:avLst/>
                </a:prstGeom>
                <a:blipFill>
                  <a:blip r:embed="rId5"/>
                  <a:stretch>
                    <a:fillRect l="-1266" t="-9524" r="-6329"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6D8CD32-DAB2-E3A5-8D82-E5433C97C85C}"/>
                    </a:ext>
                  </a:extLst>
                </p:cNvPr>
                <p:cNvSpPr txBox="1"/>
                <p:nvPr/>
              </p:nvSpPr>
              <p:spPr>
                <a:xfrm>
                  <a:off x="8263201" y="5100935"/>
                  <a:ext cx="3509422" cy="523220"/>
                </a:xfrm>
                <a:prstGeom prst="rect">
                  <a:avLst/>
                </a:prstGeom>
                <a:noFill/>
              </p:spPr>
              <p:txBody>
                <a:bodyPr wrap="none" rtlCol="0">
                  <a:spAutoFit/>
                </a:bodyPr>
                <a:lstStyle/>
                <a:p>
                  <a:pPr algn="ctr"/>
                  <a14:m>
                    <m:oMath xmlns:m="http://schemas.openxmlformats.org/officeDocument/2006/math">
                      <m:r>
                        <a:rPr lang="en-US" sz="2800" i="1" dirty="0">
                          <a:latin typeface="Cambria Math" panose="02040503050406030204" pitchFamily="18" charset="0"/>
                          <a:ea typeface="Avenir Book" charset="0"/>
                          <a:cs typeface="Avenir Book" charset="0"/>
                        </a:rPr>
                        <m:t>𝑦</m:t>
                      </m:r>
                      <m:r>
                        <a:rPr lang="en-US" sz="2800" i="1" dirty="0">
                          <a:latin typeface="Cambria Math" panose="02040503050406030204" pitchFamily="18" charset="0"/>
                          <a:ea typeface="Avenir Book" charset="0"/>
                          <a:cs typeface="Avenir Book" charset="0"/>
                        </a:rPr>
                        <m:t>= </m:t>
                      </m:r>
                    </m:oMath>
                  </a14:m>
                  <a:r>
                    <a:rPr lang="en-US" sz="2800" dirty="0">
                      <a:latin typeface="Avenir Book" panose="02000503020000020003" pitchFamily="2" charset="0"/>
                      <a:ea typeface="Avenir Book" charset="0"/>
                      <a:cs typeface="Avenir Book" charset="0"/>
                    </a:rPr>
                    <a:t>non-hypotensive</a:t>
                  </a:r>
                </a:p>
              </p:txBody>
            </p:sp>
          </mc:Choice>
          <mc:Fallback xmlns="">
            <p:sp>
              <p:nvSpPr>
                <p:cNvPr id="78" name="TextBox 77">
                  <a:extLst>
                    <a:ext uri="{FF2B5EF4-FFF2-40B4-BE49-F238E27FC236}">
                      <a16:creationId xmlns:a16="http://schemas.microsoft.com/office/drawing/2014/main" id="{06D8CD32-DAB2-E3A5-8D82-E5433C97C85C}"/>
                    </a:ext>
                  </a:extLst>
                </p:cNvPr>
                <p:cNvSpPr txBox="1">
                  <a:spLocks noRot="1" noChangeAspect="1" noMove="1" noResize="1" noEditPoints="1" noAdjustHandles="1" noChangeArrowheads="1" noChangeShapeType="1" noTextEdit="1"/>
                </p:cNvSpPr>
                <p:nvPr/>
              </p:nvSpPr>
              <p:spPr>
                <a:xfrm>
                  <a:off x="8263201" y="5100935"/>
                  <a:ext cx="3509422" cy="523220"/>
                </a:xfrm>
                <a:prstGeom prst="rect">
                  <a:avLst/>
                </a:prstGeom>
                <a:blipFill>
                  <a:blip r:embed="rId10"/>
                  <a:stretch>
                    <a:fillRect l="-361" t="-9524" r="-3249" b="-33333"/>
                  </a:stretch>
                </a:blipFill>
              </p:spPr>
              <p:txBody>
                <a:bodyPr/>
                <a:lstStyle/>
                <a:p>
                  <a:r>
                    <a:rPr lang="en-US">
                      <a:noFill/>
                    </a:rPr>
                    <a:t> </a:t>
                  </a:r>
                </a:p>
              </p:txBody>
            </p:sp>
          </mc:Fallback>
        </mc:AlternateContent>
      </p:grpSp>
    </p:spTree>
    <p:extLst>
      <p:ext uri="{BB962C8B-B14F-4D97-AF65-F5344CB8AC3E}">
        <p14:creationId xmlns:p14="http://schemas.microsoft.com/office/powerpoint/2010/main" val="385976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fade">
                                      <p:cBhvr>
                                        <p:cTn id="12" dur="500"/>
                                        <p:tgtEl>
                                          <p:spTgt spid="94"/>
                                        </p:tgtEl>
                                      </p:cBhvr>
                                    </p:animEffect>
                                  </p:childTnLst>
                                </p:cTn>
                              </p:par>
                              <p:par>
                                <p:cTn id="13" presetID="10" presetClass="entr" presetSubtype="0" fill="hold" nodeType="withEffect">
                                  <p:stCondLst>
                                    <p:cond delay="0"/>
                                  </p:stCondLst>
                                  <p:childTnLst>
                                    <p:set>
                                      <p:cBhvr>
                                        <p:cTn id="14" dur="1" fill="hold">
                                          <p:stCondLst>
                                            <p:cond delay="0"/>
                                          </p:stCondLst>
                                        </p:cTn>
                                        <p:tgtEl>
                                          <p:spTgt spid="89"/>
                                        </p:tgtEl>
                                        <p:attrNameLst>
                                          <p:attrName>style.visibility</p:attrName>
                                        </p:attrNameLst>
                                      </p:cBhvr>
                                      <p:to>
                                        <p:strVal val="visible"/>
                                      </p:to>
                                    </p:set>
                                    <p:animEffect transition="in" filter="fade">
                                      <p:cBhvr>
                                        <p:cTn id="15" dur="500"/>
                                        <p:tgtEl>
                                          <p:spTgt spid="89"/>
                                        </p:tgtEl>
                                      </p:cBhvr>
                                    </p:animEffect>
                                  </p:childTnLst>
                                </p:cTn>
                              </p:par>
                              <p:par>
                                <p:cTn id="16" presetID="10" presetClass="entr" presetSubtype="0" fill="hold" nodeType="withEffect">
                                  <p:stCondLst>
                                    <p:cond delay="0"/>
                                  </p:stCondLst>
                                  <p:childTnLst>
                                    <p:set>
                                      <p:cBhvr>
                                        <p:cTn id="17" dur="1" fill="hold">
                                          <p:stCondLst>
                                            <p:cond delay="0"/>
                                          </p:stCondLst>
                                        </p:cTn>
                                        <p:tgtEl>
                                          <p:spTgt spid="88"/>
                                        </p:tgtEl>
                                        <p:attrNameLst>
                                          <p:attrName>style.visibility</p:attrName>
                                        </p:attrNameLst>
                                      </p:cBhvr>
                                      <p:to>
                                        <p:strVal val="visible"/>
                                      </p:to>
                                    </p:set>
                                    <p:animEffect transition="in" filter="fade">
                                      <p:cBhvr>
                                        <p:cTn id="18" dur="500"/>
                                        <p:tgtEl>
                                          <p:spTgt spid="8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fade">
                                      <p:cBhvr>
                                        <p:cTn id="23" dur="500"/>
                                        <p:tgtEl>
                                          <p:spTgt spid="92"/>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fade">
                                      <p:cBhvr>
                                        <p:cTn id="2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DC10A-BEEF-41D3-A376-05BE11CBE37E}"/>
              </a:ext>
            </a:extLst>
          </p:cNvPr>
          <p:cNvSpPr>
            <a:spLocks noGrp="1"/>
          </p:cNvSpPr>
          <p:nvPr>
            <p:ph type="title"/>
          </p:nvPr>
        </p:nvSpPr>
        <p:spPr/>
        <p:txBody>
          <a:bodyPr/>
          <a:lstStyle/>
          <a:p>
            <a:r>
              <a:rPr lang="en-US" dirty="0"/>
              <a:t>Classification: Decision Tree</a:t>
            </a:r>
          </a:p>
        </p:txBody>
      </p:sp>
      <p:sp>
        <p:nvSpPr>
          <p:cNvPr id="5" name="Content Placeholder 2">
            <a:extLst>
              <a:ext uri="{FF2B5EF4-FFF2-40B4-BE49-F238E27FC236}">
                <a16:creationId xmlns:a16="http://schemas.microsoft.com/office/drawing/2014/main" id="{50B04001-F735-F0C8-405D-7CD058E410EF}"/>
              </a:ext>
            </a:extLst>
          </p:cNvPr>
          <p:cNvSpPr>
            <a:spLocks noGrp="1"/>
          </p:cNvSpPr>
          <p:nvPr>
            <p:ph idx="1"/>
          </p:nvPr>
        </p:nvSpPr>
        <p:spPr>
          <a:xfrm>
            <a:off x="609600" y="1600202"/>
            <a:ext cx="10972800" cy="1112087"/>
          </a:xfrm>
        </p:spPr>
        <p:txBody>
          <a:bodyPr>
            <a:normAutofit/>
          </a:bodyPr>
          <a:lstStyle/>
          <a:p>
            <a:r>
              <a:rPr lang="en-US" dirty="0">
                <a:latin typeface="Avenir Book" panose="02000503020000020003" pitchFamily="2" charset="0"/>
              </a:rPr>
              <a:t>Maps a combination of features to a class label based on a series of binary decisions</a:t>
            </a:r>
          </a:p>
        </p:txBody>
      </p:sp>
      <mc:AlternateContent xmlns:mc="http://schemas.openxmlformats.org/markup-compatibility/2006" xmlns:a14="http://schemas.microsoft.com/office/drawing/2010/main">
        <mc:Choice Requires="a14">
          <p:sp>
            <p:nvSpPr>
              <p:cNvPr id="6" name="Diamond 5">
                <a:extLst>
                  <a:ext uri="{FF2B5EF4-FFF2-40B4-BE49-F238E27FC236}">
                    <a16:creationId xmlns:a16="http://schemas.microsoft.com/office/drawing/2014/main" id="{D07B3A97-7E68-F884-14F6-9D00B8577DD7}"/>
                  </a:ext>
                </a:extLst>
              </p:cNvPr>
              <p:cNvSpPr/>
              <p:nvPr/>
            </p:nvSpPr>
            <p:spPr>
              <a:xfrm>
                <a:off x="4648201" y="2894853"/>
                <a:ext cx="2907703" cy="9808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dirty="0">
                    <a:ea typeface="Avenir Book" charset="0"/>
                    <a:cs typeface="Avenir Book" charset="0"/>
                  </a:rPr>
                  <a:t>SpO</a:t>
                </a:r>
                <a:r>
                  <a:rPr lang="en-US" b="0" baseline="-25000" dirty="0">
                    <a:ea typeface="Avenir Book" charset="0"/>
                    <a:cs typeface="Avenir Book" charset="0"/>
                  </a:rPr>
                  <a:t>2</a:t>
                </a:r>
                <a14:m>
                  <m:oMath xmlns:m="http://schemas.openxmlformats.org/officeDocument/2006/math">
                    <m:r>
                      <a:rPr lang="en-US" i="1" dirty="0">
                        <a:latin typeface="Cambria Math" panose="02040503050406030204" pitchFamily="18" charset="0"/>
                        <a:ea typeface="Cambria Math" panose="02040503050406030204" pitchFamily="18" charset="0"/>
                        <a:cs typeface="Avenir Book" charset="0"/>
                      </a:rPr>
                      <m:t>≤</m:t>
                    </m:r>
                  </m:oMath>
                </a14:m>
                <a:r>
                  <a:rPr lang="en-US" dirty="0">
                    <a:latin typeface="Avenir Book" panose="02000503020000020003" pitchFamily="2" charset="0"/>
                    <a:ea typeface="Avenir Book" charset="0"/>
                    <a:cs typeface="Avenir Book" charset="0"/>
                  </a:rPr>
                  <a:t> 95%</a:t>
                </a:r>
              </a:p>
            </p:txBody>
          </p:sp>
        </mc:Choice>
        <mc:Fallback xmlns="">
          <p:sp>
            <p:nvSpPr>
              <p:cNvPr id="6" name="Diamond 5">
                <a:extLst>
                  <a:ext uri="{FF2B5EF4-FFF2-40B4-BE49-F238E27FC236}">
                    <a16:creationId xmlns:a16="http://schemas.microsoft.com/office/drawing/2014/main" id="{D07B3A97-7E68-F884-14F6-9D00B8577DD7}"/>
                  </a:ext>
                </a:extLst>
              </p:cNvPr>
              <p:cNvSpPr>
                <a:spLocks noRot="1" noChangeAspect="1" noMove="1" noResize="1" noEditPoints="1" noAdjustHandles="1" noChangeArrowheads="1" noChangeShapeType="1" noTextEdit="1"/>
              </p:cNvSpPr>
              <p:nvPr/>
            </p:nvSpPr>
            <p:spPr>
              <a:xfrm>
                <a:off x="4648201" y="2894853"/>
                <a:ext cx="2907703" cy="980850"/>
              </a:xfrm>
              <a:prstGeom prst="diamond">
                <a:avLst/>
              </a:prstGeom>
              <a:blipFill>
                <a:blip r:embed="rId2"/>
                <a:stretch>
                  <a:fillRect/>
                </a:stretch>
              </a:blipFill>
            </p:spPr>
            <p:txBody>
              <a:bodyPr/>
              <a:lstStyle/>
              <a:p>
                <a:r>
                  <a:rPr lang="en-US">
                    <a:noFill/>
                  </a:rPr>
                  <a:t> </a:t>
                </a:r>
              </a:p>
            </p:txBody>
          </p:sp>
        </mc:Fallback>
      </mc:AlternateContent>
      <p:sp>
        <p:nvSpPr>
          <p:cNvPr id="7" name="Diamond 6">
            <a:extLst>
              <a:ext uri="{FF2B5EF4-FFF2-40B4-BE49-F238E27FC236}">
                <a16:creationId xmlns:a16="http://schemas.microsoft.com/office/drawing/2014/main" id="{F9CC1B21-1B23-0EB7-C755-21A3E9C4D161}"/>
              </a:ext>
            </a:extLst>
          </p:cNvPr>
          <p:cNvSpPr/>
          <p:nvPr/>
        </p:nvSpPr>
        <p:spPr>
          <a:xfrm>
            <a:off x="1396241" y="4139789"/>
            <a:ext cx="2907703" cy="9808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Book" panose="02000503020000020003" pitchFamily="2" charset="0"/>
                <a:ea typeface="Cambria Math" panose="02040503050406030204" pitchFamily="18" charset="0"/>
                <a:cs typeface="Avenir Book" charset="0"/>
              </a:rPr>
              <a:t>Worsening cough?</a:t>
            </a:r>
          </a:p>
        </p:txBody>
      </p:sp>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6522E758-9DEE-5A6F-53A0-F0BBB57B921F}"/>
                  </a:ext>
                </a:extLst>
              </p:cNvPr>
              <p:cNvSpPr/>
              <p:nvPr/>
            </p:nvSpPr>
            <p:spPr>
              <a:xfrm>
                <a:off x="132074" y="5434810"/>
                <a:ext cx="1984578" cy="9659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i="1" dirty="0">
                        <a:latin typeface="Cambria Math" panose="02040503050406030204" pitchFamily="18" charset="0"/>
                        <a:ea typeface="Cambria Math" panose="02040503050406030204" pitchFamily="18" charset="0"/>
                        <a:cs typeface="Avenir Book" charset="0"/>
                      </a:rPr>
                      <m:t>𝑦</m:t>
                    </m:r>
                    <m:r>
                      <a:rPr lang="en-US" i="1" dirty="0">
                        <a:latin typeface="Cambria Math" panose="02040503050406030204" pitchFamily="18" charset="0"/>
                        <a:ea typeface="Cambria Math" panose="02040503050406030204" pitchFamily="18" charset="0"/>
                        <a:cs typeface="Avenir Book" charset="0"/>
                      </a:rPr>
                      <m:t>=</m:t>
                    </m:r>
                  </m:oMath>
                </a14:m>
                <a:r>
                  <a:rPr lang="en-US" dirty="0">
                    <a:latin typeface="Avenir Book" panose="02000503020000020003" pitchFamily="2" charset="0"/>
                    <a:ea typeface="Cambria Math" panose="02040503050406030204" pitchFamily="18" charset="0"/>
                    <a:cs typeface="Avenir Book" charset="0"/>
                  </a:rPr>
                  <a:t> healthy</a:t>
                </a:r>
              </a:p>
            </p:txBody>
          </p:sp>
        </mc:Choice>
        <mc:Fallback xmlns="">
          <p:sp>
            <p:nvSpPr>
              <p:cNvPr id="8" name="Oval 7">
                <a:extLst>
                  <a:ext uri="{FF2B5EF4-FFF2-40B4-BE49-F238E27FC236}">
                    <a16:creationId xmlns:a16="http://schemas.microsoft.com/office/drawing/2014/main" id="{6522E758-9DEE-5A6F-53A0-F0BBB57B921F}"/>
                  </a:ext>
                </a:extLst>
              </p:cNvPr>
              <p:cNvSpPr>
                <a:spLocks noRot="1" noChangeAspect="1" noMove="1" noResize="1" noEditPoints="1" noAdjustHandles="1" noChangeArrowheads="1" noChangeShapeType="1" noTextEdit="1"/>
              </p:cNvSpPr>
              <p:nvPr/>
            </p:nvSpPr>
            <p:spPr>
              <a:xfrm>
                <a:off x="132074" y="5434810"/>
                <a:ext cx="1984578" cy="965989"/>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778AB150-D524-11A5-1C98-DADF16DEB56C}"/>
                  </a:ext>
                </a:extLst>
              </p:cNvPr>
              <p:cNvSpPr/>
              <p:nvPr/>
            </p:nvSpPr>
            <p:spPr>
              <a:xfrm>
                <a:off x="3655912" y="5434810"/>
                <a:ext cx="1984578" cy="9659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i="1" dirty="0">
                        <a:latin typeface="Cambria Math" panose="02040503050406030204" pitchFamily="18" charset="0"/>
                        <a:ea typeface="Cambria Math" panose="02040503050406030204" pitchFamily="18" charset="0"/>
                        <a:cs typeface="Avenir Book" charset="0"/>
                      </a:rPr>
                      <m:t>𝑦</m:t>
                    </m:r>
                    <m:r>
                      <a:rPr lang="en-US" i="1" dirty="0">
                        <a:latin typeface="Cambria Math" panose="02040503050406030204" pitchFamily="18" charset="0"/>
                        <a:ea typeface="Cambria Math" panose="02040503050406030204" pitchFamily="18" charset="0"/>
                        <a:cs typeface="Avenir Book" charset="0"/>
                      </a:rPr>
                      <m:t>=</m:t>
                    </m:r>
                  </m:oMath>
                </a14:m>
                <a:r>
                  <a:rPr lang="en-US" dirty="0">
                    <a:latin typeface="Avenir Book" panose="02000503020000020003" pitchFamily="2" charset="0"/>
                    <a:ea typeface="Cambria Math" panose="02040503050406030204" pitchFamily="18" charset="0"/>
                    <a:cs typeface="Avenir Book" charset="0"/>
                  </a:rPr>
                  <a:t> sick</a:t>
                </a:r>
              </a:p>
            </p:txBody>
          </p:sp>
        </mc:Choice>
        <mc:Fallback xmlns="">
          <p:sp>
            <p:nvSpPr>
              <p:cNvPr id="9" name="Oval 8">
                <a:extLst>
                  <a:ext uri="{FF2B5EF4-FFF2-40B4-BE49-F238E27FC236}">
                    <a16:creationId xmlns:a16="http://schemas.microsoft.com/office/drawing/2014/main" id="{778AB150-D524-11A5-1C98-DADF16DEB56C}"/>
                  </a:ext>
                </a:extLst>
              </p:cNvPr>
              <p:cNvSpPr>
                <a:spLocks noRot="1" noChangeAspect="1" noMove="1" noResize="1" noEditPoints="1" noAdjustHandles="1" noChangeArrowheads="1" noChangeShapeType="1" noTextEdit="1"/>
              </p:cNvSpPr>
              <p:nvPr/>
            </p:nvSpPr>
            <p:spPr>
              <a:xfrm>
                <a:off x="3655912" y="5434810"/>
                <a:ext cx="1984578" cy="965989"/>
              </a:xfrm>
              <a:prstGeom prst="ellipse">
                <a:avLst/>
              </a:prstGeom>
              <a:blipFill>
                <a:blip r:embed="rId4"/>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B4504656-BF1D-DD80-22D5-F24B04FDBE8B}"/>
              </a:ext>
            </a:extLst>
          </p:cNvPr>
          <p:cNvGrpSpPr/>
          <p:nvPr/>
        </p:nvGrpSpPr>
        <p:grpSpPr>
          <a:xfrm>
            <a:off x="7555904" y="3007652"/>
            <a:ext cx="1206324" cy="1131756"/>
            <a:chOff x="6031903" y="3007651"/>
            <a:chExt cx="1206324" cy="1131756"/>
          </a:xfrm>
        </p:grpSpPr>
        <p:cxnSp>
          <p:nvCxnSpPr>
            <p:cNvPr id="11" name="Elbow Connector 10">
              <a:extLst>
                <a:ext uri="{FF2B5EF4-FFF2-40B4-BE49-F238E27FC236}">
                  <a16:creationId xmlns:a16="http://schemas.microsoft.com/office/drawing/2014/main" id="{7B9718BA-ACDB-AD56-41B9-936FF52967D8}"/>
                </a:ext>
              </a:extLst>
            </p:cNvPr>
            <p:cNvCxnSpPr>
              <a:cxnSpLocks/>
              <a:stCxn id="6" idx="3"/>
              <a:endCxn id="22" idx="0"/>
            </p:cNvCxnSpPr>
            <p:nvPr/>
          </p:nvCxnSpPr>
          <p:spPr>
            <a:xfrm>
              <a:off x="6031903" y="3385277"/>
              <a:ext cx="1206324" cy="754130"/>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2E69B3C-9EA1-5B2A-77E8-5334EEF675F2}"/>
                </a:ext>
              </a:extLst>
            </p:cNvPr>
            <p:cNvSpPr txBox="1"/>
            <p:nvPr/>
          </p:nvSpPr>
          <p:spPr>
            <a:xfrm>
              <a:off x="6031903" y="3007651"/>
              <a:ext cx="521297" cy="369332"/>
            </a:xfrm>
            <a:prstGeom prst="rect">
              <a:avLst/>
            </a:prstGeom>
            <a:noFill/>
          </p:spPr>
          <p:txBody>
            <a:bodyPr wrap="none" rtlCol="0">
              <a:spAutoFit/>
            </a:bodyPr>
            <a:lstStyle/>
            <a:p>
              <a:pPr algn="ctr"/>
              <a:r>
                <a:rPr lang="en-US" dirty="0">
                  <a:latin typeface="Avenir Book" panose="02000503020000020003" pitchFamily="2" charset="0"/>
                  <a:ea typeface="Avenir Book" charset="0"/>
                  <a:cs typeface="Avenir Book" charset="0"/>
                </a:rPr>
                <a:t>yes</a:t>
              </a:r>
            </a:p>
          </p:txBody>
        </p:sp>
      </p:grpSp>
      <p:grpSp>
        <p:nvGrpSpPr>
          <p:cNvPr id="13" name="Group 12">
            <a:extLst>
              <a:ext uri="{FF2B5EF4-FFF2-40B4-BE49-F238E27FC236}">
                <a16:creationId xmlns:a16="http://schemas.microsoft.com/office/drawing/2014/main" id="{A07734B2-3FE7-5567-E349-E418FC8DBC3A}"/>
              </a:ext>
            </a:extLst>
          </p:cNvPr>
          <p:cNvGrpSpPr/>
          <p:nvPr/>
        </p:nvGrpSpPr>
        <p:grpSpPr>
          <a:xfrm>
            <a:off x="2850093" y="3005555"/>
            <a:ext cx="1798108" cy="1134233"/>
            <a:chOff x="1290754" y="3005555"/>
            <a:chExt cx="1798108" cy="1134233"/>
          </a:xfrm>
        </p:grpSpPr>
        <p:cxnSp>
          <p:nvCxnSpPr>
            <p:cNvPr id="14" name="Elbow Connector 13">
              <a:extLst>
                <a:ext uri="{FF2B5EF4-FFF2-40B4-BE49-F238E27FC236}">
                  <a16:creationId xmlns:a16="http://schemas.microsoft.com/office/drawing/2014/main" id="{79325708-82CC-A968-B9C1-B119F468B640}"/>
                </a:ext>
              </a:extLst>
            </p:cNvPr>
            <p:cNvCxnSpPr>
              <a:cxnSpLocks/>
              <a:stCxn id="6" idx="1"/>
              <a:endCxn id="7" idx="0"/>
            </p:cNvCxnSpPr>
            <p:nvPr/>
          </p:nvCxnSpPr>
          <p:spPr>
            <a:xfrm rot="10800000" flipV="1">
              <a:off x="1290754" y="3385277"/>
              <a:ext cx="1798108" cy="754511"/>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71867DD-F327-698E-236A-D1B2A64041F1}"/>
                </a:ext>
              </a:extLst>
            </p:cNvPr>
            <p:cNvSpPr txBox="1"/>
            <p:nvPr/>
          </p:nvSpPr>
          <p:spPr>
            <a:xfrm>
              <a:off x="2590800" y="3005555"/>
              <a:ext cx="449162" cy="369332"/>
            </a:xfrm>
            <a:prstGeom prst="rect">
              <a:avLst/>
            </a:prstGeom>
            <a:noFill/>
          </p:spPr>
          <p:txBody>
            <a:bodyPr wrap="none" rtlCol="0">
              <a:spAutoFit/>
            </a:bodyPr>
            <a:lstStyle/>
            <a:p>
              <a:pPr algn="ctr"/>
              <a:r>
                <a:rPr lang="en-US" dirty="0">
                  <a:latin typeface="Avenir Book" panose="02000503020000020003" pitchFamily="2" charset="0"/>
                  <a:ea typeface="Avenir Book" charset="0"/>
                  <a:cs typeface="Avenir Book" charset="0"/>
                </a:rPr>
                <a:t>no</a:t>
              </a:r>
            </a:p>
          </p:txBody>
        </p:sp>
      </p:grpSp>
      <p:grpSp>
        <p:nvGrpSpPr>
          <p:cNvPr id="16" name="Group 15">
            <a:extLst>
              <a:ext uri="{FF2B5EF4-FFF2-40B4-BE49-F238E27FC236}">
                <a16:creationId xmlns:a16="http://schemas.microsoft.com/office/drawing/2014/main" id="{7EF8B331-FEC6-0CEE-3AAA-5952DA52CE84}"/>
              </a:ext>
            </a:extLst>
          </p:cNvPr>
          <p:cNvGrpSpPr/>
          <p:nvPr/>
        </p:nvGrpSpPr>
        <p:grpSpPr>
          <a:xfrm>
            <a:off x="1035721" y="4288273"/>
            <a:ext cx="449162" cy="1146537"/>
            <a:chOff x="-699190" y="4288272"/>
            <a:chExt cx="449162" cy="1146537"/>
          </a:xfrm>
        </p:grpSpPr>
        <p:cxnSp>
          <p:nvCxnSpPr>
            <p:cNvPr id="17" name="Elbow Connector 16">
              <a:extLst>
                <a:ext uri="{FF2B5EF4-FFF2-40B4-BE49-F238E27FC236}">
                  <a16:creationId xmlns:a16="http://schemas.microsoft.com/office/drawing/2014/main" id="{BF66C3B8-7EC0-F5DD-EBC0-CCB4843DFEF6}"/>
                </a:ext>
              </a:extLst>
            </p:cNvPr>
            <p:cNvCxnSpPr>
              <a:cxnSpLocks/>
              <a:stCxn id="7" idx="1"/>
              <a:endCxn id="8" idx="0"/>
            </p:cNvCxnSpPr>
            <p:nvPr/>
          </p:nvCxnSpPr>
          <p:spPr>
            <a:xfrm rot="10800000" flipV="1">
              <a:off x="-610548" y="4630213"/>
              <a:ext cx="271878" cy="8045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5E8407-D4FB-2354-FECE-080D399337F4}"/>
                </a:ext>
              </a:extLst>
            </p:cNvPr>
            <p:cNvSpPr txBox="1"/>
            <p:nvPr/>
          </p:nvSpPr>
          <p:spPr>
            <a:xfrm>
              <a:off x="-699190" y="4288272"/>
              <a:ext cx="449162" cy="369332"/>
            </a:xfrm>
            <a:prstGeom prst="rect">
              <a:avLst/>
            </a:prstGeom>
            <a:noFill/>
          </p:spPr>
          <p:txBody>
            <a:bodyPr wrap="none" rtlCol="0">
              <a:spAutoFit/>
            </a:bodyPr>
            <a:lstStyle/>
            <a:p>
              <a:pPr algn="ctr"/>
              <a:r>
                <a:rPr lang="en-US" dirty="0">
                  <a:latin typeface="Avenir Book" panose="02000503020000020003" pitchFamily="2" charset="0"/>
                  <a:ea typeface="Avenir Book" charset="0"/>
                  <a:cs typeface="Avenir Book" charset="0"/>
                </a:rPr>
                <a:t>no</a:t>
              </a:r>
            </a:p>
          </p:txBody>
        </p:sp>
      </p:grpSp>
      <p:grpSp>
        <p:nvGrpSpPr>
          <p:cNvPr id="19" name="Group 18">
            <a:extLst>
              <a:ext uri="{FF2B5EF4-FFF2-40B4-BE49-F238E27FC236}">
                <a16:creationId xmlns:a16="http://schemas.microsoft.com/office/drawing/2014/main" id="{C0B6AE3E-6C36-E656-71EB-3DEA64C4AD93}"/>
              </a:ext>
            </a:extLst>
          </p:cNvPr>
          <p:cNvGrpSpPr/>
          <p:nvPr/>
        </p:nvGrpSpPr>
        <p:grpSpPr>
          <a:xfrm>
            <a:off x="4229061" y="4248386"/>
            <a:ext cx="521297" cy="1186424"/>
            <a:chOff x="2520569" y="4248386"/>
            <a:chExt cx="521297" cy="1186424"/>
          </a:xfrm>
        </p:grpSpPr>
        <p:cxnSp>
          <p:nvCxnSpPr>
            <p:cNvPr id="20" name="Elbow Connector 19">
              <a:extLst>
                <a:ext uri="{FF2B5EF4-FFF2-40B4-BE49-F238E27FC236}">
                  <a16:creationId xmlns:a16="http://schemas.microsoft.com/office/drawing/2014/main" id="{3DA6E92A-267D-E093-FDA4-9B4F7676146C}"/>
                </a:ext>
              </a:extLst>
            </p:cNvPr>
            <p:cNvCxnSpPr>
              <a:cxnSpLocks/>
              <a:stCxn id="7" idx="3"/>
              <a:endCxn id="9" idx="0"/>
            </p:cNvCxnSpPr>
            <p:nvPr/>
          </p:nvCxnSpPr>
          <p:spPr>
            <a:xfrm>
              <a:off x="2595452" y="4630214"/>
              <a:ext cx="344257" cy="8045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1240A8A-2425-124F-7B1F-A6AC51493D2E}"/>
                </a:ext>
              </a:extLst>
            </p:cNvPr>
            <p:cNvSpPr txBox="1"/>
            <p:nvPr/>
          </p:nvSpPr>
          <p:spPr>
            <a:xfrm>
              <a:off x="2520569" y="4248386"/>
              <a:ext cx="521297" cy="369332"/>
            </a:xfrm>
            <a:prstGeom prst="rect">
              <a:avLst/>
            </a:prstGeom>
            <a:noFill/>
          </p:spPr>
          <p:txBody>
            <a:bodyPr wrap="none" rtlCol="0">
              <a:spAutoFit/>
            </a:bodyPr>
            <a:lstStyle/>
            <a:p>
              <a:pPr algn="ctr"/>
              <a:r>
                <a:rPr lang="en-US" dirty="0">
                  <a:latin typeface="Avenir Book" panose="02000503020000020003" pitchFamily="2" charset="0"/>
                  <a:ea typeface="Avenir Book" charset="0"/>
                  <a:cs typeface="Avenir Book" charset="0"/>
                </a:rPr>
                <a:t>yes</a:t>
              </a:r>
            </a:p>
          </p:txBody>
        </p:sp>
      </p:grpSp>
      <mc:AlternateContent xmlns:mc="http://schemas.openxmlformats.org/markup-compatibility/2006" xmlns:a14="http://schemas.microsoft.com/office/drawing/2010/main">
        <mc:Choice Requires="a14">
          <p:sp>
            <p:nvSpPr>
              <p:cNvPr id="22" name="Oval 21">
                <a:extLst>
                  <a:ext uri="{FF2B5EF4-FFF2-40B4-BE49-F238E27FC236}">
                    <a16:creationId xmlns:a16="http://schemas.microsoft.com/office/drawing/2014/main" id="{ABC30C7B-D999-1610-3080-8AD84F87CD76}"/>
                  </a:ext>
                </a:extLst>
              </p:cNvPr>
              <p:cNvSpPr/>
              <p:nvPr/>
            </p:nvSpPr>
            <p:spPr>
              <a:xfrm>
                <a:off x="7770856" y="4139408"/>
                <a:ext cx="1982744" cy="9659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i="1" dirty="0" smtClean="0">
                        <a:latin typeface="Cambria Math" panose="02040503050406030204" pitchFamily="18" charset="0"/>
                        <a:ea typeface="Cambria Math" panose="02040503050406030204" pitchFamily="18" charset="0"/>
                        <a:cs typeface="Avenir Book" charset="0"/>
                      </a:rPr>
                      <m:t>𝑦</m:t>
                    </m:r>
                    <m:r>
                      <a:rPr lang="en-US" b="0" i="1" dirty="0" smtClean="0">
                        <a:latin typeface="Cambria Math" panose="02040503050406030204" pitchFamily="18" charset="0"/>
                        <a:ea typeface="Cambria Math" panose="02040503050406030204" pitchFamily="18" charset="0"/>
                        <a:cs typeface="Avenir Book" charset="0"/>
                      </a:rPr>
                      <m:t>=</m:t>
                    </m:r>
                  </m:oMath>
                </a14:m>
                <a:r>
                  <a:rPr lang="en-US" dirty="0">
                    <a:latin typeface="Cambria Math" panose="02040503050406030204" pitchFamily="18" charset="0"/>
                    <a:ea typeface="Cambria Math" panose="02040503050406030204" pitchFamily="18" charset="0"/>
                    <a:cs typeface="Avenir Book" charset="0"/>
                  </a:rPr>
                  <a:t> </a:t>
                </a:r>
                <a:r>
                  <a:rPr lang="en-US" dirty="0">
                    <a:latin typeface="Avenir Book" panose="02000503020000020003" pitchFamily="2" charset="0"/>
                    <a:ea typeface="Cambria Math" panose="02040503050406030204" pitchFamily="18" charset="0"/>
                    <a:cs typeface="Avenir Book" charset="0"/>
                  </a:rPr>
                  <a:t>sick</a:t>
                </a:r>
              </a:p>
            </p:txBody>
          </p:sp>
        </mc:Choice>
        <mc:Fallback xmlns="">
          <p:sp>
            <p:nvSpPr>
              <p:cNvPr id="22" name="Oval 21">
                <a:extLst>
                  <a:ext uri="{FF2B5EF4-FFF2-40B4-BE49-F238E27FC236}">
                    <a16:creationId xmlns:a16="http://schemas.microsoft.com/office/drawing/2014/main" id="{ABC30C7B-D999-1610-3080-8AD84F87CD76}"/>
                  </a:ext>
                </a:extLst>
              </p:cNvPr>
              <p:cNvSpPr>
                <a:spLocks noRot="1" noChangeAspect="1" noMove="1" noResize="1" noEditPoints="1" noAdjustHandles="1" noChangeArrowheads="1" noChangeShapeType="1" noTextEdit="1"/>
              </p:cNvSpPr>
              <p:nvPr/>
            </p:nvSpPr>
            <p:spPr>
              <a:xfrm>
                <a:off x="7770856" y="4139408"/>
                <a:ext cx="1982744" cy="965989"/>
              </a:xfrm>
              <a:prstGeom prst="ellipse">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4692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par>
                          <p:cTn id="39"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8" grpId="0" animBg="1"/>
      <p:bldP spid="9" grpId="0" animBg="1"/>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746C8-8A5A-F8DD-6BAE-9D6336B238A4}"/>
              </a:ext>
            </a:extLst>
          </p:cNvPr>
          <p:cNvSpPr>
            <a:spLocks noGrp="1"/>
          </p:cNvSpPr>
          <p:nvPr>
            <p:ph type="title"/>
          </p:nvPr>
        </p:nvSpPr>
        <p:spPr/>
        <p:txBody>
          <a:bodyPr/>
          <a:lstStyle/>
          <a:p>
            <a:r>
              <a:rPr lang="en-US" dirty="0"/>
              <a:t>Classification: </a:t>
            </a:r>
            <a:r>
              <a:rPr lang="en-US"/>
              <a:t>Random Forest</a:t>
            </a:r>
            <a:endParaRPr lang="en-US" dirty="0"/>
          </a:p>
        </p:txBody>
      </p:sp>
      <p:sp>
        <p:nvSpPr>
          <p:cNvPr id="4" name="Content Placeholder 2">
            <a:extLst>
              <a:ext uri="{FF2B5EF4-FFF2-40B4-BE49-F238E27FC236}">
                <a16:creationId xmlns:a16="http://schemas.microsoft.com/office/drawing/2014/main" id="{CF2704B5-3826-8C5A-0D08-C13846F9F5B3}"/>
              </a:ext>
            </a:extLst>
          </p:cNvPr>
          <p:cNvSpPr>
            <a:spLocks noGrp="1"/>
          </p:cNvSpPr>
          <p:nvPr>
            <p:ph idx="1"/>
          </p:nvPr>
        </p:nvSpPr>
        <p:spPr>
          <a:xfrm>
            <a:off x="609600" y="1600202"/>
            <a:ext cx="10972800" cy="1112087"/>
          </a:xfrm>
        </p:spPr>
        <p:txBody>
          <a:bodyPr>
            <a:normAutofit/>
          </a:bodyPr>
          <a:lstStyle/>
          <a:p>
            <a:r>
              <a:rPr lang="en-US" dirty="0">
                <a:latin typeface="Avenir Book" panose="02000503020000020003" pitchFamily="2" charset="0"/>
              </a:rPr>
              <a:t>Uses a collection of decision trees (forest = multiple trees</a:t>
            </a:r>
            <a:r>
              <a:rPr lang="en-US" dirty="0">
                <a:latin typeface="Avenir Book" panose="02000503020000020003" pitchFamily="2" charset="0"/>
                <a:sym typeface="Wingdings"/>
              </a:rPr>
              <a:t>) to make a decision</a:t>
            </a:r>
            <a:endParaRPr lang="en-US" dirty="0">
              <a:latin typeface="Avenir Book" panose="02000503020000020003" pitchFamily="2" charset="0"/>
            </a:endParaRPr>
          </a:p>
        </p:txBody>
      </p:sp>
      <p:grpSp>
        <p:nvGrpSpPr>
          <p:cNvPr id="48" name="Group 47">
            <a:extLst>
              <a:ext uri="{FF2B5EF4-FFF2-40B4-BE49-F238E27FC236}">
                <a16:creationId xmlns:a16="http://schemas.microsoft.com/office/drawing/2014/main" id="{51C7DA1B-9369-BA9B-7D6F-4053CC31D3E4}"/>
              </a:ext>
            </a:extLst>
          </p:cNvPr>
          <p:cNvGrpSpPr/>
          <p:nvPr/>
        </p:nvGrpSpPr>
        <p:grpSpPr>
          <a:xfrm>
            <a:off x="4466003" y="2991875"/>
            <a:ext cx="3266964" cy="2315862"/>
            <a:chOff x="995588" y="3069851"/>
            <a:chExt cx="3266964" cy="2315862"/>
          </a:xfrm>
        </p:grpSpPr>
        <p:grpSp>
          <p:nvGrpSpPr>
            <p:cNvPr id="5" name="Group 4">
              <a:extLst>
                <a:ext uri="{FF2B5EF4-FFF2-40B4-BE49-F238E27FC236}">
                  <a16:creationId xmlns:a16="http://schemas.microsoft.com/office/drawing/2014/main" id="{2ECE144C-3046-7175-1945-BEFDB6F914F8}"/>
                </a:ext>
              </a:extLst>
            </p:cNvPr>
            <p:cNvGrpSpPr/>
            <p:nvPr/>
          </p:nvGrpSpPr>
          <p:grpSpPr>
            <a:xfrm>
              <a:off x="995588" y="3069851"/>
              <a:ext cx="3266964" cy="1600607"/>
              <a:chOff x="228600" y="2720498"/>
              <a:chExt cx="4283246" cy="2098522"/>
            </a:xfrm>
          </p:grpSpPr>
          <p:sp>
            <p:nvSpPr>
              <p:cNvPr id="6" name="Diamond 5">
                <a:extLst>
                  <a:ext uri="{FF2B5EF4-FFF2-40B4-BE49-F238E27FC236}">
                    <a16:creationId xmlns:a16="http://schemas.microsoft.com/office/drawing/2014/main" id="{94A79F15-B48F-AAD0-3A5F-CA189EC7FA1E}"/>
                  </a:ext>
                </a:extLst>
              </p:cNvPr>
              <p:cNvSpPr>
                <a:spLocks/>
              </p:cNvSpPr>
              <p:nvPr/>
            </p:nvSpPr>
            <p:spPr>
              <a:xfrm>
                <a:off x="1923132" y="2720498"/>
                <a:ext cx="914400" cy="6858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7" name="Diamond 6">
                <a:extLst>
                  <a:ext uri="{FF2B5EF4-FFF2-40B4-BE49-F238E27FC236}">
                    <a16:creationId xmlns:a16="http://schemas.microsoft.com/office/drawing/2014/main" id="{0FBEE55D-35AF-44D9-3D56-1B6DE585617A}"/>
                  </a:ext>
                </a:extLst>
              </p:cNvPr>
              <p:cNvSpPr>
                <a:spLocks/>
              </p:cNvSpPr>
              <p:nvPr/>
            </p:nvSpPr>
            <p:spPr>
              <a:xfrm>
                <a:off x="772088" y="3454737"/>
                <a:ext cx="914400" cy="6858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8" name="Oval 7">
                <a:extLst>
                  <a:ext uri="{FF2B5EF4-FFF2-40B4-BE49-F238E27FC236}">
                    <a16:creationId xmlns:a16="http://schemas.microsoft.com/office/drawing/2014/main" id="{1B44A8D7-5C10-6965-8C63-5DB5586C3B7A}"/>
                  </a:ext>
                </a:extLst>
              </p:cNvPr>
              <p:cNvSpPr>
                <a:spLocks/>
              </p:cNvSpPr>
              <p:nvPr/>
            </p:nvSpPr>
            <p:spPr>
              <a:xfrm>
                <a:off x="228600" y="4247218"/>
                <a:ext cx="576072" cy="5718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9" name="Oval 8">
                <a:extLst>
                  <a:ext uri="{FF2B5EF4-FFF2-40B4-BE49-F238E27FC236}">
                    <a16:creationId xmlns:a16="http://schemas.microsoft.com/office/drawing/2014/main" id="{AFE915CD-350E-D5F4-A243-D76D5F129254}"/>
                  </a:ext>
                </a:extLst>
              </p:cNvPr>
              <p:cNvSpPr>
                <a:spLocks/>
              </p:cNvSpPr>
              <p:nvPr/>
            </p:nvSpPr>
            <p:spPr>
              <a:xfrm>
                <a:off x="1649774" y="4247218"/>
                <a:ext cx="576072" cy="5718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cxnSp>
            <p:nvCxnSpPr>
              <p:cNvPr id="10" name="Elbow Connector 9">
                <a:extLst>
                  <a:ext uri="{FF2B5EF4-FFF2-40B4-BE49-F238E27FC236}">
                    <a16:creationId xmlns:a16="http://schemas.microsoft.com/office/drawing/2014/main" id="{B888B27C-6A2B-81BB-6C2E-A4EB76DBDD97}"/>
                  </a:ext>
                </a:extLst>
              </p:cNvPr>
              <p:cNvCxnSpPr>
                <a:stCxn id="6" idx="3"/>
                <a:endCxn id="14" idx="0"/>
              </p:cNvCxnSpPr>
              <p:nvPr/>
            </p:nvCxnSpPr>
            <p:spPr>
              <a:xfrm>
                <a:off x="2837532" y="3063398"/>
                <a:ext cx="674735" cy="38631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CE032E2C-E63D-0736-1CF4-CFDFD34E381C}"/>
                  </a:ext>
                </a:extLst>
              </p:cNvPr>
              <p:cNvCxnSpPr>
                <a:stCxn id="6" idx="1"/>
                <a:endCxn id="7" idx="0"/>
              </p:cNvCxnSpPr>
              <p:nvPr/>
            </p:nvCxnSpPr>
            <p:spPr>
              <a:xfrm rot="10800000" flipV="1">
                <a:off x="1229288" y="3063397"/>
                <a:ext cx="693844" cy="39133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88CC1A20-C88B-AA27-43FE-18536B6D1EBF}"/>
                  </a:ext>
                </a:extLst>
              </p:cNvPr>
              <p:cNvCxnSpPr>
                <a:stCxn id="7" idx="1"/>
                <a:endCxn id="8" idx="0"/>
              </p:cNvCxnSpPr>
              <p:nvPr/>
            </p:nvCxnSpPr>
            <p:spPr>
              <a:xfrm rot="10800000" flipV="1">
                <a:off x="516636" y="3797636"/>
                <a:ext cx="255452" cy="449581"/>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6271BC6C-1531-4AFF-70E9-8805BB219A20}"/>
                  </a:ext>
                </a:extLst>
              </p:cNvPr>
              <p:cNvCxnSpPr>
                <a:stCxn id="7" idx="3"/>
                <a:endCxn id="9" idx="0"/>
              </p:cNvCxnSpPr>
              <p:nvPr/>
            </p:nvCxnSpPr>
            <p:spPr>
              <a:xfrm>
                <a:off x="1686488" y="3797637"/>
                <a:ext cx="251322" cy="449581"/>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Diamond 13">
                <a:extLst>
                  <a:ext uri="{FF2B5EF4-FFF2-40B4-BE49-F238E27FC236}">
                    <a16:creationId xmlns:a16="http://schemas.microsoft.com/office/drawing/2014/main" id="{93FEDB38-5E3C-1D91-1C4B-626F055195B2}"/>
                  </a:ext>
                </a:extLst>
              </p:cNvPr>
              <p:cNvSpPr>
                <a:spLocks/>
              </p:cNvSpPr>
              <p:nvPr/>
            </p:nvSpPr>
            <p:spPr>
              <a:xfrm>
                <a:off x="3055067" y="3449713"/>
                <a:ext cx="914400" cy="6858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15" name="Oval 14">
                <a:extLst>
                  <a:ext uri="{FF2B5EF4-FFF2-40B4-BE49-F238E27FC236}">
                    <a16:creationId xmlns:a16="http://schemas.microsoft.com/office/drawing/2014/main" id="{9688D885-4A26-639C-DCF2-E6851C7F3364}"/>
                  </a:ext>
                </a:extLst>
              </p:cNvPr>
              <p:cNvSpPr>
                <a:spLocks/>
              </p:cNvSpPr>
              <p:nvPr/>
            </p:nvSpPr>
            <p:spPr>
              <a:xfrm>
                <a:off x="2511251" y="4232218"/>
                <a:ext cx="576072" cy="5718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16" name="Oval 15">
                <a:extLst>
                  <a:ext uri="{FF2B5EF4-FFF2-40B4-BE49-F238E27FC236}">
                    <a16:creationId xmlns:a16="http://schemas.microsoft.com/office/drawing/2014/main" id="{9CC4CA22-F2CF-F884-19EF-6841BB70E54F}"/>
                  </a:ext>
                </a:extLst>
              </p:cNvPr>
              <p:cNvSpPr>
                <a:spLocks/>
              </p:cNvSpPr>
              <p:nvPr/>
            </p:nvSpPr>
            <p:spPr>
              <a:xfrm>
                <a:off x="3935774" y="4235927"/>
                <a:ext cx="576072" cy="5718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cxnSp>
            <p:nvCxnSpPr>
              <p:cNvPr id="17" name="Elbow Connector 16">
                <a:extLst>
                  <a:ext uri="{FF2B5EF4-FFF2-40B4-BE49-F238E27FC236}">
                    <a16:creationId xmlns:a16="http://schemas.microsoft.com/office/drawing/2014/main" id="{2B711048-7AE7-1491-9FDD-57512D1189D2}"/>
                  </a:ext>
                </a:extLst>
              </p:cNvPr>
              <p:cNvCxnSpPr>
                <a:stCxn id="14" idx="1"/>
                <a:endCxn id="15" idx="0"/>
              </p:cNvCxnSpPr>
              <p:nvPr/>
            </p:nvCxnSpPr>
            <p:spPr>
              <a:xfrm rot="10800000" flipV="1">
                <a:off x="2799287" y="3792612"/>
                <a:ext cx="255780" cy="43960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AE8D0E6A-AF1D-BC22-885E-D805E44A3725}"/>
                  </a:ext>
                </a:extLst>
              </p:cNvPr>
              <p:cNvCxnSpPr>
                <a:stCxn id="14" idx="3"/>
                <a:endCxn id="16" idx="0"/>
              </p:cNvCxnSpPr>
              <p:nvPr/>
            </p:nvCxnSpPr>
            <p:spPr>
              <a:xfrm>
                <a:off x="3969467" y="3792613"/>
                <a:ext cx="254343" cy="44331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73D8811-1579-EFE1-FB35-814494D6B1A9}"/>
                    </a:ext>
                  </a:extLst>
                </p:cNvPr>
                <p:cNvSpPr txBox="1"/>
                <p:nvPr/>
              </p:nvSpPr>
              <p:spPr>
                <a:xfrm>
                  <a:off x="1907495" y="4862493"/>
                  <a:ext cx="1443152" cy="523220"/>
                </a:xfrm>
                <a:prstGeom prst="rect">
                  <a:avLst/>
                </a:prstGeom>
                <a:noFill/>
              </p:spPr>
              <p:txBody>
                <a:bodyPr wrap="none" rtlCol="0">
                  <a:spAutoFit/>
                </a:bodyPr>
                <a:lstStyle/>
                <a:p>
                  <a:pPr algn="ctr"/>
                  <a14:m>
                    <m:oMath xmlns:m="http://schemas.openxmlformats.org/officeDocument/2006/math">
                      <m:r>
                        <a:rPr lang="en-US" sz="2800" i="1" dirty="0" smtClean="0">
                          <a:latin typeface="Cambria Math" panose="02040503050406030204" pitchFamily="18" charset="0"/>
                          <a:ea typeface="Avenir Book" charset="0"/>
                          <a:cs typeface="Avenir Book" charset="0"/>
                        </a:rPr>
                        <m:t>𝑦</m:t>
                      </m:r>
                      <m:r>
                        <a:rPr lang="en-US" sz="2800" b="0" i="1" dirty="0" smtClean="0">
                          <a:latin typeface="Cambria Math" panose="02040503050406030204" pitchFamily="18" charset="0"/>
                          <a:ea typeface="Avenir Book" charset="0"/>
                          <a:cs typeface="Avenir Book" charset="0"/>
                        </a:rPr>
                        <m:t>=</m:t>
                      </m:r>
                    </m:oMath>
                  </a14:m>
                  <a:r>
                    <a:rPr lang="en-US" sz="2800" dirty="0">
                      <a:latin typeface="Avenir Book" panose="02000503020000020003" pitchFamily="2" charset="0"/>
                      <a:ea typeface="Avenir Book" charset="0"/>
                      <a:cs typeface="Avenir Book" charset="0"/>
                    </a:rPr>
                    <a:t> sick</a:t>
                  </a:r>
                </a:p>
              </p:txBody>
            </p:sp>
          </mc:Choice>
          <mc:Fallback xmlns="">
            <p:sp>
              <p:nvSpPr>
                <p:cNvPr id="39" name="TextBox 38">
                  <a:extLst>
                    <a:ext uri="{FF2B5EF4-FFF2-40B4-BE49-F238E27FC236}">
                      <a16:creationId xmlns:a16="http://schemas.microsoft.com/office/drawing/2014/main" id="{E73D8811-1579-EFE1-FB35-814494D6B1A9}"/>
                    </a:ext>
                  </a:extLst>
                </p:cNvPr>
                <p:cNvSpPr txBox="1">
                  <a:spLocks noRot="1" noChangeAspect="1" noMove="1" noResize="1" noEditPoints="1" noAdjustHandles="1" noChangeArrowheads="1" noChangeShapeType="1" noTextEdit="1"/>
                </p:cNvSpPr>
                <p:nvPr/>
              </p:nvSpPr>
              <p:spPr>
                <a:xfrm>
                  <a:off x="1907495" y="4862493"/>
                  <a:ext cx="1443152" cy="523220"/>
                </a:xfrm>
                <a:prstGeom prst="rect">
                  <a:avLst/>
                </a:prstGeom>
                <a:blipFill>
                  <a:blip r:embed="rId2"/>
                  <a:stretch>
                    <a:fillRect l="-1739" t="-9302" r="-7826" b="-30233"/>
                  </a:stretch>
                </a:blipFill>
              </p:spPr>
              <p:txBody>
                <a:bodyPr/>
                <a:lstStyle/>
                <a:p>
                  <a:r>
                    <a:rPr lang="en-US">
                      <a:noFill/>
                    </a:rPr>
                    <a:t> </a:t>
                  </a:r>
                </a:p>
              </p:txBody>
            </p:sp>
          </mc:Fallback>
        </mc:AlternateContent>
      </p:grpSp>
      <p:grpSp>
        <p:nvGrpSpPr>
          <p:cNvPr id="46" name="Group 45">
            <a:extLst>
              <a:ext uri="{FF2B5EF4-FFF2-40B4-BE49-F238E27FC236}">
                <a16:creationId xmlns:a16="http://schemas.microsoft.com/office/drawing/2014/main" id="{B093B4B7-06D5-8C89-F4FF-B86E8F33D573}"/>
              </a:ext>
            </a:extLst>
          </p:cNvPr>
          <p:cNvGrpSpPr/>
          <p:nvPr/>
        </p:nvGrpSpPr>
        <p:grpSpPr>
          <a:xfrm>
            <a:off x="1168615" y="2913045"/>
            <a:ext cx="2723403" cy="2396745"/>
            <a:chOff x="4734299" y="2913045"/>
            <a:chExt cx="2723403" cy="2396745"/>
          </a:xfrm>
        </p:grpSpPr>
        <p:grpSp>
          <p:nvGrpSpPr>
            <p:cNvPr id="19" name="Group 18">
              <a:extLst>
                <a:ext uri="{FF2B5EF4-FFF2-40B4-BE49-F238E27FC236}">
                  <a16:creationId xmlns:a16="http://schemas.microsoft.com/office/drawing/2014/main" id="{FA8BDBA5-6147-8A38-422E-70CB7D732E87}"/>
                </a:ext>
              </a:extLst>
            </p:cNvPr>
            <p:cNvGrpSpPr/>
            <p:nvPr/>
          </p:nvGrpSpPr>
          <p:grpSpPr>
            <a:xfrm>
              <a:off x="4734299" y="2913045"/>
              <a:ext cx="2723403" cy="1591995"/>
              <a:chOff x="941251" y="2720498"/>
              <a:chExt cx="3570595" cy="2087231"/>
            </a:xfrm>
          </p:grpSpPr>
          <p:sp>
            <p:nvSpPr>
              <p:cNvPr id="20" name="Diamond 19">
                <a:extLst>
                  <a:ext uri="{FF2B5EF4-FFF2-40B4-BE49-F238E27FC236}">
                    <a16:creationId xmlns:a16="http://schemas.microsoft.com/office/drawing/2014/main" id="{59187718-79D9-6D93-9A03-334BE78123CD}"/>
                  </a:ext>
                </a:extLst>
              </p:cNvPr>
              <p:cNvSpPr>
                <a:spLocks/>
              </p:cNvSpPr>
              <p:nvPr/>
            </p:nvSpPr>
            <p:spPr>
              <a:xfrm>
                <a:off x="1923132" y="2720498"/>
                <a:ext cx="914400" cy="685800"/>
              </a:xfrm>
              <a:prstGeom prst="diamond">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21" name="Oval 20">
                <a:extLst>
                  <a:ext uri="{FF2B5EF4-FFF2-40B4-BE49-F238E27FC236}">
                    <a16:creationId xmlns:a16="http://schemas.microsoft.com/office/drawing/2014/main" id="{00EB15F2-A252-9495-9B14-C1D4446092C4}"/>
                  </a:ext>
                </a:extLst>
              </p:cNvPr>
              <p:cNvSpPr>
                <a:spLocks/>
              </p:cNvSpPr>
              <p:nvPr/>
            </p:nvSpPr>
            <p:spPr>
              <a:xfrm>
                <a:off x="941251" y="3449713"/>
                <a:ext cx="576072" cy="571801"/>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cxnSp>
            <p:nvCxnSpPr>
              <p:cNvPr id="22" name="Elbow Connector 21">
                <a:extLst>
                  <a:ext uri="{FF2B5EF4-FFF2-40B4-BE49-F238E27FC236}">
                    <a16:creationId xmlns:a16="http://schemas.microsoft.com/office/drawing/2014/main" id="{3FEFA6F6-D859-402F-A5DD-F500967C9930}"/>
                  </a:ext>
                </a:extLst>
              </p:cNvPr>
              <p:cNvCxnSpPr/>
              <p:nvPr/>
            </p:nvCxnSpPr>
            <p:spPr>
              <a:xfrm>
                <a:off x="2837532" y="3063398"/>
                <a:ext cx="674735" cy="38631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DAA331BD-FCED-29A6-BCDF-2229D66A3DFE}"/>
                  </a:ext>
                </a:extLst>
              </p:cNvPr>
              <p:cNvCxnSpPr/>
              <p:nvPr/>
            </p:nvCxnSpPr>
            <p:spPr>
              <a:xfrm rot="10800000" flipV="1">
                <a:off x="1229288" y="3063397"/>
                <a:ext cx="693844" cy="39133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Diamond 23">
                <a:extLst>
                  <a:ext uri="{FF2B5EF4-FFF2-40B4-BE49-F238E27FC236}">
                    <a16:creationId xmlns:a16="http://schemas.microsoft.com/office/drawing/2014/main" id="{90A9C4DD-68AF-F902-1A1A-E0A975FC8A78}"/>
                  </a:ext>
                </a:extLst>
              </p:cNvPr>
              <p:cNvSpPr>
                <a:spLocks/>
              </p:cNvSpPr>
              <p:nvPr/>
            </p:nvSpPr>
            <p:spPr>
              <a:xfrm>
                <a:off x="3055067" y="3449713"/>
                <a:ext cx="914400" cy="685800"/>
              </a:xfrm>
              <a:prstGeom prst="diamond">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25" name="Oval 24">
                <a:extLst>
                  <a:ext uri="{FF2B5EF4-FFF2-40B4-BE49-F238E27FC236}">
                    <a16:creationId xmlns:a16="http://schemas.microsoft.com/office/drawing/2014/main" id="{C9F943C0-B5F2-7140-556F-3DB008FBBBC8}"/>
                  </a:ext>
                </a:extLst>
              </p:cNvPr>
              <p:cNvSpPr>
                <a:spLocks/>
              </p:cNvSpPr>
              <p:nvPr/>
            </p:nvSpPr>
            <p:spPr>
              <a:xfrm>
                <a:off x="2511251" y="4232218"/>
                <a:ext cx="576072" cy="571802"/>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26" name="Oval 25">
                <a:extLst>
                  <a:ext uri="{FF2B5EF4-FFF2-40B4-BE49-F238E27FC236}">
                    <a16:creationId xmlns:a16="http://schemas.microsoft.com/office/drawing/2014/main" id="{9A39EE3C-6358-02BD-69EC-F0BE298430FC}"/>
                  </a:ext>
                </a:extLst>
              </p:cNvPr>
              <p:cNvSpPr>
                <a:spLocks/>
              </p:cNvSpPr>
              <p:nvPr/>
            </p:nvSpPr>
            <p:spPr>
              <a:xfrm>
                <a:off x="3935774" y="4235927"/>
                <a:ext cx="576072" cy="571802"/>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cxnSp>
            <p:nvCxnSpPr>
              <p:cNvPr id="27" name="Elbow Connector 26">
                <a:extLst>
                  <a:ext uri="{FF2B5EF4-FFF2-40B4-BE49-F238E27FC236}">
                    <a16:creationId xmlns:a16="http://schemas.microsoft.com/office/drawing/2014/main" id="{1E400328-652C-4D5F-CFDB-5353C791CCA4}"/>
                  </a:ext>
                </a:extLst>
              </p:cNvPr>
              <p:cNvCxnSpPr/>
              <p:nvPr/>
            </p:nvCxnSpPr>
            <p:spPr>
              <a:xfrm rot="10800000" flipV="1">
                <a:off x="2799287" y="3792612"/>
                <a:ext cx="255780" cy="43960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F5CEDCA5-5037-1D83-C5D9-6934DF7F0082}"/>
                  </a:ext>
                </a:extLst>
              </p:cNvPr>
              <p:cNvCxnSpPr/>
              <p:nvPr/>
            </p:nvCxnSpPr>
            <p:spPr>
              <a:xfrm>
                <a:off x="3969467" y="3792613"/>
                <a:ext cx="254343" cy="44331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4BB73B1-9ED1-819A-DAE6-3AB69610E6B1}"/>
                    </a:ext>
                  </a:extLst>
                </p:cNvPr>
                <p:cNvSpPr txBox="1"/>
                <p:nvPr/>
              </p:nvSpPr>
              <p:spPr>
                <a:xfrm>
                  <a:off x="5094701" y="4786570"/>
                  <a:ext cx="2002600" cy="523220"/>
                </a:xfrm>
                <a:prstGeom prst="rect">
                  <a:avLst/>
                </a:prstGeom>
                <a:noFill/>
              </p:spPr>
              <p:txBody>
                <a:bodyPr wrap="none" rtlCol="0">
                  <a:spAutoFit/>
                </a:bodyPr>
                <a:lstStyle/>
                <a:p>
                  <a:pPr algn="ctr"/>
                  <a14:m>
                    <m:oMath xmlns:m="http://schemas.openxmlformats.org/officeDocument/2006/math">
                      <m:r>
                        <a:rPr lang="en-US" sz="2800" i="1" dirty="0">
                          <a:latin typeface="Cambria Math" panose="02040503050406030204" pitchFamily="18" charset="0"/>
                          <a:ea typeface="Avenir Book" charset="0"/>
                          <a:cs typeface="Avenir Book" charset="0"/>
                        </a:rPr>
                        <m:t>𝑦</m:t>
                      </m:r>
                      <m:r>
                        <a:rPr lang="en-US" sz="2800" i="1" dirty="0">
                          <a:latin typeface="Cambria Math" panose="02040503050406030204" pitchFamily="18" charset="0"/>
                          <a:ea typeface="Avenir Book" charset="0"/>
                          <a:cs typeface="Avenir Book" charset="0"/>
                        </a:rPr>
                        <m:t>= </m:t>
                      </m:r>
                    </m:oMath>
                  </a14:m>
                  <a:r>
                    <a:rPr lang="en-US" sz="2800" dirty="0">
                      <a:latin typeface="Avenir Book" panose="02000503020000020003" pitchFamily="2" charset="0"/>
                      <a:ea typeface="Avenir Book" charset="0"/>
                      <a:cs typeface="Avenir Book" charset="0"/>
                    </a:rPr>
                    <a:t>healthy</a:t>
                  </a:r>
                </a:p>
              </p:txBody>
            </p:sp>
          </mc:Choice>
          <mc:Fallback xmlns="">
            <p:sp>
              <p:nvSpPr>
                <p:cNvPr id="40" name="TextBox 39">
                  <a:extLst>
                    <a:ext uri="{FF2B5EF4-FFF2-40B4-BE49-F238E27FC236}">
                      <a16:creationId xmlns:a16="http://schemas.microsoft.com/office/drawing/2014/main" id="{74BB73B1-9ED1-819A-DAE6-3AB69610E6B1}"/>
                    </a:ext>
                  </a:extLst>
                </p:cNvPr>
                <p:cNvSpPr txBox="1">
                  <a:spLocks noRot="1" noChangeAspect="1" noMove="1" noResize="1" noEditPoints="1" noAdjustHandles="1" noChangeArrowheads="1" noChangeShapeType="1" noTextEdit="1"/>
                </p:cNvSpPr>
                <p:nvPr/>
              </p:nvSpPr>
              <p:spPr>
                <a:xfrm>
                  <a:off x="5094701" y="4786570"/>
                  <a:ext cx="2002600" cy="523220"/>
                </a:xfrm>
                <a:prstGeom prst="rect">
                  <a:avLst/>
                </a:prstGeom>
                <a:blipFill>
                  <a:blip r:embed="rId3"/>
                  <a:stretch>
                    <a:fillRect l="-1266" t="-9302" r="-6329" b="-30233"/>
                  </a:stretch>
                </a:blipFill>
              </p:spPr>
              <p:txBody>
                <a:bodyPr/>
                <a:lstStyle/>
                <a:p>
                  <a:r>
                    <a:rPr lang="en-US">
                      <a:noFill/>
                    </a:rPr>
                    <a:t> </a:t>
                  </a:r>
                </a:p>
              </p:txBody>
            </p:sp>
          </mc:Fallback>
        </mc:AlternateContent>
      </p:grpSp>
      <p:grpSp>
        <p:nvGrpSpPr>
          <p:cNvPr id="45" name="Group 44">
            <a:extLst>
              <a:ext uri="{FF2B5EF4-FFF2-40B4-BE49-F238E27FC236}">
                <a16:creationId xmlns:a16="http://schemas.microsoft.com/office/drawing/2014/main" id="{A50CFE40-6663-D00F-1285-24FA91F5C965}"/>
              </a:ext>
            </a:extLst>
          </p:cNvPr>
          <p:cNvGrpSpPr/>
          <p:nvPr/>
        </p:nvGrpSpPr>
        <p:grpSpPr>
          <a:xfrm>
            <a:off x="8306951" y="2994743"/>
            <a:ext cx="2724249" cy="2312993"/>
            <a:chOff x="8678360" y="3069851"/>
            <a:chExt cx="2724249" cy="2312993"/>
          </a:xfrm>
        </p:grpSpPr>
        <p:grpSp>
          <p:nvGrpSpPr>
            <p:cNvPr id="29" name="Group 28">
              <a:extLst>
                <a:ext uri="{FF2B5EF4-FFF2-40B4-BE49-F238E27FC236}">
                  <a16:creationId xmlns:a16="http://schemas.microsoft.com/office/drawing/2014/main" id="{B24EE1BD-30FC-E8CA-DE74-146905B0D394}"/>
                </a:ext>
              </a:extLst>
            </p:cNvPr>
            <p:cNvGrpSpPr/>
            <p:nvPr/>
          </p:nvGrpSpPr>
          <p:grpSpPr>
            <a:xfrm>
              <a:off x="8678360" y="3069851"/>
              <a:ext cx="2724249" cy="1600607"/>
              <a:chOff x="228600" y="2720498"/>
              <a:chExt cx="3571703" cy="2098522"/>
            </a:xfrm>
          </p:grpSpPr>
          <p:sp>
            <p:nvSpPr>
              <p:cNvPr id="30" name="Diamond 29">
                <a:extLst>
                  <a:ext uri="{FF2B5EF4-FFF2-40B4-BE49-F238E27FC236}">
                    <a16:creationId xmlns:a16="http://schemas.microsoft.com/office/drawing/2014/main" id="{7A66CA59-B003-9128-F59D-6DA9281C86C6}"/>
                  </a:ext>
                </a:extLst>
              </p:cNvPr>
              <p:cNvSpPr>
                <a:spLocks/>
              </p:cNvSpPr>
              <p:nvPr/>
            </p:nvSpPr>
            <p:spPr>
              <a:xfrm>
                <a:off x="1923132" y="2720498"/>
                <a:ext cx="914400" cy="685800"/>
              </a:xfrm>
              <a:prstGeom prst="diamond">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31" name="Diamond 30">
                <a:extLst>
                  <a:ext uri="{FF2B5EF4-FFF2-40B4-BE49-F238E27FC236}">
                    <a16:creationId xmlns:a16="http://schemas.microsoft.com/office/drawing/2014/main" id="{E9A45CC1-38F9-E699-48A3-B40CEAB23A92}"/>
                  </a:ext>
                </a:extLst>
              </p:cNvPr>
              <p:cNvSpPr>
                <a:spLocks/>
              </p:cNvSpPr>
              <p:nvPr/>
            </p:nvSpPr>
            <p:spPr>
              <a:xfrm>
                <a:off x="772088" y="3454737"/>
                <a:ext cx="914400" cy="685800"/>
              </a:xfrm>
              <a:prstGeom prst="diamond">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32" name="Oval 31">
                <a:extLst>
                  <a:ext uri="{FF2B5EF4-FFF2-40B4-BE49-F238E27FC236}">
                    <a16:creationId xmlns:a16="http://schemas.microsoft.com/office/drawing/2014/main" id="{4EA5A8EE-4AD4-0A10-0B82-39BF5264565A}"/>
                  </a:ext>
                </a:extLst>
              </p:cNvPr>
              <p:cNvSpPr>
                <a:spLocks/>
              </p:cNvSpPr>
              <p:nvPr/>
            </p:nvSpPr>
            <p:spPr>
              <a:xfrm>
                <a:off x="228600" y="4247218"/>
                <a:ext cx="576072" cy="571802"/>
              </a:xfrm>
              <a:prstGeom prst="ellipse">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sp>
            <p:nvSpPr>
              <p:cNvPr id="33" name="Oval 32">
                <a:extLst>
                  <a:ext uri="{FF2B5EF4-FFF2-40B4-BE49-F238E27FC236}">
                    <a16:creationId xmlns:a16="http://schemas.microsoft.com/office/drawing/2014/main" id="{13DB3409-4D62-DCC9-C8F0-899B2BFD8F68}"/>
                  </a:ext>
                </a:extLst>
              </p:cNvPr>
              <p:cNvSpPr>
                <a:spLocks/>
              </p:cNvSpPr>
              <p:nvPr/>
            </p:nvSpPr>
            <p:spPr>
              <a:xfrm>
                <a:off x="1649774" y="4247218"/>
                <a:ext cx="576072" cy="571802"/>
              </a:xfrm>
              <a:prstGeom prst="ellipse">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cxnSp>
            <p:nvCxnSpPr>
              <p:cNvPr id="34" name="Elbow Connector 33">
                <a:extLst>
                  <a:ext uri="{FF2B5EF4-FFF2-40B4-BE49-F238E27FC236}">
                    <a16:creationId xmlns:a16="http://schemas.microsoft.com/office/drawing/2014/main" id="{34122959-E418-1C3C-43A1-5E8EAA811B06}"/>
                  </a:ext>
                </a:extLst>
              </p:cNvPr>
              <p:cNvCxnSpPr/>
              <p:nvPr/>
            </p:nvCxnSpPr>
            <p:spPr>
              <a:xfrm>
                <a:off x="2837532" y="3063398"/>
                <a:ext cx="674735" cy="38631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BE99A61-EB3D-9DD0-4E60-1EE806B63A5D}"/>
                  </a:ext>
                </a:extLst>
              </p:cNvPr>
              <p:cNvCxnSpPr/>
              <p:nvPr/>
            </p:nvCxnSpPr>
            <p:spPr>
              <a:xfrm rot="10800000" flipV="1">
                <a:off x="1229288" y="3063397"/>
                <a:ext cx="693844" cy="39133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8FCC0E5B-37B2-0E27-3956-AAFB7E024A62}"/>
                  </a:ext>
                </a:extLst>
              </p:cNvPr>
              <p:cNvCxnSpPr/>
              <p:nvPr/>
            </p:nvCxnSpPr>
            <p:spPr>
              <a:xfrm rot="10800000" flipV="1">
                <a:off x="516636" y="3797636"/>
                <a:ext cx="255452" cy="449581"/>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6D63F703-AFF8-01B0-A605-ADD25511C8CE}"/>
                  </a:ext>
                </a:extLst>
              </p:cNvPr>
              <p:cNvCxnSpPr/>
              <p:nvPr/>
            </p:nvCxnSpPr>
            <p:spPr>
              <a:xfrm>
                <a:off x="1686488" y="3797637"/>
                <a:ext cx="251322" cy="449581"/>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2DF5A2CA-CA1A-8CD3-A22D-2020B3D6D9D2}"/>
                  </a:ext>
                </a:extLst>
              </p:cNvPr>
              <p:cNvSpPr>
                <a:spLocks/>
              </p:cNvSpPr>
              <p:nvPr/>
            </p:nvSpPr>
            <p:spPr>
              <a:xfrm>
                <a:off x="3224231" y="3449713"/>
                <a:ext cx="576072" cy="571801"/>
              </a:xfrm>
              <a:prstGeom prst="ellipse">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a typeface="Avenir Book" charset="0"/>
                  <a:cs typeface="Avenir Book" charset="0"/>
                </a:endParaRPr>
              </a:p>
            </p:txBody>
          </p:sp>
        </p:grpSp>
        <p:sp>
          <p:nvSpPr>
            <p:cNvPr id="41" name="TextBox 40">
              <a:extLst>
                <a:ext uri="{FF2B5EF4-FFF2-40B4-BE49-F238E27FC236}">
                  <a16:creationId xmlns:a16="http://schemas.microsoft.com/office/drawing/2014/main" id="{A71BBCA3-141E-BAF2-5373-E055BA0529FD}"/>
                </a:ext>
              </a:extLst>
            </p:cNvPr>
            <p:cNvSpPr txBox="1"/>
            <p:nvPr/>
          </p:nvSpPr>
          <p:spPr>
            <a:xfrm>
              <a:off x="9052874" y="4859624"/>
              <a:ext cx="1975221" cy="523220"/>
            </a:xfrm>
            <a:prstGeom prst="rect">
              <a:avLst/>
            </a:prstGeom>
            <a:noFill/>
          </p:spPr>
          <p:txBody>
            <a:bodyPr wrap="none" rtlCol="0">
              <a:spAutoFit/>
            </a:bodyPr>
            <a:lstStyle/>
            <a:p>
              <a:pPr algn="ctr"/>
              <a:r>
                <a:rPr lang="en-US" sz="2800" dirty="0">
                  <a:latin typeface="Cambria Math" panose="02040503050406030204" pitchFamily="18" charset="0"/>
                  <a:ea typeface="Avenir Book" charset="0"/>
                  <a:cs typeface="Avenir Book" charset="0"/>
                </a:rPr>
                <a:t>𝑦 = </a:t>
              </a:r>
              <a:r>
                <a:rPr lang="en-US" sz="2800" dirty="0">
                  <a:latin typeface="Avenir Book" panose="02000503020000020003" pitchFamily="2" charset="0"/>
                  <a:ea typeface="Avenir Book" charset="0"/>
                  <a:cs typeface="Avenir Book" charset="0"/>
                </a:rPr>
                <a:t>healthy</a:t>
              </a:r>
            </a:p>
          </p:txBody>
        </p:sp>
      </p:grpSp>
      <p:grpSp>
        <p:nvGrpSpPr>
          <p:cNvPr id="42" name="Group 41">
            <a:extLst>
              <a:ext uri="{FF2B5EF4-FFF2-40B4-BE49-F238E27FC236}">
                <a16:creationId xmlns:a16="http://schemas.microsoft.com/office/drawing/2014/main" id="{A165223E-77AE-05A6-E7DB-3E32452AE2B6}"/>
              </a:ext>
            </a:extLst>
          </p:cNvPr>
          <p:cNvGrpSpPr/>
          <p:nvPr/>
        </p:nvGrpSpPr>
        <p:grpSpPr>
          <a:xfrm>
            <a:off x="2614966" y="5319784"/>
            <a:ext cx="6921870" cy="1115307"/>
            <a:chOff x="1090965" y="5199113"/>
            <a:chExt cx="6921870" cy="1115307"/>
          </a:xfrm>
        </p:grpSpPr>
        <p:sp>
          <p:nvSpPr>
            <p:cNvPr id="43" name="Left Brace 42">
              <a:extLst>
                <a:ext uri="{FF2B5EF4-FFF2-40B4-BE49-F238E27FC236}">
                  <a16:creationId xmlns:a16="http://schemas.microsoft.com/office/drawing/2014/main" id="{B793C4B8-4FA4-20B2-7DF4-F1C00B512B80}"/>
                </a:ext>
              </a:extLst>
            </p:cNvPr>
            <p:cNvSpPr/>
            <p:nvPr/>
          </p:nvSpPr>
          <p:spPr>
            <a:xfrm rot="16200000" flipV="1">
              <a:off x="4310956" y="1979122"/>
              <a:ext cx="481888" cy="6921870"/>
            </a:xfrm>
            <a:prstGeom prst="leftBrac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venir Book" panose="02000503020000020003" pitchFamily="2" charset="0"/>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EEE03C0-0B95-A1BC-70B9-E0A6CB37CD0A}"/>
                    </a:ext>
                  </a:extLst>
                </p:cNvPr>
                <p:cNvSpPr txBox="1"/>
                <p:nvPr/>
              </p:nvSpPr>
              <p:spPr>
                <a:xfrm>
                  <a:off x="3570702" y="5791200"/>
                  <a:ext cx="2002601" cy="523220"/>
                </a:xfrm>
                <a:prstGeom prst="rect">
                  <a:avLst/>
                </a:prstGeom>
                <a:noFill/>
              </p:spPr>
              <p:txBody>
                <a:bodyPr wrap="none" rtlCol="0">
                  <a:spAutoFit/>
                </a:bodyPr>
                <a:lstStyle/>
                <a:p>
                  <a:pPr algn="ctr"/>
                  <a14:m>
                    <m:oMath xmlns:m="http://schemas.openxmlformats.org/officeDocument/2006/math">
                      <m:r>
                        <a:rPr lang="en-US" sz="2800" i="1" dirty="0">
                          <a:latin typeface="Cambria Math" panose="02040503050406030204" pitchFamily="18" charset="0"/>
                          <a:ea typeface="Avenir Book" charset="0"/>
                          <a:cs typeface="Avenir Book" charset="0"/>
                        </a:rPr>
                        <m:t>𝑦</m:t>
                      </m:r>
                      <m:r>
                        <a:rPr lang="en-US" sz="2800" i="1" dirty="0">
                          <a:latin typeface="Cambria Math" panose="02040503050406030204" pitchFamily="18" charset="0"/>
                          <a:ea typeface="Avenir Book" charset="0"/>
                          <a:cs typeface="Avenir Book" charset="0"/>
                        </a:rPr>
                        <m:t>= </m:t>
                      </m:r>
                    </m:oMath>
                  </a14:m>
                  <a:r>
                    <a:rPr lang="en-US" sz="2800" dirty="0">
                      <a:latin typeface="Avenir Book" panose="02000503020000020003" pitchFamily="2" charset="0"/>
                      <a:ea typeface="Avenir Book" charset="0"/>
                      <a:cs typeface="Avenir Book" charset="0"/>
                    </a:rPr>
                    <a:t>healthy</a:t>
                  </a:r>
                </a:p>
              </p:txBody>
            </p:sp>
          </mc:Choice>
          <mc:Fallback xmlns="">
            <p:sp>
              <p:nvSpPr>
                <p:cNvPr id="44" name="TextBox 43">
                  <a:extLst>
                    <a:ext uri="{FF2B5EF4-FFF2-40B4-BE49-F238E27FC236}">
                      <a16:creationId xmlns:a16="http://schemas.microsoft.com/office/drawing/2014/main" id="{AEEE03C0-0B95-A1BC-70B9-E0A6CB37CD0A}"/>
                    </a:ext>
                  </a:extLst>
                </p:cNvPr>
                <p:cNvSpPr txBox="1">
                  <a:spLocks noRot="1" noChangeAspect="1" noMove="1" noResize="1" noEditPoints="1" noAdjustHandles="1" noChangeArrowheads="1" noChangeShapeType="1" noTextEdit="1"/>
                </p:cNvSpPr>
                <p:nvPr/>
              </p:nvSpPr>
              <p:spPr>
                <a:xfrm>
                  <a:off x="3570702" y="5791200"/>
                  <a:ext cx="2002601" cy="523220"/>
                </a:xfrm>
                <a:prstGeom prst="rect">
                  <a:avLst/>
                </a:prstGeom>
                <a:blipFill>
                  <a:blip r:embed="rId4"/>
                  <a:stretch>
                    <a:fillRect l="-1266" t="-9524" r="-6329" b="-33333"/>
                  </a:stretch>
                </a:blipFill>
              </p:spPr>
              <p:txBody>
                <a:bodyPr/>
                <a:lstStyle/>
                <a:p>
                  <a:r>
                    <a:rPr lang="en-US">
                      <a:noFill/>
                    </a:rPr>
                    <a:t> </a:t>
                  </a:r>
                </a:p>
              </p:txBody>
            </p:sp>
          </mc:Fallback>
        </mc:AlternateContent>
      </p:grpSp>
    </p:spTree>
    <p:extLst>
      <p:ext uri="{BB962C8B-B14F-4D97-AF65-F5344CB8AC3E}">
        <p14:creationId xmlns:p14="http://schemas.microsoft.com/office/powerpoint/2010/main" val="12007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par>
                                <p:cTn id="13" presetID="10"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500"/>
                                        <p:tgtEl>
                                          <p:spTgt spid="45"/>
                                        </p:tgtEl>
                                      </p:cBhvr>
                                    </p:animEffect>
                                  </p:childTnLst>
                                </p:cTn>
                              </p:par>
                              <p:par>
                                <p:cTn id="16" presetID="10" presetClass="entr" presetSubtype="0" fill="hold" nodeType="with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fade">
                                      <p:cBhvr>
                                        <p:cTn id="18" dur="500"/>
                                        <p:tgtEl>
                                          <p:spTgt spid="4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EE2B7-3756-F3B5-3316-FDB50C87B922}"/>
              </a:ext>
            </a:extLst>
          </p:cNvPr>
          <p:cNvSpPr>
            <a:spLocks noGrp="1"/>
          </p:cNvSpPr>
          <p:nvPr>
            <p:ph type="title"/>
          </p:nvPr>
        </p:nvSpPr>
        <p:spPr/>
        <p:txBody>
          <a:bodyPr/>
          <a:lstStyle/>
          <a:p>
            <a:r>
              <a:rPr lang="en-US" dirty="0"/>
              <a:t>Missing Data</a:t>
            </a:r>
          </a:p>
        </p:txBody>
      </p:sp>
      <p:sp>
        <p:nvSpPr>
          <p:cNvPr id="3" name="Content Placeholder 2">
            <a:extLst>
              <a:ext uri="{FF2B5EF4-FFF2-40B4-BE49-F238E27FC236}">
                <a16:creationId xmlns:a16="http://schemas.microsoft.com/office/drawing/2014/main" id="{5CB8F539-B3FB-9750-6738-8829EF846FBA}"/>
              </a:ext>
            </a:extLst>
          </p:cNvPr>
          <p:cNvSpPr>
            <a:spLocks noGrp="1"/>
          </p:cNvSpPr>
          <p:nvPr>
            <p:ph idx="1"/>
          </p:nvPr>
        </p:nvSpPr>
        <p:spPr>
          <a:xfrm>
            <a:off x="609600" y="1600202"/>
            <a:ext cx="10972800" cy="1371598"/>
          </a:xfrm>
        </p:spPr>
        <p:txBody>
          <a:bodyPr anchor="t">
            <a:normAutofit fontScale="77500" lnSpcReduction="20000"/>
          </a:bodyPr>
          <a:lstStyle/>
          <a:p>
            <a:pPr>
              <a:spcAft>
                <a:spcPts val="1800"/>
              </a:spcAft>
            </a:pPr>
            <a:r>
              <a:rPr lang="en-US" dirty="0"/>
              <a:t>Most of these architectures only work when you have values for </a:t>
            </a:r>
            <a:br>
              <a:rPr lang="en-US" dirty="0"/>
            </a:br>
            <a:r>
              <a:rPr lang="en-US" dirty="0"/>
              <a:t>all of the features</a:t>
            </a:r>
          </a:p>
          <a:p>
            <a:pPr>
              <a:spcAft>
                <a:spcPts val="1800"/>
              </a:spcAft>
            </a:pPr>
            <a:r>
              <a:rPr lang="en-US" dirty="0"/>
              <a:t>You can fill in the blanks using imputation techniques:</a:t>
            </a:r>
          </a:p>
        </p:txBody>
      </p:sp>
      <p:graphicFrame>
        <p:nvGraphicFramePr>
          <p:cNvPr id="5" name="Table 5">
            <a:extLst>
              <a:ext uri="{FF2B5EF4-FFF2-40B4-BE49-F238E27FC236}">
                <a16:creationId xmlns:a16="http://schemas.microsoft.com/office/drawing/2014/main" id="{F2E46E54-A3F0-5523-D27F-02D48DBA0B83}"/>
              </a:ext>
            </a:extLst>
          </p:cNvPr>
          <p:cNvGraphicFramePr>
            <a:graphicFrameLocks noGrp="1"/>
          </p:cNvGraphicFramePr>
          <p:nvPr>
            <p:extLst>
              <p:ext uri="{D42A27DB-BD31-4B8C-83A1-F6EECF244321}">
                <p14:modId xmlns:p14="http://schemas.microsoft.com/office/powerpoint/2010/main" val="761350690"/>
              </p:ext>
            </p:extLst>
          </p:nvPr>
        </p:nvGraphicFramePr>
        <p:xfrm>
          <a:off x="609600" y="2971800"/>
          <a:ext cx="10972800" cy="457200"/>
        </p:xfrm>
        <a:graphic>
          <a:graphicData uri="http://schemas.openxmlformats.org/drawingml/2006/table">
            <a:tbl>
              <a:tblPr firstRow="1" bandRow="1">
                <a:tableStyleId>{073A0DAA-6AF3-43AB-8588-CEC1D06C72B9}</a:tableStyleId>
              </a:tblPr>
              <a:tblGrid>
                <a:gridCol w="2895600">
                  <a:extLst>
                    <a:ext uri="{9D8B030D-6E8A-4147-A177-3AD203B41FA5}">
                      <a16:colId xmlns:a16="http://schemas.microsoft.com/office/drawing/2014/main" val="1033925158"/>
                    </a:ext>
                  </a:extLst>
                </a:gridCol>
                <a:gridCol w="8077200">
                  <a:extLst>
                    <a:ext uri="{9D8B030D-6E8A-4147-A177-3AD203B41FA5}">
                      <a16:colId xmlns:a16="http://schemas.microsoft.com/office/drawing/2014/main" val="2861339557"/>
                    </a:ext>
                  </a:extLst>
                </a:gridCol>
              </a:tblGrid>
              <a:tr h="370840">
                <a:tc>
                  <a:txBody>
                    <a:bodyPr/>
                    <a:lstStyle/>
                    <a:p>
                      <a:r>
                        <a:rPr lang="en-US" sz="2400" dirty="0"/>
                        <a:t>Technique</a:t>
                      </a:r>
                    </a:p>
                  </a:txBody>
                  <a:tcPr/>
                </a:tc>
                <a:tc>
                  <a:txBody>
                    <a:bodyPr/>
                    <a:lstStyle/>
                    <a:p>
                      <a:r>
                        <a:rPr lang="en-US" sz="2400" dirty="0"/>
                        <a:t>Note</a:t>
                      </a:r>
                    </a:p>
                  </a:txBody>
                  <a:tcPr/>
                </a:tc>
                <a:extLst>
                  <a:ext uri="{0D108BD9-81ED-4DB2-BD59-A6C34878D82A}">
                    <a16:rowId xmlns:a16="http://schemas.microsoft.com/office/drawing/2014/main" val="3770488618"/>
                  </a:ext>
                </a:extLst>
              </a:tr>
            </a:tbl>
          </a:graphicData>
        </a:graphic>
      </p:graphicFrame>
      <p:graphicFrame>
        <p:nvGraphicFramePr>
          <p:cNvPr id="6" name="Table 5">
            <a:extLst>
              <a:ext uri="{FF2B5EF4-FFF2-40B4-BE49-F238E27FC236}">
                <a16:creationId xmlns:a16="http://schemas.microsoft.com/office/drawing/2014/main" id="{53B91B02-25AD-D156-015C-4F509610F789}"/>
              </a:ext>
            </a:extLst>
          </p:cNvPr>
          <p:cNvGraphicFramePr>
            <a:graphicFrameLocks noGrp="1"/>
          </p:cNvGraphicFramePr>
          <p:nvPr>
            <p:extLst>
              <p:ext uri="{D42A27DB-BD31-4B8C-83A1-F6EECF244321}">
                <p14:modId xmlns:p14="http://schemas.microsoft.com/office/powerpoint/2010/main" val="2306910533"/>
              </p:ext>
            </p:extLst>
          </p:nvPr>
        </p:nvGraphicFramePr>
        <p:xfrm>
          <a:off x="609600" y="5078504"/>
          <a:ext cx="10972800" cy="822960"/>
        </p:xfrm>
        <a:graphic>
          <a:graphicData uri="http://schemas.openxmlformats.org/drawingml/2006/table">
            <a:tbl>
              <a:tblPr bandRow="1">
                <a:tableStyleId>{073A0DAA-6AF3-43AB-8588-CEC1D06C72B9}</a:tableStyleId>
              </a:tblPr>
              <a:tblGrid>
                <a:gridCol w="2895600">
                  <a:extLst>
                    <a:ext uri="{9D8B030D-6E8A-4147-A177-3AD203B41FA5}">
                      <a16:colId xmlns:a16="http://schemas.microsoft.com/office/drawing/2014/main" val="1033925158"/>
                    </a:ext>
                  </a:extLst>
                </a:gridCol>
                <a:gridCol w="8077200">
                  <a:extLst>
                    <a:ext uri="{9D8B030D-6E8A-4147-A177-3AD203B41FA5}">
                      <a16:colId xmlns:a16="http://schemas.microsoft.com/office/drawing/2014/main" val="2861339557"/>
                    </a:ext>
                  </a:extLst>
                </a:gridCol>
              </a:tblGrid>
              <a:tr h="370840">
                <a:tc>
                  <a:txBody>
                    <a:bodyPr/>
                    <a:lstStyle/>
                    <a:p>
                      <a:r>
                        <a:rPr lang="en-US" sz="2400" b="1" dirty="0"/>
                        <a:t>Nearest neighbor</a:t>
                      </a:r>
                    </a:p>
                  </a:txBody>
                  <a:tcPr anchor="ctr"/>
                </a:tc>
                <a:tc>
                  <a:txBody>
                    <a:bodyPr/>
                    <a:lstStyle/>
                    <a:p>
                      <a:r>
                        <a:rPr lang="en-US" sz="2400" dirty="0"/>
                        <a:t>Requires training and tuning a special model for filling in data based on other examples</a:t>
                      </a:r>
                    </a:p>
                  </a:txBody>
                  <a:tcPr anchor="ctr"/>
                </a:tc>
                <a:extLst>
                  <a:ext uri="{0D108BD9-81ED-4DB2-BD59-A6C34878D82A}">
                    <a16:rowId xmlns:a16="http://schemas.microsoft.com/office/drawing/2014/main" val="1873741536"/>
                  </a:ext>
                </a:extLst>
              </a:tr>
            </a:tbl>
          </a:graphicData>
        </a:graphic>
      </p:graphicFrame>
      <p:graphicFrame>
        <p:nvGraphicFramePr>
          <p:cNvPr id="8" name="Table 5">
            <a:extLst>
              <a:ext uri="{FF2B5EF4-FFF2-40B4-BE49-F238E27FC236}">
                <a16:creationId xmlns:a16="http://schemas.microsoft.com/office/drawing/2014/main" id="{32F9314F-8C1C-B13B-5BDA-1EC31418285E}"/>
              </a:ext>
            </a:extLst>
          </p:cNvPr>
          <p:cNvGraphicFramePr>
            <a:graphicFrameLocks noGrp="1"/>
          </p:cNvGraphicFramePr>
          <p:nvPr>
            <p:extLst>
              <p:ext uri="{D42A27DB-BD31-4B8C-83A1-F6EECF244321}">
                <p14:modId xmlns:p14="http://schemas.microsoft.com/office/powerpoint/2010/main" val="1135157184"/>
              </p:ext>
            </p:extLst>
          </p:nvPr>
        </p:nvGraphicFramePr>
        <p:xfrm>
          <a:off x="609600" y="3432585"/>
          <a:ext cx="10972800" cy="822960"/>
        </p:xfrm>
        <a:graphic>
          <a:graphicData uri="http://schemas.openxmlformats.org/drawingml/2006/table">
            <a:tbl>
              <a:tblPr bandRow="1">
                <a:tableStyleId>{073A0DAA-6AF3-43AB-8588-CEC1D06C72B9}</a:tableStyleId>
              </a:tblPr>
              <a:tblGrid>
                <a:gridCol w="2895600">
                  <a:extLst>
                    <a:ext uri="{9D8B030D-6E8A-4147-A177-3AD203B41FA5}">
                      <a16:colId xmlns:a16="http://schemas.microsoft.com/office/drawing/2014/main" val="1033925158"/>
                    </a:ext>
                  </a:extLst>
                </a:gridCol>
                <a:gridCol w="8077200">
                  <a:extLst>
                    <a:ext uri="{9D8B030D-6E8A-4147-A177-3AD203B41FA5}">
                      <a16:colId xmlns:a16="http://schemas.microsoft.com/office/drawing/2014/main" val="2861339557"/>
                    </a:ext>
                  </a:extLst>
                </a:gridCol>
              </a:tblGrid>
              <a:tr h="370840">
                <a:tc>
                  <a:txBody>
                    <a:bodyPr/>
                    <a:lstStyle/>
                    <a:p>
                      <a:r>
                        <a:rPr lang="en-US" sz="2400" b="1" dirty="0"/>
                        <a:t>Placeholder value </a:t>
                      </a:r>
                    </a:p>
                    <a:p>
                      <a:r>
                        <a:rPr lang="en-US" sz="2400" b="1" dirty="0"/>
                        <a:t>(e.g., 0, -999)</a:t>
                      </a:r>
                    </a:p>
                  </a:txBody>
                  <a:tcPr anchor="ctr"/>
                </a:tc>
                <a:tc>
                  <a:txBody>
                    <a:bodyPr/>
                    <a:lstStyle/>
                    <a:p>
                      <a:r>
                        <a:rPr lang="en-US" sz="2400" dirty="0"/>
                        <a:t>Not a good idea for models that cannot distinguish between real and fake data</a:t>
                      </a:r>
                    </a:p>
                  </a:txBody>
                  <a:tcPr anchor="ctr"/>
                </a:tc>
                <a:extLst>
                  <a:ext uri="{0D108BD9-81ED-4DB2-BD59-A6C34878D82A}">
                    <a16:rowId xmlns:a16="http://schemas.microsoft.com/office/drawing/2014/main" val="3840263004"/>
                  </a:ext>
                </a:extLst>
              </a:tr>
            </a:tbl>
          </a:graphicData>
        </a:graphic>
      </p:graphicFrame>
      <p:graphicFrame>
        <p:nvGraphicFramePr>
          <p:cNvPr id="9" name="Table 5">
            <a:extLst>
              <a:ext uri="{FF2B5EF4-FFF2-40B4-BE49-F238E27FC236}">
                <a16:creationId xmlns:a16="http://schemas.microsoft.com/office/drawing/2014/main" id="{8A695FC6-D0C6-E22A-8B90-11FA8019CD69}"/>
              </a:ext>
            </a:extLst>
          </p:cNvPr>
          <p:cNvGraphicFramePr>
            <a:graphicFrameLocks noGrp="1"/>
          </p:cNvGraphicFramePr>
          <p:nvPr>
            <p:extLst>
              <p:ext uri="{D42A27DB-BD31-4B8C-83A1-F6EECF244321}">
                <p14:modId xmlns:p14="http://schemas.microsoft.com/office/powerpoint/2010/main" val="838527484"/>
              </p:ext>
            </p:extLst>
          </p:nvPr>
        </p:nvGraphicFramePr>
        <p:xfrm>
          <a:off x="609600" y="4255544"/>
          <a:ext cx="10972800" cy="822960"/>
        </p:xfrm>
        <a:graphic>
          <a:graphicData uri="http://schemas.openxmlformats.org/drawingml/2006/table">
            <a:tbl>
              <a:tblPr bandRow="1">
                <a:tableStyleId>{073A0DAA-6AF3-43AB-8588-CEC1D06C72B9}</a:tableStyleId>
              </a:tblPr>
              <a:tblGrid>
                <a:gridCol w="2895600">
                  <a:extLst>
                    <a:ext uri="{9D8B030D-6E8A-4147-A177-3AD203B41FA5}">
                      <a16:colId xmlns:a16="http://schemas.microsoft.com/office/drawing/2014/main" val="1033925158"/>
                    </a:ext>
                  </a:extLst>
                </a:gridCol>
                <a:gridCol w="8077200">
                  <a:extLst>
                    <a:ext uri="{9D8B030D-6E8A-4147-A177-3AD203B41FA5}">
                      <a16:colId xmlns:a16="http://schemas.microsoft.com/office/drawing/2014/main" val="2861339557"/>
                    </a:ext>
                  </a:extLst>
                </a:gridCol>
              </a:tblGrid>
              <a:tr h="370840">
                <a:tc>
                  <a:txBody>
                    <a:bodyPr/>
                    <a:lstStyle/>
                    <a:p>
                      <a:r>
                        <a:rPr lang="en-US" sz="2400" b="1" dirty="0"/>
                        <a:t>Mean / median</a:t>
                      </a:r>
                    </a:p>
                  </a:txBody>
                  <a:tcPr anchor="ctr">
                    <a:solidFill>
                      <a:srgbClr val="E7E7E7"/>
                    </a:solidFill>
                  </a:tcPr>
                </a:tc>
                <a:tc>
                  <a:txBody>
                    <a:bodyPr/>
                    <a:lstStyle/>
                    <a:p>
                      <a:r>
                        <a:rPr lang="en-US" sz="2400" dirty="0"/>
                        <a:t>Pretty limited in the level of accuracy that can be achieved since it only cares about one feature at a time</a:t>
                      </a:r>
                    </a:p>
                  </a:txBody>
                  <a:tcPr anchor="ctr">
                    <a:solidFill>
                      <a:srgbClr val="E7E7E7"/>
                    </a:solidFill>
                  </a:tcPr>
                </a:tc>
                <a:extLst>
                  <a:ext uri="{0D108BD9-81ED-4DB2-BD59-A6C34878D82A}">
                    <a16:rowId xmlns:a16="http://schemas.microsoft.com/office/drawing/2014/main" val="2373447156"/>
                  </a:ext>
                </a:extLst>
              </a:tr>
            </a:tbl>
          </a:graphicData>
        </a:graphic>
      </p:graphicFrame>
      <p:sp>
        <p:nvSpPr>
          <p:cNvPr id="4" name="Content Placeholder 2">
            <a:extLst>
              <a:ext uri="{FF2B5EF4-FFF2-40B4-BE49-F238E27FC236}">
                <a16:creationId xmlns:a16="http://schemas.microsoft.com/office/drawing/2014/main" id="{3A0EBA58-03BB-458E-3E0D-0C56E6403BF0}"/>
              </a:ext>
            </a:extLst>
          </p:cNvPr>
          <p:cNvSpPr txBox="1">
            <a:spLocks/>
          </p:cNvSpPr>
          <p:nvPr/>
        </p:nvSpPr>
        <p:spPr>
          <a:xfrm>
            <a:off x="609600" y="6038624"/>
            <a:ext cx="10972800" cy="544738"/>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Font typeface="Arial" pitchFamily="34" charset="0"/>
              <a:buNone/>
              <a:defRPr sz="3200" kern="1200">
                <a:solidFill>
                  <a:schemeClr val="tx1"/>
                </a:solidFill>
                <a:latin typeface="Avenir Book" charset="0"/>
                <a:ea typeface="Avenir Book" charset="0"/>
                <a:cs typeface="Avenir Book"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venir Book" charset="0"/>
                <a:ea typeface="Avenir Book" charset="0"/>
                <a:cs typeface="Avenir Book"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venir Book" charset="0"/>
                <a:ea typeface="Avenir Book" charset="0"/>
                <a:cs typeface="Avenir Book"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venir Book" charset="0"/>
                <a:ea typeface="Avenir Book" charset="0"/>
                <a:cs typeface="Avenir Book"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800"/>
              </a:spcAft>
            </a:pPr>
            <a:r>
              <a:rPr lang="en-US" sz="2400" dirty="0"/>
              <a:t>Data-driven imputation should only be informed by the training dataset</a:t>
            </a:r>
          </a:p>
        </p:txBody>
      </p:sp>
    </p:spTree>
    <p:extLst>
      <p:ext uri="{BB962C8B-B14F-4D97-AF65-F5344CB8AC3E}">
        <p14:creationId xmlns:p14="http://schemas.microsoft.com/office/powerpoint/2010/main" val="152171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fade">
                                      <p:cBhvr>
                                        <p:cTn id="33"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59419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grpId="0" nodeType="withEffect">
                                  <p:stCondLst>
                                    <p:cond delay="0"/>
                                  </p:stCondLst>
                                  <p:childTnLst>
                                    <p:set>
                                      <p:cBhvr>
                                        <p:cTn id="9" dur="indefinite"/>
                                        <p:tgtEl>
                                          <p:spTgt spid="3">
                                            <p:txEl>
                                              <p:pRg st="1" end="1"/>
                                            </p:txEl>
                                          </p:spTgt>
                                        </p:tgtEl>
                                        <p:attrNameLst>
                                          <p:attrName>style.opacity</p:attrName>
                                        </p:attrNameLst>
                                      </p:cBhvr>
                                      <p:to>
                                        <p:strVal val="0.25"/>
                                      </p:to>
                                    </p:set>
                                    <p:animEffect filter="image" prLst="opacity: 0.25">
                                      <p:cBhvr rctx="IE">
                                        <p:cTn id="10" dur="indefinite"/>
                                        <p:tgtEl>
                                          <p:spTgt spid="3">
                                            <p:txEl>
                                              <p:pRg st="1" end="1"/>
                                            </p:txEl>
                                          </p:spTgt>
                                        </p:tgtEl>
                                      </p:cBhvr>
                                    </p:animEffect>
                                  </p:childTnLst>
                                </p:cTn>
                              </p:par>
                              <p:par>
                                <p:cTn id="11" presetID="9" presetClass="emph" presetSubtype="0" grpId="0" nodeType="withEffect">
                                  <p:stCondLst>
                                    <p:cond delay="0"/>
                                  </p:stCondLst>
                                  <p:childTnLst>
                                    <p:set>
                                      <p:cBhvr>
                                        <p:cTn id="12" dur="indefinite"/>
                                        <p:tgtEl>
                                          <p:spTgt spid="3">
                                            <p:txEl>
                                              <p:pRg st="2" end="2"/>
                                            </p:txEl>
                                          </p:spTgt>
                                        </p:tgtEl>
                                        <p:attrNameLst>
                                          <p:attrName>style.opacity</p:attrName>
                                        </p:attrNameLst>
                                      </p:cBhvr>
                                      <p:to>
                                        <p:strVal val="0.25"/>
                                      </p:to>
                                    </p:set>
                                    <p:animEffect filter="image" prLst="opacity: 0.25">
                                      <p:cBhvr rctx="IE">
                                        <p:cTn id="13" dur="indefinite"/>
                                        <p:tgtEl>
                                          <p:spTgt spid="3">
                                            <p:txEl>
                                              <p:pRg st="2" end="2"/>
                                            </p:txEl>
                                          </p:spTgt>
                                        </p:tgtEl>
                                      </p:cBhvr>
                                    </p:animEffect>
                                  </p:childTnLst>
                                </p:cTn>
                              </p:par>
                              <p:par>
                                <p:cTn id="14" presetID="9" presetClass="emph" presetSubtype="0" grpId="0" nodeType="withEffect">
                                  <p:stCondLst>
                                    <p:cond delay="0"/>
                                  </p:stCondLst>
                                  <p:childTnLst>
                                    <p:set>
                                      <p:cBhvr>
                                        <p:cTn id="15" dur="indefinite"/>
                                        <p:tgtEl>
                                          <p:spTgt spid="3">
                                            <p:txEl>
                                              <p:pRg st="3" end="3"/>
                                            </p:txEl>
                                          </p:spTgt>
                                        </p:tgtEl>
                                        <p:attrNameLst>
                                          <p:attrName>style.opacity</p:attrName>
                                        </p:attrNameLst>
                                      </p:cBhvr>
                                      <p:to>
                                        <p:strVal val="0.25"/>
                                      </p:to>
                                    </p:set>
                                    <p:animEffect filter="image" prLst="opacity: 0.25">
                                      <p:cBhvr rctx="IE">
                                        <p:cTn id="16" dur="indefinite"/>
                                        <p:tgtEl>
                                          <p:spTgt spid="3">
                                            <p:txEl>
                                              <p:pRg st="3" end="3"/>
                                            </p:txEl>
                                          </p:spTgt>
                                        </p:tgtEl>
                                      </p:cBhvr>
                                    </p:animEffect>
                                  </p:childTnLst>
                                </p:cTn>
                              </p:par>
                              <p:par>
                                <p:cTn id="17" presetID="9" presetClass="emph" presetSubtype="0" grpId="0" nodeType="withEffect">
                                  <p:stCondLst>
                                    <p:cond delay="0"/>
                                  </p:stCondLst>
                                  <p:childTnLst>
                                    <p:set>
                                      <p:cBhvr>
                                        <p:cTn id="18" dur="indefinite"/>
                                        <p:tgtEl>
                                          <p:spTgt spid="3">
                                            <p:txEl>
                                              <p:pRg st="4" end="4"/>
                                            </p:txEl>
                                          </p:spTgt>
                                        </p:tgtEl>
                                        <p:attrNameLst>
                                          <p:attrName>style.opacity</p:attrName>
                                        </p:attrNameLst>
                                      </p:cBhvr>
                                      <p:to>
                                        <p:strVal val="0.25"/>
                                      </p:to>
                                    </p:set>
                                    <p:animEffect filter="image" prLst="opacity: 0.25">
                                      <p:cBhvr rctx="IE">
                                        <p:cTn id="19" dur="indefinite"/>
                                        <p:tgtEl>
                                          <p:spTgt spid="3">
                                            <p:txEl>
                                              <p:pRg st="4" end="4"/>
                                            </p:txEl>
                                          </p:spTgt>
                                        </p:tgtEl>
                                      </p:cBhvr>
                                    </p:animEffect>
                                  </p:childTnLst>
                                </p:cTn>
                              </p:par>
                              <p:par>
                                <p:cTn id="20" presetID="9" presetClass="emph" presetSubtype="0" grpId="0" nodeType="withEffect">
                                  <p:stCondLst>
                                    <p:cond delay="0"/>
                                  </p:stCondLst>
                                  <p:childTnLst>
                                    <p:set>
                                      <p:cBhvr>
                                        <p:cTn id="21" dur="indefinite"/>
                                        <p:tgtEl>
                                          <p:spTgt spid="3">
                                            <p:txEl>
                                              <p:pRg st="6" end="6"/>
                                            </p:txEl>
                                          </p:spTgt>
                                        </p:tgtEl>
                                        <p:attrNameLst>
                                          <p:attrName>style.opacity</p:attrName>
                                        </p:attrNameLst>
                                      </p:cBhvr>
                                      <p:to>
                                        <p:strVal val="0.25"/>
                                      </p:to>
                                    </p:set>
                                    <p:animEffect filter="image" prLst="opacity: 0.25">
                                      <p:cBhvr rctx="IE">
                                        <p:cTn id="22" dur="indefinite"/>
                                        <p:tgtEl>
                                          <p:spTgt spid="3">
                                            <p:txEl>
                                              <p:pRg st="6" end="6"/>
                                            </p:txEl>
                                          </p:spTgt>
                                        </p:tgtEl>
                                      </p:cBhvr>
                                    </p:animEffect>
                                  </p:childTnLst>
                                </p:cTn>
                              </p:par>
                              <p:par>
                                <p:cTn id="23" presetID="9" presetClass="emph" presetSubtype="0" grpId="0" nodeType="withEffect">
                                  <p:stCondLst>
                                    <p:cond delay="0"/>
                                  </p:stCondLst>
                                  <p:childTnLst>
                                    <p:set>
                                      <p:cBhvr>
                                        <p:cTn id="24" dur="indefinite"/>
                                        <p:tgtEl>
                                          <p:spTgt spid="3">
                                            <p:txEl>
                                              <p:pRg st="7" end="7"/>
                                            </p:txEl>
                                          </p:spTgt>
                                        </p:tgtEl>
                                        <p:attrNameLst>
                                          <p:attrName>style.opacity</p:attrName>
                                        </p:attrNameLst>
                                      </p:cBhvr>
                                      <p:to>
                                        <p:strVal val="0.25"/>
                                      </p:to>
                                    </p:set>
                                    <p:animEffect filter="image" prLst="opacity: 0.25">
                                      <p:cBhvr rctx="IE">
                                        <p:cTn id="25" dur="indefinite"/>
                                        <p:tgtEl>
                                          <p:spTgt spid="3">
                                            <p:txEl>
                                              <p:pRg st="7" end="7"/>
                                            </p:txEl>
                                          </p:spTgt>
                                        </p:tgtEl>
                                      </p:cBhvr>
                                    </p:animEffect>
                                  </p:childTnLst>
                                </p:cTn>
                              </p:par>
                              <p:par>
                                <p:cTn id="26" presetID="9" presetClass="emph" presetSubtype="0" grpId="0" nodeType="withEffect">
                                  <p:stCondLst>
                                    <p:cond delay="0"/>
                                  </p:stCondLst>
                                  <p:childTnLst>
                                    <p:set>
                                      <p:cBhvr>
                                        <p:cTn id="27" dur="indefinite"/>
                                        <p:tgtEl>
                                          <p:spTgt spid="3">
                                            <p:txEl>
                                              <p:pRg st="8" end="8"/>
                                            </p:txEl>
                                          </p:spTgt>
                                        </p:tgtEl>
                                        <p:attrNameLst>
                                          <p:attrName>style.opacity</p:attrName>
                                        </p:attrNameLst>
                                      </p:cBhvr>
                                      <p:to>
                                        <p:strVal val="0.25"/>
                                      </p:to>
                                    </p:set>
                                    <p:animEffect filter="image" prLst="opacity: 0.25">
                                      <p:cBhvr rctx="IE">
                                        <p:cTn id="28" dur="indefinite"/>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1" nodeType="clickEffect">
                                  <p:stCondLst>
                                    <p:cond delay="0"/>
                                  </p:stCondLst>
                                  <p:childTnLst>
                                    <p:set>
                                      <p:cBhvr>
                                        <p:cTn id="32" dur="indefinite"/>
                                        <p:tgtEl>
                                          <p:spTgt spid="3">
                                            <p:txEl>
                                              <p:pRg st="5" end="5"/>
                                            </p:txEl>
                                          </p:spTgt>
                                        </p:tgtEl>
                                        <p:attrNameLst>
                                          <p:attrName>style.opacity</p:attrName>
                                        </p:attrNameLst>
                                      </p:cBhvr>
                                      <p:to>
                                        <p:strVal val="0.25"/>
                                      </p:to>
                                    </p:set>
                                    <p:animEffect filter="image" prLst="opacity: 0.25">
                                      <p:cBhvr rctx="IE">
                                        <p:cTn id="33" dur="indefinite"/>
                                        <p:tgtEl>
                                          <p:spTgt spid="3">
                                            <p:txEl>
                                              <p:pRg st="5" end="5"/>
                                            </p:txEl>
                                          </p:spTgt>
                                        </p:tgtEl>
                                      </p:cBhvr>
                                    </p:animEffect>
                                  </p:childTnLst>
                                </p:cTn>
                              </p:par>
                              <p:par>
                                <p:cTn id="34" presetID="9" presetClass="emph" presetSubtype="0" grpId="1" nodeType="withEffect">
                                  <p:stCondLst>
                                    <p:cond delay="0"/>
                                  </p:stCondLst>
                                  <p:childTnLst>
                                    <p:set>
                                      <p:cBhvr>
                                        <p:cTn id="35" dur="indefinite"/>
                                        <p:tgtEl>
                                          <p:spTgt spid="3">
                                            <p:txEl>
                                              <p:pRg st="6" end="6"/>
                                            </p:txEl>
                                          </p:spTgt>
                                        </p:tgtEl>
                                        <p:attrNameLst>
                                          <p:attrName>style.opacity</p:attrName>
                                        </p:attrNameLst>
                                      </p:cBhvr>
                                      <p:to>
                                        <p:strVal val="1"/>
                                      </p:to>
                                    </p:set>
                                    <p:animEffect filter="image" prLst="opacity: 1">
                                      <p:cBhvr rctx="IE">
                                        <p:cTn id="36" dur="indefinite"/>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E4B9-A3DE-DB41-26DE-69D684807BB5}"/>
              </a:ext>
            </a:extLst>
          </p:cNvPr>
          <p:cNvSpPr>
            <a:spLocks noGrp="1"/>
          </p:cNvSpPr>
          <p:nvPr>
            <p:ph type="title"/>
          </p:nvPr>
        </p:nvSpPr>
        <p:spPr/>
        <p:txBody>
          <a:bodyPr/>
          <a:lstStyle/>
          <a:p>
            <a:r>
              <a:rPr lang="en-US" dirty="0">
                <a:latin typeface="Avenir Book" panose="02000503020000020003" pitchFamily="2" charset="0"/>
              </a:rPr>
              <a:t>Hyperparameters</a:t>
            </a:r>
            <a:endParaRPr lang="en-US" dirty="0"/>
          </a:p>
        </p:txBody>
      </p:sp>
      <p:sp>
        <p:nvSpPr>
          <p:cNvPr id="3" name="Content Placeholder 2">
            <a:extLst>
              <a:ext uri="{FF2B5EF4-FFF2-40B4-BE49-F238E27FC236}">
                <a16:creationId xmlns:a16="http://schemas.microsoft.com/office/drawing/2014/main" id="{5022018F-AFAF-E1E3-953A-8C370E7DD90A}"/>
              </a:ext>
            </a:extLst>
          </p:cNvPr>
          <p:cNvSpPr>
            <a:spLocks noGrp="1"/>
          </p:cNvSpPr>
          <p:nvPr>
            <p:ph idx="1"/>
          </p:nvPr>
        </p:nvSpPr>
        <p:spPr>
          <a:xfrm>
            <a:off x="609600" y="1600201"/>
            <a:ext cx="10972800" cy="1431663"/>
          </a:xfrm>
        </p:spPr>
        <p:txBody>
          <a:bodyPr>
            <a:normAutofit/>
          </a:bodyPr>
          <a:lstStyle/>
          <a:p>
            <a:pPr>
              <a:spcAft>
                <a:spcPts val="1800"/>
              </a:spcAft>
            </a:pPr>
            <a:r>
              <a:rPr lang="en-US" dirty="0"/>
              <a:t>Hyperparameters are tunable parameters that are set before you train your model to control how it learns</a:t>
            </a:r>
          </a:p>
        </p:txBody>
      </p:sp>
      <p:graphicFrame>
        <p:nvGraphicFramePr>
          <p:cNvPr id="5" name="Table 5">
            <a:extLst>
              <a:ext uri="{FF2B5EF4-FFF2-40B4-BE49-F238E27FC236}">
                <a16:creationId xmlns:a16="http://schemas.microsoft.com/office/drawing/2014/main" id="{6FB3B8BB-665C-1E62-90FF-5B80F3F66F67}"/>
              </a:ext>
            </a:extLst>
          </p:cNvPr>
          <p:cNvGraphicFramePr>
            <a:graphicFrameLocks noGrp="1"/>
          </p:cNvGraphicFramePr>
          <p:nvPr>
            <p:extLst>
              <p:ext uri="{D42A27DB-BD31-4B8C-83A1-F6EECF244321}">
                <p14:modId xmlns:p14="http://schemas.microsoft.com/office/powerpoint/2010/main" val="382274841"/>
              </p:ext>
            </p:extLst>
          </p:nvPr>
        </p:nvGraphicFramePr>
        <p:xfrm>
          <a:off x="609600" y="3394587"/>
          <a:ext cx="10972800" cy="457200"/>
        </p:xfrm>
        <a:graphic>
          <a:graphicData uri="http://schemas.openxmlformats.org/drawingml/2006/table">
            <a:tbl>
              <a:tblPr firstRow="1" bandRow="1">
                <a:tableStyleId>{073A0DAA-6AF3-43AB-8588-CEC1D06C72B9}</a:tableStyleId>
              </a:tblPr>
              <a:tblGrid>
                <a:gridCol w="1676400">
                  <a:extLst>
                    <a:ext uri="{9D8B030D-6E8A-4147-A177-3AD203B41FA5}">
                      <a16:colId xmlns:a16="http://schemas.microsoft.com/office/drawing/2014/main" val="105605146"/>
                    </a:ext>
                  </a:extLst>
                </a:gridCol>
                <a:gridCol w="9296400">
                  <a:extLst>
                    <a:ext uri="{9D8B030D-6E8A-4147-A177-3AD203B41FA5}">
                      <a16:colId xmlns:a16="http://schemas.microsoft.com/office/drawing/2014/main" val="946416150"/>
                    </a:ext>
                  </a:extLst>
                </a:gridCol>
              </a:tblGrid>
              <a:tr h="457200">
                <a:tc>
                  <a:txBody>
                    <a:bodyPr/>
                    <a:lstStyle/>
                    <a:p>
                      <a:pPr algn="ctr"/>
                      <a:r>
                        <a:rPr lang="en-US" sz="2400" dirty="0">
                          <a:latin typeface="Avenir Book" panose="02000503020000020003" pitchFamily="2" charset="0"/>
                        </a:rPr>
                        <a:t>Model</a:t>
                      </a:r>
                    </a:p>
                  </a:txBody>
                  <a:tcPr/>
                </a:tc>
                <a:tc>
                  <a:txBody>
                    <a:bodyPr/>
                    <a:lstStyle/>
                    <a:p>
                      <a:pPr algn="l"/>
                      <a:r>
                        <a:rPr lang="en-US" sz="2400" dirty="0">
                          <a:latin typeface="Avenir Book" panose="02000503020000020003" pitchFamily="2" charset="0"/>
                        </a:rPr>
                        <a:t>Examples of Hyperparameters</a:t>
                      </a:r>
                    </a:p>
                  </a:txBody>
                  <a:tcPr/>
                </a:tc>
                <a:extLst>
                  <a:ext uri="{0D108BD9-81ED-4DB2-BD59-A6C34878D82A}">
                    <a16:rowId xmlns:a16="http://schemas.microsoft.com/office/drawing/2014/main" val="3305173239"/>
                  </a:ext>
                </a:extLst>
              </a:tr>
            </a:tbl>
          </a:graphicData>
        </a:graphic>
      </p:graphicFrame>
      <p:graphicFrame>
        <p:nvGraphicFramePr>
          <p:cNvPr id="8" name="Table 5">
            <a:extLst>
              <a:ext uri="{FF2B5EF4-FFF2-40B4-BE49-F238E27FC236}">
                <a16:creationId xmlns:a16="http://schemas.microsoft.com/office/drawing/2014/main" id="{2C065AA6-6D31-4DB3-8BF6-F1301AFBF700}"/>
              </a:ext>
            </a:extLst>
          </p:cNvPr>
          <p:cNvGraphicFramePr>
            <a:graphicFrameLocks noGrp="1"/>
          </p:cNvGraphicFramePr>
          <p:nvPr>
            <p:extLst>
              <p:ext uri="{D42A27DB-BD31-4B8C-83A1-F6EECF244321}">
                <p14:modId xmlns:p14="http://schemas.microsoft.com/office/powerpoint/2010/main" val="2824633012"/>
              </p:ext>
            </p:extLst>
          </p:nvPr>
        </p:nvGraphicFramePr>
        <p:xfrm>
          <a:off x="609600" y="3851787"/>
          <a:ext cx="10972800" cy="1188720"/>
        </p:xfrm>
        <a:graphic>
          <a:graphicData uri="http://schemas.openxmlformats.org/drawingml/2006/table">
            <a:tbl>
              <a:tblPr bandRow="1">
                <a:tableStyleId>{073A0DAA-6AF3-43AB-8588-CEC1D06C72B9}</a:tableStyleId>
              </a:tblPr>
              <a:tblGrid>
                <a:gridCol w="1676400">
                  <a:extLst>
                    <a:ext uri="{9D8B030D-6E8A-4147-A177-3AD203B41FA5}">
                      <a16:colId xmlns:a16="http://schemas.microsoft.com/office/drawing/2014/main" val="105605146"/>
                    </a:ext>
                  </a:extLst>
                </a:gridCol>
                <a:gridCol w="9296400">
                  <a:extLst>
                    <a:ext uri="{9D8B030D-6E8A-4147-A177-3AD203B41FA5}">
                      <a16:colId xmlns:a16="http://schemas.microsoft.com/office/drawing/2014/main" val="946416150"/>
                    </a:ext>
                  </a:extLst>
                </a:gridCol>
              </a:tblGrid>
              <a:tr h="939800">
                <a:tc>
                  <a:txBody>
                    <a:bodyPr/>
                    <a:lstStyle/>
                    <a:p>
                      <a:pPr algn="ctr"/>
                      <a:r>
                        <a:rPr lang="en-US" sz="2400" b="1" u="none" dirty="0">
                          <a:latin typeface="Avenir Book" charset="0"/>
                          <a:ea typeface="Avenir Book" charset="0"/>
                          <a:cs typeface="Avenir Book" charset="0"/>
                        </a:rPr>
                        <a:t>K-Nearest Neighbors</a:t>
                      </a:r>
                      <a:endParaRPr lang="en-US" sz="1800" b="0" u="none" dirty="0">
                        <a:latin typeface="Avenir Book" charset="0"/>
                        <a:ea typeface="Avenir Book" charset="0"/>
                        <a:cs typeface="Avenir Book" charset="0"/>
                      </a:endParaRPr>
                    </a:p>
                  </a:txBody>
                  <a:tcPr anchor="ctr"/>
                </a:tc>
                <a:tc>
                  <a:txBody>
                    <a:bodyPr/>
                    <a:lstStyle/>
                    <a:p>
                      <a:pPr algn="l"/>
                      <a:r>
                        <a:rPr lang="en-US" sz="2400" b="1" u="sng" dirty="0">
                          <a:solidFill>
                            <a:schemeClr val="tx1"/>
                          </a:solidFill>
                          <a:latin typeface="Avenir Book" charset="0"/>
                          <a:ea typeface="Avenir Book" charset="0"/>
                          <a:cs typeface="Avenir Book" charset="0"/>
                        </a:rPr>
                        <a:t>Number of neighbors</a:t>
                      </a:r>
                      <a:r>
                        <a:rPr lang="en-US" sz="2400" b="1" dirty="0">
                          <a:solidFill>
                            <a:schemeClr val="tx1"/>
                          </a:solidFill>
                          <a:latin typeface="Avenir Book" charset="0"/>
                          <a:ea typeface="Avenir Book" charset="0"/>
                          <a:cs typeface="Avenir Book" charset="0"/>
                        </a:rPr>
                        <a:t>:</a:t>
                      </a:r>
                      <a:r>
                        <a:rPr lang="en-US" sz="2400" b="0" dirty="0">
                          <a:solidFill>
                            <a:schemeClr val="tx1"/>
                          </a:solidFill>
                          <a:latin typeface="Avenir Book" charset="0"/>
                          <a:ea typeface="Avenir Book" charset="0"/>
                          <a:cs typeface="Avenir Book" charset="0"/>
                        </a:rPr>
                        <a:t> how many neighbors to use for calculation</a:t>
                      </a:r>
                    </a:p>
                    <a:p>
                      <a:pPr algn="l"/>
                      <a:r>
                        <a:rPr lang="en-US" sz="2400" b="1" u="sng" dirty="0">
                          <a:solidFill>
                            <a:schemeClr val="tx1"/>
                          </a:solidFill>
                          <a:latin typeface="Avenir Book" charset="0"/>
                          <a:ea typeface="Avenir Book" charset="0"/>
                          <a:cs typeface="Avenir Book" charset="0"/>
                        </a:rPr>
                        <a:t>Radius of neighbors</a:t>
                      </a:r>
                      <a:r>
                        <a:rPr lang="en-US" sz="2400" b="1" dirty="0">
                          <a:solidFill>
                            <a:schemeClr val="tx1"/>
                          </a:solidFill>
                          <a:latin typeface="Avenir Book" charset="0"/>
                          <a:ea typeface="Avenir Book" charset="0"/>
                          <a:cs typeface="Avenir Book" charset="0"/>
                        </a:rPr>
                        <a:t>:</a:t>
                      </a:r>
                      <a:r>
                        <a:rPr lang="en-US" sz="2400" b="0" dirty="0">
                          <a:solidFill>
                            <a:schemeClr val="tx1"/>
                          </a:solidFill>
                          <a:latin typeface="Avenir Book" charset="0"/>
                          <a:ea typeface="Avenir Book" charset="0"/>
                          <a:cs typeface="Avenir Book" charset="0"/>
                        </a:rPr>
                        <a:t> the radius within which neighbors can be considered</a:t>
                      </a:r>
                      <a:endParaRPr lang="en-US" sz="2400" b="1" dirty="0">
                        <a:solidFill>
                          <a:schemeClr val="tx1"/>
                        </a:solidFill>
                        <a:latin typeface="Avenir Book" charset="0"/>
                        <a:ea typeface="Avenir Book" charset="0"/>
                        <a:cs typeface="Avenir Book" charset="0"/>
                      </a:endParaRPr>
                    </a:p>
                  </a:txBody>
                  <a:tcPr anchor="ctr"/>
                </a:tc>
                <a:extLst>
                  <a:ext uri="{0D108BD9-81ED-4DB2-BD59-A6C34878D82A}">
                    <a16:rowId xmlns:a16="http://schemas.microsoft.com/office/drawing/2014/main" val="3954795731"/>
                  </a:ext>
                </a:extLst>
              </a:tr>
            </a:tbl>
          </a:graphicData>
        </a:graphic>
      </p:graphicFrame>
      <p:graphicFrame>
        <p:nvGraphicFramePr>
          <p:cNvPr id="9" name="Table 5">
            <a:extLst>
              <a:ext uri="{FF2B5EF4-FFF2-40B4-BE49-F238E27FC236}">
                <a16:creationId xmlns:a16="http://schemas.microsoft.com/office/drawing/2014/main" id="{6CAD6B20-740A-4DD9-0437-1C36BA1F3FFD}"/>
              </a:ext>
            </a:extLst>
          </p:cNvPr>
          <p:cNvGraphicFramePr>
            <a:graphicFrameLocks noGrp="1"/>
          </p:cNvGraphicFramePr>
          <p:nvPr>
            <p:extLst>
              <p:ext uri="{D42A27DB-BD31-4B8C-83A1-F6EECF244321}">
                <p14:modId xmlns:p14="http://schemas.microsoft.com/office/powerpoint/2010/main" val="3186301307"/>
              </p:ext>
            </p:extLst>
          </p:nvPr>
        </p:nvGraphicFramePr>
        <p:xfrm>
          <a:off x="609600" y="5040507"/>
          <a:ext cx="10972800" cy="1188720"/>
        </p:xfrm>
        <a:graphic>
          <a:graphicData uri="http://schemas.openxmlformats.org/drawingml/2006/table">
            <a:tbl>
              <a:tblPr bandRow="1">
                <a:tableStyleId>{073A0DAA-6AF3-43AB-8588-CEC1D06C72B9}</a:tableStyleId>
              </a:tblPr>
              <a:tblGrid>
                <a:gridCol w="1676400">
                  <a:extLst>
                    <a:ext uri="{9D8B030D-6E8A-4147-A177-3AD203B41FA5}">
                      <a16:colId xmlns:a16="http://schemas.microsoft.com/office/drawing/2014/main" val="105605146"/>
                    </a:ext>
                  </a:extLst>
                </a:gridCol>
                <a:gridCol w="9296400">
                  <a:extLst>
                    <a:ext uri="{9D8B030D-6E8A-4147-A177-3AD203B41FA5}">
                      <a16:colId xmlns:a16="http://schemas.microsoft.com/office/drawing/2014/main" val="946416150"/>
                    </a:ext>
                  </a:extLst>
                </a:gridCol>
              </a:tblGrid>
              <a:tr h="939800">
                <a:tc>
                  <a:txBody>
                    <a:bodyPr/>
                    <a:lstStyle/>
                    <a:p>
                      <a:pPr algn="ctr"/>
                      <a:r>
                        <a:rPr lang="en-US" sz="2400" b="1" u="none" dirty="0">
                          <a:latin typeface="Avenir Book" charset="0"/>
                          <a:ea typeface="Avenir Book" charset="0"/>
                          <a:cs typeface="Avenir Book" charset="0"/>
                        </a:rPr>
                        <a:t>Decision Tree</a:t>
                      </a:r>
                      <a:endParaRPr lang="en-US" sz="1800" b="0" u="none" dirty="0">
                        <a:latin typeface="Avenir Book" charset="0"/>
                        <a:ea typeface="Avenir Book" charset="0"/>
                        <a:cs typeface="Avenir Book" charset="0"/>
                      </a:endParaRPr>
                    </a:p>
                  </a:txBody>
                  <a:tcPr anchor="ctr">
                    <a:solidFill>
                      <a:srgbClr val="E7E7E7"/>
                    </a:solidFill>
                  </a:tcPr>
                </a:tc>
                <a:tc>
                  <a:txBody>
                    <a:bodyPr/>
                    <a:lstStyle/>
                    <a:p>
                      <a:pPr algn="l"/>
                      <a:r>
                        <a:rPr lang="en-US" sz="2400" b="1" u="sng" dirty="0">
                          <a:latin typeface="Avenir Book" charset="0"/>
                          <a:ea typeface="Avenir Book" charset="0"/>
                          <a:cs typeface="Avenir Book" charset="0"/>
                        </a:rPr>
                        <a:t>Max depth</a:t>
                      </a:r>
                      <a:r>
                        <a:rPr lang="en-US" sz="2400" b="1" dirty="0">
                          <a:latin typeface="Avenir Book" charset="0"/>
                          <a:ea typeface="Avenir Book" charset="0"/>
                          <a:cs typeface="Avenir Book" charset="0"/>
                        </a:rPr>
                        <a:t>:</a:t>
                      </a:r>
                      <a:r>
                        <a:rPr lang="en-US" sz="2400" b="0" dirty="0">
                          <a:latin typeface="Avenir Book" charset="0"/>
                          <a:ea typeface="Avenir Book" charset="0"/>
                          <a:cs typeface="Avenir Book" charset="0"/>
                        </a:rPr>
                        <a:t> how deep is the tree allowed to be</a:t>
                      </a:r>
                    </a:p>
                    <a:p>
                      <a:pPr algn="l"/>
                      <a:r>
                        <a:rPr lang="en-US" sz="2400" b="1" u="sng" dirty="0">
                          <a:latin typeface="Avenir Book" charset="0"/>
                          <a:ea typeface="Avenir Book" charset="0"/>
                          <a:cs typeface="Avenir Book" charset="0"/>
                        </a:rPr>
                        <a:t>Min samples for split</a:t>
                      </a:r>
                      <a:r>
                        <a:rPr lang="en-US" sz="2400" b="0" dirty="0">
                          <a:latin typeface="Avenir Book" charset="0"/>
                          <a:ea typeface="Avenir Book" charset="0"/>
                          <a:cs typeface="Avenir Book" charset="0"/>
                        </a:rPr>
                        <a:t>: the minimum of samples required to justify a new decision</a:t>
                      </a:r>
                      <a:endParaRPr lang="en-US" sz="2400" b="1" dirty="0">
                        <a:latin typeface="Avenir Book" charset="0"/>
                        <a:ea typeface="Avenir Book" charset="0"/>
                        <a:cs typeface="Avenir Book" charset="0"/>
                      </a:endParaRPr>
                    </a:p>
                  </a:txBody>
                  <a:tcPr anchor="ctr">
                    <a:solidFill>
                      <a:srgbClr val="E7E7E7"/>
                    </a:solidFill>
                  </a:tcPr>
                </a:tc>
                <a:extLst>
                  <a:ext uri="{0D108BD9-81ED-4DB2-BD59-A6C34878D82A}">
                    <a16:rowId xmlns:a16="http://schemas.microsoft.com/office/drawing/2014/main" val="1205432085"/>
                  </a:ext>
                </a:extLst>
              </a:tr>
            </a:tbl>
          </a:graphicData>
        </a:graphic>
      </p:graphicFrame>
    </p:spTree>
    <p:extLst>
      <p:ext uri="{BB962C8B-B14F-4D97-AF65-F5344CB8AC3E}">
        <p14:creationId xmlns:p14="http://schemas.microsoft.com/office/powerpoint/2010/main" val="304688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052A-5115-5A59-51BA-675D422A54A6}"/>
              </a:ext>
            </a:extLst>
          </p:cNvPr>
          <p:cNvSpPr>
            <a:spLocks noGrp="1"/>
          </p:cNvSpPr>
          <p:nvPr>
            <p:ph type="title"/>
          </p:nvPr>
        </p:nvSpPr>
        <p:spPr/>
        <p:txBody>
          <a:bodyPr/>
          <a:lstStyle/>
          <a:p>
            <a:r>
              <a:rPr lang="en-US" dirty="0">
                <a:latin typeface="Avenir Book" panose="02000503020000020003" pitchFamily="2" charset="0"/>
              </a:rPr>
              <a:t>Setting Hyperparameters</a:t>
            </a:r>
            <a:endParaRPr lang="en-US" dirty="0"/>
          </a:p>
        </p:txBody>
      </p:sp>
      <p:sp>
        <p:nvSpPr>
          <p:cNvPr id="3" name="Content Placeholder 2">
            <a:extLst>
              <a:ext uri="{FF2B5EF4-FFF2-40B4-BE49-F238E27FC236}">
                <a16:creationId xmlns:a16="http://schemas.microsoft.com/office/drawing/2014/main" id="{99A05A31-A6B3-408A-8070-5F622C92C675}"/>
              </a:ext>
            </a:extLst>
          </p:cNvPr>
          <p:cNvSpPr>
            <a:spLocks noGrp="1"/>
          </p:cNvSpPr>
          <p:nvPr>
            <p:ph idx="1"/>
          </p:nvPr>
        </p:nvSpPr>
        <p:spPr/>
        <p:txBody>
          <a:bodyPr>
            <a:normAutofit fontScale="77500" lnSpcReduction="20000"/>
          </a:bodyPr>
          <a:lstStyle/>
          <a:p>
            <a:r>
              <a:rPr lang="en-US" dirty="0"/>
              <a:t>Models often have more hyperparameters than worth exploring</a:t>
            </a:r>
          </a:p>
          <a:p>
            <a:endParaRPr lang="en-US" dirty="0"/>
          </a:p>
          <a:p>
            <a:r>
              <a:rPr lang="en-US" dirty="0"/>
              <a:t>In most software libraries, they are usually ordered by importance, and you can look at code examples to see the ones that people tweak</a:t>
            </a:r>
          </a:p>
          <a:p>
            <a:endParaRPr lang="en-US" dirty="0"/>
          </a:p>
          <a:p>
            <a:r>
              <a:rPr lang="en-US" dirty="0"/>
              <a:t>There are a few ways you can approach hyperparameters:</a:t>
            </a:r>
          </a:p>
          <a:p>
            <a:pPr marL="514350" indent="-514350">
              <a:buFont typeface="+mj-lt"/>
              <a:buAutoNum type="arabicPeriod"/>
            </a:pPr>
            <a:r>
              <a:rPr lang="en-US" dirty="0"/>
              <a:t>Specify required hyperparameters and assume the default settings for the rest</a:t>
            </a:r>
          </a:p>
          <a:p>
            <a:pPr marL="514350" indent="-514350">
              <a:buFont typeface="+mj-lt"/>
              <a:buAutoNum type="arabicPeriod"/>
            </a:pPr>
            <a:r>
              <a:rPr lang="en-US" dirty="0"/>
              <a:t>Train models with different hyperparameter values and see what works on the test set *</a:t>
            </a:r>
          </a:p>
          <a:p>
            <a:pPr marL="514350" indent="-514350">
              <a:buFont typeface="+mj-lt"/>
              <a:buAutoNum type="arabicPeriod"/>
            </a:pPr>
            <a:r>
              <a:rPr lang="en-US" dirty="0"/>
              <a:t>Use a validation set to identify the optimal hyperparameters before doing the final training and testing</a:t>
            </a:r>
          </a:p>
        </p:txBody>
      </p:sp>
      <p:sp>
        <p:nvSpPr>
          <p:cNvPr id="7" name="TextBox 6">
            <a:extLst>
              <a:ext uri="{FF2B5EF4-FFF2-40B4-BE49-F238E27FC236}">
                <a16:creationId xmlns:a16="http://schemas.microsoft.com/office/drawing/2014/main" id="{01BEB340-25EC-7506-0F0D-73A33EC54B8B}"/>
              </a:ext>
            </a:extLst>
          </p:cNvPr>
          <p:cNvSpPr txBox="1"/>
          <p:nvPr/>
        </p:nvSpPr>
        <p:spPr>
          <a:xfrm>
            <a:off x="7010400" y="5847062"/>
            <a:ext cx="5029200" cy="923330"/>
          </a:xfrm>
          <a:prstGeom prst="rect">
            <a:avLst/>
          </a:prstGeom>
          <a:noFill/>
        </p:spPr>
        <p:txBody>
          <a:bodyPr wrap="square">
            <a:spAutoFit/>
          </a:bodyPr>
          <a:lstStyle/>
          <a:p>
            <a:r>
              <a:rPr lang="en-US" dirty="0"/>
              <a:t>* This is technically cheating because you are looking at the test data to inform your model performance, but this is common nonetheless</a:t>
            </a:r>
          </a:p>
        </p:txBody>
      </p:sp>
    </p:spTree>
    <p:extLst>
      <p:ext uri="{BB962C8B-B14F-4D97-AF65-F5344CB8AC3E}">
        <p14:creationId xmlns:p14="http://schemas.microsoft.com/office/powerpoint/2010/main" val="475386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1335902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grpId="0" nodeType="withEffect">
                                  <p:stCondLst>
                                    <p:cond delay="0"/>
                                  </p:stCondLst>
                                  <p:childTnLst>
                                    <p:set>
                                      <p:cBhvr>
                                        <p:cTn id="9" dur="indefinite"/>
                                        <p:tgtEl>
                                          <p:spTgt spid="3">
                                            <p:txEl>
                                              <p:pRg st="1" end="1"/>
                                            </p:txEl>
                                          </p:spTgt>
                                        </p:tgtEl>
                                        <p:attrNameLst>
                                          <p:attrName>style.opacity</p:attrName>
                                        </p:attrNameLst>
                                      </p:cBhvr>
                                      <p:to>
                                        <p:strVal val="0.25"/>
                                      </p:to>
                                    </p:set>
                                    <p:animEffect filter="image" prLst="opacity: 0.25">
                                      <p:cBhvr rctx="IE">
                                        <p:cTn id="10" dur="indefinite"/>
                                        <p:tgtEl>
                                          <p:spTgt spid="3">
                                            <p:txEl>
                                              <p:pRg st="1" end="1"/>
                                            </p:txEl>
                                          </p:spTgt>
                                        </p:tgtEl>
                                      </p:cBhvr>
                                    </p:animEffect>
                                  </p:childTnLst>
                                </p:cTn>
                              </p:par>
                              <p:par>
                                <p:cTn id="11" presetID="9" presetClass="emph" presetSubtype="0" grpId="0" nodeType="withEffect">
                                  <p:stCondLst>
                                    <p:cond delay="0"/>
                                  </p:stCondLst>
                                  <p:childTnLst>
                                    <p:set>
                                      <p:cBhvr>
                                        <p:cTn id="12" dur="indefinite"/>
                                        <p:tgtEl>
                                          <p:spTgt spid="3">
                                            <p:txEl>
                                              <p:pRg st="2" end="2"/>
                                            </p:txEl>
                                          </p:spTgt>
                                        </p:tgtEl>
                                        <p:attrNameLst>
                                          <p:attrName>style.opacity</p:attrName>
                                        </p:attrNameLst>
                                      </p:cBhvr>
                                      <p:to>
                                        <p:strVal val="0.25"/>
                                      </p:to>
                                    </p:set>
                                    <p:animEffect filter="image" prLst="opacity: 0.25">
                                      <p:cBhvr rctx="IE">
                                        <p:cTn id="13" dur="indefinite"/>
                                        <p:tgtEl>
                                          <p:spTgt spid="3">
                                            <p:txEl>
                                              <p:pRg st="2" end="2"/>
                                            </p:txEl>
                                          </p:spTgt>
                                        </p:tgtEl>
                                      </p:cBhvr>
                                    </p:animEffect>
                                  </p:childTnLst>
                                </p:cTn>
                              </p:par>
                              <p:par>
                                <p:cTn id="14" presetID="9" presetClass="emph" presetSubtype="0" grpId="0" nodeType="withEffect">
                                  <p:stCondLst>
                                    <p:cond delay="0"/>
                                  </p:stCondLst>
                                  <p:childTnLst>
                                    <p:set>
                                      <p:cBhvr>
                                        <p:cTn id="15" dur="indefinite"/>
                                        <p:tgtEl>
                                          <p:spTgt spid="3">
                                            <p:txEl>
                                              <p:pRg st="3" end="3"/>
                                            </p:txEl>
                                          </p:spTgt>
                                        </p:tgtEl>
                                        <p:attrNameLst>
                                          <p:attrName>style.opacity</p:attrName>
                                        </p:attrNameLst>
                                      </p:cBhvr>
                                      <p:to>
                                        <p:strVal val="0.25"/>
                                      </p:to>
                                    </p:set>
                                    <p:animEffect filter="image" prLst="opacity: 0.25">
                                      <p:cBhvr rctx="IE">
                                        <p:cTn id="16" dur="indefinite"/>
                                        <p:tgtEl>
                                          <p:spTgt spid="3">
                                            <p:txEl>
                                              <p:pRg st="3" end="3"/>
                                            </p:txEl>
                                          </p:spTgt>
                                        </p:tgtEl>
                                      </p:cBhvr>
                                    </p:animEffect>
                                  </p:childTnLst>
                                </p:cTn>
                              </p:par>
                              <p:par>
                                <p:cTn id="17" presetID="9" presetClass="emph" presetSubtype="0" grpId="0" nodeType="withEffect">
                                  <p:stCondLst>
                                    <p:cond delay="0"/>
                                  </p:stCondLst>
                                  <p:childTnLst>
                                    <p:set>
                                      <p:cBhvr>
                                        <p:cTn id="18" dur="indefinite"/>
                                        <p:tgtEl>
                                          <p:spTgt spid="3">
                                            <p:txEl>
                                              <p:pRg st="4" end="4"/>
                                            </p:txEl>
                                          </p:spTgt>
                                        </p:tgtEl>
                                        <p:attrNameLst>
                                          <p:attrName>style.opacity</p:attrName>
                                        </p:attrNameLst>
                                      </p:cBhvr>
                                      <p:to>
                                        <p:strVal val="0.25"/>
                                      </p:to>
                                    </p:set>
                                    <p:animEffect filter="image" prLst="opacity: 0.25">
                                      <p:cBhvr rctx="IE">
                                        <p:cTn id="19" dur="indefinite"/>
                                        <p:tgtEl>
                                          <p:spTgt spid="3">
                                            <p:txEl>
                                              <p:pRg st="4" end="4"/>
                                            </p:txEl>
                                          </p:spTgt>
                                        </p:tgtEl>
                                      </p:cBhvr>
                                    </p:animEffect>
                                  </p:childTnLst>
                                </p:cTn>
                              </p:par>
                              <p:par>
                                <p:cTn id="20" presetID="9" presetClass="emph" presetSubtype="0" grpId="0" nodeType="withEffect">
                                  <p:stCondLst>
                                    <p:cond delay="0"/>
                                  </p:stCondLst>
                                  <p:childTnLst>
                                    <p:set>
                                      <p:cBhvr>
                                        <p:cTn id="21" dur="indefinite"/>
                                        <p:tgtEl>
                                          <p:spTgt spid="3">
                                            <p:txEl>
                                              <p:pRg st="5" end="5"/>
                                            </p:txEl>
                                          </p:spTgt>
                                        </p:tgtEl>
                                        <p:attrNameLst>
                                          <p:attrName>style.opacity</p:attrName>
                                        </p:attrNameLst>
                                      </p:cBhvr>
                                      <p:to>
                                        <p:strVal val="0.25"/>
                                      </p:to>
                                    </p:set>
                                    <p:animEffect filter="image" prLst="opacity: 0.25">
                                      <p:cBhvr rctx="IE">
                                        <p:cTn id="22" dur="indefinite"/>
                                        <p:tgtEl>
                                          <p:spTgt spid="3">
                                            <p:txEl>
                                              <p:pRg st="5" end="5"/>
                                            </p:txEl>
                                          </p:spTgt>
                                        </p:tgtEl>
                                      </p:cBhvr>
                                    </p:animEffect>
                                  </p:childTnLst>
                                </p:cTn>
                              </p:par>
                              <p:par>
                                <p:cTn id="23" presetID="9" presetClass="emph" presetSubtype="0" grpId="0" nodeType="withEffect">
                                  <p:stCondLst>
                                    <p:cond delay="0"/>
                                  </p:stCondLst>
                                  <p:childTnLst>
                                    <p:set>
                                      <p:cBhvr>
                                        <p:cTn id="24" dur="indefinite"/>
                                        <p:tgtEl>
                                          <p:spTgt spid="3">
                                            <p:txEl>
                                              <p:pRg st="7" end="7"/>
                                            </p:txEl>
                                          </p:spTgt>
                                        </p:tgtEl>
                                        <p:attrNameLst>
                                          <p:attrName>style.opacity</p:attrName>
                                        </p:attrNameLst>
                                      </p:cBhvr>
                                      <p:to>
                                        <p:strVal val="0.25"/>
                                      </p:to>
                                    </p:set>
                                    <p:animEffect filter="image" prLst="opacity: 0.25">
                                      <p:cBhvr rctx="IE">
                                        <p:cTn id="25" dur="indefinite"/>
                                        <p:tgtEl>
                                          <p:spTgt spid="3">
                                            <p:txEl>
                                              <p:pRg st="7" end="7"/>
                                            </p:txEl>
                                          </p:spTgt>
                                        </p:tgtEl>
                                      </p:cBhvr>
                                    </p:animEffect>
                                  </p:childTnLst>
                                </p:cTn>
                              </p:par>
                              <p:par>
                                <p:cTn id="26" presetID="9" presetClass="emph" presetSubtype="0" grpId="0" nodeType="withEffect">
                                  <p:stCondLst>
                                    <p:cond delay="0"/>
                                  </p:stCondLst>
                                  <p:childTnLst>
                                    <p:set>
                                      <p:cBhvr>
                                        <p:cTn id="27" dur="indefinite"/>
                                        <p:tgtEl>
                                          <p:spTgt spid="3">
                                            <p:txEl>
                                              <p:pRg st="8" end="8"/>
                                            </p:txEl>
                                          </p:spTgt>
                                        </p:tgtEl>
                                        <p:attrNameLst>
                                          <p:attrName>style.opacity</p:attrName>
                                        </p:attrNameLst>
                                      </p:cBhvr>
                                      <p:to>
                                        <p:strVal val="0.25"/>
                                      </p:to>
                                    </p:set>
                                    <p:animEffect filter="image" prLst="opacity: 0.25">
                                      <p:cBhvr rctx="IE">
                                        <p:cTn id="28" dur="indefinite"/>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1" nodeType="clickEffect">
                                  <p:stCondLst>
                                    <p:cond delay="0"/>
                                  </p:stCondLst>
                                  <p:childTnLst>
                                    <p:set>
                                      <p:cBhvr>
                                        <p:cTn id="32" dur="indefinite"/>
                                        <p:tgtEl>
                                          <p:spTgt spid="3">
                                            <p:txEl>
                                              <p:pRg st="6" end="6"/>
                                            </p:txEl>
                                          </p:spTgt>
                                        </p:tgtEl>
                                        <p:attrNameLst>
                                          <p:attrName>style.opacity</p:attrName>
                                        </p:attrNameLst>
                                      </p:cBhvr>
                                      <p:to>
                                        <p:strVal val="0.25"/>
                                      </p:to>
                                    </p:set>
                                    <p:animEffect filter="image" prLst="opacity: 0.25">
                                      <p:cBhvr rctx="IE">
                                        <p:cTn id="33" dur="indefinite"/>
                                        <p:tgtEl>
                                          <p:spTgt spid="3">
                                            <p:txEl>
                                              <p:pRg st="6" end="6"/>
                                            </p:txEl>
                                          </p:spTgt>
                                        </p:tgtEl>
                                      </p:cBhvr>
                                    </p:animEffect>
                                  </p:childTnLst>
                                </p:cTn>
                              </p:par>
                              <p:par>
                                <p:cTn id="34" presetID="9" presetClass="emph" presetSubtype="0" grpId="1" nodeType="withEffect">
                                  <p:stCondLst>
                                    <p:cond delay="0"/>
                                  </p:stCondLst>
                                  <p:childTnLst>
                                    <p:set>
                                      <p:cBhvr>
                                        <p:cTn id="35" dur="indefinite"/>
                                        <p:tgtEl>
                                          <p:spTgt spid="3">
                                            <p:txEl>
                                              <p:pRg st="7" end="7"/>
                                            </p:txEl>
                                          </p:spTgt>
                                        </p:tgtEl>
                                        <p:attrNameLst>
                                          <p:attrName>style.opacity</p:attrName>
                                        </p:attrNameLst>
                                      </p:cBhvr>
                                      <p:to>
                                        <p:strVal val="1"/>
                                      </p:to>
                                    </p:set>
                                    <p:animEffect filter="image" prLst="opacity: 1">
                                      <p:cBhvr rctx="IE">
                                        <p:cTn id="36" dur="indefinite"/>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0DB0-AFAC-A22A-22BE-62CCDF5F77E4}"/>
              </a:ext>
            </a:extLst>
          </p:cNvPr>
          <p:cNvSpPr>
            <a:spLocks noGrp="1"/>
          </p:cNvSpPr>
          <p:nvPr>
            <p:ph type="title"/>
          </p:nvPr>
        </p:nvSpPr>
        <p:spPr/>
        <p:txBody>
          <a:bodyPr>
            <a:normAutofit/>
          </a:bodyPr>
          <a:lstStyle/>
          <a:p>
            <a:r>
              <a:rPr lang="en-US" dirty="0"/>
              <a:t>Training and Testing Your Model</a:t>
            </a:r>
          </a:p>
        </p:txBody>
      </p:sp>
      <p:sp>
        <p:nvSpPr>
          <p:cNvPr id="3" name="Content Placeholder 2">
            <a:extLst>
              <a:ext uri="{FF2B5EF4-FFF2-40B4-BE49-F238E27FC236}">
                <a16:creationId xmlns:a16="http://schemas.microsoft.com/office/drawing/2014/main" id="{F0FCD995-6AC6-3972-24FC-38F7C4AC99B7}"/>
              </a:ext>
            </a:extLst>
          </p:cNvPr>
          <p:cNvSpPr>
            <a:spLocks noGrp="1"/>
          </p:cNvSpPr>
          <p:nvPr>
            <p:ph idx="1"/>
          </p:nvPr>
        </p:nvSpPr>
        <p:spPr>
          <a:xfrm>
            <a:off x="609600" y="1600201"/>
            <a:ext cx="10972800" cy="4983161"/>
          </a:xfrm>
        </p:spPr>
        <p:txBody>
          <a:bodyPr>
            <a:normAutofit fontScale="92500" lnSpcReduction="10000"/>
          </a:bodyPr>
          <a:lstStyle/>
          <a:p>
            <a:pPr>
              <a:spcAft>
                <a:spcPts val="1800"/>
              </a:spcAft>
            </a:pPr>
            <a:r>
              <a:rPr lang="en-US" dirty="0"/>
              <a:t>Training entails feeding in the features and labels from the training split</a:t>
            </a:r>
          </a:p>
          <a:p>
            <a:r>
              <a:rPr lang="en-US" dirty="0"/>
              <a:t>Testing entails feeding in only the features and comparing the model’s outputs to the known labels</a:t>
            </a:r>
          </a:p>
          <a:p>
            <a:pPr marL="457200" indent="-457200">
              <a:buFont typeface="Arial" panose="020B0604020202020204" pitchFamily="34" charset="0"/>
              <a:buChar char="•"/>
            </a:pPr>
            <a:r>
              <a:rPr lang="en-US" b="1" u="sng" dirty="0"/>
              <a:t>Evaluating on training split</a:t>
            </a:r>
            <a:r>
              <a:rPr lang="en-US" b="1" dirty="0"/>
              <a:t>: </a:t>
            </a:r>
            <a:r>
              <a:rPr lang="en-US" dirty="0"/>
              <a:t>Accuracy should be very high (assuming the model learned anything) since the model has seen that data before</a:t>
            </a:r>
          </a:p>
          <a:p>
            <a:pPr marL="457200" indent="-457200">
              <a:spcAft>
                <a:spcPts val="1800"/>
              </a:spcAft>
              <a:buFont typeface="Arial" panose="020B0604020202020204" pitchFamily="34" charset="0"/>
              <a:buChar char="•"/>
            </a:pPr>
            <a:r>
              <a:rPr lang="en-US" b="1" u="sng" dirty="0"/>
              <a:t>Evaluating on test split</a:t>
            </a:r>
            <a:r>
              <a:rPr lang="en-US" b="1" dirty="0"/>
              <a:t>: </a:t>
            </a:r>
            <a:r>
              <a:rPr lang="en-US" dirty="0"/>
              <a:t>Accuracy is a better indicator of real-world performance since the model hasn’t seen that data before</a:t>
            </a:r>
          </a:p>
        </p:txBody>
      </p:sp>
    </p:spTree>
    <p:extLst>
      <p:ext uri="{BB962C8B-B14F-4D97-AF65-F5344CB8AC3E}">
        <p14:creationId xmlns:p14="http://schemas.microsoft.com/office/powerpoint/2010/main" val="189141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99CF-5A5F-03A0-AA9F-886E9FBCAD28}"/>
              </a:ext>
            </a:extLst>
          </p:cNvPr>
          <p:cNvSpPr>
            <a:spLocks noGrp="1"/>
          </p:cNvSpPr>
          <p:nvPr>
            <p:ph type="title"/>
          </p:nvPr>
        </p:nvSpPr>
        <p:spPr/>
        <p:txBody>
          <a:bodyPr/>
          <a:lstStyle/>
          <a:p>
            <a:r>
              <a:rPr lang="en-US" dirty="0"/>
              <a:t>Overfitting</a:t>
            </a:r>
          </a:p>
        </p:txBody>
      </p:sp>
      <p:sp>
        <p:nvSpPr>
          <p:cNvPr id="3" name="Content Placeholder 2">
            <a:extLst>
              <a:ext uri="{FF2B5EF4-FFF2-40B4-BE49-F238E27FC236}">
                <a16:creationId xmlns:a16="http://schemas.microsoft.com/office/drawing/2014/main" id="{6C9E73BA-E1C7-0776-5823-9F9965F4F153}"/>
              </a:ext>
            </a:extLst>
          </p:cNvPr>
          <p:cNvSpPr>
            <a:spLocks noGrp="1"/>
          </p:cNvSpPr>
          <p:nvPr>
            <p:ph idx="1"/>
          </p:nvPr>
        </p:nvSpPr>
        <p:spPr>
          <a:xfrm>
            <a:off x="609600" y="1600201"/>
            <a:ext cx="10972800" cy="4983161"/>
          </a:xfrm>
        </p:spPr>
        <p:txBody>
          <a:bodyPr>
            <a:normAutofit fontScale="92500" lnSpcReduction="10000"/>
          </a:bodyPr>
          <a:lstStyle/>
          <a:p>
            <a:r>
              <a:rPr lang="en-US" dirty="0"/>
              <a:t>Accuracy will generally be higher on the train split than on the test split</a:t>
            </a:r>
          </a:p>
          <a:p>
            <a:endParaRPr lang="en-US" dirty="0"/>
          </a:p>
          <a:p>
            <a:r>
              <a:rPr lang="en-US" dirty="0"/>
              <a:t>If the gap is too wide, the model has failed to learn generalizable patterns. We call this </a:t>
            </a:r>
            <a:r>
              <a:rPr lang="en-US" b="1" u="sng" dirty="0"/>
              <a:t>overfitting</a:t>
            </a:r>
            <a:r>
              <a:rPr lang="en-US" dirty="0"/>
              <a:t>.</a:t>
            </a:r>
          </a:p>
          <a:p>
            <a:endParaRPr lang="en-US" dirty="0"/>
          </a:p>
          <a:p>
            <a:r>
              <a:rPr lang="en-US" dirty="0"/>
              <a:t>There can be many causes of overfitting:</a:t>
            </a:r>
          </a:p>
          <a:p>
            <a:pPr marL="457200" indent="-457200">
              <a:buFont typeface="Arial" panose="020B0604020202020204" pitchFamily="34" charset="0"/>
              <a:buChar char="•"/>
            </a:pPr>
            <a:r>
              <a:rPr lang="en-US" dirty="0"/>
              <a:t>Not enough representative training data</a:t>
            </a:r>
          </a:p>
          <a:p>
            <a:pPr marL="457200" indent="-457200">
              <a:buFont typeface="Arial" panose="020B0604020202020204" pitchFamily="34" charset="0"/>
              <a:buChar char="•"/>
            </a:pPr>
            <a:r>
              <a:rPr lang="en-US" dirty="0"/>
              <a:t>Too many features to choose from</a:t>
            </a:r>
          </a:p>
          <a:p>
            <a:pPr marL="457200" indent="-457200">
              <a:buFont typeface="Arial" panose="020B0604020202020204" pitchFamily="34" charset="0"/>
              <a:buChar char="•"/>
            </a:pPr>
            <a:r>
              <a:rPr lang="en-US" dirty="0"/>
              <a:t>Too much flexibility in the model structure</a:t>
            </a:r>
          </a:p>
        </p:txBody>
      </p:sp>
    </p:spTree>
    <p:extLst>
      <p:ext uri="{BB962C8B-B14F-4D97-AF65-F5344CB8AC3E}">
        <p14:creationId xmlns:p14="http://schemas.microsoft.com/office/powerpoint/2010/main" val="42460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EE2C-FB45-B902-51E7-EEEBEEDB93A7}"/>
              </a:ext>
            </a:extLst>
          </p:cNvPr>
          <p:cNvSpPr>
            <a:spLocks noGrp="1"/>
          </p:cNvSpPr>
          <p:nvPr>
            <p:ph type="title"/>
          </p:nvPr>
        </p:nvSpPr>
        <p:spPr/>
        <p:txBody>
          <a:bodyPr>
            <a:normAutofit fontScale="90000"/>
          </a:bodyPr>
          <a:lstStyle/>
          <a:p>
            <a:r>
              <a:rPr lang="en-US" dirty="0"/>
              <a:t>Overfitting:</a:t>
            </a:r>
            <a:br>
              <a:rPr lang="en-US" dirty="0"/>
            </a:br>
            <a:r>
              <a:rPr lang="en-US" dirty="0"/>
              <a:t>Not Enough Representative Training Data</a:t>
            </a:r>
          </a:p>
        </p:txBody>
      </p:sp>
      <p:sp>
        <p:nvSpPr>
          <p:cNvPr id="3" name="Content Placeholder 2">
            <a:extLst>
              <a:ext uri="{FF2B5EF4-FFF2-40B4-BE49-F238E27FC236}">
                <a16:creationId xmlns:a16="http://schemas.microsoft.com/office/drawing/2014/main" id="{F09AF520-F7B9-BE49-C509-12BEAAACBD53}"/>
              </a:ext>
            </a:extLst>
          </p:cNvPr>
          <p:cNvSpPr>
            <a:spLocks noGrp="1"/>
          </p:cNvSpPr>
          <p:nvPr>
            <p:ph idx="1"/>
          </p:nvPr>
        </p:nvSpPr>
        <p:spPr>
          <a:xfrm>
            <a:off x="609600" y="1600201"/>
            <a:ext cx="10972800" cy="1295399"/>
          </a:xfrm>
        </p:spPr>
        <p:txBody>
          <a:bodyPr>
            <a:normAutofit/>
          </a:bodyPr>
          <a:lstStyle/>
          <a:p>
            <a:pPr>
              <a:spcBef>
                <a:spcPts val="0"/>
              </a:spcBef>
              <a:defRPr/>
            </a:pPr>
            <a:r>
              <a:rPr lang="en-US" sz="2800" dirty="0">
                <a:latin typeface="Avenir Book" panose="02000503020000020003" pitchFamily="2" charset="0"/>
              </a:rPr>
              <a:t>If your training data is biased, it probably will not predict well on test data that goes against that bias</a:t>
            </a:r>
          </a:p>
        </p:txBody>
      </p:sp>
      <p:cxnSp>
        <p:nvCxnSpPr>
          <p:cNvPr id="5" name="Straight Connector 4">
            <a:extLst>
              <a:ext uri="{FF2B5EF4-FFF2-40B4-BE49-F238E27FC236}">
                <a16:creationId xmlns:a16="http://schemas.microsoft.com/office/drawing/2014/main" id="{79A8F5AC-1464-2B23-243A-D5F5B62D9491}"/>
              </a:ext>
            </a:extLst>
          </p:cNvPr>
          <p:cNvCxnSpPr>
            <a:cxnSpLocks/>
          </p:cNvCxnSpPr>
          <p:nvPr/>
        </p:nvCxnSpPr>
        <p:spPr>
          <a:xfrm>
            <a:off x="3962400" y="3275164"/>
            <a:ext cx="0" cy="31691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2A938780-14E6-0189-6638-8E6B7495E08F}"/>
              </a:ext>
            </a:extLst>
          </p:cNvPr>
          <p:cNvGrpSpPr/>
          <p:nvPr/>
        </p:nvGrpSpPr>
        <p:grpSpPr>
          <a:xfrm>
            <a:off x="1154825" y="2930189"/>
            <a:ext cx="9653749" cy="3782872"/>
            <a:chOff x="1154825" y="2930189"/>
            <a:chExt cx="9653749" cy="3782872"/>
          </a:xfrm>
        </p:grpSpPr>
        <p:grpSp>
          <p:nvGrpSpPr>
            <p:cNvPr id="6" name="Group 5">
              <a:extLst>
                <a:ext uri="{FF2B5EF4-FFF2-40B4-BE49-F238E27FC236}">
                  <a16:creationId xmlns:a16="http://schemas.microsoft.com/office/drawing/2014/main" id="{9811B543-4EF8-6709-F92C-12DC369CC05B}"/>
                </a:ext>
              </a:extLst>
            </p:cNvPr>
            <p:cNvGrpSpPr/>
            <p:nvPr/>
          </p:nvGrpSpPr>
          <p:grpSpPr>
            <a:xfrm>
              <a:off x="1383425" y="6251396"/>
              <a:ext cx="9425149" cy="461665"/>
              <a:chOff x="-1122663" y="6246167"/>
              <a:chExt cx="9425149" cy="461665"/>
            </a:xfrm>
          </p:grpSpPr>
          <p:cxnSp>
            <p:nvCxnSpPr>
              <p:cNvPr id="7" name="Straight Connector 6">
                <a:extLst>
                  <a:ext uri="{FF2B5EF4-FFF2-40B4-BE49-F238E27FC236}">
                    <a16:creationId xmlns:a16="http://schemas.microsoft.com/office/drawing/2014/main" id="{6B94A981-AE8C-F14E-BD81-C6310407F702}"/>
                  </a:ext>
                </a:extLst>
              </p:cNvPr>
              <p:cNvCxnSpPr>
                <a:cxnSpLocks/>
                <a:stCxn id="8" idx="1"/>
              </p:cNvCxnSpPr>
              <p:nvPr/>
            </p:nvCxnSpPr>
            <p:spPr>
              <a:xfrm flipH="1">
                <a:off x="-1122663" y="6477000"/>
                <a:ext cx="896794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BE822CE-9945-71D7-C753-E07840A70AAD}"/>
                      </a:ext>
                    </a:extLst>
                  </p:cNvPr>
                  <p:cNvSpPr txBox="1"/>
                  <p:nvPr/>
                </p:nvSpPr>
                <p:spPr>
                  <a:xfrm>
                    <a:off x="7845286" y="6246167"/>
                    <a:ext cx="4572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cs typeface="Avenir Book" charset="0"/>
                            </a:rPr>
                            <m:t>𝑥</m:t>
                          </m:r>
                        </m:oMath>
                      </m:oMathPara>
                    </a14:m>
                    <a:endParaRPr lang="en-US" sz="2400" dirty="0">
                      <a:latin typeface="Cambria Math" panose="02040503050406030204" pitchFamily="18" charset="0"/>
                      <a:ea typeface="Cambria Math" panose="02040503050406030204" pitchFamily="18" charset="0"/>
                      <a:cs typeface="Avenir Book" charset="0"/>
                    </a:endParaRPr>
                  </a:p>
                </p:txBody>
              </p:sp>
            </mc:Choice>
            <mc:Fallback xmlns="">
              <p:sp>
                <p:nvSpPr>
                  <p:cNvPr id="8" name="TextBox 7">
                    <a:extLst>
                      <a:ext uri="{FF2B5EF4-FFF2-40B4-BE49-F238E27FC236}">
                        <a16:creationId xmlns:a16="http://schemas.microsoft.com/office/drawing/2014/main" id="{7BE822CE-9945-71D7-C753-E07840A70AAD}"/>
                      </a:ext>
                    </a:extLst>
                  </p:cNvPr>
                  <p:cNvSpPr txBox="1">
                    <a:spLocks noRot="1" noChangeAspect="1" noMove="1" noResize="1" noEditPoints="1" noAdjustHandles="1" noChangeArrowheads="1" noChangeShapeType="1" noTextEdit="1"/>
                  </p:cNvSpPr>
                  <p:nvPr/>
                </p:nvSpPr>
                <p:spPr>
                  <a:xfrm>
                    <a:off x="7845286" y="6246167"/>
                    <a:ext cx="457200" cy="461665"/>
                  </a:xfrm>
                  <a:prstGeom prst="rect">
                    <a:avLst/>
                  </a:prstGeom>
                  <a:blipFill>
                    <a:blip r:embed="rId2"/>
                    <a:stretch>
                      <a:fillRect/>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9369520C-D8CF-B540-BB8B-A8FF3F4FA9B6}"/>
                </a:ext>
              </a:extLst>
            </p:cNvPr>
            <p:cNvGrpSpPr/>
            <p:nvPr/>
          </p:nvGrpSpPr>
          <p:grpSpPr>
            <a:xfrm>
              <a:off x="1154825" y="2930189"/>
              <a:ext cx="457200" cy="3552040"/>
              <a:chOff x="762000" y="3526721"/>
              <a:chExt cx="457200" cy="3552040"/>
            </a:xfrm>
          </p:grpSpPr>
          <p:cxnSp>
            <p:nvCxnSpPr>
              <p:cNvPr id="10" name="Straight Connector 9">
                <a:extLst>
                  <a:ext uri="{FF2B5EF4-FFF2-40B4-BE49-F238E27FC236}">
                    <a16:creationId xmlns:a16="http://schemas.microsoft.com/office/drawing/2014/main" id="{6A916D0F-AF56-B819-D83E-575C0500EA73}"/>
                  </a:ext>
                </a:extLst>
              </p:cNvPr>
              <p:cNvCxnSpPr>
                <a:cxnSpLocks/>
                <a:stCxn id="11" idx="2"/>
              </p:cNvCxnSpPr>
              <p:nvPr/>
            </p:nvCxnSpPr>
            <p:spPr>
              <a:xfrm>
                <a:off x="990600" y="3988386"/>
                <a:ext cx="0" cy="30903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EEE38CC-B3DC-F4B3-CD30-EA0AAC8EE1EC}"/>
                      </a:ext>
                    </a:extLst>
                  </p:cNvPr>
                  <p:cNvSpPr txBox="1"/>
                  <p:nvPr/>
                </p:nvSpPr>
                <p:spPr>
                  <a:xfrm>
                    <a:off x="762000" y="3526721"/>
                    <a:ext cx="45720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Cambria Math" panose="02040503050406030204" pitchFamily="18" charset="0"/>
                              <a:cs typeface="Avenir Book" charset="0"/>
                            </a:rPr>
                            <m:t>𝑦</m:t>
                          </m:r>
                        </m:oMath>
                      </m:oMathPara>
                    </a14:m>
                    <a:endParaRPr lang="en-US" sz="2400" dirty="0">
                      <a:latin typeface="Cambria Math" panose="02040503050406030204" pitchFamily="18" charset="0"/>
                      <a:ea typeface="Cambria Math" panose="02040503050406030204" pitchFamily="18" charset="0"/>
                      <a:cs typeface="Avenir Book" charset="0"/>
                    </a:endParaRPr>
                  </a:p>
                </p:txBody>
              </p:sp>
            </mc:Choice>
            <mc:Fallback xmlns="">
              <p:sp>
                <p:nvSpPr>
                  <p:cNvPr id="11" name="TextBox 10">
                    <a:extLst>
                      <a:ext uri="{FF2B5EF4-FFF2-40B4-BE49-F238E27FC236}">
                        <a16:creationId xmlns:a16="http://schemas.microsoft.com/office/drawing/2014/main" id="{DEEE38CC-B3DC-F4B3-CD30-EA0AAC8EE1EC}"/>
                      </a:ext>
                    </a:extLst>
                  </p:cNvPr>
                  <p:cNvSpPr txBox="1">
                    <a:spLocks noRot="1" noChangeAspect="1" noMove="1" noResize="1" noEditPoints="1" noAdjustHandles="1" noChangeArrowheads="1" noChangeShapeType="1" noTextEdit="1"/>
                  </p:cNvSpPr>
                  <p:nvPr/>
                </p:nvSpPr>
                <p:spPr>
                  <a:xfrm>
                    <a:off x="762000" y="3526721"/>
                    <a:ext cx="457200" cy="461665"/>
                  </a:xfrm>
                  <a:prstGeom prst="rect">
                    <a:avLst/>
                  </a:prstGeom>
                  <a:blipFill>
                    <a:blip r:embed="rId3"/>
                    <a:stretch>
                      <a:fillRect b="-8108"/>
                    </a:stretch>
                  </a:blipFill>
                </p:spPr>
                <p:txBody>
                  <a:bodyPr/>
                  <a:lstStyle/>
                  <a:p>
                    <a:r>
                      <a:rPr lang="en-US">
                        <a:noFill/>
                      </a:rPr>
                      <a:t> </a:t>
                    </a:r>
                  </a:p>
                </p:txBody>
              </p:sp>
            </mc:Fallback>
          </mc:AlternateContent>
        </p:grpSp>
      </p:grpSp>
      <p:sp>
        <p:nvSpPr>
          <p:cNvPr id="21" name="TextBox 20">
            <a:extLst>
              <a:ext uri="{FF2B5EF4-FFF2-40B4-BE49-F238E27FC236}">
                <a16:creationId xmlns:a16="http://schemas.microsoft.com/office/drawing/2014/main" id="{6A6377AC-F15C-86B9-F27C-313106BEAC48}"/>
              </a:ext>
            </a:extLst>
          </p:cNvPr>
          <p:cNvSpPr txBox="1"/>
          <p:nvPr/>
        </p:nvSpPr>
        <p:spPr>
          <a:xfrm>
            <a:off x="3978791" y="2866728"/>
            <a:ext cx="4109827" cy="646331"/>
          </a:xfrm>
          <a:prstGeom prst="rect">
            <a:avLst/>
          </a:prstGeom>
          <a:noFill/>
        </p:spPr>
        <p:txBody>
          <a:bodyPr wrap="square" rtlCol="0" anchor="ctr">
            <a:spAutoFit/>
          </a:bodyPr>
          <a:lstStyle/>
          <a:p>
            <a:pPr algn="ctr"/>
            <a:r>
              <a:rPr lang="en-US" dirty="0">
                <a:latin typeface="Avenir Book" panose="02000503020000020003" pitchFamily="2" charset="0"/>
                <a:ea typeface="Avenir Book" charset="0"/>
                <a:cs typeface="Avenir Book" charset="0"/>
              </a:rPr>
              <a:t>Region where model </a:t>
            </a:r>
            <a:br>
              <a:rPr lang="en-US" dirty="0">
                <a:latin typeface="Avenir Book" panose="02000503020000020003" pitchFamily="2" charset="0"/>
                <a:ea typeface="Avenir Book" charset="0"/>
                <a:cs typeface="Avenir Book" charset="0"/>
              </a:rPr>
            </a:br>
            <a:r>
              <a:rPr lang="en-US" dirty="0">
                <a:latin typeface="Avenir Book" panose="02000503020000020003" pitchFamily="2" charset="0"/>
                <a:ea typeface="Avenir Book" charset="0"/>
                <a:cs typeface="Avenir Book" charset="0"/>
              </a:rPr>
              <a:t>should work best</a:t>
            </a:r>
          </a:p>
        </p:txBody>
      </p:sp>
      <p:sp>
        <p:nvSpPr>
          <p:cNvPr id="22" name="Freeform 21">
            <a:extLst>
              <a:ext uri="{FF2B5EF4-FFF2-40B4-BE49-F238E27FC236}">
                <a16:creationId xmlns:a16="http://schemas.microsoft.com/office/drawing/2014/main" id="{6D8494A5-5616-2CC8-3C2F-A48B1CC027C4}"/>
              </a:ext>
            </a:extLst>
          </p:cNvPr>
          <p:cNvSpPr/>
          <p:nvPr/>
        </p:nvSpPr>
        <p:spPr>
          <a:xfrm flipV="1">
            <a:off x="3978790" y="4339900"/>
            <a:ext cx="4086992" cy="1613860"/>
          </a:xfrm>
          <a:custGeom>
            <a:avLst/>
            <a:gdLst>
              <a:gd name="connsiteX0" fmla="*/ 0 w 3053443"/>
              <a:gd name="connsiteY0" fmla="*/ 1322615 h 1469717"/>
              <a:gd name="connsiteX1" fmla="*/ 914400 w 3053443"/>
              <a:gd name="connsiteY1" fmla="*/ 97972 h 1469717"/>
              <a:gd name="connsiteX2" fmla="*/ 1796143 w 3053443"/>
              <a:gd name="connsiteY2" fmla="*/ 1469572 h 1469717"/>
              <a:gd name="connsiteX3" fmla="*/ 3053443 w 3053443"/>
              <a:gd name="connsiteY3" fmla="*/ 0 h 1469717"/>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959012 w 2993961"/>
              <a:gd name="connsiteY1" fmla="*/ 81643 h 1485901"/>
              <a:gd name="connsiteX2" fmla="*/ 1736661 w 2993961"/>
              <a:gd name="connsiteY2" fmla="*/ 1469572 h 1485901"/>
              <a:gd name="connsiteX3" fmla="*/ 2993961 w 2993961"/>
              <a:gd name="connsiteY3" fmla="*/ 0 h 1485901"/>
              <a:gd name="connsiteX0" fmla="*/ 0 w 2919608"/>
              <a:gd name="connsiteY0" fmla="*/ 1534887 h 1534887"/>
              <a:gd name="connsiteX1" fmla="*/ 959012 w 2919608"/>
              <a:gd name="connsiteY1" fmla="*/ 130629 h 1534887"/>
              <a:gd name="connsiteX2" fmla="*/ 1736661 w 2919608"/>
              <a:gd name="connsiteY2" fmla="*/ 1518558 h 1534887"/>
              <a:gd name="connsiteX3" fmla="*/ 2919608 w 2919608"/>
              <a:gd name="connsiteY3" fmla="*/ 0 h 1534887"/>
              <a:gd name="connsiteX0" fmla="*/ 0 w 2621504"/>
              <a:gd name="connsiteY0" fmla="*/ 1404262 h 1404262"/>
              <a:gd name="connsiteX1" fmla="*/ 959012 w 2621504"/>
              <a:gd name="connsiteY1" fmla="*/ 4 h 1404262"/>
              <a:gd name="connsiteX2" fmla="*/ 1736661 w 2621504"/>
              <a:gd name="connsiteY2" fmla="*/ 1387933 h 1404262"/>
              <a:gd name="connsiteX3" fmla="*/ 2621504 w 2621504"/>
              <a:gd name="connsiteY3" fmla="*/ 228190 h 1404262"/>
              <a:gd name="connsiteX0" fmla="*/ 0 w 2436474"/>
              <a:gd name="connsiteY0" fmla="*/ 1039766 h 1394086"/>
              <a:gd name="connsiteX1" fmla="*/ 773982 w 2436474"/>
              <a:gd name="connsiteY1" fmla="*/ 5897 h 1394086"/>
              <a:gd name="connsiteX2" fmla="*/ 1551631 w 2436474"/>
              <a:gd name="connsiteY2" fmla="*/ 1393826 h 1394086"/>
              <a:gd name="connsiteX3" fmla="*/ 2436474 w 2436474"/>
              <a:gd name="connsiteY3" fmla="*/ 234083 h 1394086"/>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36893 h 1396898"/>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83192 h 1396898"/>
              <a:gd name="connsiteX0" fmla="*/ 0 w 2422088"/>
              <a:gd name="connsiteY0" fmla="*/ 984702 h 1396898"/>
              <a:gd name="connsiteX1" fmla="*/ 795561 w 2422088"/>
              <a:gd name="connsiteY1" fmla="*/ 8707 h 1396898"/>
              <a:gd name="connsiteX2" fmla="*/ 1573210 w 2422088"/>
              <a:gd name="connsiteY2" fmla="*/ 1396636 h 1396898"/>
              <a:gd name="connsiteX3" fmla="*/ 2422088 w 2422088"/>
              <a:gd name="connsiteY3" fmla="*/ 792478 h 1396898"/>
              <a:gd name="connsiteX0" fmla="*/ 0 w 2223132"/>
              <a:gd name="connsiteY0" fmla="*/ 984702 h 1396898"/>
              <a:gd name="connsiteX1" fmla="*/ 795561 w 2223132"/>
              <a:gd name="connsiteY1" fmla="*/ 8707 h 1396898"/>
              <a:gd name="connsiteX2" fmla="*/ 1573210 w 2223132"/>
              <a:gd name="connsiteY2" fmla="*/ 1396636 h 1396898"/>
              <a:gd name="connsiteX3" fmla="*/ 2223132 w 2223132"/>
              <a:gd name="connsiteY3" fmla="*/ 1050747 h 1396898"/>
            </a:gdLst>
            <a:ahLst/>
            <a:cxnLst>
              <a:cxn ang="0">
                <a:pos x="connsiteX0" y="connsiteY0"/>
              </a:cxn>
              <a:cxn ang="0">
                <a:pos x="connsiteX1" y="connsiteY1"/>
              </a:cxn>
              <a:cxn ang="0">
                <a:pos x="connsiteX2" y="connsiteY2"/>
              </a:cxn>
              <a:cxn ang="0">
                <a:pos x="connsiteX3" y="connsiteY3"/>
              </a:cxn>
            </a:cxnLst>
            <a:rect l="l" t="t" r="r" b="b"/>
            <a:pathLst>
              <a:path w="2223132" h="1396898">
                <a:moveTo>
                  <a:pt x="0" y="984702"/>
                </a:moveTo>
                <a:cubicBezTo>
                  <a:pt x="456228" y="278491"/>
                  <a:pt x="533359" y="-59949"/>
                  <a:pt x="795561" y="8707"/>
                </a:cubicBezTo>
                <a:cubicBezTo>
                  <a:pt x="1057763" y="77363"/>
                  <a:pt x="1246444" y="1418407"/>
                  <a:pt x="1573210" y="1396636"/>
                </a:cubicBezTo>
                <a:cubicBezTo>
                  <a:pt x="1899976" y="1374865"/>
                  <a:pt x="2223132" y="1050747"/>
                  <a:pt x="2223132" y="1050747"/>
                </a:cubicBez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3" name="TextBox 22">
            <a:extLst>
              <a:ext uri="{FF2B5EF4-FFF2-40B4-BE49-F238E27FC236}">
                <a16:creationId xmlns:a16="http://schemas.microsoft.com/office/drawing/2014/main" id="{F9938CEB-8421-3746-9EB4-352E1C48BDD7}"/>
              </a:ext>
            </a:extLst>
          </p:cNvPr>
          <p:cNvSpPr txBox="1"/>
          <p:nvPr/>
        </p:nvSpPr>
        <p:spPr>
          <a:xfrm>
            <a:off x="8109854" y="2866728"/>
            <a:ext cx="2522125" cy="646331"/>
          </a:xfrm>
          <a:prstGeom prst="rect">
            <a:avLst/>
          </a:prstGeom>
          <a:noFill/>
        </p:spPr>
        <p:txBody>
          <a:bodyPr wrap="square" rtlCol="0" anchor="ctr">
            <a:spAutoFit/>
          </a:bodyPr>
          <a:lstStyle/>
          <a:p>
            <a:pPr algn="ctr"/>
            <a:r>
              <a:rPr lang="en-US" dirty="0">
                <a:latin typeface="Avenir Book" panose="02000503020000020003" pitchFamily="2" charset="0"/>
                <a:ea typeface="Avenir Book" charset="0"/>
                <a:cs typeface="Avenir Book" charset="0"/>
              </a:rPr>
              <a:t>No guarantees on model performance</a:t>
            </a:r>
          </a:p>
        </p:txBody>
      </p:sp>
      <p:sp>
        <p:nvSpPr>
          <p:cNvPr id="24" name="Freeform 23">
            <a:extLst>
              <a:ext uri="{FF2B5EF4-FFF2-40B4-BE49-F238E27FC236}">
                <a16:creationId xmlns:a16="http://schemas.microsoft.com/office/drawing/2014/main" id="{14E01AAC-FAA3-91C2-84B3-65DF568DAC11}"/>
              </a:ext>
            </a:extLst>
          </p:cNvPr>
          <p:cNvSpPr/>
          <p:nvPr/>
        </p:nvSpPr>
        <p:spPr>
          <a:xfrm>
            <a:off x="8077200" y="4033768"/>
            <a:ext cx="2324519" cy="1173087"/>
          </a:xfrm>
          <a:custGeom>
            <a:avLst/>
            <a:gdLst>
              <a:gd name="connsiteX0" fmla="*/ 0 w 3053443"/>
              <a:gd name="connsiteY0" fmla="*/ 1322615 h 1469717"/>
              <a:gd name="connsiteX1" fmla="*/ 914400 w 3053443"/>
              <a:gd name="connsiteY1" fmla="*/ 97972 h 1469717"/>
              <a:gd name="connsiteX2" fmla="*/ 1796143 w 3053443"/>
              <a:gd name="connsiteY2" fmla="*/ 1469572 h 1469717"/>
              <a:gd name="connsiteX3" fmla="*/ 3053443 w 3053443"/>
              <a:gd name="connsiteY3" fmla="*/ 0 h 1469717"/>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959012 w 2993961"/>
              <a:gd name="connsiteY1" fmla="*/ 81643 h 1485901"/>
              <a:gd name="connsiteX2" fmla="*/ 1736661 w 2993961"/>
              <a:gd name="connsiteY2" fmla="*/ 1469572 h 1485901"/>
              <a:gd name="connsiteX3" fmla="*/ 2993961 w 2993961"/>
              <a:gd name="connsiteY3" fmla="*/ 0 h 1485901"/>
              <a:gd name="connsiteX0" fmla="*/ 0 w 2919608"/>
              <a:gd name="connsiteY0" fmla="*/ 1534887 h 1534887"/>
              <a:gd name="connsiteX1" fmla="*/ 959012 w 2919608"/>
              <a:gd name="connsiteY1" fmla="*/ 130629 h 1534887"/>
              <a:gd name="connsiteX2" fmla="*/ 1736661 w 2919608"/>
              <a:gd name="connsiteY2" fmla="*/ 1518558 h 1534887"/>
              <a:gd name="connsiteX3" fmla="*/ 2919608 w 2919608"/>
              <a:gd name="connsiteY3" fmla="*/ 0 h 1534887"/>
              <a:gd name="connsiteX0" fmla="*/ 0 w 2621504"/>
              <a:gd name="connsiteY0" fmla="*/ 1404262 h 1404262"/>
              <a:gd name="connsiteX1" fmla="*/ 959012 w 2621504"/>
              <a:gd name="connsiteY1" fmla="*/ 4 h 1404262"/>
              <a:gd name="connsiteX2" fmla="*/ 1736661 w 2621504"/>
              <a:gd name="connsiteY2" fmla="*/ 1387933 h 1404262"/>
              <a:gd name="connsiteX3" fmla="*/ 2621504 w 2621504"/>
              <a:gd name="connsiteY3" fmla="*/ 228190 h 1404262"/>
              <a:gd name="connsiteX0" fmla="*/ 0 w 2436474"/>
              <a:gd name="connsiteY0" fmla="*/ 1039766 h 1394086"/>
              <a:gd name="connsiteX1" fmla="*/ 773982 w 2436474"/>
              <a:gd name="connsiteY1" fmla="*/ 5897 h 1394086"/>
              <a:gd name="connsiteX2" fmla="*/ 1551631 w 2436474"/>
              <a:gd name="connsiteY2" fmla="*/ 1393826 h 1394086"/>
              <a:gd name="connsiteX3" fmla="*/ 2436474 w 2436474"/>
              <a:gd name="connsiteY3" fmla="*/ 234083 h 1394086"/>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36893 h 1396898"/>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83192 h 1396898"/>
              <a:gd name="connsiteX0" fmla="*/ 0 w 2458053"/>
              <a:gd name="connsiteY0" fmla="*/ 701510 h 1686980"/>
              <a:gd name="connsiteX1" fmla="*/ 781175 w 2458053"/>
              <a:gd name="connsiteY1" fmla="*/ 1681636 h 1686980"/>
              <a:gd name="connsiteX2" fmla="*/ 1573210 w 2458053"/>
              <a:gd name="connsiteY2" fmla="*/ 1113444 h 1686980"/>
              <a:gd name="connsiteX3" fmla="*/ 2458053 w 2458053"/>
              <a:gd name="connsiteY3" fmla="*/ 0 h 1686980"/>
              <a:gd name="connsiteX0" fmla="*/ 0 w 2458053"/>
              <a:gd name="connsiteY0" fmla="*/ 701510 h 1686980"/>
              <a:gd name="connsiteX1" fmla="*/ 781175 w 2458053"/>
              <a:gd name="connsiteY1" fmla="*/ 1681636 h 1686980"/>
              <a:gd name="connsiteX2" fmla="*/ 1573210 w 2458053"/>
              <a:gd name="connsiteY2" fmla="*/ 1113444 h 1686980"/>
              <a:gd name="connsiteX3" fmla="*/ 2458053 w 2458053"/>
              <a:gd name="connsiteY3" fmla="*/ 0 h 1686980"/>
              <a:gd name="connsiteX0" fmla="*/ 0 w 2458053"/>
              <a:gd name="connsiteY0" fmla="*/ 956153 h 1682509"/>
              <a:gd name="connsiteX1" fmla="*/ 781175 w 2458053"/>
              <a:gd name="connsiteY1" fmla="*/ 1681636 h 1682509"/>
              <a:gd name="connsiteX2" fmla="*/ 1573210 w 2458053"/>
              <a:gd name="connsiteY2" fmla="*/ 1113444 h 1682509"/>
              <a:gd name="connsiteX3" fmla="*/ 2458053 w 2458053"/>
              <a:gd name="connsiteY3" fmla="*/ 0 h 1682509"/>
              <a:gd name="connsiteX0" fmla="*/ 0 w 2458053"/>
              <a:gd name="connsiteY0" fmla="*/ 956153 h 1682509"/>
              <a:gd name="connsiteX1" fmla="*/ 781175 w 2458053"/>
              <a:gd name="connsiteY1" fmla="*/ 1681636 h 1682509"/>
              <a:gd name="connsiteX2" fmla="*/ 1573210 w 2458053"/>
              <a:gd name="connsiteY2" fmla="*/ 1113444 h 1682509"/>
              <a:gd name="connsiteX3" fmla="*/ 2458053 w 2458053"/>
              <a:gd name="connsiteY3" fmla="*/ 0 h 1682509"/>
              <a:gd name="connsiteX0" fmla="*/ 0 w 2458053"/>
              <a:gd name="connsiteY0" fmla="*/ 956153 h 1685363"/>
              <a:gd name="connsiteX1" fmla="*/ 781175 w 2458053"/>
              <a:gd name="connsiteY1" fmla="*/ 1681636 h 1685363"/>
              <a:gd name="connsiteX2" fmla="*/ 1494087 w 2458053"/>
              <a:gd name="connsiteY2" fmla="*/ 1252341 h 1685363"/>
              <a:gd name="connsiteX3" fmla="*/ 2458053 w 2458053"/>
              <a:gd name="connsiteY3" fmla="*/ 0 h 1685363"/>
              <a:gd name="connsiteX0" fmla="*/ 0 w 2458053"/>
              <a:gd name="connsiteY0" fmla="*/ 956153 h 1691593"/>
              <a:gd name="connsiteX1" fmla="*/ 781175 w 2458053"/>
              <a:gd name="connsiteY1" fmla="*/ 1681636 h 1691593"/>
              <a:gd name="connsiteX2" fmla="*/ 1494087 w 2458053"/>
              <a:gd name="connsiteY2" fmla="*/ 1252341 h 1691593"/>
              <a:gd name="connsiteX3" fmla="*/ 2458053 w 2458053"/>
              <a:gd name="connsiteY3" fmla="*/ 0 h 1691593"/>
              <a:gd name="connsiteX0" fmla="*/ 0 w 2458053"/>
              <a:gd name="connsiteY0" fmla="*/ 956153 h 1714832"/>
              <a:gd name="connsiteX1" fmla="*/ 781175 w 2458053"/>
              <a:gd name="connsiteY1" fmla="*/ 1681636 h 1714832"/>
              <a:gd name="connsiteX2" fmla="*/ 1335841 w 2458053"/>
              <a:gd name="connsiteY2" fmla="*/ 94873 h 1714832"/>
              <a:gd name="connsiteX3" fmla="*/ 2458053 w 2458053"/>
              <a:gd name="connsiteY3" fmla="*/ 0 h 1714832"/>
              <a:gd name="connsiteX0" fmla="*/ 0 w 2458053"/>
              <a:gd name="connsiteY0" fmla="*/ 956153 h 1527900"/>
              <a:gd name="connsiteX1" fmla="*/ 824333 w 2458053"/>
              <a:gd name="connsiteY1" fmla="*/ 1473291 h 1527900"/>
              <a:gd name="connsiteX2" fmla="*/ 1335841 w 2458053"/>
              <a:gd name="connsiteY2" fmla="*/ 94873 h 1527900"/>
              <a:gd name="connsiteX3" fmla="*/ 2458053 w 2458053"/>
              <a:gd name="connsiteY3" fmla="*/ 0 h 1527900"/>
              <a:gd name="connsiteX0" fmla="*/ 0 w 2458053"/>
              <a:gd name="connsiteY0" fmla="*/ 956153 h 1477692"/>
              <a:gd name="connsiteX1" fmla="*/ 824333 w 2458053"/>
              <a:gd name="connsiteY1" fmla="*/ 1473291 h 1477692"/>
              <a:gd name="connsiteX2" fmla="*/ 1335841 w 2458053"/>
              <a:gd name="connsiteY2" fmla="*/ 94873 h 1477692"/>
              <a:gd name="connsiteX3" fmla="*/ 2458053 w 2458053"/>
              <a:gd name="connsiteY3" fmla="*/ 0 h 1477692"/>
              <a:gd name="connsiteX0" fmla="*/ 0 w 1817873"/>
              <a:gd name="connsiteY0" fmla="*/ 861626 h 1383165"/>
              <a:gd name="connsiteX1" fmla="*/ 824333 w 1817873"/>
              <a:gd name="connsiteY1" fmla="*/ 1378764 h 1383165"/>
              <a:gd name="connsiteX2" fmla="*/ 1335841 w 1817873"/>
              <a:gd name="connsiteY2" fmla="*/ 346 h 1383165"/>
              <a:gd name="connsiteX3" fmla="*/ 1817873 w 1817873"/>
              <a:gd name="connsiteY3" fmla="*/ 993493 h 1383165"/>
              <a:gd name="connsiteX0" fmla="*/ 0 w 1817873"/>
              <a:gd name="connsiteY0" fmla="*/ 861626 h 1383165"/>
              <a:gd name="connsiteX1" fmla="*/ 824333 w 1817873"/>
              <a:gd name="connsiteY1" fmla="*/ 1378764 h 1383165"/>
              <a:gd name="connsiteX2" fmla="*/ 1335841 w 1817873"/>
              <a:gd name="connsiteY2" fmla="*/ 346 h 1383165"/>
              <a:gd name="connsiteX3" fmla="*/ 1817873 w 1817873"/>
              <a:gd name="connsiteY3" fmla="*/ 993493 h 1383165"/>
              <a:gd name="connsiteX0" fmla="*/ 0 w 1817873"/>
              <a:gd name="connsiteY0" fmla="*/ 861280 h 1382819"/>
              <a:gd name="connsiteX1" fmla="*/ 824333 w 1817873"/>
              <a:gd name="connsiteY1" fmla="*/ 1378418 h 1382819"/>
              <a:gd name="connsiteX2" fmla="*/ 1335841 w 1817873"/>
              <a:gd name="connsiteY2" fmla="*/ 0 h 1382819"/>
              <a:gd name="connsiteX3" fmla="*/ 1817873 w 1817873"/>
              <a:gd name="connsiteY3" fmla="*/ 993147 h 1382819"/>
              <a:gd name="connsiteX0" fmla="*/ 0 w 2148752"/>
              <a:gd name="connsiteY0" fmla="*/ 861280 h 1382819"/>
              <a:gd name="connsiteX1" fmla="*/ 824333 w 2148752"/>
              <a:gd name="connsiteY1" fmla="*/ 1378418 h 1382819"/>
              <a:gd name="connsiteX2" fmla="*/ 1335841 w 2148752"/>
              <a:gd name="connsiteY2" fmla="*/ 0 h 1382819"/>
              <a:gd name="connsiteX3" fmla="*/ 2148752 w 2148752"/>
              <a:gd name="connsiteY3" fmla="*/ 101897 h 1382819"/>
              <a:gd name="connsiteX0" fmla="*/ 0 w 1911382"/>
              <a:gd name="connsiteY0" fmla="*/ 861280 h 1382819"/>
              <a:gd name="connsiteX1" fmla="*/ 824333 w 1911382"/>
              <a:gd name="connsiteY1" fmla="*/ 1378418 h 1382819"/>
              <a:gd name="connsiteX2" fmla="*/ 1335841 w 1911382"/>
              <a:gd name="connsiteY2" fmla="*/ 0 h 1382819"/>
              <a:gd name="connsiteX3" fmla="*/ 1911382 w 1911382"/>
              <a:gd name="connsiteY3" fmla="*/ 1027872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348 h 1382887"/>
              <a:gd name="connsiteX1" fmla="*/ 824333 w 1846645"/>
              <a:gd name="connsiteY1" fmla="*/ 1378486 h 1382887"/>
              <a:gd name="connsiteX2" fmla="*/ 1335841 w 1846645"/>
              <a:gd name="connsiteY2" fmla="*/ 68 h 1382887"/>
              <a:gd name="connsiteX3" fmla="*/ 1846645 w 1846645"/>
              <a:gd name="connsiteY3" fmla="*/ 1120537 h 1382887"/>
              <a:gd name="connsiteX0" fmla="*/ 0 w 1846645"/>
              <a:gd name="connsiteY0" fmla="*/ 861348 h 1320798"/>
              <a:gd name="connsiteX1" fmla="*/ 673279 w 1846645"/>
              <a:gd name="connsiteY1" fmla="*/ 1309038 h 1320798"/>
              <a:gd name="connsiteX2" fmla="*/ 1335841 w 1846645"/>
              <a:gd name="connsiteY2" fmla="*/ 68 h 1320798"/>
              <a:gd name="connsiteX3" fmla="*/ 1846645 w 1846645"/>
              <a:gd name="connsiteY3" fmla="*/ 1120537 h 1320798"/>
              <a:gd name="connsiteX0" fmla="*/ 0 w 1846645"/>
              <a:gd name="connsiteY0" fmla="*/ 861348 h 1376256"/>
              <a:gd name="connsiteX1" fmla="*/ 673279 w 1846645"/>
              <a:gd name="connsiteY1" fmla="*/ 1309038 h 1376256"/>
              <a:gd name="connsiteX2" fmla="*/ 1343034 w 1846645"/>
              <a:gd name="connsiteY2" fmla="*/ 68 h 1376256"/>
              <a:gd name="connsiteX3" fmla="*/ 1846645 w 1846645"/>
              <a:gd name="connsiteY3" fmla="*/ 1120537 h 1376256"/>
              <a:gd name="connsiteX0" fmla="*/ 0 w 1846645"/>
              <a:gd name="connsiteY0" fmla="*/ 722463 h 1227193"/>
              <a:gd name="connsiteX1" fmla="*/ 673279 w 1846645"/>
              <a:gd name="connsiteY1" fmla="*/ 1170153 h 1227193"/>
              <a:gd name="connsiteX2" fmla="*/ 1343034 w 1846645"/>
              <a:gd name="connsiteY2" fmla="*/ 79 h 1227193"/>
              <a:gd name="connsiteX3" fmla="*/ 1846645 w 1846645"/>
              <a:gd name="connsiteY3" fmla="*/ 981652 h 1227193"/>
              <a:gd name="connsiteX0" fmla="*/ 0 w 1882610"/>
              <a:gd name="connsiteY0" fmla="*/ 722495 h 1227225"/>
              <a:gd name="connsiteX1" fmla="*/ 673279 w 1882610"/>
              <a:gd name="connsiteY1" fmla="*/ 1170185 h 1227225"/>
              <a:gd name="connsiteX2" fmla="*/ 1343034 w 1882610"/>
              <a:gd name="connsiteY2" fmla="*/ 111 h 1227225"/>
              <a:gd name="connsiteX3" fmla="*/ 1882610 w 1882610"/>
              <a:gd name="connsiteY3" fmla="*/ 680742 h 1227225"/>
              <a:gd name="connsiteX0" fmla="*/ 0 w 1882610"/>
              <a:gd name="connsiteY0" fmla="*/ 722495 h 1181945"/>
              <a:gd name="connsiteX1" fmla="*/ 673279 w 1882610"/>
              <a:gd name="connsiteY1" fmla="*/ 1170185 h 1181945"/>
              <a:gd name="connsiteX2" fmla="*/ 1343034 w 1882610"/>
              <a:gd name="connsiteY2" fmla="*/ 111 h 1181945"/>
              <a:gd name="connsiteX3" fmla="*/ 1882610 w 1882610"/>
              <a:gd name="connsiteY3" fmla="*/ 680742 h 1181945"/>
              <a:gd name="connsiteX0" fmla="*/ 0 w 1882610"/>
              <a:gd name="connsiteY0" fmla="*/ 722495 h 1173087"/>
              <a:gd name="connsiteX1" fmla="*/ 673279 w 1882610"/>
              <a:gd name="connsiteY1" fmla="*/ 1170185 h 1173087"/>
              <a:gd name="connsiteX2" fmla="*/ 1343034 w 1882610"/>
              <a:gd name="connsiteY2" fmla="*/ 111 h 1173087"/>
              <a:gd name="connsiteX3" fmla="*/ 1882610 w 1882610"/>
              <a:gd name="connsiteY3" fmla="*/ 680742 h 1173087"/>
            </a:gdLst>
            <a:ahLst/>
            <a:cxnLst>
              <a:cxn ang="0">
                <a:pos x="connsiteX0" y="connsiteY0"/>
              </a:cxn>
              <a:cxn ang="0">
                <a:pos x="connsiteX1" y="connsiteY1"/>
              </a:cxn>
              <a:cxn ang="0">
                <a:pos x="connsiteX2" y="connsiteY2"/>
              </a:cxn>
              <a:cxn ang="0">
                <a:pos x="connsiteX3" y="connsiteY3"/>
              </a:cxn>
            </a:cxnLst>
            <a:rect l="l" t="t" r="r" b="b"/>
            <a:pathLst>
              <a:path w="1882610" h="1173087">
                <a:moveTo>
                  <a:pt x="0" y="722495"/>
                </a:moveTo>
                <a:cubicBezTo>
                  <a:pt x="413540" y="1147200"/>
                  <a:pt x="449440" y="1186410"/>
                  <a:pt x="673279" y="1170185"/>
                </a:cubicBezTo>
                <a:cubicBezTo>
                  <a:pt x="897118" y="1153960"/>
                  <a:pt x="1124163" y="10308"/>
                  <a:pt x="1343034" y="111"/>
                </a:cubicBezTo>
                <a:cubicBezTo>
                  <a:pt x="1626642" y="-10085"/>
                  <a:pt x="1882610" y="680742"/>
                  <a:pt x="1882610" y="680742"/>
                </a:cubicBezTo>
              </a:path>
            </a:pathLst>
          </a:cu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25" name="Freeform 24">
            <a:extLst>
              <a:ext uri="{FF2B5EF4-FFF2-40B4-BE49-F238E27FC236}">
                <a16:creationId xmlns:a16="http://schemas.microsoft.com/office/drawing/2014/main" id="{9A00842B-5EF8-7D94-047A-BCA807B0836F}"/>
              </a:ext>
            </a:extLst>
          </p:cNvPr>
          <p:cNvSpPr/>
          <p:nvPr/>
        </p:nvSpPr>
        <p:spPr>
          <a:xfrm>
            <a:off x="8072013" y="4759422"/>
            <a:ext cx="2279361" cy="775621"/>
          </a:xfrm>
          <a:custGeom>
            <a:avLst/>
            <a:gdLst>
              <a:gd name="connsiteX0" fmla="*/ 0 w 3053443"/>
              <a:gd name="connsiteY0" fmla="*/ 1322615 h 1469717"/>
              <a:gd name="connsiteX1" fmla="*/ 914400 w 3053443"/>
              <a:gd name="connsiteY1" fmla="*/ 97972 h 1469717"/>
              <a:gd name="connsiteX2" fmla="*/ 1796143 w 3053443"/>
              <a:gd name="connsiteY2" fmla="*/ 1469572 h 1469717"/>
              <a:gd name="connsiteX3" fmla="*/ 3053443 w 3053443"/>
              <a:gd name="connsiteY3" fmla="*/ 0 h 1469717"/>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959012 w 2993961"/>
              <a:gd name="connsiteY1" fmla="*/ 81643 h 1485901"/>
              <a:gd name="connsiteX2" fmla="*/ 1736661 w 2993961"/>
              <a:gd name="connsiteY2" fmla="*/ 1469572 h 1485901"/>
              <a:gd name="connsiteX3" fmla="*/ 2993961 w 2993961"/>
              <a:gd name="connsiteY3" fmla="*/ 0 h 1485901"/>
              <a:gd name="connsiteX0" fmla="*/ 0 w 2919608"/>
              <a:gd name="connsiteY0" fmla="*/ 1534887 h 1534887"/>
              <a:gd name="connsiteX1" fmla="*/ 959012 w 2919608"/>
              <a:gd name="connsiteY1" fmla="*/ 130629 h 1534887"/>
              <a:gd name="connsiteX2" fmla="*/ 1736661 w 2919608"/>
              <a:gd name="connsiteY2" fmla="*/ 1518558 h 1534887"/>
              <a:gd name="connsiteX3" fmla="*/ 2919608 w 2919608"/>
              <a:gd name="connsiteY3" fmla="*/ 0 h 1534887"/>
              <a:gd name="connsiteX0" fmla="*/ 0 w 2621504"/>
              <a:gd name="connsiteY0" fmla="*/ 1404262 h 1404262"/>
              <a:gd name="connsiteX1" fmla="*/ 959012 w 2621504"/>
              <a:gd name="connsiteY1" fmla="*/ 4 h 1404262"/>
              <a:gd name="connsiteX2" fmla="*/ 1736661 w 2621504"/>
              <a:gd name="connsiteY2" fmla="*/ 1387933 h 1404262"/>
              <a:gd name="connsiteX3" fmla="*/ 2621504 w 2621504"/>
              <a:gd name="connsiteY3" fmla="*/ 228190 h 1404262"/>
              <a:gd name="connsiteX0" fmla="*/ 0 w 2436474"/>
              <a:gd name="connsiteY0" fmla="*/ 1039766 h 1394086"/>
              <a:gd name="connsiteX1" fmla="*/ 773982 w 2436474"/>
              <a:gd name="connsiteY1" fmla="*/ 5897 h 1394086"/>
              <a:gd name="connsiteX2" fmla="*/ 1551631 w 2436474"/>
              <a:gd name="connsiteY2" fmla="*/ 1393826 h 1394086"/>
              <a:gd name="connsiteX3" fmla="*/ 2436474 w 2436474"/>
              <a:gd name="connsiteY3" fmla="*/ 234083 h 1394086"/>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36893 h 1396898"/>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83192 h 1396898"/>
              <a:gd name="connsiteX0" fmla="*/ 0 w 2458053"/>
              <a:gd name="connsiteY0" fmla="*/ 701510 h 1686980"/>
              <a:gd name="connsiteX1" fmla="*/ 781175 w 2458053"/>
              <a:gd name="connsiteY1" fmla="*/ 1681636 h 1686980"/>
              <a:gd name="connsiteX2" fmla="*/ 1573210 w 2458053"/>
              <a:gd name="connsiteY2" fmla="*/ 1113444 h 1686980"/>
              <a:gd name="connsiteX3" fmla="*/ 2458053 w 2458053"/>
              <a:gd name="connsiteY3" fmla="*/ 0 h 1686980"/>
              <a:gd name="connsiteX0" fmla="*/ 0 w 2458053"/>
              <a:gd name="connsiteY0" fmla="*/ 701510 h 1686980"/>
              <a:gd name="connsiteX1" fmla="*/ 781175 w 2458053"/>
              <a:gd name="connsiteY1" fmla="*/ 1681636 h 1686980"/>
              <a:gd name="connsiteX2" fmla="*/ 1573210 w 2458053"/>
              <a:gd name="connsiteY2" fmla="*/ 1113444 h 1686980"/>
              <a:gd name="connsiteX3" fmla="*/ 2458053 w 2458053"/>
              <a:gd name="connsiteY3" fmla="*/ 0 h 1686980"/>
              <a:gd name="connsiteX0" fmla="*/ 0 w 2458053"/>
              <a:gd name="connsiteY0" fmla="*/ 956153 h 1682509"/>
              <a:gd name="connsiteX1" fmla="*/ 781175 w 2458053"/>
              <a:gd name="connsiteY1" fmla="*/ 1681636 h 1682509"/>
              <a:gd name="connsiteX2" fmla="*/ 1573210 w 2458053"/>
              <a:gd name="connsiteY2" fmla="*/ 1113444 h 1682509"/>
              <a:gd name="connsiteX3" fmla="*/ 2458053 w 2458053"/>
              <a:gd name="connsiteY3" fmla="*/ 0 h 1682509"/>
              <a:gd name="connsiteX0" fmla="*/ 0 w 2458053"/>
              <a:gd name="connsiteY0" fmla="*/ 956153 h 1682509"/>
              <a:gd name="connsiteX1" fmla="*/ 781175 w 2458053"/>
              <a:gd name="connsiteY1" fmla="*/ 1681636 h 1682509"/>
              <a:gd name="connsiteX2" fmla="*/ 1573210 w 2458053"/>
              <a:gd name="connsiteY2" fmla="*/ 1113444 h 1682509"/>
              <a:gd name="connsiteX3" fmla="*/ 2458053 w 2458053"/>
              <a:gd name="connsiteY3" fmla="*/ 0 h 1682509"/>
              <a:gd name="connsiteX0" fmla="*/ 0 w 2458053"/>
              <a:gd name="connsiteY0" fmla="*/ 956153 h 1685363"/>
              <a:gd name="connsiteX1" fmla="*/ 781175 w 2458053"/>
              <a:gd name="connsiteY1" fmla="*/ 1681636 h 1685363"/>
              <a:gd name="connsiteX2" fmla="*/ 1494087 w 2458053"/>
              <a:gd name="connsiteY2" fmla="*/ 1252341 h 1685363"/>
              <a:gd name="connsiteX3" fmla="*/ 2458053 w 2458053"/>
              <a:gd name="connsiteY3" fmla="*/ 0 h 1685363"/>
              <a:gd name="connsiteX0" fmla="*/ 0 w 2458053"/>
              <a:gd name="connsiteY0" fmla="*/ 956153 h 1691593"/>
              <a:gd name="connsiteX1" fmla="*/ 781175 w 2458053"/>
              <a:gd name="connsiteY1" fmla="*/ 1681636 h 1691593"/>
              <a:gd name="connsiteX2" fmla="*/ 1494087 w 2458053"/>
              <a:gd name="connsiteY2" fmla="*/ 1252341 h 1691593"/>
              <a:gd name="connsiteX3" fmla="*/ 2458053 w 2458053"/>
              <a:gd name="connsiteY3" fmla="*/ 0 h 1691593"/>
              <a:gd name="connsiteX0" fmla="*/ 0 w 2458053"/>
              <a:gd name="connsiteY0" fmla="*/ 956153 h 1714832"/>
              <a:gd name="connsiteX1" fmla="*/ 781175 w 2458053"/>
              <a:gd name="connsiteY1" fmla="*/ 1681636 h 1714832"/>
              <a:gd name="connsiteX2" fmla="*/ 1335841 w 2458053"/>
              <a:gd name="connsiteY2" fmla="*/ 94873 h 1714832"/>
              <a:gd name="connsiteX3" fmla="*/ 2458053 w 2458053"/>
              <a:gd name="connsiteY3" fmla="*/ 0 h 1714832"/>
              <a:gd name="connsiteX0" fmla="*/ 0 w 2458053"/>
              <a:gd name="connsiteY0" fmla="*/ 956153 h 1527900"/>
              <a:gd name="connsiteX1" fmla="*/ 824333 w 2458053"/>
              <a:gd name="connsiteY1" fmla="*/ 1473291 h 1527900"/>
              <a:gd name="connsiteX2" fmla="*/ 1335841 w 2458053"/>
              <a:gd name="connsiteY2" fmla="*/ 94873 h 1527900"/>
              <a:gd name="connsiteX3" fmla="*/ 2458053 w 2458053"/>
              <a:gd name="connsiteY3" fmla="*/ 0 h 1527900"/>
              <a:gd name="connsiteX0" fmla="*/ 0 w 2458053"/>
              <a:gd name="connsiteY0" fmla="*/ 956153 h 1477692"/>
              <a:gd name="connsiteX1" fmla="*/ 824333 w 2458053"/>
              <a:gd name="connsiteY1" fmla="*/ 1473291 h 1477692"/>
              <a:gd name="connsiteX2" fmla="*/ 1335841 w 2458053"/>
              <a:gd name="connsiteY2" fmla="*/ 94873 h 1477692"/>
              <a:gd name="connsiteX3" fmla="*/ 2458053 w 2458053"/>
              <a:gd name="connsiteY3" fmla="*/ 0 h 1477692"/>
              <a:gd name="connsiteX0" fmla="*/ 0 w 1817873"/>
              <a:gd name="connsiteY0" fmla="*/ 861626 h 1383165"/>
              <a:gd name="connsiteX1" fmla="*/ 824333 w 1817873"/>
              <a:gd name="connsiteY1" fmla="*/ 1378764 h 1383165"/>
              <a:gd name="connsiteX2" fmla="*/ 1335841 w 1817873"/>
              <a:gd name="connsiteY2" fmla="*/ 346 h 1383165"/>
              <a:gd name="connsiteX3" fmla="*/ 1817873 w 1817873"/>
              <a:gd name="connsiteY3" fmla="*/ 993493 h 1383165"/>
              <a:gd name="connsiteX0" fmla="*/ 0 w 1817873"/>
              <a:gd name="connsiteY0" fmla="*/ 861626 h 1383165"/>
              <a:gd name="connsiteX1" fmla="*/ 824333 w 1817873"/>
              <a:gd name="connsiteY1" fmla="*/ 1378764 h 1383165"/>
              <a:gd name="connsiteX2" fmla="*/ 1335841 w 1817873"/>
              <a:gd name="connsiteY2" fmla="*/ 346 h 1383165"/>
              <a:gd name="connsiteX3" fmla="*/ 1817873 w 1817873"/>
              <a:gd name="connsiteY3" fmla="*/ 993493 h 1383165"/>
              <a:gd name="connsiteX0" fmla="*/ 0 w 1817873"/>
              <a:gd name="connsiteY0" fmla="*/ 861280 h 1382819"/>
              <a:gd name="connsiteX1" fmla="*/ 824333 w 1817873"/>
              <a:gd name="connsiteY1" fmla="*/ 1378418 h 1382819"/>
              <a:gd name="connsiteX2" fmla="*/ 1335841 w 1817873"/>
              <a:gd name="connsiteY2" fmla="*/ 0 h 1382819"/>
              <a:gd name="connsiteX3" fmla="*/ 1817873 w 1817873"/>
              <a:gd name="connsiteY3" fmla="*/ 993147 h 1382819"/>
              <a:gd name="connsiteX0" fmla="*/ 0 w 2148752"/>
              <a:gd name="connsiteY0" fmla="*/ 861280 h 1382819"/>
              <a:gd name="connsiteX1" fmla="*/ 824333 w 2148752"/>
              <a:gd name="connsiteY1" fmla="*/ 1378418 h 1382819"/>
              <a:gd name="connsiteX2" fmla="*/ 1335841 w 2148752"/>
              <a:gd name="connsiteY2" fmla="*/ 0 h 1382819"/>
              <a:gd name="connsiteX3" fmla="*/ 2148752 w 2148752"/>
              <a:gd name="connsiteY3" fmla="*/ 101897 h 1382819"/>
              <a:gd name="connsiteX0" fmla="*/ 0 w 1911382"/>
              <a:gd name="connsiteY0" fmla="*/ 861280 h 1382819"/>
              <a:gd name="connsiteX1" fmla="*/ 824333 w 1911382"/>
              <a:gd name="connsiteY1" fmla="*/ 1378418 h 1382819"/>
              <a:gd name="connsiteX2" fmla="*/ 1335841 w 1911382"/>
              <a:gd name="connsiteY2" fmla="*/ 0 h 1382819"/>
              <a:gd name="connsiteX3" fmla="*/ 1911382 w 1911382"/>
              <a:gd name="connsiteY3" fmla="*/ 1027872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348 h 1382887"/>
              <a:gd name="connsiteX1" fmla="*/ 824333 w 1846645"/>
              <a:gd name="connsiteY1" fmla="*/ 1378486 h 1382887"/>
              <a:gd name="connsiteX2" fmla="*/ 1335841 w 1846645"/>
              <a:gd name="connsiteY2" fmla="*/ 68 h 1382887"/>
              <a:gd name="connsiteX3" fmla="*/ 1846645 w 1846645"/>
              <a:gd name="connsiteY3" fmla="*/ 1120537 h 1382887"/>
              <a:gd name="connsiteX0" fmla="*/ 0 w 1846645"/>
              <a:gd name="connsiteY0" fmla="*/ 861348 h 1320798"/>
              <a:gd name="connsiteX1" fmla="*/ 673279 w 1846645"/>
              <a:gd name="connsiteY1" fmla="*/ 1309038 h 1320798"/>
              <a:gd name="connsiteX2" fmla="*/ 1335841 w 1846645"/>
              <a:gd name="connsiteY2" fmla="*/ 68 h 1320798"/>
              <a:gd name="connsiteX3" fmla="*/ 1846645 w 1846645"/>
              <a:gd name="connsiteY3" fmla="*/ 1120537 h 1320798"/>
              <a:gd name="connsiteX0" fmla="*/ 0 w 1846645"/>
              <a:gd name="connsiteY0" fmla="*/ 861348 h 1376256"/>
              <a:gd name="connsiteX1" fmla="*/ 673279 w 1846645"/>
              <a:gd name="connsiteY1" fmla="*/ 1309038 h 1376256"/>
              <a:gd name="connsiteX2" fmla="*/ 1343034 w 1846645"/>
              <a:gd name="connsiteY2" fmla="*/ 68 h 1376256"/>
              <a:gd name="connsiteX3" fmla="*/ 1846645 w 1846645"/>
              <a:gd name="connsiteY3" fmla="*/ 1120537 h 1376256"/>
              <a:gd name="connsiteX0" fmla="*/ 0 w 1846645"/>
              <a:gd name="connsiteY0" fmla="*/ 722463 h 1227193"/>
              <a:gd name="connsiteX1" fmla="*/ 673279 w 1846645"/>
              <a:gd name="connsiteY1" fmla="*/ 1170153 h 1227193"/>
              <a:gd name="connsiteX2" fmla="*/ 1343034 w 1846645"/>
              <a:gd name="connsiteY2" fmla="*/ 79 h 1227193"/>
              <a:gd name="connsiteX3" fmla="*/ 1846645 w 1846645"/>
              <a:gd name="connsiteY3" fmla="*/ 981652 h 1227193"/>
              <a:gd name="connsiteX0" fmla="*/ 0 w 1882610"/>
              <a:gd name="connsiteY0" fmla="*/ 722495 h 1227225"/>
              <a:gd name="connsiteX1" fmla="*/ 673279 w 1882610"/>
              <a:gd name="connsiteY1" fmla="*/ 1170185 h 1227225"/>
              <a:gd name="connsiteX2" fmla="*/ 1343034 w 1882610"/>
              <a:gd name="connsiteY2" fmla="*/ 111 h 1227225"/>
              <a:gd name="connsiteX3" fmla="*/ 1882610 w 1882610"/>
              <a:gd name="connsiteY3" fmla="*/ 680742 h 1227225"/>
              <a:gd name="connsiteX0" fmla="*/ 0 w 1882610"/>
              <a:gd name="connsiteY0" fmla="*/ 722495 h 1181945"/>
              <a:gd name="connsiteX1" fmla="*/ 673279 w 1882610"/>
              <a:gd name="connsiteY1" fmla="*/ 1170185 h 1181945"/>
              <a:gd name="connsiteX2" fmla="*/ 1343034 w 1882610"/>
              <a:gd name="connsiteY2" fmla="*/ 111 h 1181945"/>
              <a:gd name="connsiteX3" fmla="*/ 1882610 w 1882610"/>
              <a:gd name="connsiteY3" fmla="*/ 680742 h 1181945"/>
              <a:gd name="connsiteX0" fmla="*/ 0 w 1882610"/>
              <a:gd name="connsiteY0" fmla="*/ 41753 h 497279"/>
              <a:gd name="connsiteX1" fmla="*/ 673279 w 1882610"/>
              <a:gd name="connsiteY1" fmla="*/ 489443 h 497279"/>
              <a:gd name="connsiteX2" fmla="*/ 1882610 w 1882610"/>
              <a:gd name="connsiteY2" fmla="*/ 0 h 497279"/>
              <a:gd name="connsiteX0" fmla="*/ 0 w 1760329"/>
              <a:gd name="connsiteY0" fmla="*/ 0 h 608771"/>
              <a:gd name="connsiteX1" fmla="*/ 673279 w 1760329"/>
              <a:gd name="connsiteY1" fmla="*/ 447690 h 608771"/>
              <a:gd name="connsiteX2" fmla="*/ 1760329 w 1760329"/>
              <a:gd name="connsiteY2" fmla="*/ 571706 h 608771"/>
              <a:gd name="connsiteX0" fmla="*/ 0 w 1760329"/>
              <a:gd name="connsiteY0" fmla="*/ 0 h 571706"/>
              <a:gd name="connsiteX1" fmla="*/ 673279 w 1760329"/>
              <a:gd name="connsiteY1" fmla="*/ 447690 h 571706"/>
              <a:gd name="connsiteX2" fmla="*/ 1760329 w 1760329"/>
              <a:gd name="connsiteY2" fmla="*/ 571706 h 571706"/>
              <a:gd name="connsiteX0" fmla="*/ 0 w 1760329"/>
              <a:gd name="connsiteY0" fmla="*/ 0 h 571706"/>
              <a:gd name="connsiteX1" fmla="*/ 673279 w 1760329"/>
              <a:gd name="connsiteY1" fmla="*/ 447690 h 571706"/>
              <a:gd name="connsiteX2" fmla="*/ 1760329 w 1760329"/>
              <a:gd name="connsiteY2" fmla="*/ 571706 h 571706"/>
            </a:gdLst>
            <a:ahLst/>
            <a:cxnLst>
              <a:cxn ang="0">
                <a:pos x="connsiteX0" y="connsiteY0"/>
              </a:cxn>
              <a:cxn ang="0">
                <a:pos x="connsiteX1" y="connsiteY1"/>
              </a:cxn>
              <a:cxn ang="0">
                <a:pos x="connsiteX2" y="connsiteY2"/>
              </a:cxn>
            </a:cxnLst>
            <a:rect l="l" t="t" r="r" b="b"/>
            <a:pathLst>
              <a:path w="1760329" h="571706">
                <a:moveTo>
                  <a:pt x="0" y="0"/>
                </a:moveTo>
                <a:cubicBezTo>
                  <a:pt x="333944" y="312362"/>
                  <a:pt x="379891" y="352406"/>
                  <a:pt x="673279" y="447690"/>
                </a:cubicBezTo>
                <a:cubicBezTo>
                  <a:pt x="966667" y="542974"/>
                  <a:pt x="1508385" y="534777"/>
                  <a:pt x="1760329" y="571706"/>
                </a:cubicBezTo>
              </a:path>
            </a:pathLst>
          </a:cu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cxnSp>
        <p:nvCxnSpPr>
          <p:cNvPr id="30" name="Straight Connector 29">
            <a:extLst>
              <a:ext uri="{FF2B5EF4-FFF2-40B4-BE49-F238E27FC236}">
                <a16:creationId xmlns:a16="http://schemas.microsoft.com/office/drawing/2014/main" id="{98CA72F2-53F0-89AD-9E39-CA02FD790B87}"/>
              </a:ext>
            </a:extLst>
          </p:cNvPr>
          <p:cNvCxnSpPr>
            <a:cxnSpLocks/>
          </p:cNvCxnSpPr>
          <p:nvPr/>
        </p:nvCxnSpPr>
        <p:spPr>
          <a:xfrm>
            <a:off x="8077200" y="3329138"/>
            <a:ext cx="0" cy="31691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C2630D2-5053-A34D-ED91-D802F886148B}"/>
              </a:ext>
            </a:extLst>
          </p:cNvPr>
          <p:cNvSpPr txBox="1"/>
          <p:nvPr/>
        </p:nvSpPr>
        <p:spPr>
          <a:xfrm>
            <a:off x="1472752" y="2866728"/>
            <a:ext cx="2484804" cy="646331"/>
          </a:xfrm>
          <a:prstGeom prst="rect">
            <a:avLst/>
          </a:prstGeom>
          <a:noFill/>
        </p:spPr>
        <p:txBody>
          <a:bodyPr wrap="square" rtlCol="0" anchor="ctr">
            <a:spAutoFit/>
          </a:bodyPr>
          <a:lstStyle/>
          <a:p>
            <a:pPr algn="ctr"/>
            <a:r>
              <a:rPr lang="en-US" dirty="0">
                <a:latin typeface="Avenir Book" panose="02000503020000020003" pitchFamily="2" charset="0"/>
                <a:ea typeface="Avenir Book" charset="0"/>
                <a:cs typeface="Avenir Book" charset="0"/>
              </a:rPr>
              <a:t>Limited guarantees on model performance</a:t>
            </a:r>
          </a:p>
        </p:txBody>
      </p:sp>
      <p:sp>
        <p:nvSpPr>
          <p:cNvPr id="34" name="Freeform 33">
            <a:extLst>
              <a:ext uri="{FF2B5EF4-FFF2-40B4-BE49-F238E27FC236}">
                <a16:creationId xmlns:a16="http://schemas.microsoft.com/office/drawing/2014/main" id="{3E77079E-3A86-FFC0-D560-2DE3AA84B5AA}"/>
              </a:ext>
            </a:extLst>
          </p:cNvPr>
          <p:cNvSpPr/>
          <p:nvPr/>
        </p:nvSpPr>
        <p:spPr>
          <a:xfrm>
            <a:off x="1443641" y="4327050"/>
            <a:ext cx="2484804" cy="925031"/>
          </a:xfrm>
          <a:custGeom>
            <a:avLst/>
            <a:gdLst>
              <a:gd name="connsiteX0" fmla="*/ 0 w 3053443"/>
              <a:gd name="connsiteY0" fmla="*/ 1322615 h 1469717"/>
              <a:gd name="connsiteX1" fmla="*/ 914400 w 3053443"/>
              <a:gd name="connsiteY1" fmla="*/ 97972 h 1469717"/>
              <a:gd name="connsiteX2" fmla="*/ 1796143 w 3053443"/>
              <a:gd name="connsiteY2" fmla="*/ 1469572 h 1469717"/>
              <a:gd name="connsiteX3" fmla="*/ 3053443 w 3053443"/>
              <a:gd name="connsiteY3" fmla="*/ 0 h 1469717"/>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959012 w 2993961"/>
              <a:gd name="connsiteY1" fmla="*/ 81643 h 1485901"/>
              <a:gd name="connsiteX2" fmla="*/ 1736661 w 2993961"/>
              <a:gd name="connsiteY2" fmla="*/ 1469572 h 1485901"/>
              <a:gd name="connsiteX3" fmla="*/ 2993961 w 2993961"/>
              <a:gd name="connsiteY3" fmla="*/ 0 h 1485901"/>
              <a:gd name="connsiteX0" fmla="*/ 0 w 2919608"/>
              <a:gd name="connsiteY0" fmla="*/ 1534887 h 1534887"/>
              <a:gd name="connsiteX1" fmla="*/ 959012 w 2919608"/>
              <a:gd name="connsiteY1" fmla="*/ 130629 h 1534887"/>
              <a:gd name="connsiteX2" fmla="*/ 1736661 w 2919608"/>
              <a:gd name="connsiteY2" fmla="*/ 1518558 h 1534887"/>
              <a:gd name="connsiteX3" fmla="*/ 2919608 w 2919608"/>
              <a:gd name="connsiteY3" fmla="*/ 0 h 1534887"/>
              <a:gd name="connsiteX0" fmla="*/ 0 w 2621504"/>
              <a:gd name="connsiteY0" fmla="*/ 1404262 h 1404262"/>
              <a:gd name="connsiteX1" fmla="*/ 959012 w 2621504"/>
              <a:gd name="connsiteY1" fmla="*/ 4 h 1404262"/>
              <a:gd name="connsiteX2" fmla="*/ 1736661 w 2621504"/>
              <a:gd name="connsiteY2" fmla="*/ 1387933 h 1404262"/>
              <a:gd name="connsiteX3" fmla="*/ 2621504 w 2621504"/>
              <a:gd name="connsiteY3" fmla="*/ 228190 h 1404262"/>
              <a:gd name="connsiteX0" fmla="*/ 0 w 2436474"/>
              <a:gd name="connsiteY0" fmla="*/ 1039766 h 1394086"/>
              <a:gd name="connsiteX1" fmla="*/ 773982 w 2436474"/>
              <a:gd name="connsiteY1" fmla="*/ 5897 h 1394086"/>
              <a:gd name="connsiteX2" fmla="*/ 1551631 w 2436474"/>
              <a:gd name="connsiteY2" fmla="*/ 1393826 h 1394086"/>
              <a:gd name="connsiteX3" fmla="*/ 2436474 w 2436474"/>
              <a:gd name="connsiteY3" fmla="*/ 234083 h 1394086"/>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36893 h 1396898"/>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83192 h 1396898"/>
              <a:gd name="connsiteX0" fmla="*/ 0 w 2458053"/>
              <a:gd name="connsiteY0" fmla="*/ 701510 h 1686980"/>
              <a:gd name="connsiteX1" fmla="*/ 781175 w 2458053"/>
              <a:gd name="connsiteY1" fmla="*/ 1681636 h 1686980"/>
              <a:gd name="connsiteX2" fmla="*/ 1573210 w 2458053"/>
              <a:gd name="connsiteY2" fmla="*/ 1113444 h 1686980"/>
              <a:gd name="connsiteX3" fmla="*/ 2458053 w 2458053"/>
              <a:gd name="connsiteY3" fmla="*/ 0 h 1686980"/>
              <a:gd name="connsiteX0" fmla="*/ 0 w 2458053"/>
              <a:gd name="connsiteY0" fmla="*/ 701510 h 1686980"/>
              <a:gd name="connsiteX1" fmla="*/ 781175 w 2458053"/>
              <a:gd name="connsiteY1" fmla="*/ 1681636 h 1686980"/>
              <a:gd name="connsiteX2" fmla="*/ 1573210 w 2458053"/>
              <a:gd name="connsiteY2" fmla="*/ 1113444 h 1686980"/>
              <a:gd name="connsiteX3" fmla="*/ 2458053 w 2458053"/>
              <a:gd name="connsiteY3" fmla="*/ 0 h 1686980"/>
              <a:gd name="connsiteX0" fmla="*/ 0 w 2458053"/>
              <a:gd name="connsiteY0" fmla="*/ 956153 h 1682509"/>
              <a:gd name="connsiteX1" fmla="*/ 781175 w 2458053"/>
              <a:gd name="connsiteY1" fmla="*/ 1681636 h 1682509"/>
              <a:gd name="connsiteX2" fmla="*/ 1573210 w 2458053"/>
              <a:gd name="connsiteY2" fmla="*/ 1113444 h 1682509"/>
              <a:gd name="connsiteX3" fmla="*/ 2458053 w 2458053"/>
              <a:gd name="connsiteY3" fmla="*/ 0 h 1682509"/>
              <a:gd name="connsiteX0" fmla="*/ 0 w 2458053"/>
              <a:gd name="connsiteY0" fmla="*/ 956153 h 1682509"/>
              <a:gd name="connsiteX1" fmla="*/ 781175 w 2458053"/>
              <a:gd name="connsiteY1" fmla="*/ 1681636 h 1682509"/>
              <a:gd name="connsiteX2" fmla="*/ 1573210 w 2458053"/>
              <a:gd name="connsiteY2" fmla="*/ 1113444 h 1682509"/>
              <a:gd name="connsiteX3" fmla="*/ 2458053 w 2458053"/>
              <a:gd name="connsiteY3" fmla="*/ 0 h 1682509"/>
              <a:gd name="connsiteX0" fmla="*/ 0 w 2458053"/>
              <a:gd name="connsiteY0" fmla="*/ 956153 h 1685363"/>
              <a:gd name="connsiteX1" fmla="*/ 781175 w 2458053"/>
              <a:gd name="connsiteY1" fmla="*/ 1681636 h 1685363"/>
              <a:gd name="connsiteX2" fmla="*/ 1494087 w 2458053"/>
              <a:gd name="connsiteY2" fmla="*/ 1252341 h 1685363"/>
              <a:gd name="connsiteX3" fmla="*/ 2458053 w 2458053"/>
              <a:gd name="connsiteY3" fmla="*/ 0 h 1685363"/>
              <a:gd name="connsiteX0" fmla="*/ 0 w 2458053"/>
              <a:gd name="connsiteY0" fmla="*/ 956153 h 1691593"/>
              <a:gd name="connsiteX1" fmla="*/ 781175 w 2458053"/>
              <a:gd name="connsiteY1" fmla="*/ 1681636 h 1691593"/>
              <a:gd name="connsiteX2" fmla="*/ 1494087 w 2458053"/>
              <a:gd name="connsiteY2" fmla="*/ 1252341 h 1691593"/>
              <a:gd name="connsiteX3" fmla="*/ 2458053 w 2458053"/>
              <a:gd name="connsiteY3" fmla="*/ 0 h 1691593"/>
              <a:gd name="connsiteX0" fmla="*/ 0 w 2458053"/>
              <a:gd name="connsiteY0" fmla="*/ 956153 h 1714832"/>
              <a:gd name="connsiteX1" fmla="*/ 781175 w 2458053"/>
              <a:gd name="connsiteY1" fmla="*/ 1681636 h 1714832"/>
              <a:gd name="connsiteX2" fmla="*/ 1335841 w 2458053"/>
              <a:gd name="connsiteY2" fmla="*/ 94873 h 1714832"/>
              <a:gd name="connsiteX3" fmla="*/ 2458053 w 2458053"/>
              <a:gd name="connsiteY3" fmla="*/ 0 h 1714832"/>
              <a:gd name="connsiteX0" fmla="*/ 0 w 2458053"/>
              <a:gd name="connsiteY0" fmla="*/ 956153 h 1527900"/>
              <a:gd name="connsiteX1" fmla="*/ 824333 w 2458053"/>
              <a:gd name="connsiteY1" fmla="*/ 1473291 h 1527900"/>
              <a:gd name="connsiteX2" fmla="*/ 1335841 w 2458053"/>
              <a:gd name="connsiteY2" fmla="*/ 94873 h 1527900"/>
              <a:gd name="connsiteX3" fmla="*/ 2458053 w 2458053"/>
              <a:gd name="connsiteY3" fmla="*/ 0 h 1527900"/>
              <a:gd name="connsiteX0" fmla="*/ 0 w 2458053"/>
              <a:gd name="connsiteY0" fmla="*/ 956153 h 1477692"/>
              <a:gd name="connsiteX1" fmla="*/ 824333 w 2458053"/>
              <a:gd name="connsiteY1" fmla="*/ 1473291 h 1477692"/>
              <a:gd name="connsiteX2" fmla="*/ 1335841 w 2458053"/>
              <a:gd name="connsiteY2" fmla="*/ 94873 h 1477692"/>
              <a:gd name="connsiteX3" fmla="*/ 2458053 w 2458053"/>
              <a:gd name="connsiteY3" fmla="*/ 0 h 1477692"/>
              <a:gd name="connsiteX0" fmla="*/ 0 w 1817873"/>
              <a:gd name="connsiteY0" fmla="*/ 861626 h 1383165"/>
              <a:gd name="connsiteX1" fmla="*/ 824333 w 1817873"/>
              <a:gd name="connsiteY1" fmla="*/ 1378764 h 1383165"/>
              <a:gd name="connsiteX2" fmla="*/ 1335841 w 1817873"/>
              <a:gd name="connsiteY2" fmla="*/ 346 h 1383165"/>
              <a:gd name="connsiteX3" fmla="*/ 1817873 w 1817873"/>
              <a:gd name="connsiteY3" fmla="*/ 993493 h 1383165"/>
              <a:gd name="connsiteX0" fmla="*/ 0 w 1817873"/>
              <a:gd name="connsiteY0" fmla="*/ 861626 h 1383165"/>
              <a:gd name="connsiteX1" fmla="*/ 824333 w 1817873"/>
              <a:gd name="connsiteY1" fmla="*/ 1378764 h 1383165"/>
              <a:gd name="connsiteX2" fmla="*/ 1335841 w 1817873"/>
              <a:gd name="connsiteY2" fmla="*/ 346 h 1383165"/>
              <a:gd name="connsiteX3" fmla="*/ 1817873 w 1817873"/>
              <a:gd name="connsiteY3" fmla="*/ 993493 h 1383165"/>
              <a:gd name="connsiteX0" fmla="*/ 0 w 1817873"/>
              <a:gd name="connsiteY0" fmla="*/ 861280 h 1382819"/>
              <a:gd name="connsiteX1" fmla="*/ 824333 w 1817873"/>
              <a:gd name="connsiteY1" fmla="*/ 1378418 h 1382819"/>
              <a:gd name="connsiteX2" fmla="*/ 1335841 w 1817873"/>
              <a:gd name="connsiteY2" fmla="*/ 0 h 1382819"/>
              <a:gd name="connsiteX3" fmla="*/ 1817873 w 1817873"/>
              <a:gd name="connsiteY3" fmla="*/ 993147 h 1382819"/>
              <a:gd name="connsiteX0" fmla="*/ 0 w 2148752"/>
              <a:gd name="connsiteY0" fmla="*/ 861280 h 1382819"/>
              <a:gd name="connsiteX1" fmla="*/ 824333 w 2148752"/>
              <a:gd name="connsiteY1" fmla="*/ 1378418 h 1382819"/>
              <a:gd name="connsiteX2" fmla="*/ 1335841 w 2148752"/>
              <a:gd name="connsiteY2" fmla="*/ 0 h 1382819"/>
              <a:gd name="connsiteX3" fmla="*/ 2148752 w 2148752"/>
              <a:gd name="connsiteY3" fmla="*/ 101897 h 1382819"/>
              <a:gd name="connsiteX0" fmla="*/ 0 w 1911382"/>
              <a:gd name="connsiteY0" fmla="*/ 861280 h 1382819"/>
              <a:gd name="connsiteX1" fmla="*/ 824333 w 1911382"/>
              <a:gd name="connsiteY1" fmla="*/ 1378418 h 1382819"/>
              <a:gd name="connsiteX2" fmla="*/ 1335841 w 1911382"/>
              <a:gd name="connsiteY2" fmla="*/ 0 h 1382819"/>
              <a:gd name="connsiteX3" fmla="*/ 1911382 w 1911382"/>
              <a:gd name="connsiteY3" fmla="*/ 1027872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348 h 1382887"/>
              <a:gd name="connsiteX1" fmla="*/ 824333 w 1846645"/>
              <a:gd name="connsiteY1" fmla="*/ 1378486 h 1382887"/>
              <a:gd name="connsiteX2" fmla="*/ 1335841 w 1846645"/>
              <a:gd name="connsiteY2" fmla="*/ 68 h 1382887"/>
              <a:gd name="connsiteX3" fmla="*/ 1846645 w 1846645"/>
              <a:gd name="connsiteY3" fmla="*/ 1120537 h 1382887"/>
              <a:gd name="connsiteX0" fmla="*/ 0 w 1846645"/>
              <a:gd name="connsiteY0" fmla="*/ 861348 h 1320798"/>
              <a:gd name="connsiteX1" fmla="*/ 673279 w 1846645"/>
              <a:gd name="connsiteY1" fmla="*/ 1309038 h 1320798"/>
              <a:gd name="connsiteX2" fmla="*/ 1335841 w 1846645"/>
              <a:gd name="connsiteY2" fmla="*/ 68 h 1320798"/>
              <a:gd name="connsiteX3" fmla="*/ 1846645 w 1846645"/>
              <a:gd name="connsiteY3" fmla="*/ 1120537 h 1320798"/>
              <a:gd name="connsiteX0" fmla="*/ 0 w 1846645"/>
              <a:gd name="connsiteY0" fmla="*/ 861348 h 1376256"/>
              <a:gd name="connsiteX1" fmla="*/ 673279 w 1846645"/>
              <a:gd name="connsiteY1" fmla="*/ 1309038 h 1376256"/>
              <a:gd name="connsiteX2" fmla="*/ 1343034 w 1846645"/>
              <a:gd name="connsiteY2" fmla="*/ 68 h 1376256"/>
              <a:gd name="connsiteX3" fmla="*/ 1846645 w 1846645"/>
              <a:gd name="connsiteY3" fmla="*/ 1120537 h 1376256"/>
              <a:gd name="connsiteX0" fmla="*/ 0 w 1846645"/>
              <a:gd name="connsiteY0" fmla="*/ 722463 h 1227193"/>
              <a:gd name="connsiteX1" fmla="*/ 673279 w 1846645"/>
              <a:gd name="connsiteY1" fmla="*/ 1170153 h 1227193"/>
              <a:gd name="connsiteX2" fmla="*/ 1343034 w 1846645"/>
              <a:gd name="connsiteY2" fmla="*/ 79 h 1227193"/>
              <a:gd name="connsiteX3" fmla="*/ 1846645 w 1846645"/>
              <a:gd name="connsiteY3" fmla="*/ 981652 h 1227193"/>
              <a:gd name="connsiteX0" fmla="*/ 0 w 1882610"/>
              <a:gd name="connsiteY0" fmla="*/ 722495 h 1227225"/>
              <a:gd name="connsiteX1" fmla="*/ 673279 w 1882610"/>
              <a:gd name="connsiteY1" fmla="*/ 1170185 h 1227225"/>
              <a:gd name="connsiteX2" fmla="*/ 1343034 w 1882610"/>
              <a:gd name="connsiteY2" fmla="*/ 111 h 1227225"/>
              <a:gd name="connsiteX3" fmla="*/ 1882610 w 1882610"/>
              <a:gd name="connsiteY3" fmla="*/ 680742 h 1227225"/>
              <a:gd name="connsiteX0" fmla="*/ 0 w 1882610"/>
              <a:gd name="connsiteY0" fmla="*/ 722495 h 1181945"/>
              <a:gd name="connsiteX1" fmla="*/ 673279 w 1882610"/>
              <a:gd name="connsiteY1" fmla="*/ 1170185 h 1181945"/>
              <a:gd name="connsiteX2" fmla="*/ 1343034 w 1882610"/>
              <a:gd name="connsiteY2" fmla="*/ 111 h 1181945"/>
              <a:gd name="connsiteX3" fmla="*/ 1882610 w 1882610"/>
              <a:gd name="connsiteY3" fmla="*/ 680742 h 1181945"/>
              <a:gd name="connsiteX0" fmla="*/ 0 w 1882610"/>
              <a:gd name="connsiteY0" fmla="*/ 538823 h 1030130"/>
              <a:gd name="connsiteX1" fmla="*/ 673279 w 1882610"/>
              <a:gd name="connsiteY1" fmla="*/ 986513 h 1030130"/>
              <a:gd name="connsiteX2" fmla="*/ 1296610 w 1882610"/>
              <a:gd name="connsiteY2" fmla="*/ 152 h 1030130"/>
              <a:gd name="connsiteX3" fmla="*/ 1882610 w 1882610"/>
              <a:gd name="connsiteY3" fmla="*/ 497070 h 1030130"/>
            </a:gdLst>
            <a:ahLst/>
            <a:cxnLst>
              <a:cxn ang="0">
                <a:pos x="connsiteX0" y="connsiteY0"/>
              </a:cxn>
              <a:cxn ang="0">
                <a:pos x="connsiteX1" y="connsiteY1"/>
              </a:cxn>
              <a:cxn ang="0">
                <a:pos x="connsiteX2" y="connsiteY2"/>
              </a:cxn>
              <a:cxn ang="0">
                <a:pos x="connsiteX3" y="connsiteY3"/>
              </a:cxn>
            </a:cxnLst>
            <a:rect l="l" t="t" r="r" b="b"/>
            <a:pathLst>
              <a:path w="1882610" h="1030130">
                <a:moveTo>
                  <a:pt x="0" y="538823"/>
                </a:moveTo>
                <a:cubicBezTo>
                  <a:pt x="362717" y="1071104"/>
                  <a:pt x="457177" y="1076291"/>
                  <a:pt x="673279" y="986513"/>
                </a:cubicBezTo>
                <a:cubicBezTo>
                  <a:pt x="889381" y="896735"/>
                  <a:pt x="1077739" y="10349"/>
                  <a:pt x="1296610" y="152"/>
                </a:cubicBezTo>
                <a:cubicBezTo>
                  <a:pt x="1580218" y="-10044"/>
                  <a:pt x="1882610" y="497070"/>
                  <a:pt x="1882610" y="497070"/>
                </a:cubicBezTo>
              </a:path>
            </a:pathLst>
          </a:cu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35" name="Freeform 34">
            <a:extLst>
              <a:ext uri="{FF2B5EF4-FFF2-40B4-BE49-F238E27FC236}">
                <a16:creationId xmlns:a16="http://schemas.microsoft.com/office/drawing/2014/main" id="{F427CFCF-5548-D6B5-0501-11B062EC2D7E}"/>
              </a:ext>
            </a:extLst>
          </p:cNvPr>
          <p:cNvSpPr/>
          <p:nvPr/>
        </p:nvSpPr>
        <p:spPr>
          <a:xfrm flipH="1" flipV="1">
            <a:off x="1409686" y="4033768"/>
            <a:ext cx="2495528" cy="738046"/>
          </a:xfrm>
          <a:custGeom>
            <a:avLst/>
            <a:gdLst>
              <a:gd name="connsiteX0" fmla="*/ 0 w 3053443"/>
              <a:gd name="connsiteY0" fmla="*/ 1322615 h 1469717"/>
              <a:gd name="connsiteX1" fmla="*/ 914400 w 3053443"/>
              <a:gd name="connsiteY1" fmla="*/ 97972 h 1469717"/>
              <a:gd name="connsiteX2" fmla="*/ 1796143 w 3053443"/>
              <a:gd name="connsiteY2" fmla="*/ 1469572 h 1469717"/>
              <a:gd name="connsiteX3" fmla="*/ 3053443 w 3053443"/>
              <a:gd name="connsiteY3" fmla="*/ 0 h 1469717"/>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854918 w 2993961"/>
              <a:gd name="connsiteY1" fmla="*/ 97972 h 1485901"/>
              <a:gd name="connsiteX2" fmla="*/ 1736661 w 2993961"/>
              <a:gd name="connsiteY2" fmla="*/ 1469572 h 1485901"/>
              <a:gd name="connsiteX3" fmla="*/ 2993961 w 2993961"/>
              <a:gd name="connsiteY3" fmla="*/ 0 h 1485901"/>
              <a:gd name="connsiteX0" fmla="*/ 0 w 2993961"/>
              <a:gd name="connsiteY0" fmla="*/ 1485901 h 1485901"/>
              <a:gd name="connsiteX1" fmla="*/ 959012 w 2993961"/>
              <a:gd name="connsiteY1" fmla="*/ 81643 h 1485901"/>
              <a:gd name="connsiteX2" fmla="*/ 1736661 w 2993961"/>
              <a:gd name="connsiteY2" fmla="*/ 1469572 h 1485901"/>
              <a:gd name="connsiteX3" fmla="*/ 2993961 w 2993961"/>
              <a:gd name="connsiteY3" fmla="*/ 0 h 1485901"/>
              <a:gd name="connsiteX0" fmla="*/ 0 w 2919608"/>
              <a:gd name="connsiteY0" fmla="*/ 1534887 h 1534887"/>
              <a:gd name="connsiteX1" fmla="*/ 959012 w 2919608"/>
              <a:gd name="connsiteY1" fmla="*/ 130629 h 1534887"/>
              <a:gd name="connsiteX2" fmla="*/ 1736661 w 2919608"/>
              <a:gd name="connsiteY2" fmla="*/ 1518558 h 1534887"/>
              <a:gd name="connsiteX3" fmla="*/ 2919608 w 2919608"/>
              <a:gd name="connsiteY3" fmla="*/ 0 h 1534887"/>
              <a:gd name="connsiteX0" fmla="*/ 0 w 2621504"/>
              <a:gd name="connsiteY0" fmla="*/ 1404262 h 1404262"/>
              <a:gd name="connsiteX1" fmla="*/ 959012 w 2621504"/>
              <a:gd name="connsiteY1" fmla="*/ 4 h 1404262"/>
              <a:gd name="connsiteX2" fmla="*/ 1736661 w 2621504"/>
              <a:gd name="connsiteY2" fmla="*/ 1387933 h 1404262"/>
              <a:gd name="connsiteX3" fmla="*/ 2621504 w 2621504"/>
              <a:gd name="connsiteY3" fmla="*/ 228190 h 1404262"/>
              <a:gd name="connsiteX0" fmla="*/ 0 w 2436474"/>
              <a:gd name="connsiteY0" fmla="*/ 1039766 h 1394086"/>
              <a:gd name="connsiteX1" fmla="*/ 773982 w 2436474"/>
              <a:gd name="connsiteY1" fmla="*/ 5897 h 1394086"/>
              <a:gd name="connsiteX2" fmla="*/ 1551631 w 2436474"/>
              <a:gd name="connsiteY2" fmla="*/ 1393826 h 1394086"/>
              <a:gd name="connsiteX3" fmla="*/ 2436474 w 2436474"/>
              <a:gd name="connsiteY3" fmla="*/ 234083 h 1394086"/>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36893 h 1396898"/>
              <a:gd name="connsiteX0" fmla="*/ 0 w 2458053"/>
              <a:gd name="connsiteY0" fmla="*/ 984702 h 1396898"/>
              <a:gd name="connsiteX1" fmla="*/ 795561 w 2458053"/>
              <a:gd name="connsiteY1" fmla="*/ 8707 h 1396898"/>
              <a:gd name="connsiteX2" fmla="*/ 1573210 w 2458053"/>
              <a:gd name="connsiteY2" fmla="*/ 1396636 h 1396898"/>
              <a:gd name="connsiteX3" fmla="*/ 2458053 w 2458053"/>
              <a:gd name="connsiteY3" fmla="*/ 283192 h 1396898"/>
              <a:gd name="connsiteX0" fmla="*/ 0 w 2458053"/>
              <a:gd name="connsiteY0" fmla="*/ 701510 h 1686980"/>
              <a:gd name="connsiteX1" fmla="*/ 781175 w 2458053"/>
              <a:gd name="connsiteY1" fmla="*/ 1681636 h 1686980"/>
              <a:gd name="connsiteX2" fmla="*/ 1573210 w 2458053"/>
              <a:gd name="connsiteY2" fmla="*/ 1113444 h 1686980"/>
              <a:gd name="connsiteX3" fmla="*/ 2458053 w 2458053"/>
              <a:gd name="connsiteY3" fmla="*/ 0 h 1686980"/>
              <a:gd name="connsiteX0" fmla="*/ 0 w 2458053"/>
              <a:gd name="connsiteY0" fmla="*/ 701510 h 1686980"/>
              <a:gd name="connsiteX1" fmla="*/ 781175 w 2458053"/>
              <a:gd name="connsiteY1" fmla="*/ 1681636 h 1686980"/>
              <a:gd name="connsiteX2" fmla="*/ 1573210 w 2458053"/>
              <a:gd name="connsiteY2" fmla="*/ 1113444 h 1686980"/>
              <a:gd name="connsiteX3" fmla="*/ 2458053 w 2458053"/>
              <a:gd name="connsiteY3" fmla="*/ 0 h 1686980"/>
              <a:gd name="connsiteX0" fmla="*/ 0 w 2458053"/>
              <a:gd name="connsiteY0" fmla="*/ 956153 h 1682509"/>
              <a:gd name="connsiteX1" fmla="*/ 781175 w 2458053"/>
              <a:gd name="connsiteY1" fmla="*/ 1681636 h 1682509"/>
              <a:gd name="connsiteX2" fmla="*/ 1573210 w 2458053"/>
              <a:gd name="connsiteY2" fmla="*/ 1113444 h 1682509"/>
              <a:gd name="connsiteX3" fmla="*/ 2458053 w 2458053"/>
              <a:gd name="connsiteY3" fmla="*/ 0 h 1682509"/>
              <a:gd name="connsiteX0" fmla="*/ 0 w 2458053"/>
              <a:gd name="connsiteY0" fmla="*/ 956153 h 1682509"/>
              <a:gd name="connsiteX1" fmla="*/ 781175 w 2458053"/>
              <a:gd name="connsiteY1" fmla="*/ 1681636 h 1682509"/>
              <a:gd name="connsiteX2" fmla="*/ 1573210 w 2458053"/>
              <a:gd name="connsiteY2" fmla="*/ 1113444 h 1682509"/>
              <a:gd name="connsiteX3" fmla="*/ 2458053 w 2458053"/>
              <a:gd name="connsiteY3" fmla="*/ 0 h 1682509"/>
              <a:gd name="connsiteX0" fmla="*/ 0 w 2458053"/>
              <a:gd name="connsiteY0" fmla="*/ 956153 h 1685363"/>
              <a:gd name="connsiteX1" fmla="*/ 781175 w 2458053"/>
              <a:gd name="connsiteY1" fmla="*/ 1681636 h 1685363"/>
              <a:gd name="connsiteX2" fmla="*/ 1494087 w 2458053"/>
              <a:gd name="connsiteY2" fmla="*/ 1252341 h 1685363"/>
              <a:gd name="connsiteX3" fmla="*/ 2458053 w 2458053"/>
              <a:gd name="connsiteY3" fmla="*/ 0 h 1685363"/>
              <a:gd name="connsiteX0" fmla="*/ 0 w 2458053"/>
              <a:gd name="connsiteY0" fmla="*/ 956153 h 1691593"/>
              <a:gd name="connsiteX1" fmla="*/ 781175 w 2458053"/>
              <a:gd name="connsiteY1" fmla="*/ 1681636 h 1691593"/>
              <a:gd name="connsiteX2" fmla="*/ 1494087 w 2458053"/>
              <a:gd name="connsiteY2" fmla="*/ 1252341 h 1691593"/>
              <a:gd name="connsiteX3" fmla="*/ 2458053 w 2458053"/>
              <a:gd name="connsiteY3" fmla="*/ 0 h 1691593"/>
              <a:gd name="connsiteX0" fmla="*/ 0 w 2458053"/>
              <a:gd name="connsiteY0" fmla="*/ 956153 h 1714832"/>
              <a:gd name="connsiteX1" fmla="*/ 781175 w 2458053"/>
              <a:gd name="connsiteY1" fmla="*/ 1681636 h 1714832"/>
              <a:gd name="connsiteX2" fmla="*/ 1335841 w 2458053"/>
              <a:gd name="connsiteY2" fmla="*/ 94873 h 1714832"/>
              <a:gd name="connsiteX3" fmla="*/ 2458053 w 2458053"/>
              <a:gd name="connsiteY3" fmla="*/ 0 h 1714832"/>
              <a:gd name="connsiteX0" fmla="*/ 0 w 2458053"/>
              <a:gd name="connsiteY0" fmla="*/ 956153 h 1527900"/>
              <a:gd name="connsiteX1" fmla="*/ 824333 w 2458053"/>
              <a:gd name="connsiteY1" fmla="*/ 1473291 h 1527900"/>
              <a:gd name="connsiteX2" fmla="*/ 1335841 w 2458053"/>
              <a:gd name="connsiteY2" fmla="*/ 94873 h 1527900"/>
              <a:gd name="connsiteX3" fmla="*/ 2458053 w 2458053"/>
              <a:gd name="connsiteY3" fmla="*/ 0 h 1527900"/>
              <a:gd name="connsiteX0" fmla="*/ 0 w 2458053"/>
              <a:gd name="connsiteY0" fmla="*/ 956153 h 1477692"/>
              <a:gd name="connsiteX1" fmla="*/ 824333 w 2458053"/>
              <a:gd name="connsiteY1" fmla="*/ 1473291 h 1477692"/>
              <a:gd name="connsiteX2" fmla="*/ 1335841 w 2458053"/>
              <a:gd name="connsiteY2" fmla="*/ 94873 h 1477692"/>
              <a:gd name="connsiteX3" fmla="*/ 2458053 w 2458053"/>
              <a:gd name="connsiteY3" fmla="*/ 0 h 1477692"/>
              <a:gd name="connsiteX0" fmla="*/ 0 w 1817873"/>
              <a:gd name="connsiteY0" fmla="*/ 861626 h 1383165"/>
              <a:gd name="connsiteX1" fmla="*/ 824333 w 1817873"/>
              <a:gd name="connsiteY1" fmla="*/ 1378764 h 1383165"/>
              <a:gd name="connsiteX2" fmla="*/ 1335841 w 1817873"/>
              <a:gd name="connsiteY2" fmla="*/ 346 h 1383165"/>
              <a:gd name="connsiteX3" fmla="*/ 1817873 w 1817873"/>
              <a:gd name="connsiteY3" fmla="*/ 993493 h 1383165"/>
              <a:gd name="connsiteX0" fmla="*/ 0 w 1817873"/>
              <a:gd name="connsiteY0" fmla="*/ 861626 h 1383165"/>
              <a:gd name="connsiteX1" fmla="*/ 824333 w 1817873"/>
              <a:gd name="connsiteY1" fmla="*/ 1378764 h 1383165"/>
              <a:gd name="connsiteX2" fmla="*/ 1335841 w 1817873"/>
              <a:gd name="connsiteY2" fmla="*/ 346 h 1383165"/>
              <a:gd name="connsiteX3" fmla="*/ 1817873 w 1817873"/>
              <a:gd name="connsiteY3" fmla="*/ 993493 h 1383165"/>
              <a:gd name="connsiteX0" fmla="*/ 0 w 1817873"/>
              <a:gd name="connsiteY0" fmla="*/ 861280 h 1382819"/>
              <a:gd name="connsiteX1" fmla="*/ 824333 w 1817873"/>
              <a:gd name="connsiteY1" fmla="*/ 1378418 h 1382819"/>
              <a:gd name="connsiteX2" fmla="*/ 1335841 w 1817873"/>
              <a:gd name="connsiteY2" fmla="*/ 0 h 1382819"/>
              <a:gd name="connsiteX3" fmla="*/ 1817873 w 1817873"/>
              <a:gd name="connsiteY3" fmla="*/ 993147 h 1382819"/>
              <a:gd name="connsiteX0" fmla="*/ 0 w 2148752"/>
              <a:gd name="connsiteY0" fmla="*/ 861280 h 1382819"/>
              <a:gd name="connsiteX1" fmla="*/ 824333 w 2148752"/>
              <a:gd name="connsiteY1" fmla="*/ 1378418 h 1382819"/>
              <a:gd name="connsiteX2" fmla="*/ 1335841 w 2148752"/>
              <a:gd name="connsiteY2" fmla="*/ 0 h 1382819"/>
              <a:gd name="connsiteX3" fmla="*/ 2148752 w 2148752"/>
              <a:gd name="connsiteY3" fmla="*/ 101897 h 1382819"/>
              <a:gd name="connsiteX0" fmla="*/ 0 w 1911382"/>
              <a:gd name="connsiteY0" fmla="*/ 861280 h 1382819"/>
              <a:gd name="connsiteX1" fmla="*/ 824333 w 1911382"/>
              <a:gd name="connsiteY1" fmla="*/ 1378418 h 1382819"/>
              <a:gd name="connsiteX2" fmla="*/ 1335841 w 1911382"/>
              <a:gd name="connsiteY2" fmla="*/ 0 h 1382819"/>
              <a:gd name="connsiteX3" fmla="*/ 1911382 w 1911382"/>
              <a:gd name="connsiteY3" fmla="*/ 1027872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280 h 1382819"/>
              <a:gd name="connsiteX1" fmla="*/ 824333 w 1846645"/>
              <a:gd name="connsiteY1" fmla="*/ 1378418 h 1382819"/>
              <a:gd name="connsiteX2" fmla="*/ 1335841 w 1846645"/>
              <a:gd name="connsiteY2" fmla="*/ 0 h 1382819"/>
              <a:gd name="connsiteX3" fmla="*/ 1846645 w 1846645"/>
              <a:gd name="connsiteY3" fmla="*/ 1120469 h 1382819"/>
              <a:gd name="connsiteX0" fmla="*/ 0 w 1846645"/>
              <a:gd name="connsiteY0" fmla="*/ 861348 h 1382887"/>
              <a:gd name="connsiteX1" fmla="*/ 824333 w 1846645"/>
              <a:gd name="connsiteY1" fmla="*/ 1378486 h 1382887"/>
              <a:gd name="connsiteX2" fmla="*/ 1335841 w 1846645"/>
              <a:gd name="connsiteY2" fmla="*/ 68 h 1382887"/>
              <a:gd name="connsiteX3" fmla="*/ 1846645 w 1846645"/>
              <a:gd name="connsiteY3" fmla="*/ 1120537 h 1382887"/>
              <a:gd name="connsiteX0" fmla="*/ 0 w 1846645"/>
              <a:gd name="connsiteY0" fmla="*/ 861348 h 1320798"/>
              <a:gd name="connsiteX1" fmla="*/ 673279 w 1846645"/>
              <a:gd name="connsiteY1" fmla="*/ 1309038 h 1320798"/>
              <a:gd name="connsiteX2" fmla="*/ 1335841 w 1846645"/>
              <a:gd name="connsiteY2" fmla="*/ 68 h 1320798"/>
              <a:gd name="connsiteX3" fmla="*/ 1846645 w 1846645"/>
              <a:gd name="connsiteY3" fmla="*/ 1120537 h 1320798"/>
              <a:gd name="connsiteX0" fmla="*/ 0 w 1846645"/>
              <a:gd name="connsiteY0" fmla="*/ 861348 h 1376256"/>
              <a:gd name="connsiteX1" fmla="*/ 673279 w 1846645"/>
              <a:gd name="connsiteY1" fmla="*/ 1309038 h 1376256"/>
              <a:gd name="connsiteX2" fmla="*/ 1343034 w 1846645"/>
              <a:gd name="connsiteY2" fmla="*/ 68 h 1376256"/>
              <a:gd name="connsiteX3" fmla="*/ 1846645 w 1846645"/>
              <a:gd name="connsiteY3" fmla="*/ 1120537 h 1376256"/>
              <a:gd name="connsiteX0" fmla="*/ 0 w 1846645"/>
              <a:gd name="connsiteY0" fmla="*/ 722463 h 1227193"/>
              <a:gd name="connsiteX1" fmla="*/ 673279 w 1846645"/>
              <a:gd name="connsiteY1" fmla="*/ 1170153 h 1227193"/>
              <a:gd name="connsiteX2" fmla="*/ 1343034 w 1846645"/>
              <a:gd name="connsiteY2" fmla="*/ 79 h 1227193"/>
              <a:gd name="connsiteX3" fmla="*/ 1846645 w 1846645"/>
              <a:gd name="connsiteY3" fmla="*/ 981652 h 1227193"/>
              <a:gd name="connsiteX0" fmla="*/ 0 w 1882610"/>
              <a:gd name="connsiteY0" fmla="*/ 722495 h 1227225"/>
              <a:gd name="connsiteX1" fmla="*/ 673279 w 1882610"/>
              <a:gd name="connsiteY1" fmla="*/ 1170185 h 1227225"/>
              <a:gd name="connsiteX2" fmla="*/ 1343034 w 1882610"/>
              <a:gd name="connsiteY2" fmla="*/ 111 h 1227225"/>
              <a:gd name="connsiteX3" fmla="*/ 1882610 w 1882610"/>
              <a:gd name="connsiteY3" fmla="*/ 680742 h 1227225"/>
              <a:gd name="connsiteX0" fmla="*/ 0 w 1882610"/>
              <a:gd name="connsiteY0" fmla="*/ 722495 h 1181945"/>
              <a:gd name="connsiteX1" fmla="*/ 673279 w 1882610"/>
              <a:gd name="connsiteY1" fmla="*/ 1170185 h 1181945"/>
              <a:gd name="connsiteX2" fmla="*/ 1343034 w 1882610"/>
              <a:gd name="connsiteY2" fmla="*/ 111 h 1181945"/>
              <a:gd name="connsiteX3" fmla="*/ 1882610 w 1882610"/>
              <a:gd name="connsiteY3" fmla="*/ 680742 h 1181945"/>
              <a:gd name="connsiteX0" fmla="*/ 0 w 1882610"/>
              <a:gd name="connsiteY0" fmla="*/ 41753 h 497279"/>
              <a:gd name="connsiteX1" fmla="*/ 673279 w 1882610"/>
              <a:gd name="connsiteY1" fmla="*/ 489443 h 497279"/>
              <a:gd name="connsiteX2" fmla="*/ 1882610 w 1882610"/>
              <a:gd name="connsiteY2" fmla="*/ 0 h 497279"/>
              <a:gd name="connsiteX0" fmla="*/ 0 w 1760329"/>
              <a:gd name="connsiteY0" fmla="*/ 0 h 608771"/>
              <a:gd name="connsiteX1" fmla="*/ 673279 w 1760329"/>
              <a:gd name="connsiteY1" fmla="*/ 447690 h 608771"/>
              <a:gd name="connsiteX2" fmla="*/ 1760329 w 1760329"/>
              <a:gd name="connsiteY2" fmla="*/ 571706 h 608771"/>
              <a:gd name="connsiteX0" fmla="*/ 0 w 1760329"/>
              <a:gd name="connsiteY0" fmla="*/ 0 h 571706"/>
              <a:gd name="connsiteX1" fmla="*/ 673279 w 1760329"/>
              <a:gd name="connsiteY1" fmla="*/ 447690 h 571706"/>
              <a:gd name="connsiteX2" fmla="*/ 1760329 w 1760329"/>
              <a:gd name="connsiteY2" fmla="*/ 571706 h 571706"/>
              <a:gd name="connsiteX0" fmla="*/ 0 w 1760329"/>
              <a:gd name="connsiteY0" fmla="*/ 0 h 571706"/>
              <a:gd name="connsiteX1" fmla="*/ 673279 w 1760329"/>
              <a:gd name="connsiteY1" fmla="*/ 447690 h 571706"/>
              <a:gd name="connsiteX2" fmla="*/ 1760329 w 1760329"/>
              <a:gd name="connsiteY2" fmla="*/ 571706 h 571706"/>
            </a:gdLst>
            <a:ahLst/>
            <a:cxnLst>
              <a:cxn ang="0">
                <a:pos x="connsiteX0" y="connsiteY0"/>
              </a:cxn>
              <a:cxn ang="0">
                <a:pos x="connsiteX1" y="connsiteY1"/>
              </a:cxn>
              <a:cxn ang="0">
                <a:pos x="connsiteX2" y="connsiteY2"/>
              </a:cxn>
            </a:cxnLst>
            <a:rect l="l" t="t" r="r" b="b"/>
            <a:pathLst>
              <a:path w="1760329" h="571706">
                <a:moveTo>
                  <a:pt x="0" y="0"/>
                </a:moveTo>
                <a:cubicBezTo>
                  <a:pt x="333944" y="312362"/>
                  <a:pt x="379891" y="352406"/>
                  <a:pt x="673279" y="447690"/>
                </a:cubicBezTo>
                <a:cubicBezTo>
                  <a:pt x="966667" y="542974"/>
                  <a:pt x="1508385" y="534777"/>
                  <a:pt x="1760329" y="571706"/>
                </a:cubicBezTo>
              </a:path>
            </a:pathLst>
          </a:cu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nvGrpSpPr>
          <p:cNvPr id="39" name="Group 38">
            <a:extLst>
              <a:ext uri="{FF2B5EF4-FFF2-40B4-BE49-F238E27FC236}">
                <a16:creationId xmlns:a16="http://schemas.microsoft.com/office/drawing/2014/main" id="{D442BFFE-7DE4-418F-F558-359B4A4F0162}"/>
              </a:ext>
            </a:extLst>
          </p:cNvPr>
          <p:cNvGrpSpPr/>
          <p:nvPr/>
        </p:nvGrpSpPr>
        <p:grpSpPr>
          <a:xfrm>
            <a:off x="1741164" y="4259505"/>
            <a:ext cx="6219658" cy="1810773"/>
            <a:chOff x="1741164" y="4259505"/>
            <a:chExt cx="6219658" cy="1810773"/>
          </a:xfrm>
        </p:grpSpPr>
        <p:sp>
          <p:nvSpPr>
            <p:cNvPr id="4" name="Oval 3">
              <a:extLst>
                <a:ext uri="{FF2B5EF4-FFF2-40B4-BE49-F238E27FC236}">
                  <a16:creationId xmlns:a16="http://schemas.microsoft.com/office/drawing/2014/main" id="{92025D1A-B8BA-B861-8DED-90EA2AA4B4B0}"/>
                </a:ext>
              </a:extLst>
            </p:cNvPr>
            <p:cNvSpPr/>
            <p:nvPr/>
          </p:nvSpPr>
          <p:spPr>
            <a:xfrm>
              <a:off x="6365781" y="4584547"/>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18" name="Oval 17">
              <a:extLst>
                <a:ext uri="{FF2B5EF4-FFF2-40B4-BE49-F238E27FC236}">
                  <a16:creationId xmlns:a16="http://schemas.microsoft.com/office/drawing/2014/main" id="{5F3C9EF2-B983-612B-33B1-E71626F613B4}"/>
                </a:ext>
              </a:extLst>
            </p:cNvPr>
            <p:cNvSpPr/>
            <p:nvPr/>
          </p:nvSpPr>
          <p:spPr>
            <a:xfrm>
              <a:off x="5653284" y="5348539"/>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20" name="Oval 19">
              <a:extLst>
                <a:ext uri="{FF2B5EF4-FFF2-40B4-BE49-F238E27FC236}">
                  <a16:creationId xmlns:a16="http://schemas.microsoft.com/office/drawing/2014/main" id="{604411E1-310A-F687-A2DD-84202CA7AE34}"/>
                </a:ext>
              </a:extLst>
            </p:cNvPr>
            <p:cNvSpPr/>
            <p:nvPr/>
          </p:nvSpPr>
          <p:spPr>
            <a:xfrm>
              <a:off x="4936238" y="5656120"/>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26" name="Oval 25">
              <a:extLst>
                <a:ext uri="{FF2B5EF4-FFF2-40B4-BE49-F238E27FC236}">
                  <a16:creationId xmlns:a16="http://schemas.microsoft.com/office/drawing/2014/main" id="{5F5BDDC6-47A8-AF5E-5D25-CE86E0DB14CE}"/>
                </a:ext>
              </a:extLst>
            </p:cNvPr>
            <p:cNvSpPr/>
            <p:nvPr/>
          </p:nvSpPr>
          <p:spPr>
            <a:xfrm>
              <a:off x="7276935" y="4479287"/>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27" name="Oval 26">
              <a:extLst>
                <a:ext uri="{FF2B5EF4-FFF2-40B4-BE49-F238E27FC236}">
                  <a16:creationId xmlns:a16="http://schemas.microsoft.com/office/drawing/2014/main" id="{E70A43B3-75A3-E606-9CBC-07B5914DCF0A}"/>
                </a:ext>
              </a:extLst>
            </p:cNvPr>
            <p:cNvSpPr/>
            <p:nvPr/>
          </p:nvSpPr>
          <p:spPr>
            <a:xfrm>
              <a:off x="6673743" y="4259505"/>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28" name="Oval 27">
              <a:extLst>
                <a:ext uri="{FF2B5EF4-FFF2-40B4-BE49-F238E27FC236}">
                  <a16:creationId xmlns:a16="http://schemas.microsoft.com/office/drawing/2014/main" id="{664762A6-DCF6-0A08-BAC0-CBB1F038AFFE}"/>
                </a:ext>
              </a:extLst>
            </p:cNvPr>
            <p:cNvSpPr/>
            <p:nvPr/>
          </p:nvSpPr>
          <p:spPr>
            <a:xfrm>
              <a:off x="4331611" y="5146830"/>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29" name="Oval 28">
              <a:extLst>
                <a:ext uri="{FF2B5EF4-FFF2-40B4-BE49-F238E27FC236}">
                  <a16:creationId xmlns:a16="http://schemas.microsoft.com/office/drawing/2014/main" id="{9EAD9EFB-5056-78DC-741B-58A69177BDD7}"/>
                </a:ext>
              </a:extLst>
            </p:cNvPr>
            <p:cNvSpPr/>
            <p:nvPr/>
          </p:nvSpPr>
          <p:spPr>
            <a:xfrm>
              <a:off x="5559073" y="5723679"/>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32" name="Oval 31">
              <a:extLst>
                <a:ext uri="{FF2B5EF4-FFF2-40B4-BE49-F238E27FC236}">
                  <a16:creationId xmlns:a16="http://schemas.microsoft.com/office/drawing/2014/main" id="{E29ADDF0-C44C-C993-996D-6C200D3B1ECD}"/>
                </a:ext>
              </a:extLst>
            </p:cNvPr>
            <p:cNvSpPr/>
            <p:nvPr/>
          </p:nvSpPr>
          <p:spPr>
            <a:xfrm>
              <a:off x="1741164" y="4457633"/>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33" name="Oval 32">
              <a:extLst>
                <a:ext uri="{FF2B5EF4-FFF2-40B4-BE49-F238E27FC236}">
                  <a16:creationId xmlns:a16="http://schemas.microsoft.com/office/drawing/2014/main" id="{E3E6D630-1055-2BDC-07ED-7D9D5E9DE172}"/>
                </a:ext>
              </a:extLst>
            </p:cNvPr>
            <p:cNvSpPr/>
            <p:nvPr/>
          </p:nvSpPr>
          <p:spPr>
            <a:xfrm>
              <a:off x="2390280" y="4526100"/>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19" name="Oval 18">
              <a:extLst>
                <a:ext uri="{FF2B5EF4-FFF2-40B4-BE49-F238E27FC236}">
                  <a16:creationId xmlns:a16="http://schemas.microsoft.com/office/drawing/2014/main" id="{E0A8C78E-A6AE-70D0-35C7-7D350FC174E6}"/>
                </a:ext>
              </a:extLst>
            </p:cNvPr>
            <p:cNvSpPr/>
            <p:nvPr/>
          </p:nvSpPr>
          <p:spPr>
            <a:xfrm>
              <a:off x="4060931" y="4910056"/>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3" name="Oval 12">
              <a:extLst>
                <a:ext uri="{FF2B5EF4-FFF2-40B4-BE49-F238E27FC236}">
                  <a16:creationId xmlns:a16="http://schemas.microsoft.com/office/drawing/2014/main" id="{3851ADC7-7861-5005-AB27-8169FA85A985}"/>
                </a:ext>
              </a:extLst>
            </p:cNvPr>
            <p:cNvSpPr/>
            <p:nvPr/>
          </p:nvSpPr>
          <p:spPr>
            <a:xfrm>
              <a:off x="4572000" y="5410800"/>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4" name="Oval 13">
              <a:extLst>
                <a:ext uri="{FF2B5EF4-FFF2-40B4-BE49-F238E27FC236}">
                  <a16:creationId xmlns:a16="http://schemas.microsoft.com/office/drawing/2014/main" id="{FDBECEEF-4AE4-2844-192F-7B1E0BB84894}"/>
                </a:ext>
              </a:extLst>
            </p:cNvPr>
            <p:cNvSpPr/>
            <p:nvPr/>
          </p:nvSpPr>
          <p:spPr>
            <a:xfrm>
              <a:off x="6019800" y="5128167"/>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Book" panose="02000503020000020003" pitchFamily="2" charset="0"/>
              </a:endParaRPr>
            </a:p>
          </p:txBody>
        </p:sp>
        <p:sp>
          <p:nvSpPr>
            <p:cNvPr id="15" name="Oval 14">
              <a:extLst>
                <a:ext uri="{FF2B5EF4-FFF2-40B4-BE49-F238E27FC236}">
                  <a16:creationId xmlns:a16="http://schemas.microsoft.com/office/drawing/2014/main" id="{5E6CC39A-B2DA-FA4C-C738-F76FD0E4B066}"/>
                </a:ext>
              </a:extLst>
            </p:cNvPr>
            <p:cNvSpPr/>
            <p:nvPr/>
          </p:nvSpPr>
          <p:spPr>
            <a:xfrm>
              <a:off x="7772400" y="4512316"/>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6" name="Oval 15">
              <a:extLst>
                <a:ext uri="{FF2B5EF4-FFF2-40B4-BE49-F238E27FC236}">
                  <a16:creationId xmlns:a16="http://schemas.microsoft.com/office/drawing/2014/main" id="{F3BB0711-B9D1-A421-3AC4-6B8DA381A032}"/>
                </a:ext>
              </a:extLst>
            </p:cNvPr>
            <p:cNvSpPr/>
            <p:nvPr/>
          </p:nvSpPr>
          <p:spPr>
            <a:xfrm>
              <a:off x="5334000" y="5881856"/>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17" name="Oval 16">
              <a:extLst>
                <a:ext uri="{FF2B5EF4-FFF2-40B4-BE49-F238E27FC236}">
                  <a16:creationId xmlns:a16="http://schemas.microsoft.com/office/drawing/2014/main" id="{C95C9F1C-CCE9-C5D8-CEDC-2E1530EC824C}"/>
                </a:ext>
              </a:extLst>
            </p:cNvPr>
            <p:cNvSpPr/>
            <p:nvPr/>
          </p:nvSpPr>
          <p:spPr>
            <a:xfrm>
              <a:off x="6977184" y="4285974"/>
              <a:ext cx="188422" cy="188422"/>
            </a:xfrm>
            <a:prstGeom prst="ellipse">
              <a:avLst/>
            </a:prstGeom>
            <a:solidFill>
              <a:srgbClr val="FA8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spTree>
    <p:extLst>
      <p:ext uri="{BB962C8B-B14F-4D97-AF65-F5344CB8AC3E}">
        <p14:creationId xmlns:p14="http://schemas.microsoft.com/office/powerpoint/2010/main" val="87971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10"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500"/>
                                        <p:tgtEl>
                                          <p:spTgt spid="3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24"/>
                                        </p:tgtEl>
                                      </p:cBhvr>
                                    </p:animEffect>
                                    <p:set>
                                      <p:cBhvr>
                                        <p:cTn id="48" dur="1" fill="hold">
                                          <p:stCondLst>
                                            <p:cond delay="499"/>
                                          </p:stCondLst>
                                        </p:cTn>
                                        <p:tgtEl>
                                          <p:spTgt spid="24"/>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34"/>
                                        </p:tgtEl>
                                      </p:cBhvr>
                                    </p:animEffect>
                                    <p:set>
                                      <p:cBhvr>
                                        <p:cTn id="51" dur="1" fill="hold">
                                          <p:stCondLst>
                                            <p:cond delay="499"/>
                                          </p:stCondLst>
                                        </p:cTn>
                                        <p:tgtEl>
                                          <p:spTgt spid="34"/>
                                        </p:tgtEl>
                                        <p:attrNameLst>
                                          <p:attrName>style.visibility</p:attrName>
                                        </p:attrNameLst>
                                      </p:cBhvr>
                                      <p:to>
                                        <p:strVal val="hidden"/>
                                      </p:to>
                                    </p:se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1" grpId="0"/>
      <p:bldP spid="22" grpId="0" animBg="1"/>
      <p:bldP spid="23" grpId="0"/>
      <p:bldP spid="24" grpId="0" animBg="1"/>
      <p:bldP spid="24" grpId="1" animBg="1"/>
      <p:bldP spid="25" grpId="0" animBg="1"/>
      <p:bldP spid="31" grpId="0"/>
      <p:bldP spid="34" grpId="0" animBg="1"/>
      <p:bldP spid="34" grpId="1" animBg="1"/>
      <p:bldP spid="3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0DB0-AFAC-A22A-22BE-62CCDF5F77E4}"/>
              </a:ext>
            </a:extLst>
          </p:cNvPr>
          <p:cNvSpPr>
            <a:spLocks noGrp="1"/>
          </p:cNvSpPr>
          <p:nvPr>
            <p:ph type="title"/>
          </p:nvPr>
        </p:nvSpPr>
        <p:spPr/>
        <p:txBody>
          <a:bodyPr>
            <a:normAutofit fontScale="90000"/>
          </a:bodyPr>
          <a:lstStyle/>
          <a:p>
            <a:r>
              <a:rPr lang="en-US" dirty="0"/>
              <a:t>Overfitting:</a:t>
            </a:r>
            <a:br>
              <a:rPr lang="en-US" dirty="0"/>
            </a:br>
            <a:r>
              <a:rPr lang="en-US" dirty="0"/>
              <a:t>Too Many Features</a:t>
            </a:r>
          </a:p>
        </p:txBody>
      </p:sp>
      <p:grpSp>
        <p:nvGrpSpPr>
          <p:cNvPr id="6" name="Group 5">
            <a:extLst>
              <a:ext uri="{FF2B5EF4-FFF2-40B4-BE49-F238E27FC236}">
                <a16:creationId xmlns:a16="http://schemas.microsoft.com/office/drawing/2014/main" id="{FD419D5C-7E54-01DD-713D-B8F7684871AB}"/>
              </a:ext>
            </a:extLst>
          </p:cNvPr>
          <p:cNvGrpSpPr/>
          <p:nvPr/>
        </p:nvGrpSpPr>
        <p:grpSpPr>
          <a:xfrm>
            <a:off x="2057400" y="1436902"/>
            <a:ext cx="1983169" cy="2158260"/>
            <a:chOff x="1198061" y="2486769"/>
            <a:chExt cx="1983169" cy="3552366"/>
          </a:xfrm>
        </p:grpSpPr>
        <p:cxnSp>
          <p:nvCxnSpPr>
            <p:cNvPr id="7" name="Straight Connector 6">
              <a:extLst>
                <a:ext uri="{FF2B5EF4-FFF2-40B4-BE49-F238E27FC236}">
                  <a16:creationId xmlns:a16="http://schemas.microsoft.com/office/drawing/2014/main" id="{F79ADC27-149F-8F65-65C3-2A7FA00FA542}"/>
                </a:ext>
              </a:extLst>
            </p:cNvPr>
            <p:cNvCxnSpPr/>
            <p:nvPr/>
          </p:nvCxnSpPr>
          <p:spPr>
            <a:xfrm>
              <a:off x="2975649" y="2823597"/>
              <a:ext cx="0" cy="29000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7D605F1-3E83-7DD3-7A92-0CA603103F0B}"/>
                </a:ext>
              </a:extLst>
            </p:cNvPr>
            <p:cNvSpPr txBox="1"/>
            <p:nvPr/>
          </p:nvSpPr>
          <p:spPr>
            <a:xfrm rot="16200000">
              <a:off x="-347289" y="4032119"/>
              <a:ext cx="3552366" cy="461665"/>
            </a:xfrm>
            <a:prstGeom prst="rect">
              <a:avLst/>
            </a:prstGeom>
            <a:noFill/>
          </p:spPr>
          <p:txBody>
            <a:bodyPr wrap="square" rtlCol="0">
              <a:spAutoFit/>
            </a:bodyPr>
            <a:lstStyle/>
            <a:p>
              <a:pPr algn="ctr"/>
              <a:r>
                <a:rPr lang="en-US" sz="2400" dirty="0">
                  <a:latin typeface="Avenir Book" panose="02000503020000020003" pitchFamily="2" charset="0"/>
                  <a:ea typeface="Avenir Book" charset="0"/>
                  <a:cs typeface="Avenir Book" charset="0"/>
                </a:rPr>
                <a:t>Cough status</a:t>
              </a:r>
            </a:p>
          </p:txBody>
        </p:sp>
        <p:cxnSp>
          <p:nvCxnSpPr>
            <p:cNvPr id="9" name="Straight Connector 8">
              <a:extLst>
                <a:ext uri="{FF2B5EF4-FFF2-40B4-BE49-F238E27FC236}">
                  <a16:creationId xmlns:a16="http://schemas.microsoft.com/office/drawing/2014/main" id="{E0134B8F-F10E-9807-0143-4FB97A081CB9}"/>
                </a:ext>
              </a:extLst>
            </p:cNvPr>
            <p:cNvCxnSpPr/>
            <p:nvPr/>
          </p:nvCxnSpPr>
          <p:spPr>
            <a:xfrm rot="5400000">
              <a:off x="3078439" y="456729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496D2A7-0085-FAD8-8DB7-5CD9FD7525B3}"/>
                </a:ext>
              </a:extLst>
            </p:cNvPr>
            <p:cNvCxnSpPr/>
            <p:nvPr/>
          </p:nvCxnSpPr>
          <p:spPr>
            <a:xfrm rot="5400000">
              <a:off x="3078440" y="331936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9D407F9-02CA-A1C0-E2D1-F6368F13EB8C}"/>
                </a:ext>
              </a:extLst>
            </p:cNvPr>
            <p:cNvSpPr txBox="1"/>
            <p:nvPr/>
          </p:nvSpPr>
          <p:spPr>
            <a:xfrm>
              <a:off x="1640203" y="4476690"/>
              <a:ext cx="1312118"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Normal</a:t>
              </a:r>
            </a:p>
          </p:txBody>
        </p:sp>
        <p:sp>
          <p:nvSpPr>
            <p:cNvPr id="12" name="TextBox 11">
              <a:extLst>
                <a:ext uri="{FF2B5EF4-FFF2-40B4-BE49-F238E27FC236}">
                  <a16:creationId xmlns:a16="http://schemas.microsoft.com/office/drawing/2014/main" id="{344D5F50-ABD7-D2FB-058F-9952B144FA86}"/>
                </a:ext>
              </a:extLst>
            </p:cNvPr>
            <p:cNvSpPr txBox="1"/>
            <p:nvPr/>
          </p:nvSpPr>
          <p:spPr>
            <a:xfrm>
              <a:off x="1486313" y="3230288"/>
              <a:ext cx="149543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Worsening</a:t>
              </a:r>
            </a:p>
          </p:txBody>
        </p:sp>
      </p:grpSp>
      <p:grpSp>
        <p:nvGrpSpPr>
          <p:cNvPr id="13" name="Group 12">
            <a:extLst>
              <a:ext uri="{FF2B5EF4-FFF2-40B4-BE49-F238E27FC236}">
                <a16:creationId xmlns:a16="http://schemas.microsoft.com/office/drawing/2014/main" id="{7B02AED0-A53D-7563-BD60-374918F5B29C}"/>
              </a:ext>
            </a:extLst>
          </p:cNvPr>
          <p:cNvGrpSpPr/>
          <p:nvPr/>
        </p:nvGrpSpPr>
        <p:grpSpPr>
          <a:xfrm>
            <a:off x="3834987" y="3181493"/>
            <a:ext cx="4867998" cy="1101108"/>
            <a:chOff x="2975648" y="5501641"/>
            <a:chExt cx="6916024" cy="1101108"/>
          </a:xfrm>
        </p:grpSpPr>
        <p:sp>
          <p:nvSpPr>
            <p:cNvPr id="14" name="TextBox 13">
              <a:extLst>
                <a:ext uri="{FF2B5EF4-FFF2-40B4-BE49-F238E27FC236}">
                  <a16:creationId xmlns:a16="http://schemas.microsoft.com/office/drawing/2014/main" id="{E6572FB1-E3F6-CE2E-5DCE-E6F582CF476E}"/>
                </a:ext>
              </a:extLst>
            </p:cNvPr>
            <p:cNvSpPr txBox="1"/>
            <p:nvPr/>
          </p:nvSpPr>
          <p:spPr>
            <a:xfrm>
              <a:off x="8528097"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100%</a:t>
              </a:r>
            </a:p>
          </p:txBody>
        </p:sp>
        <p:cxnSp>
          <p:nvCxnSpPr>
            <p:cNvPr id="15" name="Straight Connector 14">
              <a:extLst>
                <a:ext uri="{FF2B5EF4-FFF2-40B4-BE49-F238E27FC236}">
                  <a16:creationId xmlns:a16="http://schemas.microsoft.com/office/drawing/2014/main" id="{DB6B5080-D5AC-7E22-6EBF-F83D4A57E549}"/>
                </a:ext>
              </a:extLst>
            </p:cNvPr>
            <p:cNvCxnSpPr>
              <a:cxnSpLocks/>
            </p:cNvCxnSpPr>
            <p:nvPr/>
          </p:nvCxnSpPr>
          <p:spPr>
            <a:xfrm flipH="1">
              <a:off x="2979614" y="5722720"/>
              <a:ext cx="62405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8A8F675-92F5-4D64-4DBA-AD724211831F}"/>
                </a:ext>
              </a:extLst>
            </p:cNvPr>
            <p:cNvSpPr txBox="1"/>
            <p:nvPr/>
          </p:nvSpPr>
          <p:spPr>
            <a:xfrm>
              <a:off x="2975648" y="6202639"/>
              <a:ext cx="6244552"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SpO</a:t>
              </a:r>
              <a:r>
                <a:rPr lang="en-US" sz="2000" baseline="-25000" dirty="0">
                  <a:latin typeface="Avenir Book" panose="02000503020000020003" pitchFamily="2" charset="0"/>
                  <a:ea typeface="Avenir Book" charset="0"/>
                  <a:cs typeface="Avenir Book" charset="0"/>
                </a:rPr>
                <a:t>2</a:t>
              </a:r>
              <a:r>
                <a:rPr lang="en-US" sz="2000" dirty="0">
                  <a:latin typeface="Avenir Book" panose="02000503020000020003" pitchFamily="2" charset="0"/>
                  <a:ea typeface="Avenir Book" charset="0"/>
                  <a:cs typeface="Avenir Book" charset="0"/>
                </a:rPr>
                <a:t> (%)</a:t>
              </a:r>
            </a:p>
          </p:txBody>
        </p:sp>
        <p:cxnSp>
          <p:nvCxnSpPr>
            <p:cNvPr id="17" name="Straight Connector 16">
              <a:extLst>
                <a:ext uri="{FF2B5EF4-FFF2-40B4-BE49-F238E27FC236}">
                  <a16:creationId xmlns:a16="http://schemas.microsoft.com/office/drawing/2014/main" id="{676FA8FA-1DD8-BF4A-75DF-468EA08B97B3}"/>
                </a:ext>
              </a:extLst>
            </p:cNvPr>
            <p:cNvCxnSpPr/>
            <p:nvPr/>
          </p:nvCxnSpPr>
          <p:spPr>
            <a:xfrm>
              <a:off x="4608614" y="5501641"/>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1E8B0F0-1D1B-37A9-E6FA-438394443945}"/>
                </a:ext>
              </a:extLst>
            </p:cNvPr>
            <p:cNvCxnSpPr/>
            <p:nvPr/>
          </p:nvCxnSpPr>
          <p:spPr>
            <a:xfrm>
              <a:off x="6252962" y="550680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C1B352B-B7E6-48BF-8345-51965747621B}"/>
                </a:ext>
              </a:extLst>
            </p:cNvPr>
            <p:cNvCxnSpPr/>
            <p:nvPr/>
          </p:nvCxnSpPr>
          <p:spPr>
            <a:xfrm>
              <a:off x="7786013" y="5504453"/>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DCD3B2D-E670-1F26-8510-5906A23FEAEA}"/>
                </a:ext>
              </a:extLst>
            </p:cNvPr>
            <p:cNvCxnSpPr/>
            <p:nvPr/>
          </p:nvCxnSpPr>
          <p:spPr>
            <a:xfrm>
              <a:off x="9209884" y="551713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C0D0A7F-F871-0889-B8BF-161E920E38B8}"/>
                </a:ext>
              </a:extLst>
            </p:cNvPr>
            <p:cNvSpPr txBox="1"/>
            <p:nvPr/>
          </p:nvSpPr>
          <p:spPr>
            <a:xfrm>
              <a:off x="7104224" y="5768759"/>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97.5%</a:t>
              </a:r>
            </a:p>
          </p:txBody>
        </p:sp>
        <p:sp>
          <p:nvSpPr>
            <p:cNvPr id="22" name="TextBox 21">
              <a:extLst>
                <a:ext uri="{FF2B5EF4-FFF2-40B4-BE49-F238E27FC236}">
                  <a16:creationId xmlns:a16="http://schemas.microsoft.com/office/drawing/2014/main" id="{91E28DA0-0CFD-CCB5-62D2-F2289F1A273B}"/>
                </a:ext>
              </a:extLst>
            </p:cNvPr>
            <p:cNvSpPr txBox="1"/>
            <p:nvPr/>
          </p:nvSpPr>
          <p:spPr>
            <a:xfrm>
              <a:off x="5570625"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95%</a:t>
              </a:r>
            </a:p>
          </p:txBody>
        </p:sp>
        <p:sp>
          <p:nvSpPr>
            <p:cNvPr id="23" name="TextBox 22">
              <a:extLst>
                <a:ext uri="{FF2B5EF4-FFF2-40B4-BE49-F238E27FC236}">
                  <a16:creationId xmlns:a16="http://schemas.microsoft.com/office/drawing/2014/main" id="{708B1B00-3CA7-034F-B31C-4A3C1A5D76BF}"/>
                </a:ext>
              </a:extLst>
            </p:cNvPr>
            <p:cNvSpPr txBox="1"/>
            <p:nvPr/>
          </p:nvSpPr>
          <p:spPr>
            <a:xfrm>
              <a:off x="3926826"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92.5%</a:t>
              </a:r>
            </a:p>
          </p:txBody>
        </p:sp>
      </p:grpSp>
      <p:grpSp>
        <p:nvGrpSpPr>
          <p:cNvPr id="80" name="Group 79">
            <a:extLst>
              <a:ext uri="{FF2B5EF4-FFF2-40B4-BE49-F238E27FC236}">
                <a16:creationId xmlns:a16="http://schemas.microsoft.com/office/drawing/2014/main" id="{99D901A0-461B-E134-4A2B-3DC2DCFB90AA}"/>
              </a:ext>
            </a:extLst>
          </p:cNvPr>
          <p:cNvGrpSpPr/>
          <p:nvPr/>
        </p:nvGrpSpPr>
        <p:grpSpPr>
          <a:xfrm>
            <a:off x="4921195" y="1848410"/>
            <a:ext cx="3415096" cy="1127994"/>
            <a:chOff x="1513733" y="1805218"/>
            <a:chExt cx="3415096" cy="1127994"/>
          </a:xfrm>
        </p:grpSpPr>
        <p:sp>
          <p:nvSpPr>
            <p:cNvPr id="81" name="Oval 80">
              <a:extLst>
                <a:ext uri="{FF2B5EF4-FFF2-40B4-BE49-F238E27FC236}">
                  <a16:creationId xmlns:a16="http://schemas.microsoft.com/office/drawing/2014/main" id="{916510BA-4923-2D34-EF2C-70643BBBC68E}"/>
                </a:ext>
              </a:extLst>
            </p:cNvPr>
            <p:cNvSpPr/>
            <p:nvPr/>
          </p:nvSpPr>
          <p:spPr>
            <a:xfrm>
              <a:off x="4655121"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00"/>
                  </a:solidFill>
                  <a:latin typeface="Avenir Book" panose="02000503020000020003" pitchFamily="2" charset="0"/>
                </a:rPr>
                <a:t>6</a:t>
              </a:r>
            </a:p>
          </p:txBody>
        </p:sp>
        <p:sp>
          <p:nvSpPr>
            <p:cNvPr id="82" name="Oval 81">
              <a:extLst>
                <a:ext uri="{FF2B5EF4-FFF2-40B4-BE49-F238E27FC236}">
                  <a16:creationId xmlns:a16="http://schemas.microsoft.com/office/drawing/2014/main" id="{9FC61CBD-0099-71F0-4828-468425A5764F}"/>
                </a:ext>
              </a:extLst>
            </p:cNvPr>
            <p:cNvSpPr/>
            <p:nvPr/>
          </p:nvSpPr>
          <p:spPr>
            <a:xfrm>
              <a:off x="3364709"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00"/>
                  </a:solidFill>
                  <a:latin typeface="Avenir Book" panose="02000503020000020003" pitchFamily="2" charset="0"/>
                </a:rPr>
                <a:t>2</a:t>
              </a:r>
            </a:p>
          </p:txBody>
        </p:sp>
        <p:sp>
          <p:nvSpPr>
            <p:cNvPr id="83" name="Triangle 82">
              <a:extLst>
                <a:ext uri="{FF2B5EF4-FFF2-40B4-BE49-F238E27FC236}">
                  <a16:creationId xmlns:a16="http://schemas.microsoft.com/office/drawing/2014/main" id="{3E42D1A9-0DFA-5F35-DAF3-F0CAC31B1EE2}"/>
                </a:ext>
              </a:extLst>
            </p:cNvPr>
            <p:cNvSpPr/>
            <p:nvPr/>
          </p:nvSpPr>
          <p:spPr>
            <a:xfrm>
              <a:off x="1513733" y="180928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1</a:t>
              </a:r>
            </a:p>
          </p:txBody>
        </p:sp>
        <p:sp>
          <p:nvSpPr>
            <p:cNvPr id="84" name="Triangle 83">
              <a:extLst>
                <a:ext uri="{FF2B5EF4-FFF2-40B4-BE49-F238E27FC236}">
                  <a16:creationId xmlns:a16="http://schemas.microsoft.com/office/drawing/2014/main" id="{A9EF34A1-288C-BAAE-A692-55CCF693913E}"/>
                </a:ext>
              </a:extLst>
            </p:cNvPr>
            <p:cNvSpPr/>
            <p:nvPr/>
          </p:nvSpPr>
          <p:spPr>
            <a:xfrm>
              <a:off x="2209800"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3</a:t>
              </a:r>
            </a:p>
          </p:txBody>
        </p:sp>
        <p:sp>
          <p:nvSpPr>
            <p:cNvPr id="85" name="Triangle 84">
              <a:extLst>
                <a:ext uri="{FF2B5EF4-FFF2-40B4-BE49-F238E27FC236}">
                  <a16:creationId xmlns:a16="http://schemas.microsoft.com/office/drawing/2014/main" id="{F8180740-2B9A-051C-4462-F795EAB051D2}"/>
                </a:ext>
              </a:extLst>
            </p:cNvPr>
            <p:cNvSpPr/>
            <p:nvPr/>
          </p:nvSpPr>
          <p:spPr>
            <a:xfrm>
              <a:off x="4166955" y="1805218"/>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9</a:t>
              </a:r>
            </a:p>
          </p:txBody>
        </p:sp>
        <p:sp>
          <p:nvSpPr>
            <p:cNvPr id="86" name="Oval 85">
              <a:extLst>
                <a:ext uri="{FF2B5EF4-FFF2-40B4-BE49-F238E27FC236}">
                  <a16:creationId xmlns:a16="http://schemas.microsoft.com/office/drawing/2014/main" id="{EE77D252-DE09-3216-2633-13FCD671B94E}"/>
                </a:ext>
              </a:extLst>
            </p:cNvPr>
            <p:cNvSpPr/>
            <p:nvPr/>
          </p:nvSpPr>
          <p:spPr>
            <a:xfrm>
              <a:off x="1828800"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FF00"/>
                  </a:solidFill>
                  <a:latin typeface="Avenir Book" panose="02000503020000020003" pitchFamily="2" charset="0"/>
                </a:rPr>
                <a:t>4</a:t>
              </a:r>
            </a:p>
          </p:txBody>
        </p:sp>
        <p:sp>
          <p:nvSpPr>
            <p:cNvPr id="87" name="Triangle 86">
              <a:extLst>
                <a:ext uri="{FF2B5EF4-FFF2-40B4-BE49-F238E27FC236}">
                  <a16:creationId xmlns:a16="http://schemas.microsoft.com/office/drawing/2014/main" id="{5B374FFB-551A-D0E6-55DC-0092B31DFD52}"/>
                </a:ext>
              </a:extLst>
            </p:cNvPr>
            <p:cNvSpPr/>
            <p:nvPr/>
          </p:nvSpPr>
          <p:spPr>
            <a:xfrm>
              <a:off x="3812046"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7</a:t>
              </a:r>
            </a:p>
          </p:txBody>
        </p:sp>
        <p:sp>
          <p:nvSpPr>
            <p:cNvPr id="88" name="Triangle 87">
              <a:extLst>
                <a:ext uri="{FF2B5EF4-FFF2-40B4-BE49-F238E27FC236}">
                  <a16:creationId xmlns:a16="http://schemas.microsoft.com/office/drawing/2014/main" id="{CD2F3619-A1CB-EA81-64AD-E6C10A6BC24E}"/>
                </a:ext>
              </a:extLst>
            </p:cNvPr>
            <p:cNvSpPr/>
            <p:nvPr/>
          </p:nvSpPr>
          <p:spPr>
            <a:xfrm>
              <a:off x="2686419" y="180928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rgbClr val="FFFF00"/>
                  </a:solidFill>
                  <a:latin typeface="Avenir Book" panose="02000503020000020003" pitchFamily="2" charset="0"/>
                </a:rPr>
                <a:t>2</a:t>
              </a:r>
            </a:p>
          </p:txBody>
        </p:sp>
      </p:grpSp>
      <p:grpSp>
        <p:nvGrpSpPr>
          <p:cNvPr id="41" name="Group 40">
            <a:extLst>
              <a:ext uri="{FF2B5EF4-FFF2-40B4-BE49-F238E27FC236}">
                <a16:creationId xmlns:a16="http://schemas.microsoft.com/office/drawing/2014/main" id="{8B5ED595-D714-C936-3AE4-1C66D0B949A8}"/>
              </a:ext>
            </a:extLst>
          </p:cNvPr>
          <p:cNvGrpSpPr/>
          <p:nvPr/>
        </p:nvGrpSpPr>
        <p:grpSpPr>
          <a:xfrm>
            <a:off x="9938213" y="838200"/>
            <a:ext cx="1837687" cy="835555"/>
            <a:chOff x="8525513" y="2631593"/>
            <a:chExt cx="1837687" cy="835555"/>
          </a:xfrm>
        </p:grpSpPr>
        <p:sp>
          <p:nvSpPr>
            <p:cNvPr id="42" name="TextBox 41">
              <a:extLst>
                <a:ext uri="{FF2B5EF4-FFF2-40B4-BE49-F238E27FC236}">
                  <a16:creationId xmlns:a16="http://schemas.microsoft.com/office/drawing/2014/main" id="{98D6C36C-5A12-3B4A-4942-B9589BF05E61}"/>
                </a:ext>
              </a:extLst>
            </p:cNvPr>
            <p:cNvSpPr txBox="1"/>
            <p:nvPr/>
          </p:nvSpPr>
          <p:spPr>
            <a:xfrm>
              <a:off x="8525513" y="2631593"/>
              <a:ext cx="116602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Healthy</a:t>
              </a:r>
            </a:p>
          </p:txBody>
        </p:sp>
        <p:sp>
          <p:nvSpPr>
            <p:cNvPr id="43" name="Oval 42">
              <a:extLst>
                <a:ext uri="{FF2B5EF4-FFF2-40B4-BE49-F238E27FC236}">
                  <a16:creationId xmlns:a16="http://schemas.microsoft.com/office/drawing/2014/main" id="{E364CCE7-4C42-C6E0-C2DF-B870F9D7366E}"/>
                </a:ext>
              </a:extLst>
            </p:cNvPr>
            <p:cNvSpPr/>
            <p:nvPr/>
          </p:nvSpPr>
          <p:spPr>
            <a:xfrm>
              <a:off x="9891672" y="269479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5" name="TextBox 44">
              <a:extLst>
                <a:ext uri="{FF2B5EF4-FFF2-40B4-BE49-F238E27FC236}">
                  <a16:creationId xmlns:a16="http://schemas.microsoft.com/office/drawing/2014/main" id="{7BEC1340-4937-BEEC-356A-A99A5D4CF333}"/>
                </a:ext>
              </a:extLst>
            </p:cNvPr>
            <p:cNvSpPr txBox="1"/>
            <p:nvPr/>
          </p:nvSpPr>
          <p:spPr>
            <a:xfrm>
              <a:off x="8525513" y="3028890"/>
              <a:ext cx="1166019"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Sick</a:t>
              </a:r>
            </a:p>
          </p:txBody>
        </p:sp>
        <p:sp>
          <p:nvSpPr>
            <p:cNvPr id="46" name="Triangle 45">
              <a:extLst>
                <a:ext uri="{FF2B5EF4-FFF2-40B4-BE49-F238E27FC236}">
                  <a16:creationId xmlns:a16="http://schemas.microsoft.com/office/drawing/2014/main" id="{B67B1B3D-8FD6-74F6-6E79-94F36FC58D6B}"/>
                </a:ext>
              </a:extLst>
            </p:cNvPr>
            <p:cNvSpPr/>
            <p:nvPr/>
          </p:nvSpPr>
          <p:spPr>
            <a:xfrm>
              <a:off x="9871469" y="3093551"/>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47" name="Rectangle 46">
              <a:extLst>
                <a:ext uri="{FF2B5EF4-FFF2-40B4-BE49-F238E27FC236}">
                  <a16:creationId xmlns:a16="http://schemas.microsoft.com/office/drawing/2014/main" id="{D30D7E72-4643-AB13-548D-4980315D4238}"/>
                </a:ext>
              </a:extLst>
            </p:cNvPr>
            <p:cNvSpPr/>
            <p:nvPr/>
          </p:nvSpPr>
          <p:spPr>
            <a:xfrm>
              <a:off x="8525514" y="2631593"/>
              <a:ext cx="1837686" cy="835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a:extLst>
              <a:ext uri="{FF2B5EF4-FFF2-40B4-BE49-F238E27FC236}">
                <a16:creationId xmlns:a16="http://schemas.microsoft.com/office/drawing/2014/main" id="{AC56E7F5-2374-05F4-31DF-41D2B090E392}"/>
              </a:ext>
            </a:extLst>
          </p:cNvPr>
          <p:cNvSpPr txBox="1"/>
          <p:nvPr/>
        </p:nvSpPr>
        <p:spPr>
          <a:xfrm>
            <a:off x="9661217" y="258002"/>
            <a:ext cx="2391680" cy="492443"/>
          </a:xfrm>
          <a:prstGeom prst="rect">
            <a:avLst/>
          </a:prstGeom>
          <a:noFill/>
        </p:spPr>
        <p:txBody>
          <a:bodyPr wrap="none" lIns="0" tIns="0" rIns="0" bIns="0" rtlCol="0">
            <a:spAutoFit/>
          </a:bodyPr>
          <a:lstStyle/>
          <a:p>
            <a:pPr algn="ctr"/>
            <a:r>
              <a:rPr lang="en-US" sz="3200" b="1" dirty="0">
                <a:latin typeface="Avenir Book" panose="02000503020000020003" pitchFamily="2" charset="0"/>
              </a:rPr>
              <a:t>Classification</a:t>
            </a:r>
          </a:p>
        </p:txBody>
      </p:sp>
      <p:grpSp>
        <p:nvGrpSpPr>
          <p:cNvPr id="33" name="Group 32">
            <a:extLst>
              <a:ext uri="{FF2B5EF4-FFF2-40B4-BE49-F238E27FC236}">
                <a16:creationId xmlns:a16="http://schemas.microsoft.com/office/drawing/2014/main" id="{3EE8592B-932F-B9E7-CC8C-7A302105DC23}"/>
              </a:ext>
            </a:extLst>
          </p:cNvPr>
          <p:cNvGrpSpPr/>
          <p:nvPr/>
        </p:nvGrpSpPr>
        <p:grpSpPr>
          <a:xfrm>
            <a:off x="3811660" y="2357408"/>
            <a:ext cx="4570340" cy="1056500"/>
            <a:chOff x="3811660" y="2357408"/>
            <a:chExt cx="4570340" cy="1056500"/>
          </a:xfrm>
        </p:grpSpPr>
        <p:cxnSp>
          <p:nvCxnSpPr>
            <p:cNvPr id="77" name="Straight Connector 76">
              <a:extLst>
                <a:ext uri="{FF2B5EF4-FFF2-40B4-BE49-F238E27FC236}">
                  <a16:creationId xmlns:a16="http://schemas.microsoft.com/office/drawing/2014/main" id="{5747727B-D62B-D688-4C50-734DD7D0A232}"/>
                </a:ext>
              </a:extLst>
            </p:cNvPr>
            <p:cNvCxnSpPr>
              <a:cxnSpLocks/>
            </p:cNvCxnSpPr>
            <p:nvPr/>
          </p:nvCxnSpPr>
          <p:spPr>
            <a:xfrm>
              <a:off x="3811660" y="2373853"/>
              <a:ext cx="1698310"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72603F5-0D01-FECE-D138-00635ED9694E}"/>
                </a:ext>
              </a:extLst>
            </p:cNvPr>
            <p:cNvCxnSpPr>
              <a:cxnSpLocks/>
            </p:cNvCxnSpPr>
            <p:nvPr/>
          </p:nvCxnSpPr>
          <p:spPr>
            <a:xfrm>
              <a:off x="5532049"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FB96A81-E62C-BBE7-85F0-322FB5F95520}"/>
                </a:ext>
              </a:extLst>
            </p:cNvPr>
            <p:cNvCxnSpPr>
              <a:cxnSpLocks/>
            </p:cNvCxnSpPr>
            <p:nvPr/>
          </p:nvCxnSpPr>
          <p:spPr>
            <a:xfrm>
              <a:off x="6141798"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23FBF9A-6143-9C5F-E18B-EDA3AC2BC018}"/>
                </a:ext>
              </a:extLst>
            </p:cNvPr>
            <p:cNvCxnSpPr>
              <a:cxnSpLocks/>
            </p:cNvCxnSpPr>
            <p:nvPr/>
          </p:nvCxnSpPr>
          <p:spPr>
            <a:xfrm>
              <a:off x="7219508"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030010C-13A2-69EE-69B9-9A4E09725842}"/>
                </a:ext>
              </a:extLst>
            </p:cNvPr>
            <p:cNvCxnSpPr>
              <a:cxnSpLocks/>
            </p:cNvCxnSpPr>
            <p:nvPr/>
          </p:nvCxnSpPr>
          <p:spPr>
            <a:xfrm>
              <a:off x="8001000" y="2364050"/>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C6B5652-4C66-BF6B-1E94-53AE0E96A1DB}"/>
                </a:ext>
              </a:extLst>
            </p:cNvPr>
            <p:cNvCxnSpPr>
              <a:cxnSpLocks/>
            </p:cNvCxnSpPr>
            <p:nvPr/>
          </p:nvCxnSpPr>
          <p:spPr>
            <a:xfrm>
              <a:off x="6172200" y="2373853"/>
              <a:ext cx="1047308"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D689832-96C6-EF8A-9563-CF3F54B26202}"/>
                </a:ext>
              </a:extLst>
            </p:cNvPr>
            <p:cNvCxnSpPr>
              <a:cxnSpLocks/>
            </p:cNvCxnSpPr>
            <p:nvPr/>
          </p:nvCxnSpPr>
          <p:spPr>
            <a:xfrm>
              <a:off x="8001000" y="2364050"/>
              <a:ext cx="381000"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CB2F8B4A-4232-D78A-E3D6-D63224FF7385}"/>
              </a:ext>
            </a:extLst>
          </p:cNvPr>
          <p:cNvSpPr txBox="1"/>
          <p:nvPr/>
        </p:nvSpPr>
        <p:spPr>
          <a:xfrm>
            <a:off x="589480" y="4428407"/>
            <a:ext cx="11008802" cy="1923604"/>
          </a:xfrm>
          <a:prstGeom prst="rect">
            <a:avLst/>
          </a:prstGeom>
          <a:noFill/>
        </p:spPr>
        <p:txBody>
          <a:bodyPr wrap="square" rtlCol="0">
            <a:spAutoFit/>
          </a:bodyPr>
          <a:lstStyle/>
          <a:p>
            <a:pPr algn="ctr"/>
            <a:r>
              <a:rPr lang="en-US" sz="3200" b="1" u="sng" dirty="0">
                <a:latin typeface="Avenir Book" panose="02000503020000020003" pitchFamily="2" charset="0"/>
              </a:rPr>
              <a:t>Three Features</a:t>
            </a:r>
          </a:p>
          <a:p>
            <a:pPr algn="ctr">
              <a:spcAft>
                <a:spcPts val="1800"/>
              </a:spcAft>
            </a:pPr>
            <a:r>
              <a:rPr lang="en-US" sz="2400" dirty="0">
                <a:latin typeface="Avenir Book" panose="02000503020000020003" pitchFamily="2" charset="0"/>
              </a:rPr>
              <a:t>“If normal cough AND last digit of SIN is even, the patient is healthy”</a:t>
            </a:r>
          </a:p>
          <a:p>
            <a:pPr algn="ctr"/>
            <a:r>
              <a:rPr lang="en-US" sz="2400" dirty="0">
                <a:latin typeface="Avenir Book" panose="02000503020000020003" pitchFamily="2" charset="0"/>
              </a:rPr>
              <a:t>The model has perfect accuracy (100%), but it took advantage of a random feature to make a rule that does not seem to be clinically sensible</a:t>
            </a:r>
          </a:p>
        </p:txBody>
      </p:sp>
      <p:sp>
        <p:nvSpPr>
          <p:cNvPr id="54" name="TextBox 53">
            <a:extLst>
              <a:ext uri="{FF2B5EF4-FFF2-40B4-BE49-F238E27FC236}">
                <a16:creationId xmlns:a16="http://schemas.microsoft.com/office/drawing/2014/main" id="{D176D523-726E-CF5D-E0AD-A3DEBA1E57E1}"/>
              </a:ext>
            </a:extLst>
          </p:cNvPr>
          <p:cNvSpPr txBox="1"/>
          <p:nvPr/>
        </p:nvSpPr>
        <p:spPr>
          <a:xfrm>
            <a:off x="8519817" y="2050912"/>
            <a:ext cx="3058257" cy="707886"/>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Number in yellow: </a:t>
            </a:r>
            <a:br>
              <a:rPr lang="en-US" sz="2000" dirty="0">
                <a:latin typeface="Avenir Book" panose="02000503020000020003" pitchFamily="2" charset="0"/>
                <a:ea typeface="Avenir Book" charset="0"/>
                <a:cs typeface="Avenir Book" charset="0"/>
              </a:rPr>
            </a:br>
            <a:r>
              <a:rPr lang="en-US" sz="2000" dirty="0">
                <a:latin typeface="Avenir Book" panose="02000503020000020003" pitchFamily="2" charset="0"/>
                <a:ea typeface="Avenir Book" charset="0"/>
                <a:cs typeface="Avenir Book" charset="0"/>
              </a:rPr>
              <a:t>last digit of SIN</a:t>
            </a:r>
          </a:p>
        </p:txBody>
      </p:sp>
    </p:spTree>
    <p:extLst>
      <p:ext uri="{BB962C8B-B14F-4D97-AF65-F5344CB8AC3E}">
        <p14:creationId xmlns:p14="http://schemas.microsoft.com/office/powerpoint/2010/main" val="274119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fade">
                                      <p:cBhvr>
                                        <p:cTn id="13" dur="500"/>
                                        <p:tgtEl>
                                          <p:spTgt spid="80"/>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
                                            <p:txEl>
                                              <p:pRg st="0" end="0"/>
                                            </p:txEl>
                                          </p:spTgt>
                                        </p:tgtEl>
                                        <p:attrNameLst>
                                          <p:attrName>style.visibility</p:attrName>
                                        </p:attrNameLst>
                                      </p:cBhvr>
                                      <p:to>
                                        <p:strVal val="visible"/>
                                      </p:to>
                                    </p:set>
                                    <p:animEffect transition="in" filter="fade">
                                      <p:cBhvr>
                                        <p:cTn id="27" dur="500"/>
                                        <p:tgtEl>
                                          <p:spTgt spid="61">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1">
                                            <p:txEl>
                                              <p:pRg st="1" end="1"/>
                                            </p:txEl>
                                          </p:spTgt>
                                        </p:tgtEl>
                                        <p:attrNameLst>
                                          <p:attrName>style.visibility</p:attrName>
                                        </p:attrNameLst>
                                      </p:cBhvr>
                                      <p:to>
                                        <p:strVal val="visible"/>
                                      </p:to>
                                    </p:set>
                                    <p:animEffect transition="in" filter="fade">
                                      <p:cBhvr>
                                        <p:cTn id="30" dur="500"/>
                                        <p:tgtEl>
                                          <p:spTgt spid="61">
                                            <p:txEl>
                                              <p:pRg st="1" end="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1">
                                            <p:txEl>
                                              <p:pRg st="2" end="2"/>
                                            </p:txEl>
                                          </p:spTgt>
                                        </p:tgtEl>
                                        <p:attrNameLst>
                                          <p:attrName>style.visibility</p:attrName>
                                        </p:attrNameLst>
                                      </p:cBhvr>
                                      <p:to>
                                        <p:strVal val="visible"/>
                                      </p:to>
                                    </p:set>
                                    <p:animEffect transition="in" filter="fade">
                                      <p:cBhvr>
                                        <p:cTn id="38" dur="500"/>
                                        <p:tgtEl>
                                          <p:spTgt spid="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61" grpId="0" uiExpand="1" build="p"/>
      <p:bldP spid="5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AF57E-C60E-7820-C7B8-F3314D11E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D5400-CEC8-F979-331D-1B863B4E0AF3}"/>
              </a:ext>
            </a:extLst>
          </p:cNvPr>
          <p:cNvSpPr>
            <a:spLocks noGrp="1"/>
          </p:cNvSpPr>
          <p:nvPr>
            <p:ph type="title"/>
          </p:nvPr>
        </p:nvSpPr>
        <p:spPr>
          <a:xfrm>
            <a:off x="609600" y="274638"/>
            <a:ext cx="8851475" cy="1143000"/>
          </a:xfrm>
        </p:spPr>
        <p:txBody>
          <a:bodyPr>
            <a:normAutofit fontScale="90000"/>
          </a:bodyPr>
          <a:lstStyle/>
          <a:p>
            <a:r>
              <a:rPr lang="en-US" dirty="0"/>
              <a:t>Overfitting:</a:t>
            </a:r>
            <a:br>
              <a:rPr lang="en-US" dirty="0"/>
            </a:br>
            <a:r>
              <a:rPr lang="en-US" dirty="0"/>
              <a:t>Too Much Model Flexibility</a:t>
            </a:r>
          </a:p>
        </p:txBody>
      </p:sp>
      <p:grpSp>
        <p:nvGrpSpPr>
          <p:cNvPr id="6" name="Group 5">
            <a:extLst>
              <a:ext uri="{FF2B5EF4-FFF2-40B4-BE49-F238E27FC236}">
                <a16:creationId xmlns:a16="http://schemas.microsoft.com/office/drawing/2014/main" id="{D3B6AB60-01BB-B320-20B2-29E22C0F7594}"/>
              </a:ext>
            </a:extLst>
          </p:cNvPr>
          <p:cNvGrpSpPr/>
          <p:nvPr/>
        </p:nvGrpSpPr>
        <p:grpSpPr>
          <a:xfrm>
            <a:off x="2057400" y="1436902"/>
            <a:ext cx="1983169" cy="2158260"/>
            <a:chOff x="1198061" y="2486769"/>
            <a:chExt cx="1983169" cy="3552366"/>
          </a:xfrm>
        </p:grpSpPr>
        <p:cxnSp>
          <p:nvCxnSpPr>
            <p:cNvPr id="7" name="Straight Connector 6">
              <a:extLst>
                <a:ext uri="{FF2B5EF4-FFF2-40B4-BE49-F238E27FC236}">
                  <a16:creationId xmlns:a16="http://schemas.microsoft.com/office/drawing/2014/main" id="{E3C50BAB-AC24-6529-0BEB-17CB265E4E05}"/>
                </a:ext>
              </a:extLst>
            </p:cNvPr>
            <p:cNvCxnSpPr/>
            <p:nvPr/>
          </p:nvCxnSpPr>
          <p:spPr>
            <a:xfrm>
              <a:off x="2975649" y="2823597"/>
              <a:ext cx="0" cy="29000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00CDE9E-1CC7-23BD-D753-F8B134F1D550}"/>
                </a:ext>
              </a:extLst>
            </p:cNvPr>
            <p:cNvSpPr txBox="1"/>
            <p:nvPr/>
          </p:nvSpPr>
          <p:spPr>
            <a:xfrm rot="16200000">
              <a:off x="-347289" y="4032119"/>
              <a:ext cx="3552366" cy="461665"/>
            </a:xfrm>
            <a:prstGeom prst="rect">
              <a:avLst/>
            </a:prstGeom>
            <a:noFill/>
          </p:spPr>
          <p:txBody>
            <a:bodyPr wrap="square" rtlCol="0">
              <a:spAutoFit/>
            </a:bodyPr>
            <a:lstStyle/>
            <a:p>
              <a:pPr algn="ctr"/>
              <a:r>
                <a:rPr lang="en-US" sz="2400" dirty="0">
                  <a:latin typeface="Avenir Book" panose="02000503020000020003" pitchFamily="2" charset="0"/>
                  <a:ea typeface="Avenir Book" charset="0"/>
                  <a:cs typeface="Avenir Book" charset="0"/>
                </a:rPr>
                <a:t>Cough status</a:t>
              </a:r>
            </a:p>
          </p:txBody>
        </p:sp>
        <p:cxnSp>
          <p:nvCxnSpPr>
            <p:cNvPr id="9" name="Straight Connector 8">
              <a:extLst>
                <a:ext uri="{FF2B5EF4-FFF2-40B4-BE49-F238E27FC236}">
                  <a16:creationId xmlns:a16="http://schemas.microsoft.com/office/drawing/2014/main" id="{056E34C2-D513-6252-4352-A806795B6D80}"/>
                </a:ext>
              </a:extLst>
            </p:cNvPr>
            <p:cNvCxnSpPr/>
            <p:nvPr/>
          </p:nvCxnSpPr>
          <p:spPr>
            <a:xfrm rot="5400000">
              <a:off x="3078439" y="456729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D61F1E4-4BFA-839D-035D-50F7127A1679}"/>
                </a:ext>
              </a:extLst>
            </p:cNvPr>
            <p:cNvCxnSpPr/>
            <p:nvPr/>
          </p:nvCxnSpPr>
          <p:spPr>
            <a:xfrm rot="5400000">
              <a:off x="3078440" y="3319360"/>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074190E-AB1F-CB66-EB99-57ADC4EAFB3C}"/>
                </a:ext>
              </a:extLst>
            </p:cNvPr>
            <p:cNvSpPr txBox="1"/>
            <p:nvPr/>
          </p:nvSpPr>
          <p:spPr>
            <a:xfrm>
              <a:off x="1640203" y="4476690"/>
              <a:ext cx="1312118"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Normal</a:t>
              </a:r>
            </a:p>
          </p:txBody>
        </p:sp>
        <p:sp>
          <p:nvSpPr>
            <p:cNvPr id="12" name="TextBox 11">
              <a:extLst>
                <a:ext uri="{FF2B5EF4-FFF2-40B4-BE49-F238E27FC236}">
                  <a16:creationId xmlns:a16="http://schemas.microsoft.com/office/drawing/2014/main" id="{E8E1C86C-BE3C-3B75-C4FB-58AE36B2D6F8}"/>
                </a:ext>
              </a:extLst>
            </p:cNvPr>
            <p:cNvSpPr txBox="1"/>
            <p:nvPr/>
          </p:nvSpPr>
          <p:spPr>
            <a:xfrm>
              <a:off x="1486313" y="3230288"/>
              <a:ext cx="149543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Worsening</a:t>
              </a:r>
            </a:p>
          </p:txBody>
        </p:sp>
      </p:grpSp>
      <p:grpSp>
        <p:nvGrpSpPr>
          <p:cNvPr id="13" name="Group 12">
            <a:extLst>
              <a:ext uri="{FF2B5EF4-FFF2-40B4-BE49-F238E27FC236}">
                <a16:creationId xmlns:a16="http://schemas.microsoft.com/office/drawing/2014/main" id="{42EA1026-D721-A9C8-DC60-28017AF73EEF}"/>
              </a:ext>
            </a:extLst>
          </p:cNvPr>
          <p:cNvGrpSpPr/>
          <p:nvPr/>
        </p:nvGrpSpPr>
        <p:grpSpPr>
          <a:xfrm>
            <a:off x="3834987" y="3181493"/>
            <a:ext cx="4867998" cy="1101108"/>
            <a:chOff x="2975648" y="5501641"/>
            <a:chExt cx="6916024" cy="1101108"/>
          </a:xfrm>
        </p:grpSpPr>
        <p:sp>
          <p:nvSpPr>
            <p:cNvPr id="14" name="TextBox 13">
              <a:extLst>
                <a:ext uri="{FF2B5EF4-FFF2-40B4-BE49-F238E27FC236}">
                  <a16:creationId xmlns:a16="http://schemas.microsoft.com/office/drawing/2014/main" id="{3B36661D-629A-A6B2-C235-70266D08AFAD}"/>
                </a:ext>
              </a:extLst>
            </p:cNvPr>
            <p:cNvSpPr txBox="1"/>
            <p:nvPr/>
          </p:nvSpPr>
          <p:spPr>
            <a:xfrm>
              <a:off x="8528097"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100%</a:t>
              </a:r>
            </a:p>
          </p:txBody>
        </p:sp>
        <p:cxnSp>
          <p:nvCxnSpPr>
            <p:cNvPr id="15" name="Straight Connector 14">
              <a:extLst>
                <a:ext uri="{FF2B5EF4-FFF2-40B4-BE49-F238E27FC236}">
                  <a16:creationId xmlns:a16="http://schemas.microsoft.com/office/drawing/2014/main" id="{77BA4A7E-3835-5F82-32D5-FD96A9B803D6}"/>
                </a:ext>
              </a:extLst>
            </p:cNvPr>
            <p:cNvCxnSpPr>
              <a:cxnSpLocks/>
            </p:cNvCxnSpPr>
            <p:nvPr/>
          </p:nvCxnSpPr>
          <p:spPr>
            <a:xfrm flipH="1">
              <a:off x="2979614" y="5722720"/>
              <a:ext cx="62405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F2D886C-1AA5-EA44-E0C1-FCDFE05AFB31}"/>
                </a:ext>
              </a:extLst>
            </p:cNvPr>
            <p:cNvSpPr txBox="1"/>
            <p:nvPr/>
          </p:nvSpPr>
          <p:spPr>
            <a:xfrm>
              <a:off x="2975648" y="6202639"/>
              <a:ext cx="6244552"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SpO</a:t>
              </a:r>
              <a:r>
                <a:rPr lang="en-US" sz="2000" baseline="-25000" dirty="0">
                  <a:latin typeface="Avenir Book" panose="02000503020000020003" pitchFamily="2" charset="0"/>
                  <a:ea typeface="Avenir Book" charset="0"/>
                  <a:cs typeface="Avenir Book" charset="0"/>
                </a:rPr>
                <a:t>2</a:t>
              </a:r>
              <a:r>
                <a:rPr lang="en-US" sz="2000" dirty="0">
                  <a:latin typeface="Avenir Book" panose="02000503020000020003" pitchFamily="2" charset="0"/>
                  <a:ea typeface="Avenir Book" charset="0"/>
                  <a:cs typeface="Avenir Book" charset="0"/>
                </a:rPr>
                <a:t> (%)</a:t>
              </a:r>
            </a:p>
          </p:txBody>
        </p:sp>
        <p:cxnSp>
          <p:nvCxnSpPr>
            <p:cNvPr id="17" name="Straight Connector 16">
              <a:extLst>
                <a:ext uri="{FF2B5EF4-FFF2-40B4-BE49-F238E27FC236}">
                  <a16:creationId xmlns:a16="http://schemas.microsoft.com/office/drawing/2014/main" id="{BAE7A304-4435-4A67-C525-D780978BA64B}"/>
                </a:ext>
              </a:extLst>
            </p:cNvPr>
            <p:cNvCxnSpPr/>
            <p:nvPr/>
          </p:nvCxnSpPr>
          <p:spPr>
            <a:xfrm>
              <a:off x="4608614" y="5501641"/>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FF0C13D-AB8D-C2E6-46D5-CA65DBABBAF1}"/>
                </a:ext>
              </a:extLst>
            </p:cNvPr>
            <p:cNvCxnSpPr/>
            <p:nvPr/>
          </p:nvCxnSpPr>
          <p:spPr>
            <a:xfrm>
              <a:off x="6252962" y="5506806"/>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E0F5B7D-D526-9AFD-0F50-29FBCF988A96}"/>
                </a:ext>
              </a:extLst>
            </p:cNvPr>
            <p:cNvCxnSpPr/>
            <p:nvPr/>
          </p:nvCxnSpPr>
          <p:spPr>
            <a:xfrm>
              <a:off x="7786013" y="5504453"/>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08EDCB8-0A6B-390F-662B-708B74EEE424}"/>
                </a:ext>
              </a:extLst>
            </p:cNvPr>
            <p:cNvCxnSpPr/>
            <p:nvPr/>
          </p:nvCxnSpPr>
          <p:spPr>
            <a:xfrm>
              <a:off x="9209884" y="5517139"/>
              <a:ext cx="0" cy="20558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BF99EBF-CB46-6D96-74BF-B74A0F4B0E41}"/>
                </a:ext>
              </a:extLst>
            </p:cNvPr>
            <p:cNvSpPr txBox="1"/>
            <p:nvPr/>
          </p:nvSpPr>
          <p:spPr>
            <a:xfrm>
              <a:off x="7104224" y="5768759"/>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97.5%</a:t>
              </a:r>
            </a:p>
          </p:txBody>
        </p:sp>
        <p:sp>
          <p:nvSpPr>
            <p:cNvPr id="22" name="TextBox 21">
              <a:extLst>
                <a:ext uri="{FF2B5EF4-FFF2-40B4-BE49-F238E27FC236}">
                  <a16:creationId xmlns:a16="http://schemas.microsoft.com/office/drawing/2014/main" id="{8217F45F-40F6-8845-146A-99C224A1683D}"/>
                </a:ext>
              </a:extLst>
            </p:cNvPr>
            <p:cNvSpPr txBox="1"/>
            <p:nvPr/>
          </p:nvSpPr>
          <p:spPr>
            <a:xfrm>
              <a:off x="5570625"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95%</a:t>
              </a:r>
            </a:p>
          </p:txBody>
        </p:sp>
        <p:sp>
          <p:nvSpPr>
            <p:cNvPr id="23" name="TextBox 22">
              <a:extLst>
                <a:ext uri="{FF2B5EF4-FFF2-40B4-BE49-F238E27FC236}">
                  <a16:creationId xmlns:a16="http://schemas.microsoft.com/office/drawing/2014/main" id="{25488F83-A87A-CD63-E7B9-CECCA1369A5C}"/>
                </a:ext>
              </a:extLst>
            </p:cNvPr>
            <p:cNvSpPr txBox="1"/>
            <p:nvPr/>
          </p:nvSpPr>
          <p:spPr>
            <a:xfrm>
              <a:off x="3926826" y="5766244"/>
              <a:ext cx="1363575" cy="369332"/>
            </a:xfrm>
            <a:prstGeom prst="rect">
              <a:avLst/>
            </a:prstGeom>
            <a:noFill/>
          </p:spPr>
          <p:txBody>
            <a:bodyPr wrap="square" rtlCol="0">
              <a:spAutoFit/>
            </a:bodyPr>
            <a:lstStyle/>
            <a:p>
              <a:pPr algn="ctr"/>
              <a:r>
                <a:rPr lang="en-US" dirty="0">
                  <a:latin typeface="Avenir Book" panose="02000503020000020003" pitchFamily="2" charset="0"/>
                  <a:ea typeface="Avenir Book" charset="0"/>
                  <a:cs typeface="Avenir Book" charset="0"/>
                </a:rPr>
                <a:t>92.5%</a:t>
              </a:r>
            </a:p>
          </p:txBody>
        </p:sp>
      </p:grpSp>
      <p:grpSp>
        <p:nvGrpSpPr>
          <p:cNvPr id="80" name="Group 79">
            <a:extLst>
              <a:ext uri="{FF2B5EF4-FFF2-40B4-BE49-F238E27FC236}">
                <a16:creationId xmlns:a16="http://schemas.microsoft.com/office/drawing/2014/main" id="{49B35A66-5FF1-1954-123A-0859B7F3752E}"/>
              </a:ext>
            </a:extLst>
          </p:cNvPr>
          <p:cNvGrpSpPr/>
          <p:nvPr/>
        </p:nvGrpSpPr>
        <p:grpSpPr>
          <a:xfrm>
            <a:off x="4921195" y="1848410"/>
            <a:ext cx="3415096" cy="1127994"/>
            <a:chOff x="1513733" y="1805218"/>
            <a:chExt cx="3415096" cy="1127994"/>
          </a:xfrm>
        </p:grpSpPr>
        <p:sp>
          <p:nvSpPr>
            <p:cNvPr id="81" name="Oval 80">
              <a:extLst>
                <a:ext uri="{FF2B5EF4-FFF2-40B4-BE49-F238E27FC236}">
                  <a16:creationId xmlns:a16="http://schemas.microsoft.com/office/drawing/2014/main" id="{FC753465-D449-55F9-1C0E-CAAD5E12F8C4}"/>
                </a:ext>
              </a:extLst>
            </p:cNvPr>
            <p:cNvSpPr/>
            <p:nvPr/>
          </p:nvSpPr>
          <p:spPr>
            <a:xfrm>
              <a:off x="4655121"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2" name="Oval 81">
              <a:extLst>
                <a:ext uri="{FF2B5EF4-FFF2-40B4-BE49-F238E27FC236}">
                  <a16:creationId xmlns:a16="http://schemas.microsoft.com/office/drawing/2014/main" id="{3ECE69C2-014B-7716-C5CA-1D6A1A4188E4}"/>
                </a:ext>
              </a:extLst>
            </p:cNvPr>
            <p:cNvSpPr/>
            <p:nvPr/>
          </p:nvSpPr>
          <p:spPr>
            <a:xfrm>
              <a:off x="3364709"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3" name="Triangle 82">
              <a:extLst>
                <a:ext uri="{FF2B5EF4-FFF2-40B4-BE49-F238E27FC236}">
                  <a16:creationId xmlns:a16="http://schemas.microsoft.com/office/drawing/2014/main" id="{B38A60B5-B21E-196F-0597-9D12FCC3342A}"/>
                </a:ext>
              </a:extLst>
            </p:cNvPr>
            <p:cNvSpPr/>
            <p:nvPr/>
          </p:nvSpPr>
          <p:spPr>
            <a:xfrm>
              <a:off x="1513733" y="180928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84" name="Triangle 83">
              <a:extLst>
                <a:ext uri="{FF2B5EF4-FFF2-40B4-BE49-F238E27FC236}">
                  <a16:creationId xmlns:a16="http://schemas.microsoft.com/office/drawing/2014/main" id="{8EC9EB06-E621-0A95-4525-521D347D4015}"/>
                </a:ext>
              </a:extLst>
            </p:cNvPr>
            <p:cNvSpPr/>
            <p:nvPr/>
          </p:nvSpPr>
          <p:spPr>
            <a:xfrm>
              <a:off x="2209800"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85" name="Triangle 84">
              <a:extLst>
                <a:ext uri="{FF2B5EF4-FFF2-40B4-BE49-F238E27FC236}">
                  <a16:creationId xmlns:a16="http://schemas.microsoft.com/office/drawing/2014/main" id="{BA48EEB8-02B0-2CAC-407E-B3B6B5FF8D5F}"/>
                </a:ext>
              </a:extLst>
            </p:cNvPr>
            <p:cNvSpPr/>
            <p:nvPr/>
          </p:nvSpPr>
          <p:spPr>
            <a:xfrm>
              <a:off x="4166955" y="1805218"/>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86" name="Oval 85">
              <a:extLst>
                <a:ext uri="{FF2B5EF4-FFF2-40B4-BE49-F238E27FC236}">
                  <a16:creationId xmlns:a16="http://schemas.microsoft.com/office/drawing/2014/main" id="{DA1D76E8-1C71-9467-6559-C07FF260691E}"/>
                </a:ext>
              </a:extLst>
            </p:cNvPr>
            <p:cNvSpPr/>
            <p:nvPr/>
          </p:nvSpPr>
          <p:spPr>
            <a:xfrm>
              <a:off x="1828800" y="265950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87" name="Triangle 86">
              <a:extLst>
                <a:ext uri="{FF2B5EF4-FFF2-40B4-BE49-F238E27FC236}">
                  <a16:creationId xmlns:a16="http://schemas.microsoft.com/office/drawing/2014/main" id="{5D3ADB5D-B078-899E-B694-46888FDC628C}"/>
                </a:ext>
              </a:extLst>
            </p:cNvPr>
            <p:cNvSpPr/>
            <p:nvPr/>
          </p:nvSpPr>
          <p:spPr>
            <a:xfrm>
              <a:off x="3812046" y="2660964"/>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88" name="Triangle 87">
              <a:extLst>
                <a:ext uri="{FF2B5EF4-FFF2-40B4-BE49-F238E27FC236}">
                  <a16:creationId xmlns:a16="http://schemas.microsoft.com/office/drawing/2014/main" id="{C5BDD25D-AF80-43BF-B36C-218BFEA8D676}"/>
                </a:ext>
              </a:extLst>
            </p:cNvPr>
            <p:cNvSpPr/>
            <p:nvPr/>
          </p:nvSpPr>
          <p:spPr>
            <a:xfrm>
              <a:off x="2686419" y="1809282"/>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grpSp>
      <p:grpSp>
        <p:nvGrpSpPr>
          <p:cNvPr id="41" name="Group 40">
            <a:extLst>
              <a:ext uri="{FF2B5EF4-FFF2-40B4-BE49-F238E27FC236}">
                <a16:creationId xmlns:a16="http://schemas.microsoft.com/office/drawing/2014/main" id="{6A5EBB55-FAD2-FFED-4654-98D116194228}"/>
              </a:ext>
            </a:extLst>
          </p:cNvPr>
          <p:cNvGrpSpPr/>
          <p:nvPr/>
        </p:nvGrpSpPr>
        <p:grpSpPr>
          <a:xfrm>
            <a:off x="9938213" y="838200"/>
            <a:ext cx="1837687" cy="835555"/>
            <a:chOff x="8525513" y="2631593"/>
            <a:chExt cx="1837687" cy="835555"/>
          </a:xfrm>
        </p:grpSpPr>
        <p:sp>
          <p:nvSpPr>
            <p:cNvPr id="42" name="TextBox 41">
              <a:extLst>
                <a:ext uri="{FF2B5EF4-FFF2-40B4-BE49-F238E27FC236}">
                  <a16:creationId xmlns:a16="http://schemas.microsoft.com/office/drawing/2014/main" id="{1533FDB4-4D4E-9A8B-A68E-A029F2900AAC}"/>
                </a:ext>
              </a:extLst>
            </p:cNvPr>
            <p:cNvSpPr txBox="1"/>
            <p:nvPr/>
          </p:nvSpPr>
          <p:spPr>
            <a:xfrm>
              <a:off x="8525513" y="2631593"/>
              <a:ext cx="1166020"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Healthy</a:t>
              </a:r>
            </a:p>
          </p:txBody>
        </p:sp>
        <p:sp>
          <p:nvSpPr>
            <p:cNvPr id="43" name="Oval 42">
              <a:extLst>
                <a:ext uri="{FF2B5EF4-FFF2-40B4-BE49-F238E27FC236}">
                  <a16:creationId xmlns:a16="http://schemas.microsoft.com/office/drawing/2014/main" id="{65AD299D-7562-E8D6-B5E8-F96722DEE662}"/>
                </a:ext>
              </a:extLst>
            </p:cNvPr>
            <p:cNvSpPr/>
            <p:nvPr/>
          </p:nvSpPr>
          <p:spPr>
            <a:xfrm>
              <a:off x="9891672" y="2694794"/>
              <a:ext cx="273708" cy="27370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sp>
          <p:nvSpPr>
            <p:cNvPr id="45" name="TextBox 44">
              <a:extLst>
                <a:ext uri="{FF2B5EF4-FFF2-40B4-BE49-F238E27FC236}">
                  <a16:creationId xmlns:a16="http://schemas.microsoft.com/office/drawing/2014/main" id="{069B55AE-F919-B820-21C1-598D7B5C8793}"/>
                </a:ext>
              </a:extLst>
            </p:cNvPr>
            <p:cNvSpPr txBox="1"/>
            <p:nvPr/>
          </p:nvSpPr>
          <p:spPr>
            <a:xfrm>
              <a:off x="8525513" y="3028890"/>
              <a:ext cx="1166019" cy="400110"/>
            </a:xfrm>
            <a:prstGeom prst="rect">
              <a:avLst/>
            </a:prstGeom>
            <a:noFill/>
          </p:spPr>
          <p:txBody>
            <a:bodyPr wrap="square" rtlCol="0">
              <a:spAutoFit/>
            </a:bodyPr>
            <a:lstStyle/>
            <a:p>
              <a:pPr algn="r"/>
              <a:r>
                <a:rPr lang="en-US" sz="2000" dirty="0">
                  <a:latin typeface="Avenir Book" panose="02000503020000020003" pitchFamily="2" charset="0"/>
                  <a:ea typeface="Avenir Book" charset="0"/>
                  <a:cs typeface="Avenir Book" charset="0"/>
                </a:rPr>
                <a:t>Sick</a:t>
              </a:r>
            </a:p>
          </p:txBody>
        </p:sp>
        <p:sp>
          <p:nvSpPr>
            <p:cNvPr id="46" name="Triangle 45">
              <a:extLst>
                <a:ext uri="{FF2B5EF4-FFF2-40B4-BE49-F238E27FC236}">
                  <a16:creationId xmlns:a16="http://schemas.microsoft.com/office/drawing/2014/main" id="{BC327CE1-EB8C-72AE-A115-BF7E5419EF15}"/>
                </a:ext>
              </a:extLst>
            </p:cNvPr>
            <p:cNvSpPr/>
            <p:nvPr/>
          </p:nvSpPr>
          <p:spPr>
            <a:xfrm>
              <a:off x="9871469" y="3093551"/>
              <a:ext cx="314114" cy="270788"/>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Avenir Book" panose="02000503020000020003" pitchFamily="2" charset="0"/>
              </a:endParaRPr>
            </a:p>
          </p:txBody>
        </p:sp>
        <p:sp>
          <p:nvSpPr>
            <p:cNvPr id="47" name="Rectangle 46">
              <a:extLst>
                <a:ext uri="{FF2B5EF4-FFF2-40B4-BE49-F238E27FC236}">
                  <a16:creationId xmlns:a16="http://schemas.microsoft.com/office/drawing/2014/main" id="{52E6EE1A-2BED-129D-AB52-BADE49500A53}"/>
                </a:ext>
              </a:extLst>
            </p:cNvPr>
            <p:cNvSpPr/>
            <p:nvPr/>
          </p:nvSpPr>
          <p:spPr>
            <a:xfrm>
              <a:off x="8525514" y="2631593"/>
              <a:ext cx="1837686" cy="835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TextBox 47">
            <a:extLst>
              <a:ext uri="{FF2B5EF4-FFF2-40B4-BE49-F238E27FC236}">
                <a16:creationId xmlns:a16="http://schemas.microsoft.com/office/drawing/2014/main" id="{58D0D6A8-EE21-5AE5-A0FC-6D68D2A29CCF}"/>
              </a:ext>
            </a:extLst>
          </p:cNvPr>
          <p:cNvSpPr txBox="1"/>
          <p:nvPr/>
        </p:nvSpPr>
        <p:spPr>
          <a:xfrm>
            <a:off x="9661217" y="258002"/>
            <a:ext cx="2391680" cy="492443"/>
          </a:xfrm>
          <a:prstGeom prst="rect">
            <a:avLst/>
          </a:prstGeom>
          <a:noFill/>
        </p:spPr>
        <p:txBody>
          <a:bodyPr wrap="none" lIns="0" tIns="0" rIns="0" bIns="0" rtlCol="0">
            <a:spAutoFit/>
          </a:bodyPr>
          <a:lstStyle/>
          <a:p>
            <a:pPr algn="ctr"/>
            <a:r>
              <a:rPr lang="en-US" sz="3200" b="1" dirty="0">
                <a:latin typeface="Avenir Book" panose="02000503020000020003" pitchFamily="2" charset="0"/>
              </a:rPr>
              <a:t>Classification</a:t>
            </a:r>
          </a:p>
        </p:txBody>
      </p:sp>
      <p:grpSp>
        <p:nvGrpSpPr>
          <p:cNvPr id="33" name="Group 32">
            <a:extLst>
              <a:ext uri="{FF2B5EF4-FFF2-40B4-BE49-F238E27FC236}">
                <a16:creationId xmlns:a16="http://schemas.microsoft.com/office/drawing/2014/main" id="{4053545A-1074-76B8-BE89-84C0DB1AEE16}"/>
              </a:ext>
            </a:extLst>
          </p:cNvPr>
          <p:cNvGrpSpPr/>
          <p:nvPr/>
        </p:nvGrpSpPr>
        <p:grpSpPr>
          <a:xfrm>
            <a:off x="3811660" y="2357408"/>
            <a:ext cx="4570340" cy="1056500"/>
            <a:chOff x="3811660" y="2357408"/>
            <a:chExt cx="4570340" cy="1056500"/>
          </a:xfrm>
        </p:grpSpPr>
        <p:cxnSp>
          <p:nvCxnSpPr>
            <p:cNvPr id="77" name="Straight Connector 76">
              <a:extLst>
                <a:ext uri="{FF2B5EF4-FFF2-40B4-BE49-F238E27FC236}">
                  <a16:creationId xmlns:a16="http://schemas.microsoft.com/office/drawing/2014/main" id="{C5A71A2E-9BED-4D6B-AE20-B8E75715FBB9}"/>
                </a:ext>
              </a:extLst>
            </p:cNvPr>
            <p:cNvCxnSpPr>
              <a:cxnSpLocks/>
            </p:cNvCxnSpPr>
            <p:nvPr/>
          </p:nvCxnSpPr>
          <p:spPr>
            <a:xfrm>
              <a:off x="3811660" y="2373853"/>
              <a:ext cx="1698310"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A6317CE-4158-34F1-82A2-AFD91400ED34}"/>
                </a:ext>
              </a:extLst>
            </p:cNvPr>
            <p:cNvCxnSpPr>
              <a:cxnSpLocks/>
            </p:cNvCxnSpPr>
            <p:nvPr/>
          </p:nvCxnSpPr>
          <p:spPr>
            <a:xfrm>
              <a:off x="5532049"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DC4BE7E-2111-4236-5C85-CA7FCA954164}"/>
                </a:ext>
              </a:extLst>
            </p:cNvPr>
            <p:cNvCxnSpPr>
              <a:cxnSpLocks/>
            </p:cNvCxnSpPr>
            <p:nvPr/>
          </p:nvCxnSpPr>
          <p:spPr>
            <a:xfrm>
              <a:off x="6141798"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BFE4CF8-FD54-D8E0-9028-FDE597606779}"/>
                </a:ext>
              </a:extLst>
            </p:cNvPr>
            <p:cNvCxnSpPr>
              <a:cxnSpLocks/>
            </p:cNvCxnSpPr>
            <p:nvPr/>
          </p:nvCxnSpPr>
          <p:spPr>
            <a:xfrm>
              <a:off x="7219508" y="2357408"/>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91E294C-7908-FCA2-3CDC-6B7DB786E437}"/>
                </a:ext>
              </a:extLst>
            </p:cNvPr>
            <p:cNvCxnSpPr>
              <a:cxnSpLocks/>
            </p:cNvCxnSpPr>
            <p:nvPr/>
          </p:nvCxnSpPr>
          <p:spPr>
            <a:xfrm>
              <a:off x="8001000" y="2364050"/>
              <a:ext cx="0" cy="1049858"/>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830146B-B7E2-CA0B-43FC-E681ADF19147}"/>
                </a:ext>
              </a:extLst>
            </p:cNvPr>
            <p:cNvCxnSpPr>
              <a:cxnSpLocks/>
            </p:cNvCxnSpPr>
            <p:nvPr/>
          </p:nvCxnSpPr>
          <p:spPr>
            <a:xfrm>
              <a:off x="6172200" y="2373853"/>
              <a:ext cx="1047308"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6E2EF6E-20B8-268A-E360-0E585C284DEA}"/>
                </a:ext>
              </a:extLst>
            </p:cNvPr>
            <p:cNvCxnSpPr>
              <a:cxnSpLocks/>
            </p:cNvCxnSpPr>
            <p:nvPr/>
          </p:nvCxnSpPr>
          <p:spPr>
            <a:xfrm>
              <a:off x="8001000" y="2364050"/>
              <a:ext cx="381000" cy="0"/>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69B2175-83C5-D2DC-FC5D-04C62FC4DFB0}"/>
                  </a:ext>
                </a:extLst>
              </p:cNvPr>
              <p:cNvSpPr txBox="1"/>
              <p:nvPr/>
            </p:nvSpPr>
            <p:spPr>
              <a:xfrm>
                <a:off x="832580" y="4431290"/>
                <a:ext cx="10522602" cy="2292935"/>
              </a:xfrm>
              <a:prstGeom prst="rect">
                <a:avLst/>
              </a:prstGeom>
              <a:noFill/>
            </p:spPr>
            <p:txBody>
              <a:bodyPr wrap="square" rtlCol="0">
                <a:spAutoFit/>
              </a:bodyPr>
              <a:lstStyle/>
              <a:p>
                <a:pPr algn="ctr"/>
                <a:r>
                  <a:rPr lang="en-US" sz="3200" b="1" u="sng" dirty="0">
                    <a:latin typeface="Avenir Book" panose="02000503020000020003" pitchFamily="2" charset="0"/>
                  </a:rPr>
                  <a:t>Complex Decision Tree</a:t>
                </a:r>
              </a:p>
              <a:p>
                <a:pPr algn="ctr">
                  <a:spcAft>
                    <a:spcPts val="1800"/>
                  </a:spcAft>
                </a:pPr>
                <a:r>
                  <a:rPr lang="en-US" sz="2400" dirty="0">
                    <a:latin typeface="Avenir Book" panose="02000503020000020003" pitchFamily="2" charset="0"/>
                  </a:rPr>
                  <a:t>“If normal cough AND NOT (93.5% </a:t>
                </a:r>
                <a14:m>
                  <m:oMath xmlns:m="http://schemas.openxmlformats.org/officeDocument/2006/math">
                    <m:r>
                      <a:rPr lang="en-US" sz="2400" i="1" dirty="0">
                        <a:latin typeface="Cambria Math" panose="02040503050406030204" pitchFamily="18" charset="0"/>
                        <a:ea typeface="Cambria Math" panose="02040503050406030204" pitchFamily="18" charset="0"/>
                        <a:cs typeface="Avenir Book" charset="0"/>
                      </a:rPr>
                      <m:t>≤ </m:t>
                    </m:r>
                  </m:oMath>
                </a14:m>
                <a:r>
                  <a:rPr lang="en-US" sz="2400" dirty="0">
                    <a:latin typeface="Avenir Book" panose="02000503020000020003" pitchFamily="2" charset="0"/>
                    <a:ea typeface="Avenir Book" charset="0"/>
                    <a:cs typeface="Avenir Book" charset="0"/>
                  </a:rPr>
                  <a:t>SpO</a:t>
                </a:r>
                <a:r>
                  <a:rPr lang="en-US" sz="2400" baseline="-25000" dirty="0">
                    <a:latin typeface="Avenir Book" panose="02000503020000020003" pitchFamily="2" charset="0"/>
                    <a:ea typeface="Avenir Book" charset="0"/>
                    <a:cs typeface="Avenir Book" charset="0"/>
                  </a:rPr>
                  <a:t>2 </a:t>
                </a:r>
                <a14:m>
                  <m:oMath xmlns:m="http://schemas.openxmlformats.org/officeDocument/2006/math">
                    <m:r>
                      <a:rPr lang="en-US" sz="2400" i="1" dirty="0">
                        <a:latin typeface="Cambria Math" panose="02040503050406030204" pitchFamily="18" charset="0"/>
                        <a:ea typeface="Cambria Math" panose="02040503050406030204" pitchFamily="18" charset="0"/>
                        <a:cs typeface="Avenir Book" charset="0"/>
                      </a:rPr>
                      <m:t>≤</m:t>
                    </m:r>
                  </m:oMath>
                </a14:m>
                <a:r>
                  <a:rPr lang="en-US" sz="2400" dirty="0">
                    <a:latin typeface="Avenir Book" panose="02000503020000020003" pitchFamily="2" charset="0"/>
                  </a:rPr>
                  <a:t> 95% OR </a:t>
                </a:r>
                <a:br>
                  <a:rPr lang="en-US" sz="2400" dirty="0">
                    <a:latin typeface="Avenir Book" panose="02000503020000020003" pitchFamily="2" charset="0"/>
                  </a:rPr>
                </a:br>
                <a:r>
                  <a:rPr lang="en-US" sz="2400" dirty="0">
                    <a:latin typeface="Avenir Book" panose="02000503020000020003" pitchFamily="2" charset="0"/>
                  </a:rPr>
                  <a:t>97.5% </a:t>
                </a:r>
                <a14:m>
                  <m:oMath xmlns:m="http://schemas.openxmlformats.org/officeDocument/2006/math">
                    <m:r>
                      <a:rPr lang="en-US" sz="2400" i="1" dirty="0">
                        <a:latin typeface="Cambria Math" panose="02040503050406030204" pitchFamily="18" charset="0"/>
                        <a:ea typeface="Cambria Math" panose="02040503050406030204" pitchFamily="18" charset="0"/>
                        <a:cs typeface="Avenir Book" charset="0"/>
                      </a:rPr>
                      <m:t>≤ </m:t>
                    </m:r>
                  </m:oMath>
                </a14:m>
                <a:r>
                  <a:rPr lang="en-US" sz="2400" dirty="0">
                    <a:latin typeface="Avenir Book" panose="02000503020000020003" pitchFamily="2" charset="0"/>
                    <a:ea typeface="Avenir Book" charset="0"/>
                    <a:cs typeface="Avenir Book" charset="0"/>
                  </a:rPr>
                  <a:t>SpO</a:t>
                </a:r>
                <a:r>
                  <a:rPr lang="en-US" sz="2400" baseline="-25000" dirty="0">
                    <a:latin typeface="Avenir Book" panose="02000503020000020003" pitchFamily="2" charset="0"/>
                    <a:ea typeface="Avenir Book" charset="0"/>
                    <a:cs typeface="Avenir Book" charset="0"/>
                  </a:rPr>
                  <a:t>2 </a:t>
                </a:r>
                <a14:m>
                  <m:oMath xmlns:m="http://schemas.openxmlformats.org/officeDocument/2006/math">
                    <m:r>
                      <a:rPr lang="en-US" sz="2400" i="1" dirty="0">
                        <a:latin typeface="Cambria Math" panose="02040503050406030204" pitchFamily="18" charset="0"/>
                        <a:ea typeface="Cambria Math" panose="02040503050406030204" pitchFamily="18" charset="0"/>
                        <a:cs typeface="Avenir Book" charset="0"/>
                      </a:rPr>
                      <m:t>≤</m:t>
                    </m:r>
                  </m:oMath>
                </a14:m>
                <a:r>
                  <a:rPr lang="en-US" sz="2400" dirty="0">
                    <a:latin typeface="Avenir Book" panose="02000503020000020003" pitchFamily="2" charset="0"/>
                  </a:rPr>
                  <a:t> 99%), the patient is healthy”</a:t>
                </a:r>
              </a:p>
              <a:p>
                <a:pPr algn="ctr"/>
                <a:r>
                  <a:rPr lang="en-US" sz="2400" dirty="0">
                    <a:latin typeface="Avenir Book" panose="02000503020000020003" pitchFamily="2" charset="0"/>
                  </a:rPr>
                  <a:t>The model has perfect accuracy (100%), but the rule </a:t>
                </a:r>
                <a:br>
                  <a:rPr lang="en-US" sz="2400" dirty="0">
                    <a:latin typeface="Avenir Book" panose="02000503020000020003" pitchFamily="2" charset="0"/>
                  </a:rPr>
                </a:br>
                <a:r>
                  <a:rPr lang="en-US" sz="2400" dirty="0">
                    <a:latin typeface="Avenir Book" panose="02000503020000020003" pitchFamily="2" charset="0"/>
                  </a:rPr>
                  <a:t>does not seem to be clinically sensible</a:t>
                </a:r>
              </a:p>
            </p:txBody>
          </p:sp>
        </mc:Choice>
        <mc:Fallback xmlns="">
          <p:sp>
            <p:nvSpPr>
              <p:cNvPr id="61" name="TextBox 60">
                <a:extLst>
                  <a:ext uri="{FF2B5EF4-FFF2-40B4-BE49-F238E27FC236}">
                    <a16:creationId xmlns:a16="http://schemas.microsoft.com/office/drawing/2014/main" id="{969B2175-83C5-D2DC-FC5D-04C62FC4DFB0}"/>
                  </a:ext>
                </a:extLst>
              </p:cNvPr>
              <p:cNvSpPr txBox="1">
                <a:spLocks noRot="1" noChangeAspect="1" noMove="1" noResize="1" noEditPoints="1" noAdjustHandles="1" noChangeArrowheads="1" noChangeShapeType="1" noTextEdit="1"/>
              </p:cNvSpPr>
              <p:nvPr/>
            </p:nvSpPr>
            <p:spPr>
              <a:xfrm>
                <a:off x="832580" y="4431290"/>
                <a:ext cx="10522602" cy="2292935"/>
              </a:xfrm>
              <a:prstGeom prst="rect">
                <a:avLst/>
              </a:prstGeom>
              <a:blipFill>
                <a:blip r:embed="rId3"/>
                <a:stretch>
                  <a:fillRect t="-3297" b="-5495"/>
                </a:stretch>
              </a:blipFill>
            </p:spPr>
            <p:txBody>
              <a:bodyPr/>
              <a:lstStyle/>
              <a:p>
                <a:r>
                  <a:rPr lang="en-US">
                    <a:noFill/>
                  </a:rPr>
                  <a:t> </a:t>
                </a:r>
              </a:p>
            </p:txBody>
          </p:sp>
        </mc:Fallback>
      </mc:AlternateContent>
    </p:spTree>
    <p:extLst>
      <p:ext uri="{BB962C8B-B14F-4D97-AF65-F5344CB8AC3E}">
        <p14:creationId xmlns:p14="http://schemas.microsoft.com/office/powerpoint/2010/main" val="129564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80"/>
                                        </p:tgtEl>
                                        <p:attrNameLst>
                                          <p:attrName>style.visibility</p:attrName>
                                        </p:attrNameLst>
                                      </p:cBhvr>
                                      <p:to>
                                        <p:strVal val="visible"/>
                                      </p:to>
                                    </p:set>
                                    <p:animEffect transition="in" filter="fade">
                                      <p:cBhvr>
                                        <p:cTn id="19" dur="500"/>
                                        <p:tgtEl>
                                          <p:spTgt spid="8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1">
                                            <p:txEl>
                                              <p:pRg st="0" end="0"/>
                                            </p:txEl>
                                          </p:spTgt>
                                        </p:tgtEl>
                                        <p:attrNameLst>
                                          <p:attrName>style.visibility</p:attrName>
                                        </p:attrNameLst>
                                      </p:cBhvr>
                                      <p:to>
                                        <p:strVal val="visible"/>
                                      </p:to>
                                    </p:set>
                                    <p:animEffect transition="in" filter="fade">
                                      <p:cBhvr>
                                        <p:cTn id="24" dur="500"/>
                                        <p:tgtEl>
                                          <p:spTgt spid="61">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1">
                                            <p:txEl>
                                              <p:pRg st="1" end="1"/>
                                            </p:txEl>
                                          </p:spTgt>
                                        </p:tgtEl>
                                        <p:attrNameLst>
                                          <p:attrName>style.visibility</p:attrName>
                                        </p:attrNameLst>
                                      </p:cBhvr>
                                      <p:to>
                                        <p:strVal val="visible"/>
                                      </p:to>
                                    </p:set>
                                    <p:animEffect transition="in" filter="fade">
                                      <p:cBhvr>
                                        <p:cTn id="27" dur="500"/>
                                        <p:tgtEl>
                                          <p:spTgt spid="61">
                                            <p:txEl>
                                              <p:pRg st="1" end="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1">
                                            <p:txEl>
                                              <p:pRg st="2" end="2"/>
                                            </p:txEl>
                                          </p:spTgt>
                                        </p:tgtEl>
                                        <p:attrNameLst>
                                          <p:attrName>style.visibility</p:attrName>
                                        </p:attrNameLst>
                                      </p:cBhvr>
                                      <p:to>
                                        <p:strVal val="visible"/>
                                      </p:to>
                                    </p:set>
                                    <p:animEffect transition="in" filter="fade">
                                      <p:cBhvr>
                                        <p:cTn id="35" dur="500"/>
                                        <p:tgtEl>
                                          <p:spTgt spid="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61"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problem you 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281976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3">
                                            <p:txEl>
                                              <p:pRg st="0" end="0"/>
                                            </p:txEl>
                                          </p:spTgt>
                                        </p:tgtEl>
                                        <p:attrNameLst>
                                          <p:attrName>style.opacity</p:attrName>
                                        </p:attrNameLst>
                                      </p:cBhvr>
                                      <p:to>
                                        <p:strVal val="0.25"/>
                                      </p:to>
                                    </p:set>
                                    <p:animEffect filter="image" prLst="opacity: 0.25">
                                      <p:cBhvr rctx="IE">
                                        <p:cTn id="7" dur="indefinite"/>
                                        <p:tgtEl>
                                          <p:spTgt spid="3">
                                            <p:txEl>
                                              <p:pRg st="0" end="0"/>
                                            </p:txEl>
                                          </p:spTgt>
                                        </p:tgtEl>
                                      </p:cBhvr>
                                    </p:animEffect>
                                  </p:childTnLst>
                                </p:cTn>
                              </p:par>
                              <p:par>
                                <p:cTn id="8" presetID="9" presetClass="emph" presetSubtype="0" grpId="0" nodeType="withEffect">
                                  <p:stCondLst>
                                    <p:cond delay="0"/>
                                  </p:stCondLst>
                                  <p:childTnLst>
                                    <p:set>
                                      <p:cBhvr>
                                        <p:cTn id="9" dur="indefinite"/>
                                        <p:tgtEl>
                                          <p:spTgt spid="3">
                                            <p:txEl>
                                              <p:pRg st="1" end="1"/>
                                            </p:txEl>
                                          </p:spTgt>
                                        </p:tgtEl>
                                        <p:attrNameLst>
                                          <p:attrName>style.opacity</p:attrName>
                                        </p:attrNameLst>
                                      </p:cBhvr>
                                      <p:to>
                                        <p:strVal val="0.25"/>
                                      </p:to>
                                    </p:set>
                                    <p:animEffect filter="image" prLst="opacity: 0.25">
                                      <p:cBhvr rctx="IE">
                                        <p:cTn id="10" dur="indefinite"/>
                                        <p:tgtEl>
                                          <p:spTgt spid="3">
                                            <p:txEl>
                                              <p:pRg st="1" end="1"/>
                                            </p:txEl>
                                          </p:spTgt>
                                        </p:tgtEl>
                                      </p:cBhvr>
                                    </p:animEffect>
                                  </p:childTnLst>
                                </p:cTn>
                              </p:par>
                              <p:par>
                                <p:cTn id="11" presetID="9" presetClass="emph" presetSubtype="0" grpId="0" nodeType="withEffect">
                                  <p:stCondLst>
                                    <p:cond delay="0"/>
                                  </p:stCondLst>
                                  <p:childTnLst>
                                    <p:set>
                                      <p:cBhvr>
                                        <p:cTn id="12" dur="indefinite"/>
                                        <p:tgtEl>
                                          <p:spTgt spid="3">
                                            <p:txEl>
                                              <p:pRg st="2" end="2"/>
                                            </p:txEl>
                                          </p:spTgt>
                                        </p:tgtEl>
                                        <p:attrNameLst>
                                          <p:attrName>style.opacity</p:attrName>
                                        </p:attrNameLst>
                                      </p:cBhvr>
                                      <p:to>
                                        <p:strVal val="0.25"/>
                                      </p:to>
                                    </p:set>
                                    <p:animEffect filter="image" prLst="opacity: 0.25">
                                      <p:cBhvr rctx="IE">
                                        <p:cTn id="13" dur="indefinite"/>
                                        <p:tgtEl>
                                          <p:spTgt spid="3">
                                            <p:txEl>
                                              <p:pRg st="2" end="2"/>
                                            </p:txEl>
                                          </p:spTgt>
                                        </p:tgtEl>
                                      </p:cBhvr>
                                    </p:animEffect>
                                  </p:childTnLst>
                                </p:cTn>
                              </p:par>
                              <p:par>
                                <p:cTn id="14" presetID="9" presetClass="emph" presetSubtype="0" grpId="0" nodeType="withEffect">
                                  <p:stCondLst>
                                    <p:cond delay="0"/>
                                  </p:stCondLst>
                                  <p:childTnLst>
                                    <p:set>
                                      <p:cBhvr>
                                        <p:cTn id="15" dur="indefinite"/>
                                        <p:tgtEl>
                                          <p:spTgt spid="3">
                                            <p:txEl>
                                              <p:pRg st="3" end="3"/>
                                            </p:txEl>
                                          </p:spTgt>
                                        </p:tgtEl>
                                        <p:attrNameLst>
                                          <p:attrName>style.opacity</p:attrName>
                                        </p:attrNameLst>
                                      </p:cBhvr>
                                      <p:to>
                                        <p:strVal val="0.25"/>
                                      </p:to>
                                    </p:set>
                                    <p:animEffect filter="image" prLst="opacity: 0.25">
                                      <p:cBhvr rctx="IE">
                                        <p:cTn id="16" dur="indefinite"/>
                                        <p:tgtEl>
                                          <p:spTgt spid="3">
                                            <p:txEl>
                                              <p:pRg st="3" end="3"/>
                                            </p:txEl>
                                          </p:spTgt>
                                        </p:tgtEl>
                                      </p:cBhvr>
                                    </p:animEffect>
                                  </p:childTnLst>
                                </p:cTn>
                              </p:par>
                              <p:par>
                                <p:cTn id="17" presetID="9" presetClass="emph" presetSubtype="0" grpId="0" nodeType="withEffect">
                                  <p:stCondLst>
                                    <p:cond delay="0"/>
                                  </p:stCondLst>
                                  <p:childTnLst>
                                    <p:set>
                                      <p:cBhvr>
                                        <p:cTn id="18" dur="indefinite"/>
                                        <p:tgtEl>
                                          <p:spTgt spid="3">
                                            <p:txEl>
                                              <p:pRg st="4" end="4"/>
                                            </p:txEl>
                                          </p:spTgt>
                                        </p:tgtEl>
                                        <p:attrNameLst>
                                          <p:attrName>style.opacity</p:attrName>
                                        </p:attrNameLst>
                                      </p:cBhvr>
                                      <p:to>
                                        <p:strVal val="0.25"/>
                                      </p:to>
                                    </p:set>
                                    <p:animEffect filter="image" prLst="opacity: 0.25">
                                      <p:cBhvr rctx="IE">
                                        <p:cTn id="19" dur="indefinite"/>
                                        <p:tgtEl>
                                          <p:spTgt spid="3">
                                            <p:txEl>
                                              <p:pRg st="4" end="4"/>
                                            </p:txEl>
                                          </p:spTgt>
                                        </p:tgtEl>
                                      </p:cBhvr>
                                    </p:animEffect>
                                  </p:childTnLst>
                                </p:cTn>
                              </p:par>
                              <p:par>
                                <p:cTn id="20" presetID="9" presetClass="emph" presetSubtype="0" grpId="0" nodeType="withEffect">
                                  <p:stCondLst>
                                    <p:cond delay="0"/>
                                  </p:stCondLst>
                                  <p:childTnLst>
                                    <p:set>
                                      <p:cBhvr>
                                        <p:cTn id="21" dur="indefinite"/>
                                        <p:tgtEl>
                                          <p:spTgt spid="3">
                                            <p:txEl>
                                              <p:pRg st="5" end="5"/>
                                            </p:txEl>
                                          </p:spTgt>
                                        </p:tgtEl>
                                        <p:attrNameLst>
                                          <p:attrName>style.opacity</p:attrName>
                                        </p:attrNameLst>
                                      </p:cBhvr>
                                      <p:to>
                                        <p:strVal val="0.25"/>
                                      </p:to>
                                    </p:set>
                                    <p:animEffect filter="image" prLst="opacity: 0.25">
                                      <p:cBhvr rctx="IE">
                                        <p:cTn id="22" dur="indefinite"/>
                                        <p:tgtEl>
                                          <p:spTgt spid="3">
                                            <p:txEl>
                                              <p:pRg st="5" end="5"/>
                                            </p:txEl>
                                          </p:spTgt>
                                        </p:tgtEl>
                                      </p:cBhvr>
                                    </p:animEffect>
                                  </p:childTnLst>
                                </p:cTn>
                              </p:par>
                              <p:par>
                                <p:cTn id="23" presetID="9" presetClass="emph" presetSubtype="0" grpId="0" nodeType="withEffect">
                                  <p:stCondLst>
                                    <p:cond delay="0"/>
                                  </p:stCondLst>
                                  <p:childTnLst>
                                    <p:set>
                                      <p:cBhvr>
                                        <p:cTn id="24" dur="indefinite"/>
                                        <p:tgtEl>
                                          <p:spTgt spid="3">
                                            <p:txEl>
                                              <p:pRg st="6" end="6"/>
                                            </p:txEl>
                                          </p:spTgt>
                                        </p:tgtEl>
                                        <p:attrNameLst>
                                          <p:attrName>style.opacity</p:attrName>
                                        </p:attrNameLst>
                                      </p:cBhvr>
                                      <p:to>
                                        <p:strVal val="0.25"/>
                                      </p:to>
                                    </p:set>
                                    <p:animEffect filter="image" prLst="opacity: 0.25">
                                      <p:cBhvr rctx="IE">
                                        <p:cTn id="25" dur="indefinite"/>
                                        <p:tgtEl>
                                          <p:spTgt spid="3">
                                            <p:txEl>
                                              <p:pRg st="6" end="6"/>
                                            </p:txEl>
                                          </p:spTgt>
                                        </p:tgtEl>
                                      </p:cBhvr>
                                    </p:animEffect>
                                  </p:childTnLst>
                                </p:cTn>
                              </p:par>
                              <p:par>
                                <p:cTn id="26" presetID="9" presetClass="emph" presetSubtype="0" grpId="0" nodeType="withEffect">
                                  <p:stCondLst>
                                    <p:cond delay="0"/>
                                  </p:stCondLst>
                                  <p:childTnLst>
                                    <p:set>
                                      <p:cBhvr>
                                        <p:cTn id="27" dur="indefinite"/>
                                        <p:tgtEl>
                                          <p:spTgt spid="3">
                                            <p:txEl>
                                              <p:pRg st="8" end="8"/>
                                            </p:txEl>
                                          </p:spTgt>
                                        </p:tgtEl>
                                        <p:attrNameLst>
                                          <p:attrName>style.opacity</p:attrName>
                                        </p:attrNameLst>
                                      </p:cBhvr>
                                      <p:to>
                                        <p:strVal val="0.25"/>
                                      </p:to>
                                    </p:set>
                                    <p:animEffect filter="image" prLst="opacity: 0.25">
                                      <p:cBhvr rctx="IE">
                                        <p:cTn id="28" dur="indefinite"/>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grpId="1" nodeType="clickEffect">
                                  <p:stCondLst>
                                    <p:cond delay="0"/>
                                  </p:stCondLst>
                                  <p:childTnLst>
                                    <p:set>
                                      <p:cBhvr>
                                        <p:cTn id="32" dur="indefinite"/>
                                        <p:tgtEl>
                                          <p:spTgt spid="3">
                                            <p:txEl>
                                              <p:pRg st="7" end="7"/>
                                            </p:txEl>
                                          </p:spTgt>
                                        </p:tgtEl>
                                        <p:attrNameLst>
                                          <p:attrName>style.opacity</p:attrName>
                                        </p:attrNameLst>
                                      </p:cBhvr>
                                      <p:to>
                                        <p:strVal val="0.25"/>
                                      </p:to>
                                    </p:set>
                                    <p:animEffect filter="image" prLst="opacity: 0.25">
                                      <p:cBhvr rctx="IE">
                                        <p:cTn id="33" dur="indefinite"/>
                                        <p:tgtEl>
                                          <p:spTgt spid="3">
                                            <p:txEl>
                                              <p:pRg st="7" end="7"/>
                                            </p:txEl>
                                          </p:spTgt>
                                        </p:tgtEl>
                                      </p:cBhvr>
                                    </p:animEffect>
                                  </p:childTnLst>
                                </p:cTn>
                              </p:par>
                              <p:par>
                                <p:cTn id="34" presetID="9" presetClass="emph" presetSubtype="0" grpId="1" nodeType="withEffect">
                                  <p:stCondLst>
                                    <p:cond delay="0"/>
                                  </p:stCondLst>
                                  <p:childTnLst>
                                    <p:set>
                                      <p:cBhvr>
                                        <p:cTn id="35" dur="indefinite"/>
                                        <p:tgtEl>
                                          <p:spTgt spid="3">
                                            <p:txEl>
                                              <p:pRg st="8" end="8"/>
                                            </p:txEl>
                                          </p:spTgt>
                                        </p:tgtEl>
                                        <p:attrNameLst>
                                          <p:attrName>style.opacity</p:attrName>
                                        </p:attrNameLst>
                                      </p:cBhvr>
                                      <p:to>
                                        <p:strVal val="1"/>
                                      </p:to>
                                    </p:set>
                                    <p:animEffect filter="image" prLst="opacity: 1">
                                      <p:cBhvr rctx="IE">
                                        <p:cTn id="36" dur="indefinite"/>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4C6E6-1B0B-272F-7673-17CEE1999161}"/>
              </a:ext>
            </a:extLst>
          </p:cNvPr>
          <p:cNvSpPr>
            <a:spLocks noGrp="1"/>
          </p:cNvSpPr>
          <p:nvPr>
            <p:ph type="title"/>
          </p:nvPr>
        </p:nvSpPr>
        <p:spPr/>
        <p:txBody>
          <a:bodyPr/>
          <a:lstStyle/>
          <a:p>
            <a:r>
              <a:rPr lang="en-US" dirty="0"/>
              <a:t>Regression Evaluation Metrics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DF45E2-C565-A024-08A7-0A0407043808}"/>
                  </a:ext>
                </a:extLst>
              </p:cNvPr>
              <p:cNvSpPr>
                <a:spLocks noGrp="1"/>
              </p:cNvSpPr>
              <p:nvPr>
                <p:ph idx="1"/>
              </p:nvPr>
            </p:nvSpPr>
            <p:spPr>
              <a:xfrm>
                <a:off x="3759200" y="1600202"/>
                <a:ext cx="8432800" cy="4800598"/>
              </a:xfrm>
            </p:spPr>
            <p:txBody>
              <a:bodyPr>
                <a:normAutofit fontScale="92500" lnSpcReduction="20000"/>
              </a:bodyPr>
              <a:lstStyle/>
              <a:p>
                <a:r>
                  <a:rPr lang="en-US" sz="2800" b="1" u="sng" dirty="0">
                    <a:latin typeface="Avenir Book" panose="02000503020000020003" pitchFamily="2" charset="0"/>
                    <a:cs typeface="Calibri" panose="020F0502020204030204" pitchFamily="34" charset="0"/>
                  </a:rPr>
                  <a:t>Mean error</a:t>
                </a:r>
                <a:r>
                  <a:rPr lang="en-US" sz="2800" b="1" dirty="0">
                    <a:latin typeface="Avenir Book" panose="02000503020000020003" pitchFamily="2" charset="0"/>
                    <a:cs typeface="Calibri" panose="020F0502020204030204" pitchFamily="34" charset="0"/>
                  </a:rPr>
                  <a:t>:</a:t>
                </a:r>
                <a:r>
                  <a:rPr lang="en-US" sz="2800" dirty="0">
                    <a:latin typeface="Avenir Book" panose="02000503020000020003" pitchFamily="2" charset="0"/>
                    <a:cs typeface="Calibri" panose="020F0502020204030204" pitchFamily="34" charset="0"/>
                  </a:rPr>
                  <a:t> </a:t>
                </a:r>
                <a14:m>
                  <m:oMath xmlns:m="http://schemas.openxmlformats.org/officeDocument/2006/math">
                    <m:f>
                      <m:fPr>
                        <m:ctrlPr>
                          <a:rPr lang="en-US" sz="2800" i="1" smtClean="0">
                            <a:latin typeface="Cambria Math" panose="02040503050406030204" pitchFamily="18" charset="0"/>
                            <a:cs typeface="Calibri" panose="020F0502020204030204" pitchFamily="34" charset="0"/>
                          </a:rPr>
                        </m:ctrlPr>
                      </m:fPr>
                      <m:num>
                        <m:r>
                          <a:rPr lang="en-US" sz="2800" b="0" i="1" smtClean="0">
                            <a:latin typeface="Cambria Math" panose="02040503050406030204" pitchFamily="18" charset="0"/>
                            <a:cs typeface="Calibri" panose="020F0502020204030204" pitchFamily="34" charset="0"/>
                          </a:rPr>
                          <m:t>1</m:t>
                        </m:r>
                      </m:num>
                      <m:den>
                        <m:r>
                          <a:rPr lang="en-US" sz="2800" b="0" i="1" smtClean="0">
                            <a:latin typeface="Cambria Math" panose="02040503050406030204" pitchFamily="18" charset="0"/>
                            <a:cs typeface="Calibri" panose="020F0502020204030204" pitchFamily="34" charset="0"/>
                          </a:rPr>
                          <m:t>𝑁</m:t>
                        </m:r>
                      </m:den>
                    </m:f>
                    <m:nary>
                      <m:naryPr>
                        <m:chr m:val="∑"/>
                        <m:supHide m:val="on"/>
                        <m:ctrlPr>
                          <a:rPr lang="en-US" sz="2800" i="1">
                            <a:latin typeface="Cambria Math" panose="02040503050406030204" pitchFamily="18" charset="0"/>
                            <a:cs typeface="Calibri" panose="020F0502020204030204" pitchFamily="34" charset="0"/>
                          </a:rPr>
                        </m:ctrlPr>
                      </m:naryPr>
                      <m:sub>
                        <m:r>
                          <m:rPr>
                            <m:brk m:alnAt="7"/>
                          </m:rPr>
                          <a:rPr lang="en-US" sz="2800" i="1">
                            <a:latin typeface="Cambria Math" panose="02040503050406030204" pitchFamily="18" charset="0"/>
                            <a:cs typeface="Calibri" panose="020F0502020204030204" pitchFamily="34" charset="0"/>
                          </a:rPr>
                          <m:t>𝑖</m:t>
                        </m:r>
                      </m:sub>
                      <m:sup/>
                      <m:e>
                        <m:sSub>
                          <m:sSubPr>
                            <m:ctrlPr>
                              <a:rPr lang="en-US" sz="2800" i="1">
                                <a:latin typeface="Cambria Math" panose="02040503050406030204" pitchFamily="18" charset="0"/>
                                <a:cs typeface="Calibri" panose="020F0502020204030204" pitchFamily="34" charset="0"/>
                              </a:rPr>
                            </m:ctrlPr>
                          </m:sSubPr>
                          <m:e>
                            <m:r>
                              <m:rPr>
                                <m:nor/>
                              </m:rPr>
                              <a:rPr lang="en-US" sz="2800" b="0" i="0" smtClean="0">
                                <a:latin typeface="Cambria Math" panose="02040503050406030204" pitchFamily="18" charset="0"/>
                                <a:cs typeface="Calibri" panose="020F0502020204030204" pitchFamily="34" charset="0"/>
                              </a:rPr>
                              <m:t>Predicted</m:t>
                            </m:r>
                          </m:e>
                          <m:sub>
                            <m:r>
                              <a:rPr lang="en-US" sz="2800" i="1">
                                <a:latin typeface="Cambria Math" panose="02040503050406030204" pitchFamily="18" charset="0"/>
                                <a:cs typeface="Calibri" panose="020F0502020204030204" pitchFamily="34" charset="0"/>
                              </a:rPr>
                              <m:t>𝑖</m:t>
                            </m:r>
                          </m:sub>
                        </m:sSub>
                        <m:r>
                          <a:rPr lang="en-US" sz="2800" i="1">
                            <a:latin typeface="Cambria Math" panose="02040503050406030204" pitchFamily="18" charset="0"/>
                            <a:cs typeface="Calibri" panose="020F0502020204030204" pitchFamily="34" charset="0"/>
                          </a:rPr>
                          <m:t>−</m:t>
                        </m:r>
                        <m:sSub>
                          <m:sSubPr>
                            <m:ctrlPr>
                              <a:rPr lang="en-US" sz="2800" i="1">
                                <a:latin typeface="Cambria Math" panose="02040503050406030204" pitchFamily="18" charset="0"/>
                                <a:cs typeface="Calibri" panose="020F0502020204030204" pitchFamily="34" charset="0"/>
                              </a:rPr>
                            </m:ctrlPr>
                          </m:sSubPr>
                          <m:e>
                            <m:r>
                              <m:rPr>
                                <m:nor/>
                              </m:rPr>
                              <a:rPr lang="en-US" sz="2800" b="0" i="0" smtClean="0">
                                <a:latin typeface="Cambria Math" panose="02040503050406030204" pitchFamily="18" charset="0"/>
                                <a:cs typeface="Calibri" panose="020F0502020204030204" pitchFamily="34" charset="0"/>
                              </a:rPr>
                              <m:t>Actual</m:t>
                            </m:r>
                          </m:e>
                          <m:sub>
                            <m:r>
                              <a:rPr lang="en-US" sz="2800" i="1">
                                <a:latin typeface="Cambria Math" panose="02040503050406030204" pitchFamily="18" charset="0"/>
                                <a:cs typeface="Calibri" panose="020F0502020204030204" pitchFamily="34" charset="0"/>
                              </a:rPr>
                              <m:t>𝑖</m:t>
                            </m:r>
                          </m:sub>
                        </m:sSub>
                      </m:e>
                    </m:nary>
                  </m:oMath>
                </a14:m>
                <a:endParaRPr lang="en-US" sz="2800" dirty="0">
                  <a:latin typeface="Avenir Book" panose="02000503020000020003" pitchFamily="2" charset="0"/>
                  <a:cs typeface="Calibri" panose="020F0502020204030204" pitchFamily="34" charset="0"/>
                </a:endParaRPr>
              </a:p>
              <a:p>
                <a:pPr marL="457200" indent="-457200">
                  <a:spcAft>
                    <a:spcPts val="1800"/>
                  </a:spcAft>
                  <a:buFont typeface="Arial" panose="020B0604020202020204" pitchFamily="34" charset="0"/>
                  <a:buChar char="•"/>
                </a:pPr>
                <a:r>
                  <a:rPr lang="en-US" sz="2800" dirty="0">
                    <a:latin typeface="Avenir Book" panose="02000503020000020003" pitchFamily="2" charset="0"/>
                    <a:cs typeface="Calibri" panose="020F0502020204030204" pitchFamily="34" charset="0"/>
                  </a:rPr>
                  <a:t>Good for identifying if you are over- or </a:t>
                </a:r>
                <a:br>
                  <a:rPr lang="en-US" sz="2800" dirty="0">
                    <a:latin typeface="Avenir Book" panose="02000503020000020003" pitchFamily="2" charset="0"/>
                    <a:cs typeface="Calibri" panose="020F0502020204030204" pitchFamily="34" charset="0"/>
                  </a:rPr>
                </a:br>
                <a:r>
                  <a:rPr lang="en-US" sz="2800" dirty="0">
                    <a:latin typeface="Avenir Book" panose="02000503020000020003" pitchFamily="2" charset="0"/>
                    <a:cs typeface="Calibri" panose="020F0502020204030204" pitchFamily="34" charset="0"/>
                  </a:rPr>
                  <a:t>under-estimating</a:t>
                </a:r>
              </a:p>
              <a:p>
                <a:r>
                  <a:rPr lang="en-US" sz="2800" b="1" u="sng" dirty="0">
                    <a:latin typeface="Avenir Book" panose="02000503020000020003" pitchFamily="2" charset="0"/>
                    <a:cs typeface="Calibri" panose="020F0502020204030204" pitchFamily="34" charset="0"/>
                  </a:rPr>
                  <a:t>Mean absolute error</a:t>
                </a:r>
                <a:r>
                  <a:rPr lang="en-US" sz="2800" b="1" dirty="0">
                    <a:latin typeface="Avenir Book" panose="02000503020000020003" pitchFamily="2" charset="0"/>
                    <a:cs typeface="Calibri" panose="020F0502020204030204" pitchFamily="34" charset="0"/>
                  </a:rPr>
                  <a:t>: </a:t>
                </a:r>
                <a14:m>
                  <m:oMath xmlns:m="http://schemas.openxmlformats.org/officeDocument/2006/math">
                    <m:f>
                      <m:fPr>
                        <m:ctrlPr>
                          <a:rPr lang="en-US" sz="2800" i="1">
                            <a:latin typeface="Cambria Math" panose="02040503050406030204" pitchFamily="18" charset="0"/>
                            <a:cs typeface="Calibri" panose="020F0502020204030204" pitchFamily="34" charset="0"/>
                          </a:rPr>
                        </m:ctrlPr>
                      </m:fPr>
                      <m:num>
                        <m:r>
                          <a:rPr lang="en-US" sz="2800" i="1">
                            <a:latin typeface="Cambria Math" panose="02040503050406030204" pitchFamily="18" charset="0"/>
                            <a:cs typeface="Calibri" panose="020F0502020204030204" pitchFamily="34" charset="0"/>
                          </a:rPr>
                          <m:t>1</m:t>
                        </m:r>
                      </m:num>
                      <m:den>
                        <m:r>
                          <a:rPr lang="en-US" sz="2800" i="1">
                            <a:latin typeface="Cambria Math" panose="02040503050406030204" pitchFamily="18" charset="0"/>
                            <a:cs typeface="Calibri" panose="020F0502020204030204" pitchFamily="34" charset="0"/>
                          </a:rPr>
                          <m:t>𝑁</m:t>
                        </m:r>
                      </m:den>
                    </m:f>
                    <m:nary>
                      <m:naryPr>
                        <m:chr m:val="∑"/>
                        <m:supHide m:val="on"/>
                        <m:ctrlPr>
                          <a:rPr lang="en-US" sz="2800" i="1">
                            <a:latin typeface="Cambria Math" panose="02040503050406030204" pitchFamily="18" charset="0"/>
                            <a:cs typeface="Calibri" panose="020F0502020204030204" pitchFamily="34" charset="0"/>
                          </a:rPr>
                        </m:ctrlPr>
                      </m:naryPr>
                      <m:sub>
                        <m:r>
                          <m:rPr>
                            <m:brk m:alnAt="7"/>
                          </m:rPr>
                          <a:rPr lang="en-US" sz="2800" i="1">
                            <a:latin typeface="Cambria Math" panose="02040503050406030204" pitchFamily="18" charset="0"/>
                            <a:cs typeface="Calibri" panose="020F0502020204030204" pitchFamily="34" charset="0"/>
                          </a:rPr>
                          <m:t>𝑖</m:t>
                        </m:r>
                      </m:sub>
                      <m:sup/>
                      <m:e>
                        <m:d>
                          <m:dPr>
                            <m:begChr m:val="|"/>
                            <m:endChr m:val="|"/>
                            <m:ctrlPr>
                              <a:rPr lang="en-US" sz="2800" i="1" smtClean="0">
                                <a:latin typeface="Cambria Math" panose="02040503050406030204" pitchFamily="18" charset="0"/>
                                <a:cs typeface="Calibri" panose="020F0502020204030204" pitchFamily="34" charset="0"/>
                              </a:rPr>
                            </m:ctrlPr>
                          </m:dPr>
                          <m:e>
                            <m:sSub>
                              <m:sSubPr>
                                <m:ctrlPr>
                                  <a:rPr lang="en-US" sz="2800" i="1">
                                    <a:latin typeface="Cambria Math" panose="02040503050406030204" pitchFamily="18" charset="0"/>
                                    <a:cs typeface="Calibri" panose="020F0502020204030204" pitchFamily="34" charset="0"/>
                                  </a:rPr>
                                </m:ctrlPr>
                              </m:sSubPr>
                              <m:e>
                                <m:r>
                                  <m:rPr>
                                    <m:nor/>
                                  </m:rPr>
                                  <a:rPr lang="en-US" sz="2800">
                                    <a:latin typeface="Cambria Math" panose="02040503050406030204" pitchFamily="18" charset="0"/>
                                    <a:cs typeface="Calibri" panose="020F0502020204030204" pitchFamily="34" charset="0"/>
                                  </a:rPr>
                                  <m:t>Predicted</m:t>
                                </m:r>
                              </m:e>
                              <m:sub>
                                <m:r>
                                  <a:rPr lang="en-US" sz="2800" i="1">
                                    <a:latin typeface="Cambria Math" panose="02040503050406030204" pitchFamily="18" charset="0"/>
                                    <a:cs typeface="Calibri" panose="020F0502020204030204" pitchFamily="34" charset="0"/>
                                  </a:rPr>
                                  <m:t>𝑖</m:t>
                                </m:r>
                              </m:sub>
                            </m:sSub>
                            <m:r>
                              <a:rPr lang="en-US" sz="2800" b="0" i="1" smtClean="0">
                                <a:latin typeface="Cambria Math" panose="02040503050406030204" pitchFamily="18" charset="0"/>
                                <a:cs typeface="Calibri" panose="020F0502020204030204" pitchFamily="34" charset="0"/>
                              </a:rPr>
                              <m:t>−</m:t>
                            </m:r>
                            <m:sSub>
                              <m:sSubPr>
                                <m:ctrlPr>
                                  <a:rPr lang="en-US" sz="2800" i="1">
                                    <a:latin typeface="Cambria Math" panose="02040503050406030204" pitchFamily="18" charset="0"/>
                                    <a:cs typeface="Calibri" panose="020F0502020204030204" pitchFamily="34" charset="0"/>
                                  </a:rPr>
                                </m:ctrlPr>
                              </m:sSubPr>
                              <m:e>
                                <m:r>
                                  <m:rPr>
                                    <m:nor/>
                                  </m:rPr>
                                  <a:rPr lang="en-US" sz="2800">
                                    <a:latin typeface="Cambria Math" panose="02040503050406030204" pitchFamily="18" charset="0"/>
                                    <a:cs typeface="Calibri" panose="020F0502020204030204" pitchFamily="34" charset="0"/>
                                  </a:rPr>
                                  <m:t>Actual</m:t>
                                </m:r>
                              </m:e>
                              <m:sub>
                                <m:r>
                                  <a:rPr lang="en-US" sz="2800" i="1">
                                    <a:latin typeface="Cambria Math" panose="02040503050406030204" pitchFamily="18" charset="0"/>
                                    <a:cs typeface="Calibri" panose="020F0502020204030204" pitchFamily="34" charset="0"/>
                                  </a:rPr>
                                  <m:t>𝑖</m:t>
                                </m:r>
                              </m:sub>
                            </m:sSub>
                          </m:e>
                        </m:d>
                      </m:e>
                    </m:nary>
                  </m:oMath>
                </a14:m>
                <a:endParaRPr lang="en-US" sz="2800" b="1" dirty="0">
                  <a:latin typeface="Avenir Book" panose="02000503020000020003" pitchFamily="2" charset="0"/>
                  <a:cs typeface="Calibri" panose="020F0502020204030204" pitchFamily="34" charset="0"/>
                </a:endParaRPr>
              </a:p>
              <a:p>
                <a:pPr marL="457200" indent="-457200">
                  <a:spcAft>
                    <a:spcPts val="1800"/>
                  </a:spcAft>
                  <a:buFont typeface="Arial" panose="020B0604020202020204" pitchFamily="34" charset="0"/>
                  <a:buChar char="•"/>
                </a:pPr>
                <a:r>
                  <a:rPr lang="en-US" sz="2800" dirty="0">
                    <a:latin typeface="Avenir Book" panose="02000503020000020003" pitchFamily="2" charset="0"/>
                    <a:cs typeface="Calibri" panose="020F0502020204030204" pitchFamily="34" charset="0"/>
                  </a:rPr>
                  <a:t>Good for measuring how off your predictions are regardless of direction</a:t>
                </a:r>
              </a:p>
              <a:p>
                <a:r>
                  <a:rPr lang="en-US" sz="2800" b="1" u="sng" dirty="0">
                    <a:latin typeface="Avenir Book" panose="02000503020000020003" pitchFamily="2" charset="0"/>
                    <a:cs typeface="Calibri" panose="020F0502020204030204" pitchFamily="34" charset="0"/>
                  </a:rPr>
                  <a:t>Mean absolute percent error</a:t>
                </a:r>
                <a:r>
                  <a:rPr lang="en-US" sz="2800" b="1" dirty="0">
                    <a:latin typeface="Avenir Book" panose="02000503020000020003" pitchFamily="2" charset="0"/>
                    <a:cs typeface="Calibri" panose="020F0502020204030204" pitchFamily="34" charset="0"/>
                  </a:rPr>
                  <a:t>: </a:t>
                </a:r>
                <a14:m>
                  <m:oMath xmlns:m="http://schemas.openxmlformats.org/officeDocument/2006/math">
                    <m:f>
                      <m:fPr>
                        <m:ctrlPr>
                          <a:rPr lang="en-US" sz="2800" i="1">
                            <a:latin typeface="Cambria Math" panose="02040503050406030204" pitchFamily="18" charset="0"/>
                            <a:cs typeface="Calibri" panose="020F0502020204030204" pitchFamily="34" charset="0"/>
                          </a:rPr>
                        </m:ctrlPr>
                      </m:fPr>
                      <m:num>
                        <m:r>
                          <a:rPr lang="en-US" sz="2800" i="1">
                            <a:latin typeface="Cambria Math" panose="02040503050406030204" pitchFamily="18" charset="0"/>
                            <a:cs typeface="Calibri" panose="020F0502020204030204" pitchFamily="34" charset="0"/>
                          </a:rPr>
                          <m:t>1</m:t>
                        </m:r>
                        <m:r>
                          <a:rPr lang="en-US" sz="2800" b="0" i="1" smtClean="0">
                            <a:latin typeface="Cambria Math" panose="02040503050406030204" pitchFamily="18" charset="0"/>
                            <a:cs typeface="Calibri" panose="020F0502020204030204" pitchFamily="34" charset="0"/>
                          </a:rPr>
                          <m:t>00</m:t>
                        </m:r>
                      </m:num>
                      <m:den>
                        <m:r>
                          <a:rPr lang="en-US" sz="2800" i="1">
                            <a:latin typeface="Cambria Math" panose="02040503050406030204" pitchFamily="18" charset="0"/>
                            <a:cs typeface="Calibri" panose="020F0502020204030204" pitchFamily="34" charset="0"/>
                          </a:rPr>
                          <m:t>𝑁</m:t>
                        </m:r>
                      </m:den>
                    </m:f>
                    <m:nary>
                      <m:naryPr>
                        <m:chr m:val="∑"/>
                        <m:supHide m:val="on"/>
                        <m:ctrlPr>
                          <a:rPr lang="en-US" sz="2800" i="1">
                            <a:latin typeface="Cambria Math" panose="02040503050406030204" pitchFamily="18" charset="0"/>
                            <a:cs typeface="Calibri" panose="020F0502020204030204" pitchFamily="34" charset="0"/>
                          </a:rPr>
                        </m:ctrlPr>
                      </m:naryPr>
                      <m:sub>
                        <m:r>
                          <m:rPr>
                            <m:brk m:alnAt="7"/>
                          </m:rPr>
                          <a:rPr lang="en-US" sz="2800" i="1">
                            <a:latin typeface="Cambria Math" panose="02040503050406030204" pitchFamily="18" charset="0"/>
                            <a:cs typeface="Calibri" panose="020F0502020204030204" pitchFamily="34" charset="0"/>
                          </a:rPr>
                          <m:t>𝑖</m:t>
                        </m:r>
                      </m:sub>
                      <m:sup/>
                      <m:e>
                        <m:f>
                          <m:fPr>
                            <m:ctrlPr>
                              <a:rPr lang="en-US" sz="2800" i="1" smtClean="0">
                                <a:latin typeface="Cambria Math" panose="02040503050406030204" pitchFamily="18" charset="0"/>
                                <a:cs typeface="Calibri" panose="020F0502020204030204" pitchFamily="34" charset="0"/>
                              </a:rPr>
                            </m:ctrlPr>
                          </m:fPr>
                          <m:num>
                            <m:d>
                              <m:dPr>
                                <m:begChr m:val="|"/>
                                <m:endChr m:val="|"/>
                                <m:ctrlPr>
                                  <a:rPr lang="en-US" sz="2800" i="1">
                                    <a:latin typeface="Cambria Math" panose="02040503050406030204" pitchFamily="18" charset="0"/>
                                    <a:cs typeface="Calibri" panose="020F0502020204030204" pitchFamily="34" charset="0"/>
                                  </a:rPr>
                                </m:ctrlPr>
                              </m:dPr>
                              <m:e>
                                <m:sSub>
                                  <m:sSubPr>
                                    <m:ctrlPr>
                                      <a:rPr lang="en-US" sz="2800" i="1">
                                        <a:latin typeface="Cambria Math" panose="02040503050406030204" pitchFamily="18" charset="0"/>
                                        <a:cs typeface="Calibri" panose="020F0502020204030204" pitchFamily="34" charset="0"/>
                                      </a:rPr>
                                    </m:ctrlPr>
                                  </m:sSubPr>
                                  <m:e>
                                    <m:r>
                                      <m:rPr>
                                        <m:nor/>
                                      </m:rPr>
                                      <a:rPr lang="en-US" sz="2800">
                                        <a:latin typeface="Cambria Math" panose="02040503050406030204" pitchFamily="18" charset="0"/>
                                        <a:cs typeface="Calibri" panose="020F0502020204030204" pitchFamily="34" charset="0"/>
                                      </a:rPr>
                                      <m:t>Predicted</m:t>
                                    </m:r>
                                  </m:e>
                                  <m:sub>
                                    <m:r>
                                      <a:rPr lang="en-US" sz="2800" i="1">
                                        <a:latin typeface="Cambria Math" panose="02040503050406030204" pitchFamily="18" charset="0"/>
                                        <a:cs typeface="Calibri" panose="020F0502020204030204" pitchFamily="34" charset="0"/>
                                      </a:rPr>
                                      <m:t>𝑖</m:t>
                                    </m:r>
                                  </m:sub>
                                </m:sSub>
                                <m:r>
                                  <a:rPr lang="en-US" sz="2800" i="1">
                                    <a:latin typeface="Cambria Math" panose="02040503050406030204" pitchFamily="18" charset="0"/>
                                    <a:cs typeface="Calibri" panose="020F0502020204030204" pitchFamily="34" charset="0"/>
                                  </a:rPr>
                                  <m:t>−</m:t>
                                </m:r>
                                <m:sSub>
                                  <m:sSubPr>
                                    <m:ctrlPr>
                                      <a:rPr lang="en-US" sz="2800" i="1">
                                        <a:latin typeface="Cambria Math" panose="02040503050406030204" pitchFamily="18" charset="0"/>
                                        <a:cs typeface="Calibri" panose="020F0502020204030204" pitchFamily="34" charset="0"/>
                                      </a:rPr>
                                    </m:ctrlPr>
                                  </m:sSubPr>
                                  <m:e>
                                    <m:r>
                                      <m:rPr>
                                        <m:nor/>
                                      </m:rPr>
                                      <a:rPr lang="en-US" sz="2800">
                                        <a:latin typeface="Cambria Math" panose="02040503050406030204" pitchFamily="18" charset="0"/>
                                        <a:cs typeface="Calibri" panose="020F0502020204030204" pitchFamily="34" charset="0"/>
                                      </a:rPr>
                                      <m:t>Actual</m:t>
                                    </m:r>
                                  </m:e>
                                  <m:sub>
                                    <m:r>
                                      <a:rPr lang="en-US" sz="2800" i="1">
                                        <a:latin typeface="Cambria Math" panose="02040503050406030204" pitchFamily="18" charset="0"/>
                                        <a:cs typeface="Calibri" panose="020F0502020204030204" pitchFamily="34" charset="0"/>
                                      </a:rPr>
                                      <m:t>𝑖</m:t>
                                    </m:r>
                                  </m:sub>
                                </m:sSub>
                              </m:e>
                            </m:d>
                          </m:num>
                          <m:den>
                            <m:sSub>
                              <m:sSubPr>
                                <m:ctrlPr>
                                  <a:rPr lang="en-US" sz="2800" i="1">
                                    <a:latin typeface="Cambria Math" panose="02040503050406030204" pitchFamily="18" charset="0"/>
                                    <a:cs typeface="Calibri" panose="020F0502020204030204" pitchFamily="34" charset="0"/>
                                  </a:rPr>
                                </m:ctrlPr>
                              </m:sSubPr>
                              <m:e>
                                <m:r>
                                  <m:rPr>
                                    <m:nor/>
                                  </m:rPr>
                                  <a:rPr lang="en-US" sz="2800">
                                    <a:latin typeface="Cambria Math" panose="02040503050406030204" pitchFamily="18" charset="0"/>
                                    <a:cs typeface="Calibri" panose="020F0502020204030204" pitchFamily="34" charset="0"/>
                                  </a:rPr>
                                  <m:t>Actual</m:t>
                                </m:r>
                              </m:e>
                              <m:sub>
                                <m:r>
                                  <a:rPr lang="en-US" sz="2800" i="1">
                                    <a:latin typeface="Cambria Math" panose="02040503050406030204" pitchFamily="18" charset="0"/>
                                    <a:cs typeface="Calibri" panose="020F0502020204030204" pitchFamily="34" charset="0"/>
                                  </a:rPr>
                                  <m:t>𝑖</m:t>
                                </m:r>
                              </m:sub>
                            </m:sSub>
                          </m:den>
                        </m:f>
                      </m:e>
                    </m:nary>
                  </m:oMath>
                </a14:m>
                <a:endParaRPr lang="en-US" sz="2800" b="1" dirty="0">
                  <a:latin typeface="Avenir Book" panose="02000503020000020003" pitchFamily="2" charset="0"/>
                  <a:cs typeface="Calibri" panose="020F0502020204030204" pitchFamily="34" charset="0"/>
                </a:endParaRPr>
              </a:p>
              <a:p>
                <a:pPr marL="457200" indent="-457200">
                  <a:spcAft>
                    <a:spcPts val="1800"/>
                  </a:spcAft>
                  <a:buFont typeface="Arial" panose="020B0604020202020204" pitchFamily="34" charset="0"/>
                  <a:buChar char="•"/>
                </a:pPr>
                <a:r>
                  <a:rPr lang="en-US" sz="2800" dirty="0">
                    <a:latin typeface="Avenir Book" panose="02000503020000020003" pitchFamily="2" charset="0"/>
                    <a:cs typeface="Calibri" panose="020F0502020204030204" pitchFamily="34" charset="0"/>
                  </a:rPr>
                  <a:t>Good for measuring how off your predictions are regardless of direction or magnitude</a:t>
                </a:r>
              </a:p>
            </p:txBody>
          </p:sp>
        </mc:Choice>
        <mc:Fallback xmlns="">
          <p:sp>
            <p:nvSpPr>
              <p:cNvPr id="3" name="Content Placeholder 2">
                <a:extLst>
                  <a:ext uri="{FF2B5EF4-FFF2-40B4-BE49-F238E27FC236}">
                    <a16:creationId xmlns:a16="http://schemas.microsoft.com/office/drawing/2014/main" id="{EEDF45E2-C565-A024-08A7-0A0407043808}"/>
                  </a:ext>
                </a:extLst>
              </p:cNvPr>
              <p:cNvSpPr>
                <a:spLocks noGrp="1" noRot="1" noChangeAspect="1" noMove="1" noResize="1" noEditPoints="1" noAdjustHandles="1" noChangeArrowheads="1" noChangeShapeType="1" noTextEdit="1"/>
              </p:cNvSpPr>
              <p:nvPr>
                <p:ph idx="1"/>
              </p:nvPr>
            </p:nvSpPr>
            <p:spPr>
              <a:xfrm>
                <a:off x="3759200" y="1600202"/>
                <a:ext cx="8432800" cy="4800598"/>
              </a:xfrm>
              <a:blipFill>
                <a:blip r:embed="rId2"/>
                <a:stretch>
                  <a:fillRect l="-1353" t="-9763"/>
                </a:stretch>
              </a:blipFill>
            </p:spPr>
            <p:txBody>
              <a:bodyPr/>
              <a:lstStyle/>
              <a:p>
                <a:r>
                  <a:rPr lang="en-US">
                    <a:noFill/>
                  </a:rPr>
                  <a:t> </a:t>
                </a:r>
              </a:p>
            </p:txBody>
          </p:sp>
        </mc:Fallback>
      </mc:AlternateContent>
      <p:graphicFrame>
        <p:nvGraphicFramePr>
          <p:cNvPr id="7" name="Table 7">
            <a:extLst>
              <a:ext uri="{FF2B5EF4-FFF2-40B4-BE49-F238E27FC236}">
                <a16:creationId xmlns:a16="http://schemas.microsoft.com/office/drawing/2014/main" id="{1BFA873B-3459-FEEB-BE0C-BF5D931003B0}"/>
              </a:ext>
            </a:extLst>
          </p:cNvPr>
          <p:cNvGraphicFramePr>
            <a:graphicFrameLocks noGrp="1"/>
          </p:cNvGraphicFramePr>
          <p:nvPr>
            <p:extLst>
              <p:ext uri="{D42A27DB-BD31-4B8C-83A1-F6EECF244321}">
                <p14:modId xmlns:p14="http://schemas.microsoft.com/office/powerpoint/2010/main" val="3099342131"/>
              </p:ext>
            </p:extLst>
          </p:nvPr>
        </p:nvGraphicFramePr>
        <p:xfrm>
          <a:off x="457200" y="2028439"/>
          <a:ext cx="2997200" cy="3944124"/>
        </p:xfrm>
        <a:graphic>
          <a:graphicData uri="http://schemas.openxmlformats.org/drawingml/2006/table">
            <a:tbl>
              <a:tblPr firstRow="1" bandRow="1">
                <a:tableStyleId>{073A0DAA-6AF3-43AB-8588-CEC1D06C72B9}</a:tableStyleId>
              </a:tblPr>
              <a:tblGrid>
                <a:gridCol w="1498600">
                  <a:extLst>
                    <a:ext uri="{9D8B030D-6E8A-4147-A177-3AD203B41FA5}">
                      <a16:colId xmlns:a16="http://schemas.microsoft.com/office/drawing/2014/main" val="1571447975"/>
                    </a:ext>
                  </a:extLst>
                </a:gridCol>
                <a:gridCol w="1498600">
                  <a:extLst>
                    <a:ext uri="{9D8B030D-6E8A-4147-A177-3AD203B41FA5}">
                      <a16:colId xmlns:a16="http://schemas.microsoft.com/office/drawing/2014/main" val="1550805326"/>
                    </a:ext>
                  </a:extLst>
                </a:gridCol>
              </a:tblGrid>
              <a:tr h="657354">
                <a:tc>
                  <a:txBody>
                    <a:bodyPr/>
                    <a:lstStyle/>
                    <a:p>
                      <a:pPr algn="ctr"/>
                      <a:r>
                        <a:rPr lang="en-US" sz="2300" dirty="0"/>
                        <a:t>Actual</a:t>
                      </a:r>
                    </a:p>
                  </a:txBody>
                  <a:tcPr anchor="ctr"/>
                </a:tc>
                <a:tc>
                  <a:txBody>
                    <a:bodyPr/>
                    <a:lstStyle/>
                    <a:p>
                      <a:pPr algn="ctr"/>
                      <a:r>
                        <a:rPr lang="en-US" sz="2300" dirty="0"/>
                        <a:t>Predicted</a:t>
                      </a:r>
                    </a:p>
                  </a:txBody>
                  <a:tcPr anchor="ctr"/>
                </a:tc>
                <a:extLst>
                  <a:ext uri="{0D108BD9-81ED-4DB2-BD59-A6C34878D82A}">
                    <a16:rowId xmlns:a16="http://schemas.microsoft.com/office/drawing/2014/main" val="2668513280"/>
                  </a:ext>
                </a:extLst>
              </a:tr>
              <a:tr h="657354">
                <a:tc>
                  <a:txBody>
                    <a:bodyPr/>
                    <a:lstStyle/>
                    <a:p>
                      <a:pPr algn="ctr"/>
                      <a:r>
                        <a:rPr lang="en-US" sz="2300" dirty="0"/>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dirty="0"/>
                        <a:t>3</a:t>
                      </a:r>
                    </a:p>
                  </a:txBody>
                  <a:tcPr anchor="ctr"/>
                </a:tc>
                <a:extLst>
                  <a:ext uri="{0D108BD9-81ED-4DB2-BD59-A6C34878D82A}">
                    <a16:rowId xmlns:a16="http://schemas.microsoft.com/office/drawing/2014/main" val="2796125423"/>
                  </a:ext>
                </a:extLst>
              </a:tr>
              <a:tr h="657354">
                <a:tc>
                  <a:txBody>
                    <a:bodyPr/>
                    <a:lstStyle/>
                    <a:p>
                      <a:pPr algn="ctr"/>
                      <a:r>
                        <a:rPr lang="en-US" sz="2300" dirty="0"/>
                        <a:t>5</a:t>
                      </a:r>
                    </a:p>
                  </a:txBody>
                  <a:tcPr anchor="ctr"/>
                </a:tc>
                <a:tc>
                  <a:txBody>
                    <a:bodyPr/>
                    <a:lstStyle/>
                    <a:p>
                      <a:pPr algn="ctr"/>
                      <a:r>
                        <a:rPr lang="en-US" sz="2300" dirty="0"/>
                        <a:t>5</a:t>
                      </a:r>
                    </a:p>
                  </a:txBody>
                  <a:tcPr anchor="ctr"/>
                </a:tc>
                <a:extLst>
                  <a:ext uri="{0D108BD9-81ED-4DB2-BD59-A6C34878D82A}">
                    <a16:rowId xmlns:a16="http://schemas.microsoft.com/office/drawing/2014/main" val="3875812655"/>
                  </a:ext>
                </a:extLst>
              </a:tr>
              <a:tr h="657354">
                <a:tc>
                  <a:txBody>
                    <a:bodyPr/>
                    <a:lstStyle/>
                    <a:p>
                      <a:pPr algn="ctr"/>
                      <a:r>
                        <a:rPr lang="en-US" sz="2300" dirty="0"/>
                        <a:t>5</a:t>
                      </a:r>
                    </a:p>
                  </a:txBody>
                  <a:tcPr anchor="ctr"/>
                </a:tc>
                <a:tc>
                  <a:txBody>
                    <a:bodyPr/>
                    <a:lstStyle/>
                    <a:p>
                      <a:pPr algn="ctr"/>
                      <a:r>
                        <a:rPr lang="en-US" sz="2300" dirty="0"/>
                        <a:t>10</a:t>
                      </a:r>
                    </a:p>
                  </a:txBody>
                  <a:tcPr anchor="ctr"/>
                </a:tc>
                <a:extLst>
                  <a:ext uri="{0D108BD9-81ED-4DB2-BD59-A6C34878D82A}">
                    <a16:rowId xmlns:a16="http://schemas.microsoft.com/office/drawing/2014/main" val="783740732"/>
                  </a:ext>
                </a:extLst>
              </a:tr>
              <a:tr h="657354">
                <a:tc>
                  <a:txBody>
                    <a:bodyPr/>
                    <a:lstStyle/>
                    <a:p>
                      <a:pPr algn="ctr"/>
                      <a:r>
                        <a:rPr lang="en-US" sz="2300" dirty="0"/>
                        <a:t>3</a:t>
                      </a:r>
                    </a:p>
                  </a:txBody>
                  <a:tcPr anchor="ctr"/>
                </a:tc>
                <a:tc>
                  <a:txBody>
                    <a:bodyPr/>
                    <a:lstStyle/>
                    <a:p>
                      <a:pPr algn="ctr"/>
                      <a:r>
                        <a:rPr lang="en-US" sz="2300" dirty="0"/>
                        <a:t>2</a:t>
                      </a:r>
                    </a:p>
                  </a:txBody>
                  <a:tcPr anchor="ctr"/>
                </a:tc>
                <a:extLst>
                  <a:ext uri="{0D108BD9-81ED-4DB2-BD59-A6C34878D82A}">
                    <a16:rowId xmlns:a16="http://schemas.microsoft.com/office/drawing/2014/main" val="3690459075"/>
                  </a:ext>
                </a:extLst>
              </a:tr>
              <a:tr h="657354">
                <a:tc>
                  <a:txBody>
                    <a:bodyPr/>
                    <a:lstStyle/>
                    <a:p>
                      <a:pPr algn="ctr"/>
                      <a:r>
                        <a:rPr lang="en-US" sz="2300" dirty="0"/>
                        <a:t>4</a:t>
                      </a:r>
                    </a:p>
                  </a:txBody>
                  <a:tcPr anchor="ctr"/>
                </a:tc>
                <a:tc>
                  <a:txBody>
                    <a:bodyPr/>
                    <a:lstStyle/>
                    <a:p>
                      <a:pPr algn="ctr"/>
                      <a:r>
                        <a:rPr lang="en-US" sz="2300" dirty="0"/>
                        <a:t>6</a:t>
                      </a:r>
                    </a:p>
                  </a:txBody>
                  <a:tcPr anchor="ctr"/>
                </a:tc>
                <a:extLst>
                  <a:ext uri="{0D108BD9-81ED-4DB2-BD59-A6C34878D82A}">
                    <a16:rowId xmlns:a16="http://schemas.microsoft.com/office/drawing/2014/main" val="4034280110"/>
                  </a:ext>
                </a:extLst>
              </a:tr>
            </a:tbl>
          </a:graphicData>
        </a:graphic>
      </p:graphicFrame>
    </p:spTree>
    <p:extLst>
      <p:ext uri="{BB962C8B-B14F-4D97-AF65-F5344CB8AC3E}">
        <p14:creationId xmlns:p14="http://schemas.microsoft.com/office/powerpoint/2010/main" val="208359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3">
                                            <p:txEl>
                                              <p:pRg st="0" end="0"/>
                                            </p:txEl>
                                          </p:spTgt>
                                        </p:tgtEl>
                                      </p:cBhvr>
                                    </p:animEffect>
                                    <p:set>
                                      <p:cBhvr>
                                        <p:cTn id="42" dur="1" fill="hold">
                                          <p:stCondLst>
                                            <p:cond delay="499"/>
                                          </p:stCondLst>
                                        </p:cTn>
                                        <p:tgtEl>
                                          <p:spTgt spid="3">
                                            <p:txEl>
                                              <p:pRg st="0" end="0"/>
                                            </p:txEl>
                                          </p:spTgt>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500"/>
                                        <p:tgtEl>
                                          <p:spTgt spid="3">
                                            <p:txEl>
                                              <p:pRg st="1" end="1"/>
                                            </p:txEl>
                                          </p:spTgt>
                                        </p:tgtEl>
                                      </p:cBhvr>
                                    </p:animEffect>
                                    <p:set>
                                      <p:cBhvr>
                                        <p:cTn id="45" dur="1" fill="hold">
                                          <p:stCondLst>
                                            <p:cond delay="499"/>
                                          </p:stCondLst>
                                        </p:cTn>
                                        <p:tgtEl>
                                          <p:spTgt spid="3">
                                            <p:txEl>
                                              <p:pRg st="1" end="1"/>
                                            </p:txEl>
                                          </p:spTgt>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3">
                                            <p:txEl>
                                              <p:pRg st="2" end="2"/>
                                            </p:txEl>
                                          </p:spTgt>
                                        </p:tgtEl>
                                      </p:cBhvr>
                                    </p:animEffect>
                                    <p:set>
                                      <p:cBhvr>
                                        <p:cTn id="48" dur="1" fill="hold">
                                          <p:stCondLst>
                                            <p:cond delay="499"/>
                                          </p:stCondLst>
                                        </p:cTn>
                                        <p:tgtEl>
                                          <p:spTgt spid="3">
                                            <p:txEl>
                                              <p:pRg st="2" end="2"/>
                                            </p:txEl>
                                          </p:spTgt>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3">
                                            <p:txEl>
                                              <p:pRg st="3" end="3"/>
                                            </p:txEl>
                                          </p:spTgt>
                                        </p:tgtEl>
                                      </p:cBhvr>
                                    </p:animEffect>
                                    <p:set>
                                      <p:cBhvr>
                                        <p:cTn id="51" dur="1" fill="hold">
                                          <p:stCondLst>
                                            <p:cond delay="499"/>
                                          </p:stCondLst>
                                        </p:cTn>
                                        <p:tgtEl>
                                          <p:spTgt spid="3">
                                            <p:txEl>
                                              <p:pRg st="3" end="3"/>
                                            </p:txEl>
                                          </p:spTgt>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500"/>
                                        <p:tgtEl>
                                          <p:spTgt spid="3">
                                            <p:txEl>
                                              <p:pRg st="4" end="4"/>
                                            </p:txEl>
                                          </p:spTgt>
                                        </p:tgtEl>
                                      </p:cBhvr>
                                    </p:animEffect>
                                    <p:set>
                                      <p:cBhvr>
                                        <p:cTn id="54" dur="1" fill="hold">
                                          <p:stCondLst>
                                            <p:cond delay="499"/>
                                          </p:stCondLst>
                                        </p:cTn>
                                        <p:tgtEl>
                                          <p:spTgt spid="3">
                                            <p:txEl>
                                              <p:pRg st="4" end="4"/>
                                            </p:txEl>
                                          </p:spTgt>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3">
                                            <p:txEl>
                                              <p:pRg st="5" end="5"/>
                                            </p:txEl>
                                          </p:spTgt>
                                        </p:tgtEl>
                                      </p:cBhvr>
                                    </p:animEffect>
                                    <p:set>
                                      <p:cBhvr>
                                        <p:cTn id="57" dur="1" fill="hold">
                                          <p:stCondLst>
                                            <p:cond delay="499"/>
                                          </p:stCondLst>
                                        </p:cTn>
                                        <p:tgtEl>
                                          <p:spTgt spid="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5A47A-6846-9F8F-75DD-3E7F22309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67E86-90DA-5FE0-D6D6-BF64B195E3BD}"/>
              </a:ext>
            </a:extLst>
          </p:cNvPr>
          <p:cNvSpPr>
            <a:spLocks noGrp="1"/>
          </p:cNvSpPr>
          <p:nvPr>
            <p:ph type="title"/>
          </p:nvPr>
        </p:nvSpPr>
        <p:spPr/>
        <p:txBody>
          <a:bodyPr/>
          <a:lstStyle/>
          <a:p>
            <a:r>
              <a:rPr lang="en-US" dirty="0"/>
              <a:t>Regression Evaluation Metrics</a:t>
            </a:r>
          </a:p>
        </p:txBody>
      </p:sp>
      <p:sp>
        <p:nvSpPr>
          <p:cNvPr id="3" name="Content Placeholder 2">
            <a:extLst>
              <a:ext uri="{FF2B5EF4-FFF2-40B4-BE49-F238E27FC236}">
                <a16:creationId xmlns:a16="http://schemas.microsoft.com/office/drawing/2014/main" id="{A14B4FDE-40C5-2A34-584C-244413E8C2D9}"/>
              </a:ext>
            </a:extLst>
          </p:cNvPr>
          <p:cNvSpPr>
            <a:spLocks noGrp="1"/>
          </p:cNvSpPr>
          <p:nvPr>
            <p:ph idx="1"/>
          </p:nvPr>
        </p:nvSpPr>
        <p:spPr>
          <a:xfrm>
            <a:off x="3759200" y="1600202"/>
            <a:ext cx="8051800" cy="4800598"/>
          </a:xfrm>
        </p:spPr>
        <p:txBody>
          <a:bodyPr>
            <a:normAutofit/>
          </a:bodyPr>
          <a:lstStyle/>
          <a:p>
            <a:r>
              <a:rPr lang="en-US" sz="2400" b="1" u="sng" dirty="0">
                <a:latin typeface="Avenir Book" panose="02000503020000020003" pitchFamily="2" charset="0"/>
                <a:cs typeface="Calibri" panose="020F0502020204030204" pitchFamily="34" charset="0"/>
              </a:rPr>
              <a:t>Correlation coefficient</a:t>
            </a:r>
            <a:r>
              <a:rPr lang="en-US" sz="2400" dirty="0">
                <a:latin typeface="Avenir Book" panose="02000503020000020003" pitchFamily="2" charset="0"/>
                <a:cs typeface="Calibri" panose="020F0502020204030204" pitchFamily="34" charset="0"/>
              </a:rPr>
              <a:t>: Assesses how changes in </a:t>
            </a:r>
            <a:br>
              <a:rPr lang="en-US" sz="2400" dirty="0">
                <a:latin typeface="Avenir Book" panose="02000503020000020003" pitchFamily="2" charset="0"/>
                <a:cs typeface="Calibri" panose="020F0502020204030204" pitchFamily="34" charset="0"/>
              </a:rPr>
            </a:br>
            <a:r>
              <a:rPr lang="en-US" sz="2400" dirty="0">
                <a:latin typeface="Avenir Book" panose="02000503020000020003" pitchFamily="2" charset="0"/>
                <a:cs typeface="Calibri" panose="020F0502020204030204" pitchFamily="34" charset="0"/>
              </a:rPr>
              <a:t>the actual label are associated with changes in the predicted label</a:t>
            </a:r>
          </a:p>
          <a:p>
            <a:pPr marL="457200" indent="-457200">
              <a:buFont typeface="Arial" panose="020B0604020202020204" pitchFamily="34" charset="0"/>
              <a:buChar char="•"/>
            </a:pPr>
            <a:endParaRPr lang="en-US" sz="2400" dirty="0">
              <a:latin typeface="Avenir Book" panose="02000503020000020003" pitchFamily="2" charset="0"/>
              <a:cs typeface="Calibri" panose="020F0502020204030204" pitchFamily="34" charset="0"/>
            </a:endParaRPr>
          </a:p>
          <a:p>
            <a:r>
              <a:rPr lang="en-US" sz="2400" dirty="0">
                <a:latin typeface="Avenir Book" panose="02000503020000020003" pitchFamily="2" charset="0"/>
                <a:cs typeface="Calibri" panose="020F0502020204030204" pitchFamily="34" charset="0"/>
              </a:rPr>
              <a:t>If the actual label is high, then the corresponding prediction should also be high</a:t>
            </a:r>
          </a:p>
          <a:p>
            <a:endParaRPr lang="en-US" sz="2400" dirty="0">
              <a:latin typeface="Avenir Book" panose="02000503020000020003" pitchFamily="2" charset="0"/>
              <a:cs typeface="Calibri" panose="020F0502020204030204" pitchFamily="34" charset="0"/>
            </a:endParaRPr>
          </a:p>
          <a:p>
            <a:r>
              <a:rPr lang="en-US" sz="2400" dirty="0">
                <a:latin typeface="Avenir Book" panose="02000503020000020003" pitchFamily="2" charset="0"/>
                <a:cs typeface="Calibri" panose="020F0502020204030204" pitchFamily="34" charset="0"/>
              </a:rPr>
              <a:t>Can be measured using metrics like Pearson and Spearman correlation, generally between -1 and +1</a:t>
            </a:r>
          </a:p>
        </p:txBody>
      </p:sp>
      <p:graphicFrame>
        <p:nvGraphicFramePr>
          <p:cNvPr id="7" name="Table 7">
            <a:extLst>
              <a:ext uri="{FF2B5EF4-FFF2-40B4-BE49-F238E27FC236}">
                <a16:creationId xmlns:a16="http://schemas.microsoft.com/office/drawing/2014/main" id="{EF3E99D5-9DF1-87C6-CA5D-075530952E47}"/>
              </a:ext>
            </a:extLst>
          </p:cNvPr>
          <p:cNvGraphicFramePr>
            <a:graphicFrameLocks noGrp="1"/>
          </p:cNvGraphicFramePr>
          <p:nvPr>
            <p:extLst>
              <p:ext uri="{D42A27DB-BD31-4B8C-83A1-F6EECF244321}">
                <p14:modId xmlns:p14="http://schemas.microsoft.com/office/powerpoint/2010/main" val="3201088269"/>
              </p:ext>
            </p:extLst>
          </p:nvPr>
        </p:nvGraphicFramePr>
        <p:xfrm>
          <a:off x="457200" y="2028439"/>
          <a:ext cx="2997200" cy="3944124"/>
        </p:xfrm>
        <a:graphic>
          <a:graphicData uri="http://schemas.openxmlformats.org/drawingml/2006/table">
            <a:tbl>
              <a:tblPr firstRow="1" bandRow="1">
                <a:tableStyleId>{073A0DAA-6AF3-43AB-8588-CEC1D06C72B9}</a:tableStyleId>
              </a:tblPr>
              <a:tblGrid>
                <a:gridCol w="1498600">
                  <a:extLst>
                    <a:ext uri="{9D8B030D-6E8A-4147-A177-3AD203B41FA5}">
                      <a16:colId xmlns:a16="http://schemas.microsoft.com/office/drawing/2014/main" val="1571447975"/>
                    </a:ext>
                  </a:extLst>
                </a:gridCol>
                <a:gridCol w="1498600">
                  <a:extLst>
                    <a:ext uri="{9D8B030D-6E8A-4147-A177-3AD203B41FA5}">
                      <a16:colId xmlns:a16="http://schemas.microsoft.com/office/drawing/2014/main" val="1550805326"/>
                    </a:ext>
                  </a:extLst>
                </a:gridCol>
              </a:tblGrid>
              <a:tr h="657354">
                <a:tc>
                  <a:txBody>
                    <a:bodyPr/>
                    <a:lstStyle/>
                    <a:p>
                      <a:pPr algn="ctr"/>
                      <a:r>
                        <a:rPr lang="en-US" sz="2300" dirty="0"/>
                        <a:t>Actual</a:t>
                      </a:r>
                    </a:p>
                  </a:txBody>
                  <a:tcPr anchor="ctr"/>
                </a:tc>
                <a:tc>
                  <a:txBody>
                    <a:bodyPr/>
                    <a:lstStyle/>
                    <a:p>
                      <a:pPr algn="ctr"/>
                      <a:r>
                        <a:rPr lang="en-US" sz="2300" dirty="0"/>
                        <a:t>Predicted</a:t>
                      </a:r>
                    </a:p>
                  </a:txBody>
                  <a:tcPr anchor="ctr"/>
                </a:tc>
                <a:extLst>
                  <a:ext uri="{0D108BD9-81ED-4DB2-BD59-A6C34878D82A}">
                    <a16:rowId xmlns:a16="http://schemas.microsoft.com/office/drawing/2014/main" val="2668513280"/>
                  </a:ext>
                </a:extLst>
              </a:tr>
              <a:tr h="657354">
                <a:tc>
                  <a:txBody>
                    <a:bodyPr/>
                    <a:lstStyle/>
                    <a:p>
                      <a:pPr algn="ctr"/>
                      <a:r>
                        <a:rPr lang="en-US" sz="2300" dirty="0"/>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dirty="0"/>
                        <a:t>3</a:t>
                      </a:r>
                    </a:p>
                  </a:txBody>
                  <a:tcPr anchor="ctr"/>
                </a:tc>
                <a:extLst>
                  <a:ext uri="{0D108BD9-81ED-4DB2-BD59-A6C34878D82A}">
                    <a16:rowId xmlns:a16="http://schemas.microsoft.com/office/drawing/2014/main" val="2796125423"/>
                  </a:ext>
                </a:extLst>
              </a:tr>
              <a:tr h="657354">
                <a:tc>
                  <a:txBody>
                    <a:bodyPr/>
                    <a:lstStyle/>
                    <a:p>
                      <a:pPr algn="ctr"/>
                      <a:r>
                        <a:rPr lang="en-US" sz="2300" dirty="0"/>
                        <a:t>5</a:t>
                      </a:r>
                    </a:p>
                  </a:txBody>
                  <a:tcPr anchor="ctr"/>
                </a:tc>
                <a:tc>
                  <a:txBody>
                    <a:bodyPr/>
                    <a:lstStyle/>
                    <a:p>
                      <a:pPr algn="ctr"/>
                      <a:r>
                        <a:rPr lang="en-US" sz="2300" dirty="0"/>
                        <a:t>5</a:t>
                      </a:r>
                    </a:p>
                  </a:txBody>
                  <a:tcPr anchor="ctr"/>
                </a:tc>
                <a:extLst>
                  <a:ext uri="{0D108BD9-81ED-4DB2-BD59-A6C34878D82A}">
                    <a16:rowId xmlns:a16="http://schemas.microsoft.com/office/drawing/2014/main" val="3875812655"/>
                  </a:ext>
                </a:extLst>
              </a:tr>
              <a:tr h="657354">
                <a:tc>
                  <a:txBody>
                    <a:bodyPr/>
                    <a:lstStyle/>
                    <a:p>
                      <a:pPr algn="ctr"/>
                      <a:r>
                        <a:rPr lang="en-US" sz="2300" dirty="0"/>
                        <a:t>5</a:t>
                      </a:r>
                    </a:p>
                  </a:txBody>
                  <a:tcPr anchor="ctr"/>
                </a:tc>
                <a:tc>
                  <a:txBody>
                    <a:bodyPr/>
                    <a:lstStyle/>
                    <a:p>
                      <a:pPr algn="ctr"/>
                      <a:r>
                        <a:rPr lang="en-US" sz="2300" dirty="0"/>
                        <a:t>10</a:t>
                      </a:r>
                    </a:p>
                  </a:txBody>
                  <a:tcPr anchor="ctr"/>
                </a:tc>
                <a:extLst>
                  <a:ext uri="{0D108BD9-81ED-4DB2-BD59-A6C34878D82A}">
                    <a16:rowId xmlns:a16="http://schemas.microsoft.com/office/drawing/2014/main" val="783740732"/>
                  </a:ext>
                </a:extLst>
              </a:tr>
              <a:tr h="657354">
                <a:tc>
                  <a:txBody>
                    <a:bodyPr/>
                    <a:lstStyle/>
                    <a:p>
                      <a:pPr algn="ctr"/>
                      <a:r>
                        <a:rPr lang="en-US" sz="2300" dirty="0"/>
                        <a:t>3</a:t>
                      </a:r>
                    </a:p>
                  </a:txBody>
                  <a:tcPr anchor="ctr"/>
                </a:tc>
                <a:tc>
                  <a:txBody>
                    <a:bodyPr/>
                    <a:lstStyle/>
                    <a:p>
                      <a:pPr algn="ctr"/>
                      <a:r>
                        <a:rPr lang="en-US" sz="2300" dirty="0"/>
                        <a:t>2</a:t>
                      </a:r>
                    </a:p>
                  </a:txBody>
                  <a:tcPr anchor="ctr"/>
                </a:tc>
                <a:extLst>
                  <a:ext uri="{0D108BD9-81ED-4DB2-BD59-A6C34878D82A}">
                    <a16:rowId xmlns:a16="http://schemas.microsoft.com/office/drawing/2014/main" val="3690459075"/>
                  </a:ext>
                </a:extLst>
              </a:tr>
              <a:tr h="657354">
                <a:tc>
                  <a:txBody>
                    <a:bodyPr/>
                    <a:lstStyle/>
                    <a:p>
                      <a:pPr algn="ctr"/>
                      <a:r>
                        <a:rPr lang="en-US" sz="2300" dirty="0"/>
                        <a:t>4</a:t>
                      </a:r>
                    </a:p>
                  </a:txBody>
                  <a:tcPr anchor="ctr"/>
                </a:tc>
                <a:tc>
                  <a:txBody>
                    <a:bodyPr/>
                    <a:lstStyle/>
                    <a:p>
                      <a:pPr algn="ctr"/>
                      <a:r>
                        <a:rPr lang="en-US" sz="2300" dirty="0"/>
                        <a:t>6</a:t>
                      </a:r>
                    </a:p>
                  </a:txBody>
                  <a:tcPr anchor="ctr"/>
                </a:tc>
                <a:extLst>
                  <a:ext uri="{0D108BD9-81ED-4DB2-BD59-A6C34878D82A}">
                    <a16:rowId xmlns:a16="http://schemas.microsoft.com/office/drawing/2014/main" val="4034280110"/>
                  </a:ext>
                </a:extLst>
              </a:tr>
            </a:tbl>
          </a:graphicData>
        </a:graphic>
      </p:graphicFrame>
    </p:spTree>
    <p:extLst>
      <p:ext uri="{BB962C8B-B14F-4D97-AF65-F5344CB8AC3E}">
        <p14:creationId xmlns:p14="http://schemas.microsoft.com/office/powerpoint/2010/main" val="2393136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7B00-DBD2-3FFB-8101-3BD05C8E939D}"/>
              </a:ext>
            </a:extLst>
          </p:cNvPr>
          <p:cNvSpPr>
            <a:spLocks noGrp="1"/>
          </p:cNvSpPr>
          <p:nvPr>
            <p:ph type="title"/>
          </p:nvPr>
        </p:nvSpPr>
        <p:spPr/>
        <p:txBody>
          <a:bodyPr>
            <a:normAutofit fontScale="90000"/>
          </a:bodyPr>
          <a:lstStyle/>
          <a:p>
            <a:r>
              <a:rPr lang="en-US" dirty="0"/>
              <a:t>Binary Classification Evaluation Metrics: </a:t>
            </a:r>
            <a:br>
              <a:rPr lang="en-US" dirty="0"/>
            </a:br>
            <a:r>
              <a:rPr lang="en-US" dirty="0"/>
              <a:t>Overall Performance</a:t>
            </a:r>
          </a:p>
        </p:txBody>
      </p:sp>
      <p:graphicFrame>
        <p:nvGraphicFramePr>
          <p:cNvPr id="4" name="Content Placeholder 21">
            <a:extLst>
              <a:ext uri="{FF2B5EF4-FFF2-40B4-BE49-F238E27FC236}">
                <a16:creationId xmlns:a16="http://schemas.microsoft.com/office/drawing/2014/main" id="{E60147D1-2C9D-8FE0-382E-06FC83B93186}"/>
              </a:ext>
            </a:extLst>
          </p:cNvPr>
          <p:cNvGraphicFramePr>
            <a:graphicFrameLocks/>
          </p:cNvGraphicFramePr>
          <p:nvPr>
            <p:extLst>
              <p:ext uri="{D42A27DB-BD31-4B8C-83A1-F6EECF244321}">
                <p14:modId xmlns:p14="http://schemas.microsoft.com/office/powerpoint/2010/main" val="3896855624"/>
              </p:ext>
            </p:extLst>
          </p:nvPr>
        </p:nvGraphicFramePr>
        <p:xfrm>
          <a:off x="4267199" y="1387158"/>
          <a:ext cx="7467601" cy="3143250"/>
        </p:xfrm>
        <a:graphic>
          <a:graphicData uri="http://schemas.openxmlformats.org/drawingml/2006/table">
            <a:tbl>
              <a:tblPr firstRow="1" firstCol="1" bandRow="1">
                <a:tableStyleId>{5202B0CA-FC54-4496-8BCA-5EF66A818D29}</a:tableStyleId>
              </a:tblPr>
              <a:tblGrid>
                <a:gridCol w="1229695">
                  <a:extLst>
                    <a:ext uri="{9D8B030D-6E8A-4147-A177-3AD203B41FA5}">
                      <a16:colId xmlns:a16="http://schemas.microsoft.com/office/drawing/2014/main" val="20002"/>
                    </a:ext>
                  </a:extLst>
                </a:gridCol>
                <a:gridCol w="2209331">
                  <a:extLst>
                    <a:ext uri="{9D8B030D-6E8A-4147-A177-3AD203B41FA5}">
                      <a16:colId xmlns:a16="http://schemas.microsoft.com/office/drawing/2014/main" val="20003"/>
                    </a:ext>
                  </a:extLst>
                </a:gridCol>
                <a:gridCol w="1965159">
                  <a:extLst>
                    <a:ext uri="{9D8B030D-6E8A-4147-A177-3AD203B41FA5}">
                      <a16:colId xmlns:a16="http://schemas.microsoft.com/office/drawing/2014/main" val="20004"/>
                    </a:ext>
                  </a:extLst>
                </a:gridCol>
                <a:gridCol w="2063416">
                  <a:extLst>
                    <a:ext uri="{9D8B030D-6E8A-4147-A177-3AD203B41FA5}">
                      <a16:colId xmlns:a16="http://schemas.microsoft.com/office/drawing/2014/main" val="20000"/>
                    </a:ext>
                  </a:extLst>
                </a:gridCol>
              </a:tblGrid>
              <a:tr h="609600">
                <a:tc rowSpan="2" gridSpan="2">
                  <a:txBody>
                    <a:bodyPr/>
                    <a:lstStyle/>
                    <a:p>
                      <a:pPr algn="ctr"/>
                      <a:endParaRPr lang="en-US" sz="2500" b="0" dirty="0">
                        <a:latin typeface="Avenir Book" charset="0"/>
                        <a:ea typeface="Avenir Book" charset="0"/>
                        <a:cs typeface="Avenir Book" charset="0"/>
                      </a:endParaRPr>
                    </a:p>
                  </a:txBody>
                  <a:tcPr marL="81206" marR="81206" marT="40603" marB="4060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sz="2500" b="1" dirty="0">
                          <a:solidFill>
                            <a:schemeClr val="tx1"/>
                          </a:solidFill>
                          <a:latin typeface="Avenir Book" charset="0"/>
                          <a:ea typeface="Avenir Book" charset="0"/>
                          <a:cs typeface="Avenir Book" charset="0"/>
                        </a:rPr>
                        <a:t>Actual Label</a:t>
                      </a:r>
                    </a:p>
                  </a:txBody>
                  <a:tcPr marL="81206" marR="81206" marT="40603" marB="4060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hMerge="1">
                  <a:txBody>
                    <a:bodyPr/>
                    <a:lstStyle/>
                    <a:p>
                      <a:pPr algn="ctr"/>
                      <a:endParaRPr lang="en-US" sz="2800" b="0" dirty="0">
                        <a:latin typeface="Avenir Book" charset="0"/>
                        <a:ea typeface="Avenir Book" charset="0"/>
                        <a:cs typeface="Avenir Book"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3"/>
                  </a:ext>
                </a:extLst>
              </a:tr>
              <a:tr h="514350">
                <a:tc gridSpan="2"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500" b="1" dirty="0">
                          <a:solidFill>
                            <a:schemeClr val="tx1"/>
                          </a:solidFill>
                          <a:latin typeface="Avenir Book" charset="0"/>
                          <a:ea typeface="Avenir Book" charset="0"/>
                          <a:cs typeface="Avenir Book" charset="0"/>
                        </a:rPr>
                        <a:t>Positive</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dirty="0">
                          <a:solidFill>
                            <a:schemeClr val="tx1"/>
                          </a:solidFill>
                          <a:latin typeface="Avenir Book" charset="0"/>
                          <a:ea typeface="Avenir Book" charset="0"/>
                          <a:cs typeface="Avenir Book" charset="0"/>
                        </a:rPr>
                        <a:t>Negative</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0"/>
                  </a:ext>
                </a:extLst>
              </a:tr>
              <a:tr h="1009650">
                <a:tc rowSpan="2">
                  <a:txBody>
                    <a:bodyPr/>
                    <a:lstStyle/>
                    <a:p>
                      <a:pPr algn="ctr"/>
                      <a:r>
                        <a:rPr lang="en-US" sz="2500" b="1" kern="1200" dirty="0">
                          <a:solidFill>
                            <a:schemeClr val="tx1"/>
                          </a:solidFill>
                          <a:latin typeface="Avenir Book" charset="0"/>
                          <a:ea typeface="Avenir Book" charset="0"/>
                          <a:cs typeface="Avenir Book" charset="0"/>
                        </a:rPr>
                        <a:t>Predicted Label</a:t>
                      </a:r>
                    </a:p>
                  </a:txBody>
                  <a:tcPr marL="81206" marR="81206" marT="40603" marB="40603" vert="vert27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kern="1200" dirty="0">
                          <a:solidFill>
                            <a:schemeClr val="tx1"/>
                          </a:solidFill>
                          <a:latin typeface="Avenir Book" charset="0"/>
                          <a:ea typeface="Avenir Book" charset="0"/>
                          <a:cs typeface="Avenir Book" charset="0"/>
                        </a:rPr>
                        <a:t>Positive</a:t>
                      </a:r>
                      <a:br>
                        <a:rPr lang="en-US" sz="2500" b="1" kern="1200" dirty="0">
                          <a:solidFill>
                            <a:schemeClr val="tx1"/>
                          </a:solidFill>
                          <a:latin typeface="Avenir Book" charset="0"/>
                          <a:ea typeface="Avenir Book" charset="0"/>
                          <a:cs typeface="Avenir Book" charset="0"/>
                        </a:rPr>
                      </a:br>
                      <a:r>
                        <a:rPr lang="en-US" sz="2500" b="1" kern="1200" dirty="0">
                          <a:solidFill>
                            <a:schemeClr val="tx1"/>
                          </a:solidFill>
                          <a:latin typeface="Avenir Book" charset="0"/>
                          <a:ea typeface="Avenir Book" charset="0"/>
                          <a:cs typeface="Avenir Book" charset="0"/>
                        </a:rPr>
                        <a:t>(sick)</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100" b="0" u="none" dirty="0">
                          <a:latin typeface="Avenir Book" charset="0"/>
                          <a:ea typeface="Avenir Book" charset="0"/>
                          <a:cs typeface="Avenir Book" charset="0"/>
                        </a:rPr>
                        <a:t>True positive</a:t>
                      </a:r>
                    </a:p>
                    <a:p>
                      <a:pPr algn="ctr"/>
                      <a:r>
                        <a:rPr lang="en-US" sz="2100" b="0" u="none" dirty="0">
                          <a:latin typeface="Avenir Book" charset="0"/>
                          <a:ea typeface="Avenir Book" charset="0"/>
                          <a:cs typeface="Avenir Book" charset="0"/>
                        </a:rPr>
                        <a:t>(TP)</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100" b="0" u="none" dirty="0">
                          <a:latin typeface="Avenir Book" charset="0"/>
                          <a:ea typeface="Avenir Book" charset="0"/>
                          <a:cs typeface="Avenir Book" charset="0"/>
                        </a:rPr>
                        <a:t>False positive</a:t>
                      </a:r>
                    </a:p>
                    <a:p>
                      <a:pPr algn="ctr"/>
                      <a:r>
                        <a:rPr lang="en-US" sz="2100" b="0" u="none" dirty="0">
                          <a:latin typeface="Avenir Book" charset="0"/>
                          <a:ea typeface="Avenir Book" charset="0"/>
                          <a:cs typeface="Avenir Book" charset="0"/>
                        </a:rPr>
                        <a:t>(FP)</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1"/>
                  </a:ext>
                </a:extLst>
              </a:tr>
              <a:tr h="1009650">
                <a:tc vMerge="1">
                  <a:txBody>
                    <a:bodyPr/>
                    <a:lstStyle/>
                    <a:p>
                      <a:pPr algn="ctr"/>
                      <a:endParaRPr lang="en-US" sz="2800" b="0" kern="1200" dirty="0">
                        <a:solidFill>
                          <a:schemeClr val="lt1"/>
                        </a:solidFill>
                        <a:latin typeface="Avenir Book" charset="0"/>
                        <a:ea typeface="Avenir Book" charset="0"/>
                        <a:cs typeface="Avenir Book"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kern="1200" dirty="0">
                          <a:solidFill>
                            <a:schemeClr val="tx1"/>
                          </a:solidFill>
                          <a:latin typeface="Avenir Book" charset="0"/>
                          <a:ea typeface="Avenir Book" charset="0"/>
                          <a:cs typeface="Avenir Book" charset="0"/>
                        </a:rPr>
                        <a:t>Negative</a:t>
                      </a:r>
                      <a:br>
                        <a:rPr lang="en-US" sz="2500" b="1" kern="1200" dirty="0">
                          <a:solidFill>
                            <a:schemeClr val="tx1"/>
                          </a:solidFill>
                          <a:latin typeface="Avenir Book" charset="0"/>
                          <a:ea typeface="Avenir Book" charset="0"/>
                          <a:cs typeface="Avenir Book" charset="0"/>
                        </a:rPr>
                      </a:br>
                      <a:r>
                        <a:rPr lang="en-US" sz="2500" b="1" kern="1200" dirty="0">
                          <a:solidFill>
                            <a:schemeClr val="tx1"/>
                          </a:solidFill>
                          <a:latin typeface="Avenir Book" charset="0"/>
                          <a:ea typeface="Avenir Book" charset="0"/>
                          <a:cs typeface="Avenir Book" charset="0"/>
                        </a:rPr>
                        <a:t>(healthy)</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100" b="0" u="none" dirty="0">
                          <a:latin typeface="Avenir Book" charset="0"/>
                          <a:ea typeface="Avenir Book" charset="0"/>
                          <a:cs typeface="Avenir Book" charset="0"/>
                        </a:rPr>
                        <a:t>False negative</a:t>
                      </a:r>
                    </a:p>
                    <a:p>
                      <a:pPr algn="ctr"/>
                      <a:r>
                        <a:rPr lang="en-US" sz="2100" b="0" u="none" dirty="0">
                          <a:latin typeface="Avenir Book" charset="0"/>
                          <a:ea typeface="Avenir Book" charset="0"/>
                          <a:cs typeface="Avenir Book" charset="0"/>
                        </a:rPr>
                        <a:t>(FN)</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100" b="0" u="none" dirty="0">
                          <a:latin typeface="Avenir Book" charset="0"/>
                          <a:ea typeface="Avenir Book" charset="0"/>
                          <a:cs typeface="Avenir Book" charset="0"/>
                        </a:rPr>
                        <a:t>True negative</a:t>
                      </a:r>
                    </a:p>
                    <a:p>
                      <a:pPr algn="ctr"/>
                      <a:r>
                        <a:rPr lang="en-US" sz="2100" b="0" u="none" dirty="0">
                          <a:latin typeface="Avenir Book" charset="0"/>
                          <a:ea typeface="Avenir Book" charset="0"/>
                          <a:cs typeface="Avenir Book" charset="0"/>
                        </a:rPr>
                        <a:t>(TN)</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2E6FBD4-41FF-0025-5F7D-FBC81861F401}"/>
                  </a:ext>
                </a:extLst>
              </p:cNvPr>
              <p:cNvSpPr txBox="1"/>
              <p:nvPr/>
            </p:nvSpPr>
            <p:spPr>
              <a:xfrm>
                <a:off x="4111153" y="4859136"/>
                <a:ext cx="3889847" cy="611706"/>
              </a:xfrm>
              <a:prstGeom prst="rect">
                <a:avLst/>
              </a:prstGeom>
              <a:noFill/>
            </p:spPr>
            <p:txBody>
              <a:bodyPr wrap="none" lIns="0" tIns="0" rIns="0" bIns="0" rtlCol="0">
                <a:spAutoFit/>
              </a:bodyPr>
              <a:lstStyle/>
              <a:p>
                <a:r>
                  <a:rPr lang="en-US" sz="2800" dirty="0">
                    <a:latin typeface="Avenir Book" panose="02000503020000020003" pitchFamily="2" charset="0"/>
                  </a:rPr>
                  <a:t>Accuracy </a:t>
                </a:r>
                <a14:m>
                  <m:oMath xmlns:m="http://schemas.openxmlformats.org/officeDocument/2006/math">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𝑇𝑃</m:t>
                        </m:r>
                        <m:r>
                          <a:rPr lang="en-US" sz="2800" i="1">
                            <a:latin typeface="Cambria Math" panose="02040503050406030204" pitchFamily="18" charset="0"/>
                          </a:rPr>
                          <m:t>+</m:t>
                        </m:r>
                        <m:r>
                          <a:rPr lang="en-US" sz="2800" i="1">
                            <a:latin typeface="Cambria Math" panose="02040503050406030204" pitchFamily="18" charset="0"/>
                          </a:rPr>
                          <m:t>𝑇𝑁</m:t>
                        </m:r>
                      </m:num>
                      <m:den>
                        <m:r>
                          <a:rPr lang="en-US" sz="2800" i="1">
                            <a:latin typeface="Cambria Math" panose="02040503050406030204" pitchFamily="18" charset="0"/>
                          </a:rPr>
                          <m:t>𝑇𝑃</m:t>
                        </m:r>
                        <m:r>
                          <a:rPr lang="en-US" sz="2800" i="1">
                            <a:latin typeface="Cambria Math" panose="02040503050406030204" pitchFamily="18" charset="0"/>
                          </a:rPr>
                          <m:t>+</m:t>
                        </m:r>
                        <m:r>
                          <a:rPr lang="en-US" sz="2800" i="1">
                            <a:latin typeface="Cambria Math" panose="02040503050406030204" pitchFamily="18" charset="0"/>
                          </a:rPr>
                          <m:t>𝐹𝑃</m:t>
                        </m:r>
                        <m:r>
                          <a:rPr lang="en-US" sz="2800" i="1">
                            <a:latin typeface="Cambria Math" panose="02040503050406030204" pitchFamily="18" charset="0"/>
                          </a:rPr>
                          <m:t>+</m:t>
                        </m:r>
                        <m:r>
                          <a:rPr lang="en-US" sz="2800" i="1">
                            <a:latin typeface="Cambria Math" panose="02040503050406030204" pitchFamily="18" charset="0"/>
                          </a:rPr>
                          <m:t>𝐹𝑁</m:t>
                        </m:r>
                        <m:r>
                          <a:rPr lang="en-US" sz="2800" i="1">
                            <a:latin typeface="Cambria Math" panose="02040503050406030204" pitchFamily="18" charset="0"/>
                          </a:rPr>
                          <m:t>+</m:t>
                        </m:r>
                        <m:r>
                          <a:rPr lang="en-US" sz="2800" i="1">
                            <a:latin typeface="Cambria Math" panose="02040503050406030204" pitchFamily="18" charset="0"/>
                          </a:rPr>
                          <m:t>𝑇𝑁</m:t>
                        </m:r>
                      </m:den>
                    </m:f>
                  </m:oMath>
                </a14:m>
                <a:endParaRPr lang="en-US" sz="2800" dirty="0">
                  <a:latin typeface="Avenir Book" panose="02000503020000020003" pitchFamily="2" charset="0"/>
                </a:endParaRPr>
              </a:p>
            </p:txBody>
          </p:sp>
        </mc:Choice>
        <mc:Fallback xmlns="">
          <p:sp>
            <p:nvSpPr>
              <p:cNvPr id="5" name="TextBox 4">
                <a:extLst>
                  <a:ext uri="{FF2B5EF4-FFF2-40B4-BE49-F238E27FC236}">
                    <a16:creationId xmlns:a16="http://schemas.microsoft.com/office/drawing/2014/main" id="{A2E6FBD4-41FF-0025-5F7D-FBC81861F401}"/>
                  </a:ext>
                </a:extLst>
              </p:cNvPr>
              <p:cNvSpPr txBox="1">
                <a:spLocks noRot="1" noChangeAspect="1" noMove="1" noResize="1" noEditPoints="1" noAdjustHandles="1" noChangeArrowheads="1" noChangeShapeType="1" noTextEdit="1"/>
              </p:cNvSpPr>
              <p:nvPr/>
            </p:nvSpPr>
            <p:spPr>
              <a:xfrm>
                <a:off x="4111153" y="4859136"/>
                <a:ext cx="3889847" cy="611706"/>
              </a:xfrm>
              <a:prstGeom prst="rect">
                <a:avLst/>
              </a:prstGeom>
              <a:blipFill>
                <a:blip r:embed="rId2"/>
                <a:stretch>
                  <a:fillRect l="-5519" r="-974" b="-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CC78FC0-713F-B01F-053C-7CB54575FA68}"/>
                  </a:ext>
                </a:extLst>
              </p:cNvPr>
              <p:cNvSpPr txBox="1"/>
              <p:nvPr/>
            </p:nvSpPr>
            <p:spPr>
              <a:xfrm>
                <a:off x="8315600" y="4859136"/>
                <a:ext cx="3534173" cy="611706"/>
              </a:xfrm>
              <a:prstGeom prst="rect">
                <a:avLst/>
              </a:prstGeom>
              <a:noFill/>
            </p:spPr>
            <p:txBody>
              <a:bodyPr wrap="none" lIns="0" tIns="0" rIns="0" bIns="0" rtlCol="0">
                <a:spAutoFit/>
              </a:bodyPr>
              <a:lstStyle/>
              <a:p>
                <a:r>
                  <a:rPr lang="en-US" sz="2800" dirty="0">
                    <a:latin typeface="Avenir Book" panose="02000503020000020003" pitchFamily="2" charset="0"/>
                  </a:rPr>
                  <a:t>F1-score </a:t>
                </a:r>
                <a14:m>
                  <m:oMath xmlns:m="http://schemas.openxmlformats.org/officeDocument/2006/math">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2∗</m:t>
                        </m:r>
                        <m:r>
                          <a:rPr lang="en-US" sz="2800" i="1">
                            <a:latin typeface="Cambria Math" panose="02040503050406030204" pitchFamily="18" charset="0"/>
                          </a:rPr>
                          <m:t>𝑇𝑃</m:t>
                        </m:r>
                      </m:num>
                      <m:den>
                        <m:r>
                          <a:rPr lang="en-US" sz="2800" i="1">
                            <a:latin typeface="Cambria Math" panose="02040503050406030204" pitchFamily="18" charset="0"/>
                          </a:rPr>
                          <m:t>2∗</m:t>
                        </m:r>
                        <m:r>
                          <a:rPr lang="en-US" sz="2800" i="1">
                            <a:latin typeface="Cambria Math" panose="02040503050406030204" pitchFamily="18" charset="0"/>
                          </a:rPr>
                          <m:t>𝑇𝑃</m:t>
                        </m:r>
                        <m:r>
                          <a:rPr lang="en-US" sz="2800" i="1">
                            <a:latin typeface="Cambria Math" panose="02040503050406030204" pitchFamily="18" charset="0"/>
                          </a:rPr>
                          <m:t>+</m:t>
                        </m:r>
                        <m:r>
                          <a:rPr lang="en-US" sz="2800" i="1">
                            <a:latin typeface="Cambria Math" panose="02040503050406030204" pitchFamily="18" charset="0"/>
                          </a:rPr>
                          <m:t>𝐹𝑃</m:t>
                        </m:r>
                        <m:r>
                          <a:rPr lang="en-US" sz="2800" i="1">
                            <a:latin typeface="Cambria Math" panose="02040503050406030204" pitchFamily="18" charset="0"/>
                          </a:rPr>
                          <m:t>+</m:t>
                        </m:r>
                        <m:r>
                          <a:rPr lang="en-US" sz="2800" i="1">
                            <a:latin typeface="Cambria Math" panose="02040503050406030204" pitchFamily="18" charset="0"/>
                          </a:rPr>
                          <m:t>𝐹𝑁</m:t>
                        </m:r>
                      </m:den>
                    </m:f>
                  </m:oMath>
                </a14:m>
                <a:endParaRPr lang="en-US" sz="2800" dirty="0">
                  <a:latin typeface="Avenir Book" panose="02000503020000020003" pitchFamily="2" charset="0"/>
                </a:endParaRPr>
              </a:p>
            </p:txBody>
          </p:sp>
        </mc:Choice>
        <mc:Fallback xmlns="">
          <p:sp>
            <p:nvSpPr>
              <p:cNvPr id="6" name="TextBox 5">
                <a:extLst>
                  <a:ext uri="{FF2B5EF4-FFF2-40B4-BE49-F238E27FC236}">
                    <a16:creationId xmlns:a16="http://schemas.microsoft.com/office/drawing/2014/main" id="{ACC78FC0-713F-B01F-053C-7CB54575FA68}"/>
                  </a:ext>
                </a:extLst>
              </p:cNvPr>
              <p:cNvSpPr txBox="1">
                <a:spLocks noRot="1" noChangeAspect="1" noMove="1" noResize="1" noEditPoints="1" noAdjustHandles="1" noChangeArrowheads="1" noChangeShapeType="1" noTextEdit="1"/>
              </p:cNvSpPr>
              <p:nvPr/>
            </p:nvSpPr>
            <p:spPr>
              <a:xfrm>
                <a:off x="8315600" y="4859136"/>
                <a:ext cx="3534173" cy="611706"/>
              </a:xfrm>
              <a:prstGeom prst="rect">
                <a:avLst/>
              </a:prstGeom>
              <a:blipFill>
                <a:blip r:embed="rId3"/>
                <a:stretch>
                  <a:fillRect l="-6071" r="-1429" b="-2040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D23FF96-19F3-AAB6-8DBE-7C4EED193E51}"/>
              </a:ext>
            </a:extLst>
          </p:cNvPr>
          <p:cNvSpPr txBox="1"/>
          <p:nvPr/>
        </p:nvSpPr>
        <p:spPr>
          <a:xfrm>
            <a:off x="4267198" y="1596584"/>
            <a:ext cx="3122650" cy="492443"/>
          </a:xfrm>
          <a:prstGeom prst="rect">
            <a:avLst/>
          </a:prstGeom>
          <a:noFill/>
        </p:spPr>
        <p:txBody>
          <a:bodyPr wrap="none" lIns="0" tIns="0" rIns="0" bIns="0" rtlCol="0">
            <a:spAutoFit/>
          </a:bodyPr>
          <a:lstStyle/>
          <a:p>
            <a:r>
              <a:rPr lang="en-US" sz="3200" b="1" dirty="0">
                <a:latin typeface="Avenir Book" panose="02000503020000020003" pitchFamily="2" charset="0"/>
              </a:rPr>
              <a:t>Confusion Matrix</a:t>
            </a:r>
          </a:p>
        </p:txBody>
      </p:sp>
      <p:graphicFrame>
        <p:nvGraphicFramePr>
          <p:cNvPr id="10" name="Table 7">
            <a:extLst>
              <a:ext uri="{FF2B5EF4-FFF2-40B4-BE49-F238E27FC236}">
                <a16:creationId xmlns:a16="http://schemas.microsoft.com/office/drawing/2014/main" id="{AE8C1450-3F36-18C4-AB27-CFC0F12615A4}"/>
              </a:ext>
            </a:extLst>
          </p:cNvPr>
          <p:cNvGraphicFramePr>
            <a:graphicFrameLocks noGrp="1"/>
          </p:cNvGraphicFramePr>
          <p:nvPr>
            <p:extLst>
              <p:ext uri="{D42A27DB-BD31-4B8C-83A1-F6EECF244321}">
                <p14:modId xmlns:p14="http://schemas.microsoft.com/office/powerpoint/2010/main" val="4278363863"/>
              </p:ext>
            </p:extLst>
          </p:nvPr>
        </p:nvGraphicFramePr>
        <p:xfrm>
          <a:off x="457200" y="2028439"/>
          <a:ext cx="3352800" cy="3944124"/>
        </p:xfrm>
        <a:graphic>
          <a:graphicData uri="http://schemas.openxmlformats.org/drawingml/2006/table">
            <a:tbl>
              <a:tblPr firstRow="1" bandRow="1">
                <a:tableStyleId>{073A0DAA-6AF3-43AB-8588-CEC1D06C72B9}</a:tableStyleId>
              </a:tblPr>
              <a:tblGrid>
                <a:gridCol w="1676400">
                  <a:extLst>
                    <a:ext uri="{9D8B030D-6E8A-4147-A177-3AD203B41FA5}">
                      <a16:colId xmlns:a16="http://schemas.microsoft.com/office/drawing/2014/main" val="1571447975"/>
                    </a:ext>
                  </a:extLst>
                </a:gridCol>
                <a:gridCol w="1676400">
                  <a:extLst>
                    <a:ext uri="{9D8B030D-6E8A-4147-A177-3AD203B41FA5}">
                      <a16:colId xmlns:a16="http://schemas.microsoft.com/office/drawing/2014/main" val="1550805326"/>
                    </a:ext>
                  </a:extLst>
                </a:gridCol>
              </a:tblGrid>
              <a:tr h="657354">
                <a:tc>
                  <a:txBody>
                    <a:bodyPr/>
                    <a:lstStyle/>
                    <a:p>
                      <a:pPr algn="ctr"/>
                      <a:r>
                        <a:rPr lang="en-US" sz="2300" dirty="0"/>
                        <a:t>Actual</a:t>
                      </a:r>
                    </a:p>
                  </a:txBody>
                  <a:tcPr anchor="ctr"/>
                </a:tc>
                <a:tc>
                  <a:txBody>
                    <a:bodyPr/>
                    <a:lstStyle/>
                    <a:p>
                      <a:pPr algn="ctr"/>
                      <a:r>
                        <a:rPr lang="en-US" sz="2300" dirty="0"/>
                        <a:t>Predicted</a:t>
                      </a:r>
                    </a:p>
                  </a:txBody>
                  <a:tcPr anchor="ctr"/>
                </a:tc>
                <a:extLst>
                  <a:ext uri="{0D108BD9-81ED-4DB2-BD59-A6C34878D82A}">
                    <a16:rowId xmlns:a16="http://schemas.microsoft.com/office/drawing/2014/main" val="2668513280"/>
                  </a:ext>
                </a:extLst>
              </a:tr>
              <a:tr h="657354">
                <a:tc>
                  <a:txBody>
                    <a:bodyPr/>
                    <a:lstStyle/>
                    <a:p>
                      <a:pPr algn="ctr"/>
                      <a:r>
                        <a:rPr lang="en-US" sz="2300" dirty="0"/>
                        <a:t>healthy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dirty="0"/>
                        <a:t>healthy</a:t>
                      </a:r>
                    </a:p>
                  </a:txBody>
                  <a:tcPr anchor="ctr"/>
                </a:tc>
                <a:extLst>
                  <a:ext uri="{0D108BD9-81ED-4DB2-BD59-A6C34878D82A}">
                    <a16:rowId xmlns:a16="http://schemas.microsoft.com/office/drawing/2014/main" val="2796125423"/>
                  </a:ext>
                </a:extLst>
              </a:tr>
              <a:tr h="657354">
                <a:tc>
                  <a:txBody>
                    <a:bodyPr/>
                    <a:lstStyle/>
                    <a:p>
                      <a:pPr algn="ctr"/>
                      <a:r>
                        <a:rPr lang="en-US" sz="2300" dirty="0"/>
                        <a:t>sick</a:t>
                      </a:r>
                    </a:p>
                  </a:txBody>
                  <a:tcPr anchor="ctr"/>
                </a:tc>
                <a:tc>
                  <a:txBody>
                    <a:bodyPr/>
                    <a:lstStyle/>
                    <a:p>
                      <a:pPr algn="ctr"/>
                      <a:r>
                        <a:rPr lang="en-US" sz="2300" dirty="0"/>
                        <a:t>healthy</a:t>
                      </a:r>
                    </a:p>
                  </a:txBody>
                  <a:tcPr anchor="ctr"/>
                </a:tc>
                <a:extLst>
                  <a:ext uri="{0D108BD9-81ED-4DB2-BD59-A6C34878D82A}">
                    <a16:rowId xmlns:a16="http://schemas.microsoft.com/office/drawing/2014/main" val="3875812655"/>
                  </a:ext>
                </a:extLst>
              </a:tr>
              <a:tr h="657354">
                <a:tc>
                  <a:txBody>
                    <a:bodyPr/>
                    <a:lstStyle/>
                    <a:p>
                      <a:pPr algn="ctr"/>
                      <a:r>
                        <a:rPr lang="en-US" sz="2300" dirty="0"/>
                        <a:t>sick</a:t>
                      </a:r>
                    </a:p>
                  </a:txBody>
                  <a:tcPr anchor="ctr"/>
                </a:tc>
                <a:tc>
                  <a:txBody>
                    <a:bodyPr/>
                    <a:lstStyle/>
                    <a:p>
                      <a:pPr algn="ctr"/>
                      <a:r>
                        <a:rPr lang="en-US" sz="2300" dirty="0"/>
                        <a:t>sick</a:t>
                      </a:r>
                    </a:p>
                  </a:txBody>
                  <a:tcPr anchor="ctr"/>
                </a:tc>
                <a:extLst>
                  <a:ext uri="{0D108BD9-81ED-4DB2-BD59-A6C34878D82A}">
                    <a16:rowId xmlns:a16="http://schemas.microsoft.com/office/drawing/2014/main" val="783740732"/>
                  </a:ext>
                </a:extLst>
              </a:tr>
              <a:tr h="657354">
                <a:tc>
                  <a:txBody>
                    <a:bodyPr/>
                    <a:lstStyle/>
                    <a:p>
                      <a:pPr algn="ctr"/>
                      <a:r>
                        <a:rPr lang="en-US" sz="2300" dirty="0"/>
                        <a:t>sick</a:t>
                      </a:r>
                    </a:p>
                  </a:txBody>
                  <a:tcPr anchor="ctr"/>
                </a:tc>
                <a:tc>
                  <a:txBody>
                    <a:bodyPr/>
                    <a:lstStyle/>
                    <a:p>
                      <a:pPr algn="ctr"/>
                      <a:r>
                        <a:rPr lang="en-US" sz="2300" dirty="0"/>
                        <a:t>sick</a:t>
                      </a:r>
                    </a:p>
                  </a:txBody>
                  <a:tcPr anchor="ctr"/>
                </a:tc>
                <a:extLst>
                  <a:ext uri="{0D108BD9-81ED-4DB2-BD59-A6C34878D82A}">
                    <a16:rowId xmlns:a16="http://schemas.microsoft.com/office/drawing/2014/main" val="3690459075"/>
                  </a:ext>
                </a:extLst>
              </a:tr>
              <a:tr h="657354">
                <a:tc>
                  <a:txBody>
                    <a:bodyPr/>
                    <a:lstStyle/>
                    <a:p>
                      <a:pPr algn="ctr"/>
                      <a:r>
                        <a:rPr lang="en-US" sz="2300" dirty="0"/>
                        <a:t>healthy</a:t>
                      </a:r>
                    </a:p>
                  </a:txBody>
                  <a:tcPr anchor="ctr"/>
                </a:tc>
                <a:tc>
                  <a:txBody>
                    <a:bodyPr/>
                    <a:lstStyle/>
                    <a:p>
                      <a:pPr algn="ctr"/>
                      <a:r>
                        <a:rPr lang="en-US" sz="2300" dirty="0"/>
                        <a:t>sick</a:t>
                      </a:r>
                    </a:p>
                  </a:txBody>
                  <a:tcPr anchor="ctr"/>
                </a:tc>
                <a:extLst>
                  <a:ext uri="{0D108BD9-81ED-4DB2-BD59-A6C34878D82A}">
                    <a16:rowId xmlns:a16="http://schemas.microsoft.com/office/drawing/2014/main" val="4034280110"/>
                  </a:ext>
                </a:extLst>
              </a:tr>
            </a:tbl>
          </a:graphicData>
        </a:graphic>
      </p:graphicFrame>
      <p:sp>
        <p:nvSpPr>
          <p:cNvPr id="12" name="TextBox 11">
            <a:extLst>
              <a:ext uri="{FF2B5EF4-FFF2-40B4-BE49-F238E27FC236}">
                <a16:creationId xmlns:a16="http://schemas.microsoft.com/office/drawing/2014/main" id="{BCB2CB4E-DFBC-6829-3451-720E1E1412C4}"/>
              </a:ext>
            </a:extLst>
          </p:cNvPr>
          <p:cNvSpPr txBox="1"/>
          <p:nvPr/>
        </p:nvSpPr>
        <p:spPr>
          <a:xfrm>
            <a:off x="4111154" y="5795088"/>
            <a:ext cx="7738620" cy="646331"/>
          </a:xfrm>
          <a:prstGeom prst="rect">
            <a:avLst/>
          </a:prstGeom>
          <a:noFill/>
        </p:spPr>
        <p:txBody>
          <a:bodyPr wrap="square" lIns="0" tIns="0" rIns="0" bIns="0" rtlCol="0">
            <a:spAutoFit/>
          </a:bodyPr>
          <a:lstStyle/>
          <a:p>
            <a:r>
              <a:rPr lang="en-US" sz="2100" dirty="0">
                <a:latin typeface="Avenir Book" panose="02000503020000020003" pitchFamily="2" charset="0"/>
              </a:rPr>
              <a:t>F1-score is better suited for imbalanced datasets </a:t>
            </a:r>
            <a:br>
              <a:rPr lang="en-US" sz="2100" dirty="0">
                <a:latin typeface="Avenir Book" panose="02000503020000020003" pitchFamily="2" charset="0"/>
              </a:rPr>
            </a:br>
            <a:r>
              <a:rPr lang="en-US" sz="2100" dirty="0">
                <a:latin typeface="Avenir Book" panose="02000503020000020003" pitchFamily="2" charset="0"/>
              </a:rPr>
              <a:t>(i.e., significantly different numbers of positives and negatives)</a:t>
            </a:r>
          </a:p>
        </p:txBody>
      </p:sp>
    </p:spTree>
    <p:extLst>
      <p:ext uri="{BB962C8B-B14F-4D97-AF65-F5344CB8AC3E}">
        <p14:creationId xmlns:p14="http://schemas.microsoft.com/office/powerpoint/2010/main" val="353872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7B00-DBD2-3FFB-8101-3BD05C8E939D}"/>
              </a:ext>
            </a:extLst>
          </p:cNvPr>
          <p:cNvSpPr>
            <a:spLocks noGrp="1"/>
          </p:cNvSpPr>
          <p:nvPr>
            <p:ph type="title"/>
          </p:nvPr>
        </p:nvSpPr>
        <p:spPr/>
        <p:txBody>
          <a:bodyPr>
            <a:normAutofit fontScale="90000"/>
          </a:bodyPr>
          <a:lstStyle/>
          <a:p>
            <a:r>
              <a:rPr lang="en-US" dirty="0"/>
              <a:t>Binary Classification Evaluation Metrics: </a:t>
            </a:r>
            <a:br>
              <a:rPr lang="en-US" dirty="0"/>
            </a:br>
            <a:r>
              <a:rPr lang="en-US" dirty="0"/>
              <a:t>Information Retrieval</a:t>
            </a:r>
          </a:p>
        </p:txBody>
      </p:sp>
      <p:graphicFrame>
        <p:nvGraphicFramePr>
          <p:cNvPr id="4" name="Content Placeholder 21">
            <a:extLst>
              <a:ext uri="{FF2B5EF4-FFF2-40B4-BE49-F238E27FC236}">
                <a16:creationId xmlns:a16="http://schemas.microsoft.com/office/drawing/2014/main" id="{E60147D1-2C9D-8FE0-382E-06FC83B93186}"/>
              </a:ext>
            </a:extLst>
          </p:cNvPr>
          <p:cNvGraphicFramePr>
            <a:graphicFrameLocks/>
          </p:cNvGraphicFramePr>
          <p:nvPr>
            <p:extLst>
              <p:ext uri="{D42A27DB-BD31-4B8C-83A1-F6EECF244321}">
                <p14:modId xmlns:p14="http://schemas.microsoft.com/office/powerpoint/2010/main" val="2761511814"/>
              </p:ext>
            </p:extLst>
          </p:nvPr>
        </p:nvGraphicFramePr>
        <p:xfrm>
          <a:off x="4267199" y="1387158"/>
          <a:ext cx="7467601" cy="3143250"/>
        </p:xfrm>
        <a:graphic>
          <a:graphicData uri="http://schemas.openxmlformats.org/drawingml/2006/table">
            <a:tbl>
              <a:tblPr firstRow="1" firstCol="1" bandRow="1">
                <a:tableStyleId>{5202B0CA-FC54-4496-8BCA-5EF66A818D29}</a:tableStyleId>
              </a:tblPr>
              <a:tblGrid>
                <a:gridCol w="1229695">
                  <a:extLst>
                    <a:ext uri="{9D8B030D-6E8A-4147-A177-3AD203B41FA5}">
                      <a16:colId xmlns:a16="http://schemas.microsoft.com/office/drawing/2014/main" val="20002"/>
                    </a:ext>
                  </a:extLst>
                </a:gridCol>
                <a:gridCol w="2209331">
                  <a:extLst>
                    <a:ext uri="{9D8B030D-6E8A-4147-A177-3AD203B41FA5}">
                      <a16:colId xmlns:a16="http://schemas.microsoft.com/office/drawing/2014/main" val="20003"/>
                    </a:ext>
                  </a:extLst>
                </a:gridCol>
                <a:gridCol w="1965159">
                  <a:extLst>
                    <a:ext uri="{9D8B030D-6E8A-4147-A177-3AD203B41FA5}">
                      <a16:colId xmlns:a16="http://schemas.microsoft.com/office/drawing/2014/main" val="20004"/>
                    </a:ext>
                  </a:extLst>
                </a:gridCol>
                <a:gridCol w="2063416">
                  <a:extLst>
                    <a:ext uri="{9D8B030D-6E8A-4147-A177-3AD203B41FA5}">
                      <a16:colId xmlns:a16="http://schemas.microsoft.com/office/drawing/2014/main" val="20000"/>
                    </a:ext>
                  </a:extLst>
                </a:gridCol>
              </a:tblGrid>
              <a:tr h="609600">
                <a:tc rowSpan="2" gridSpan="2">
                  <a:txBody>
                    <a:bodyPr/>
                    <a:lstStyle/>
                    <a:p>
                      <a:pPr algn="ctr"/>
                      <a:endParaRPr lang="en-US" sz="2500" b="0" dirty="0">
                        <a:latin typeface="Avenir Book" charset="0"/>
                        <a:ea typeface="Avenir Book" charset="0"/>
                        <a:cs typeface="Avenir Book" charset="0"/>
                      </a:endParaRPr>
                    </a:p>
                  </a:txBody>
                  <a:tcPr marL="81206" marR="81206" marT="40603" marB="4060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sz="2500" b="1" dirty="0">
                          <a:solidFill>
                            <a:schemeClr val="tx1"/>
                          </a:solidFill>
                          <a:latin typeface="Avenir Book" charset="0"/>
                          <a:ea typeface="Avenir Book" charset="0"/>
                          <a:cs typeface="Avenir Book" charset="0"/>
                        </a:rPr>
                        <a:t>Actual Label</a:t>
                      </a:r>
                    </a:p>
                  </a:txBody>
                  <a:tcPr marL="81206" marR="81206" marT="40603" marB="4060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hMerge="1">
                  <a:txBody>
                    <a:bodyPr/>
                    <a:lstStyle/>
                    <a:p>
                      <a:pPr algn="ctr"/>
                      <a:endParaRPr lang="en-US" sz="2800" b="0" dirty="0">
                        <a:latin typeface="Avenir Book" charset="0"/>
                        <a:ea typeface="Avenir Book" charset="0"/>
                        <a:cs typeface="Avenir Book"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3"/>
                  </a:ext>
                </a:extLst>
              </a:tr>
              <a:tr h="514350">
                <a:tc gridSpan="2"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500" b="1" dirty="0">
                          <a:solidFill>
                            <a:schemeClr val="tx1"/>
                          </a:solidFill>
                          <a:latin typeface="Avenir Book" charset="0"/>
                          <a:ea typeface="Avenir Book" charset="0"/>
                          <a:cs typeface="Avenir Book" charset="0"/>
                        </a:rPr>
                        <a:t>Positive</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dirty="0">
                          <a:solidFill>
                            <a:schemeClr val="tx1"/>
                          </a:solidFill>
                          <a:latin typeface="Avenir Book" charset="0"/>
                          <a:ea typeface="Avenir Book" charset="0"/>
                          <a:cs typeface="Avenir Book" charset="0"/>
                        </a:rPr>
                        <a:t>Negative</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0"/>
                  </a:ext>
                </a:extLst>
              </a:tr>
              <a:tr h="1009650">
                <a:tc rowSpan="2">
                  <a:txBody>
                    <a:bodyPr/>
                    <a:lstStyle/>
                    <a:p>
                      <a:pPr algn="ctr"/>
                      <a:r>
                        <a:rPr lang="en-US" sz="2500" b="1" kern="1200" dirty="0">
                          <a:solidFill>
                            <a:schemeClr val="tx1"/>
                          </a:solidFill>
                          <a:latin typeface="Avenir Book" charset="0"/>
                          <a:ea typeface="Avenir Book" charset="0"/>
                          <a:cs typeface="Avenir Book" charset="0"/>
                        </a:rPr>
                        <a:t>Predicted Label</a:t>
                      </a:r>
                    </a:p>
                  </a:txBody>
                  <a:tcPr marL="81206" marR="81206" marT="40603" marB="40603" vert="vert27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kern="1200" dirty="0">
                          <a:solidFill>
                            <a:schemeClr val="tx1"/>
                          </a:solidFill>
                          <a:latin typeface="Avenir Book" charset="0"/>
                          <a:ea typeface="Avenir Book" charset="0"/>
                          <a:cs typeface="Avenir Book" charset="0"/>
                        </a:rPr>
                        <a:t>Positive</a:t>
                      </a:r>
                      <a:br>
                        <a:rPr lang="en-US" sz="2500" b="1" kern="1200" dirty="0">
                          <a:solidFill>
                            <a:schemeClr val="tx1"/>
                          </a:solidFill>
                          <a:latin typeface="Avenir Book" charset="0"/>
                          <a:ea typeface="Avenir Book" charset="0"/>
                          <a:cs typeface="Avenir Book" charset="0"/>
                        </a:rPr>
                      </a:br>
                      <a:r>
                        <a:rPr lang="en-US" sz="2500" b="1" kern="1200" dirty="0">
                          <a:solidFill>
                            <a:schemeClr val="tx1"/>
                          </a:solidFill>
                          <a:latin typeface="Avenir Book" charset="0"/>
                          <a:ea typeface="Avenir Book" charset="0"/>
                          <a:cs typeface="Avenir Book" charset="0"/>
                        </a:rPr>
                        <a:t>(sick)</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100" b="0" u="none" dirty="0">
                          <a:latin typeface="Avenir Book" charset="0"/>
                          <a:ea typeface="Avenir Book" charset="0"/>
                          <a:cs typeface="Avenir Book" charset="0"/>
                        </a:rPr>
                        <a:t>True positive</a:t>
                      </a:r>
                    </a:p>
                    <a:p>
                      <a:pPr algn="ctr"/>
                      <a:r>
                        <a:rPr lang="en-US" sz="2100" b="0" u="none" dirty="0">
                          <a:latin typeface="Avenir Book" charset="0"/>
                          <a:ea typeface="Avenir Book" charset="0"/>
                          <a:cs typeface="Avenir Book" charset="0"/>
                        </a:rPr>
                        <a:t>(TP)</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100" b="0" u="none" dirty="0">
                          <a:latin typeface="Avenir Book" charset="0"/>
                          <a:ea typeface="Avenir Book" charset="0"/>
                          <a:cs typeface="Avenir Book" charset="0"/>
                        </a:rPr>
                        <a:t>False positive</a:t>
                      </a:r>
                    </a:p>
                    <a:p>
                      <a:pPr algn="ctr"/>
                      <a:r>
                        <a:rPr lang="en-US" sz="2100" b="0" u="none" dirty="0">
                          <a:latin typeface="Avenir Book" charset="0"/>
                          <a:ea typeface="Avenir Book" charset="0"/>
                          <a:cs typeface="Avenir Book" charset="0"/>
                        </a:rPr>
                        <a:t>(FP)</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1"/>
                  </a:ext>
                </a:extLst>
              </a:tr>
              <a:tr h="1009650">
                <a:tc vMerge="1">
                  <a:txBody>
                    <a:bodyPr/>
                    <a:lstStyle/>
                    <a:p>
                      <a:pPr algn="ctr"/>
                      <a:endParaRPr lang="en-US" sz="2800" b="0" kern="1200" dirty="0">
                        <a:solidFill>
                          <a:schemeClr val="lt1"/>
                        </a:solidFill>
                        <a:latin typeface="Avenir Book" charset="0"/>
                        <a:ea typeface="Avenir Book" charset="0"/>
                        <a:cs typeface="Avenir Book"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kern="1200" dirty="0">
                          <a:solidFill>
                            <a:schemeClr val="tx1"/>
                          </a:solidFill>
                          <a:latin typeface="Avenir Book" charset="0"/>
                          <a:ea typeface="Avenir Book" charset="0"/>
                          <a:cs typeface="Avenir Book" charset="0"/>
                        </a:rPr>
                        <a:t>Negative</a:t>
                      </a:r>
                    </a:p>
                    <a:p>
                      <a:pPr algn="ctr"/>
                      <a:r>
                        <a:rPr lang="en-US" sz="2500" b="1" kern="1200" dirty="0">
                          <a:solidFill>
                            <a:schemeClr val="tx1"/>
                          </a:solidFill>
                          <a:latin typeface="Avenir Book" charset="0"/>
                          <a:ea typeface="Avenir Book" charset="0"/>
                          <a:cs typeface="Avenir Book" charset="0"/>
                        </a:rPr>
                        <a:t>(healthy)</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100" b="0" u="none" dirty="0">
                          <a:latin typeface="Avenir Book" charset="0"/>
                          <a:ea typeface="Avenir Book" charset="0"/>
                          <a:cs typeface="Avenir Book" charset="0"/>
                        </a:rPr>
                        <a:t>False negative</a:t>
                      </a:r>
                    </a:p>
                    <a:p>
                      <a:pPr algn="ctr"/>
                      <a:r>
                        <a:rPr lang="en-US" sz="2100" b="0" u="none" dirty="0">
                          <a:latin typeface="Avenir Book" charset="0"/>
                          <a:ea typeface="Avenir Book" charset="0"/>
                          <a:cs typeface="Avenir Book" charset="0"/>
                        </a:rPr>
                        <a:t>(FN)</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100" b="0" u="none" dirty="0">
                          <a:latin typeface="Avenir Book" charset="0"/>
                          <a:ea typeface="Avenir Book" charset="0"/>
                          <a:cs typeface="Avenir Book" charset="0"/>
                        </a:rPr>
                        <a:t>True negative</a:t>
                      </a:r>
                    </a:p>
                    <a:p>
                      <a:pPr algn="ctr"/>
                      <a:r>
                        <a:rPr lang="en-US" sz="2100" b="0" u="none" dirty="0">
                          <a:latin typeface="Avenir Book" charset="0"/>
                          <a:ea typeface="Avenir Book" charset="0"/>
                          <a:cs typeface="Avenir Book" charset="0"/>
                        </a:rPr>
                        <a:t>(TN)</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DD23FF96-19F3-AAB6-8DBE-7C4EED193E51}"/>
              </a:ext>
            </a:extLst>
          </p:cNvPr>
          <p:cNvSpPr txBox="1"/>
          <p:nvPr/>
        </p:nvSpPr>
        <p:spPr>
          <a:xfrm>
            <a:off x="4267198" y="1596584"/>
            <a:ext cx="3122650" cy="492443"/>
          </a:xfrm>
          <a:prstGeom prst="rect">
            <a:avLst/>
          </a:prstGeom>
          <a:noFill/>
        </p:spPr>
        <p:txBody>
          <a:bodyPr wrap="none" lIns="0" tIns="0" rIns="0" bIns="0" rtlCol="0">
            <a:spAutoFit/>
          </a:bodyPr>
          <a:lstStyle/>
          <a:p>
            <a:r>
              <a:rPr lang="en-US" sz="3200" b="1" dirty="0">
                <a:latin typeface="Avenir Book" panose="02000503020000020003" pitchFamily="2" charset="0"/>
              </a:rPr>
              <a:t>Confusion Matrix</a:t>
            </a:r>
          </a:p>
        </p:txBody>
      </p:sp>
      <p:graphicFrame>
        <p:nvGraphicFramePr>
          <p:cNvPr id="10" name="Table 7">
            <a:extLst>
              <a:ext uri="{FF2B5EF4-FFF2-40B4-BE49-F238E27FC236}">
                <a16:creationId xmlns:a16="http://schemas.microsoft.com/office/drawing/2014/main" id="{AE8C1450-3F36-18C4-AB27-CFC0F12615A4}"/>
              </a:ext>
            </a:extLst>
          </p:cNvPr>
          <p:cNvGraphicFramePr>
            <a:graphicFrameLocks noGrp="1"/>
          </p:cNvGraphicFramePr>
          <p:nvPr>
            <p:extLst>
              <p:ext uri="{D42A27DB-BD31-4B8C-83A1-F6EECF244321}">
                <p14:modId xmlns:p14="http://schemas.microsoft.com/office/powerpoint/2010/main" val="149491675"/>
              </p:ext>
            </p:extLst>
          </p:nvPr>
        </p:nvGraphicFramePr>
        <p:xfrm>
          <a:off x="457200" y="2028439"/>
          <a:ext cx="3352800" cy="3944124"/>
        </p:xfrm>
        <a:graphic>
          <a:graphicData uri="http://schemas.openxmlformats.org/drawingml/2006/table">
            <a:tbl>
              <a:tblPr firstRow="1" bandRow="1">
                <a:tableStyleId>{073A0DAA-6AF3-43AB-8588-CEC1D06C72B9}</a:tableStyleId>
              </a:tblPr>
              <a:tblGrid>
                <a:gridCol w="1676400">
                  <a:extLst>
                    <a:ext uri="{9D8B030D-6E8A-4147-A177-3AD203B41FA5}">
                      <a16:colId xmlns:a16="http://schemas.microsoft.com/office/drawing/2014/main" val="1571447975"/>
                    </a:ext>
                  </a:extLst>
                </a:gridCol>
                <a:gridCol w="1676400">
                  <a:extLst>
                    <a:ext uri="{9D8B030D-6E8A-4147-A177-3AD203B41FA5}">
                      <a16:colId xmlns:a16="http://schemas.microsoft.com/office/drawing/2014/main" val="1550805326"/>
                    </a:ext>
                  </a:extLst>
                </a:gridCol>
              </a:tblGrid>
              <a:tr h="657354">
                <a:tc>
                  <a:txBody>
                    <a:bodyPr/>
                    <a:lstStyle/>
                    <a:p>
                      <a:pPr algn="ctr"/>
                      <a:r>
                        <a:rPr lang="en-US" sz="2300" dirty="0"/>
                        <a:t>Actual</a:t>
                      </a:r>
                    </a:p>
                  </a:txBody>
                  <a:tcPr anchor="ctr"/>
                </a:tc>
                <a:tc>
                  <a:txBody>
                    <a:bodyPr/>
                    <a:lstStyle/>
                    <a:p>
                      <a:pPr algn="ctr"/>
                      <a:r>
                        <a:rPr lang="en-US" sz="2300" dirty="0"/>
                        <a:t>Predicted</a:t>
                      </a:r>
                    </a:p>
                  </a:txBody>
                  <a:tcPr anchor="ctr"/>
                </a:tc>
                <a:extLst>
                  <a:ext uri="{0D108BD9-81ED-4DB2-BD59-A6C34878D82A}">
                    <a16:rowId xmlns:a16="http://schemas.microsoft.com/office/drawing/2014/main" val="2668513280"/>
                  </a:ext>
                </a:extLst>
              </a:tr>
              <a:tr h="657354">
                <a:tc>
                  <a:txBody>
                    <a:bodyPr/>
                    <a:lstStyle/>
                    <a:p>
                      <a:pPr algn="ctr"/>
                      <a:r>
                        <a:rPr lang="en-US" sz="2300" dirty="0"/>
                        <a:t>healthy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dirty="0"/>
                        <a:t>healthy</a:t>
                      </a:r>
                    </a:p>
                  </a:txBody>
                  <a:tcPr anchor="ctr"/>
                </a:tc>
                <a:extLst>
                  <a:ext uri="{0D108BD9-81ED-4DB2-BD59-A6C34878D82A}">
                    <a16:rowId xmlns:a16="http://schemas.microsoft.com/office/drawing/2014/main" val="2796125423"/>
                  </a:ext>
                </a:extLst>
              </a:tr>
              <a:tr h="657354">
                <a:tc>
                  <a:txBody>
                    <a:bodyPr/>
                    <a:lstStyle/>
                    <a:p>
                      <a:pPr algn="ctr"/>
                      <a:r>
                        <a:rPr lang="en-US" sz="2300" dirty="0"/>
                        <a:t>sick</a:t>
                      </a:r>
                    </a:p>
                  </a:txBody>
                  <a:tcPr anchor="ctr"/>
                </a:tc>
                <a:tc>
                  <a:txBody>
                    <a:bodyPr/>
                    <a:lstStyle/>
                    <a:p>
                      <a:pPr algn="ctr"/>
                      <a:r>
                        <a:rPr lang="en-US" sz="2300" dirty="0"/>
                        <a:t>healthy</a:t>
                      </a:r>
                    </a:p>
                  </a:txBody>
                  <a:tcPr anchor="ctr"/>
                </a:tc>
                <a:extLst>
                  <a:ext uri="{0D108BD9-81ED-4DB2-BD59-A6C34878D82A}">
                    <a16:rowId xmlns:a16="http://schemas.microsoft.com/office/drawing/2014/main" val="3875812655"/>
                  </a:ext>
                </a:extLst>
              </a:tr>
              <a:tr h="657354">
                <a:tc>
                  <a:txBody>
                    <a:bodyPr/>
                    <a:lstStyle/>
                    <a:p>
                      <a:pPr algn="ctr"/>
                      <a:r>
                        <a:rPr lang="en-US" sz="2300" dirty="0"/>
                        <a:t>sick</a:t>
                      </a:r>
                    </a:p>
                  </a:txBody>
                  <a:tcPr anchor="ctr"/>
                </a:tc>
                <a:tc>
                  <a:txBody>
                    <a:bodyPr/>
                    <a:lstStyle/>
                    <a:p>
                      <a:pPr algn="ctr"/>
                      <a:r>
                        <a:rPr lang="en-US" sz="2300" dirty="0"/>
                        <a:t>sick</a:t>
                      </a:r>
                    </a:p>
                  </a:txBody>
                  <a:tcPr anchor="ctr"/>
                </a:tc>
                <a:extLst>
                  <a:ext uri="{0D108BD9-81ED-4DB2-BD59-A6C34878D82A}">
                    <a16:rowId xmlns:a16="http://schemas.microsoft.com/office/drawing/2014/main" val="783740732"/>
                  </a:ext>
                </a:extLst>
              </a:tr>
              <a:tr h="657354">
                <a:tc>
                  <a:txBody>
                    <a:bodyPr/>
                    <a:lstStyle/>
                    <a:p>
                      <a:pPr algn="ctr"/>
                      <a:r>
                        <a:rPr lang="en-US" sz="2300" dirty="0"/>
                        <a:t>sick</a:t>
                      </a:r>
                    </a:p>
                  </a:txBody>
                  <a:tcPr anchor="ctr"/>
                </a:tc>
                <a:tc>
                  <a:txBody>
                    <a:bodyPr/>
                    <a:lstStyle/>
                    <a:p>
                      <a:pPr algn="ctr"/>
                      <a:r>
                        <a:rPr lang="en-US" sz="2300" dirty="0"/>
                        <a:t>sick</a:t>
                      </a:r>
                    </a:p>
                  </a:txBody>
                  <a:tcPr anchor="ctr"/>
                </a:tc>
                <a:extLst>
                  <a:ext uri="{0D108BD9-81ED-4DB2-BD59-A6C34878D82A}">
                    <a16:rowId xmlns:a16="http://schemas.microsoft.com/office/drawing/2014/main" val="3690459075"/>
                  </a:ext>
                </a:extLst>
              </a:tr>
              <a:tr h="657354">
                <a:tc>
                  <a:txBody>
                    <a:bodyPr/>
                    <a:lstStyle/>
                    <a:p>
                      <a:pPr algn="ctr"/>
                      <a:r>
                        <a:rPr lang="en-US" sz="2300" dirty="0"/>
                        <a:t>healthy</a:t>
                      </a:r>
                    </a:p>
                  </a:txBody>
                  <a:tcPr anchor="ctr"/>
                </a:tc>
                <a:tc>
                  <a:txBody>
                    <a:bodyPr/>
                    <a:lstStyle/>
                    <a:p>
                      <a:pPr algn="ctr"/>
                      <a:r>
                        <a:rPr lang="en-US" sz="2300" dirty="0"/>
                        <a:t>sick</a:t>
                      </a:r>
                    </a:p>
                  </a:txBody>
                  <a:tcPr anchor="ctr"/>
                </a:tc>
                <a:extLst>
                  <a:ext uri="{0D108BD9-81ED-4DB2-BD59-A6C34878D82A}">
                    <a16:rowId xmlns:a16="http://schemas.microsoft.com/office/drawing/2014/main" val="4034280110"/>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8251C12-F1AB-50AC-5852-B8EFA143980E}"/>
                  </a:ext>
                </a:extLst>
              </p:cNvPr>
              <p:cNvSpPr txBox="1"/>
              <p:nvPr/>
            </p:nvSpPr>
            <p:spPr>
              <a:xfrm>
                <a:off x="4495800" y="4971878"/>
                <a:ext cx="2371547" cy="524374"/>
              </a:xfrm>
              <a:prstGeom prst="rect">
                <a:avLst/>
              </a:prstGeom>
              <a:noFill/>
            </p:spPr>
            <p:txBody>
              <a:bodyPr wrap="none" lIns="0" tIns="0" rIns="0" bIns="0" rtlCol="0">
                <a:spAutoFit/>
              </a:bodyPr>
              <a:lstStyle/>
              <a:p>
                <a:r>
                  <a:rPr lang="en-US" sz="2400" dirty="0">
                    <a:latin typeface="Avenir Book" panose="02000503020000020003" pitchFamily="2" charset="0"/>
                  </a:rPr>
                  <a:t>Precision </a:t>
                </a:r>
                <a14:m>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𝑇𝑃</m:t>
                        </m:r>
                      </m:num>
                      <m:den>
                        <m:r>
                          <a:rPr lang="en-US" sz="2400" i="1">
                            <a:latin typeface="Cambria Math" panose="02040503050406030204" pitchFamily="18" charset="0"/>
                          </a:rPr>
                          <m:t>𝑇𝑃</m:t>
                        </m:r>
                        <m:r>
                          <a:rPr lang="en-US" sz="2400" i="1">
                            <a:latin typeface="Cambria Math" panose="02040503050406030204" pitchFamily="18" charset="0"/>
                          </a:rPr>
                          <m:t>+</m:t>
                        </m:r>
                        <m:r>
                          <a:rPr lang="en-US" sz="2400" i="1">
                            <a:latin typeface="Cambria Math" panose="02040503050406030204" pitchFamily="18" charset="0"/>
                          </a:rPr>
                          <m:t>𝐹𝑃</m:t>
                        </m:r>
                      </m:den>
                    </m:f>
                  </m:oMath>
                </a14:m>
                <a:endParaRPr lang="en-US" sz="2400" dirty="0">
                  <a:latin typeface="Avenir Book" panose="02000503020000020003" pitchFamily="2" charset="0"/>
                </a:endParaRPr>
              </a:p>
            </p:txBody>
          </p:sp>
        </mc:Choice>
        <mc:Fallback xmlns="">
          <p:sp>
            <p:nvSpPr>
              <p:cNvPr id="9" name="TextBox 8">
                <a:extLst>
                  <a:ext uri="{FF2B5EF4-FFF2-40B4-BE49-F238E27FC236}">
                    <a16:creationId xmlns:a16="http://schemas.microsoft.com/office/drawing/2014/main" id="{48251C12-F1AB-50AC-5852-B8EFA143980E}"/>
                  </a:ext>
                </a:extLst>
              </p:cNvPr>
              <p:cNvSpPr txBox="1">
                <a:spLocks noRot="1" noChangeAspect="1" noMove="1" noResize="1" noEditPoints="1" noAdjustHandles="1" noChangeArrowheads="1" noChangeShapeType="1" noTextEdit="1"/>
              </p:cNvSpPr>
              <p:nvPr/>
            </p:nvSpPr>
            <p:spPr>
              <a:xfrm>
                <a:off x="4495800" y="4971878"/>
                <a:ext cx="2371547" cy="524374"/>
              </a:xfrm>
              <a:prstGeom prst="rect">
                <a:avLst/>
              </a:prstGeom>
              <a:blipFill>
                <a:blip r:embed="rId2"/>
                <a:stretch>
                  <a:fillRect l="-8021" r="-2139" b="-238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9FC23A2-E3B3-D1A3-7EE2-3470DE7D68EB}"/>
                  </a:ext>
                </a:extLst>
              </p:cNvPr>
              <p:cNvSpPr txBox="1"/>
              <p:nvPr/>
            </p:nvSpPr>
            <p:spPr>
              <a:xfrm>
                <a:off x="4879981" y="5760408"/>
                <a:ext cx="1979516" cy="524374"/>
              </a:xfrm>
              <a:prstGeom prst="rect">
                <a:avLst/>
              </a:prstGeom>
              <a:noFill/>
            </p:spPr>
            <p:txBody>
              <a:bodyPr wrap="none" lIns="0" tIns="0" rIns="0" bIns="0" rtlCol="0">
                <a:spAutoFit/>
              </a:bodyPr>
              <a:lstStyle/>
              <a:p>
                <a:r>
                  <a:rPr lang="en-US" sz="2400" dirty="0">
                    <a:latin typeface="Avenir Book" panose="02000503020000020003" pitchFamily="2" charset="0"/>
                  </a:rPr>
                  <a:t>Recall </a:t>
                </a:r>
                <a14:m>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𝑇𝑃</m:t>
                        </m:r>
                      </m:num>
                      <m:den>
                        <m:r>
                          <a:rPr lang="en-US" sz="2400" i="1">
                            <a:latin typeface="Cambria Math" panose="02040503050406030204" pitchFamily="18" charset="0"/>
                          </a:rPr>
                          <m:t>𝑇𝑃</m:t>
                        </m:r>
                        <m:r>
                          <a:rPr lang="en-US" sz="2400" i="1">
                            <a:latin typeface="Cambria Math" panose="02040503050406030204" pitchFamily="18" charset="0"/>
                          </a:rPr>
                          <m:t>+</m:t>
                        </m:r>
                        <m:r>
                          <a:rPr lang="en-US" sz="2400" i="1">
                            <a:latin typeface="Cambria Math" panose="02040503050406030204" pitchFamily="18" charset="0"/>
                          </a:rPr>
                          <m:t>𝐹𝑁</m:t>
                        </m:r>
                      </m:den>
                    </m:f>
                  </m:oMath>
                </a14:m>
                <a:endParaRPr lang="en-US" sz="2400" dirty="0">
                  <a:latin typeface="Avenir Book" panose="02000503020000020003" pitchFamily="2" charset="0"/>
                </a:endParaRPr>
              </a:p>
            </p:txBody>
          </p:sp>
        </mc:Choice>
        <mc:Fallback xmlns="">
          <p:sp>
            <p:nvSpPr>
              <p:cNvPr id="11" name="TextBox 10">
                <a:extLst>
                  <a:ext uri="{FF2B5EF4-FFF2-40B4-BE49-F238E27FC236}">
                    <a16:creationId xmlns:a16="http://schemas.microsoft.com/office/drawing/2014/main" id="{59FC23A2-E3B3-D1A3-7EE2-3470DE7D68EB}"/>
                  </a:ext>
                </a:extLst>
              </p:cNvPr>
              <p:cNvSpPr txBox="1">
                <a:spLocks noRot="1" noChangeAspect="1" noMove="1" noResize="1" noEditPoints="1" noAdjustHandles="1" noChangeArrowheads="1" noChangeShapeType="1" noTextEdit="1"/>
              </p:cNvSpPr>
              <p:nvPr/>
            </p:nvSpPr>
            <p:spPr>
              <a:xfrm>
                <a:off x="4879981" y="5760408"/>
                <a:ext cx="1979516" cy="524374"/>
              </a:xfrm>
              <a:prstGeom prst="rect">
                <a:avLst/>
              </a:prstGeom>
              <a:blipFill>
                <a:blip r:embed="rId3"/>
                <a:stretch>
                  <a:fillRect l="-9615" r="-2564" b="-2381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08EC3290-7AE6-06E3-3AE8-226A994911ED}"/>
              </a:ext>
            </a:extLst>
          </p:cNvPr>
          <p:cNvSpPr txBox="1"/>
          <p:nvPr/>
        </p:nvSpPr>
        <p:spPr>
          <a:xfrm>
            <a:off x="7010400" y="4957066"/>
            <a:ext cx="5029200" cy="553998"/>
          </a:xfrm>
          <a:prstGeom prst="rect">
            <a:avLst/>
          </a:prstGeom>
          <a:noFill/>
        </p:spPr>
        <p:txBody>
          <a:bodyPr wrap="square" lIns="0" tIns="0" rIns="0" bIns="0" rtlCol="0">
            <a:spAutoFit/>
          </a:bodyPr>
          <a:lstStyle/>
          <a:p>
            <a:r>
              <a:rPr lang="en-US" dirty="0">
                <a:latin typeface="Avenir Book" panose="02000503020000020003" pitchFamily="2" charset="0"/>
              </a:rPr>
              <a:t>What fraction of items that were returned were relevant to my query?</a:t>
            </a:r>
          </a:p>
        </p:txBody>
      </p:sp>
      <p:sp>
        <p:nvSpPr>
          <p:cNvPr id="13" name="TextBox 12">
            <a:extLst>
              <a:ext uri="{FF2B5EF4-FFF2-40B4-BE49-F238E27FC236}">
                <a16:creationId xmlns:a16="http://schemas.microsoft.com/office/drawing/2014/main" id="{96CB2AC8-D45E-CDA4-94C1-CA0B1BEC8D27}"/>
              </a:ext>
            </a:extLst>
          </p:cNvPr>
          <p:cNvSpPr txBox="1"/>
          <p:nvPr/>
        </p:nvSpPr>
        <p:spPr>
          <a:xfrm>
            <a:off x="7010400" y="5745596"/>
            <a:ext cx="4876800" cy="553998"/>
          </a:xfrm>
          <a:prstGeom prst="rect">
            <a:avLst/>
          </a:prstGeom>
          <a:noFill/>
        </p:spPr>
        <p:txBody>
          <a:bodyPr wrap="square" lIns="0" tIns="0" rIns="0" bIns="0" rtlCol="0">
            <a:spAutoFit/>
          </a:bodyPr>
          <a:lstStyle/>
          <a:p>
            <a:r>
              <a:rPr lang="en-US" dirty="0">
                <a:latin typeface="Avenir Book" panose="02000503020000020003" pitchFamily="2" charset="0"/>
              </a:rPr>
              <a:t>What fraction of items that were relevant to my query were returned?</a:t>
            </a:r>
          </a:p>
        </p:txBody>
      </p:sp>
    </p:spTree>
    <p:extLst>
      <p:ext uri="{BB962C8B-B14F-4D97-AF65-F5344CB8AC3E}">
        <p14:creationId xmlns:p14="http://schemas.microsoft.com/office/powerpoint/2010/main" val="383094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7B00-DBD2-3FFB-8101-3BD05C8E939D}"/>
              </a:ext>
            </a:extLst>
          </p:cNvPr>
          <p:cNvSpPr>
            <a:spLocks noGrp="1"/>
          </p:cNvSpPr>
          <p:nvPr>
            <p:ph type="title"/>
          </p:nvPr>
        </p:nvSpPr>
        <p:spPr/>
        <p:txBody>
          <a:bodyPr>
            <a:normAutofit fontScale="90000"/>
          </a:bodyPr>
          <a:lstStyle/>
          <a:p>
            <a:r>
              <a:rPr lang="en-US" dirty="0"/>
              <a:t>Binary Classification Evaluation Metrics: </a:t>
            </a:r>
            <a:br>
              <a:rPr lang="en-US" dirty="0"/>
            </a:br>
            <a:r>
              <a:rPr lang="en-US" dirty="0"/>
              <a:t>Diagnostics</a:t>
            </a:r>
          </a:p>
        </p:txBody>
      </p:sp>
      <p:graphicFrame>
        <p:nvGraphicFramePr>
          <p:cNvPr id="4" name="Content Placeholder 21">
            <a:extLst>
              <a:ext uri="{FF2B5EF4-FFF2-40B4-BE49-F238E27FC236}">
                <a16:creationId xmlns:a16="http://schemas.microsoft.com/office/drawing/2014/main" id="{E60147D1-2C9D-8FE0-382E-06FC83B93186}"/>
              </a:ext>
            </a:extLst>
          </p:cNvPr>
          <p:cNvGraphicFramePr>
            <a:graphicFrameLocks/>
          </p:cNvGraphicFramePr>
          <p:nvPr>
            <p:extLst>
              <p:ext uri="{D42A27DB-BD31-4B8C-83A1-F6EECF244321}">
                <p14:modId xmlns:p14="http://schemas.microsoft.com/office/powerpoint/2010/main" val="2185386170"/>
              </p:ext>
            </p:extLst>
          </p:nvPr>
        </p:nvGraphicFramePr>
        <p:xfrm>
          <a:off x="4267199" y="1387158"/>
          <a:ext cx="7467601" cy="3143250"/>
        </p:xfrm>
        <a:graphic>
          <a:graphicData uri="http://schemas.openxmlformats.org/drawingml/2006/table">
            <a:tbl>
              <a:tblPr firstRow="1" firstCol="1" bandRow="1">
                <a:tableStyleId>{5202B0CA-FC54-4496-8BCA-5EF66A818D29}</a:tableStyleId>
              </a:tblPr>
              <a:tblGrid>
                <a:gridCol w="1229695">
                  <a:extLst>
                    <a:ext uri="{9D8B030D-6E8A-4147-A177-3AD203B41FA5}">
                      <a16:colId xmlns:a16="http://schemas.microsoft.com/office/drawing/2014/main" val="20002"/>
                    </a:ext>
                  </a:extLst>
                </a:gridCol>
                <a:gridCol w="2209331">
                  <a:extLst>
                    <a:ext uri="{9D8B030D-6E8A-4147-A177-3AD203B41FA5}">
                      <a16:colId xmlns:a16="http://schemas.microsoft.com/office/drawing/2014/main" val="20003"/>
                    </a:ext>
                  </a:extLst>
                </a:gridCol>
                <a:gridCol w="1965159">
                  <a:extLst>
                    <a:ext uri="{9D8B030D-6E8A-4147-A177-3AD203B41FA5}">
                      <a16:colId xmlns:a16="http://schemas.microsoft.com/office/drawing/2014/main" val="20004"/>
                    </a:ext>
                  </a:extLst>
                </a:gridCol>
                <a:gridCol w="2063416">
                  <a:extLst>
                    <a:ext uri="{9D8B030D-6E8A-4147-A177-3AD203B41FA5}">
                      <a16:colId xmlns:a16="http://schemas.microsoft.com/office/drawing/2014/main" val="20000"/>
                    </a:ext>
                  </a:extLst>
                </a:gridCol>
              </a:tblGrid>
              <a:tr h="609600">
                <a:tc rowSpan="2" gridSpan="2">
                  <a:txBody>
                    <a:bodyPr/>
                    <a:lstStyle/>
                    <a:p>
                      <a:pPr algn="ctr"/>
                      <a:endParaRPr lang="en-US" sz="2500" b="0" dirty="0">
                        <a:latin typeface="Avenir Book" charset="0"/>
                        <a:ea typeface="Avenir Book" charset="0"/>
                        <a:cs typeface="Avenir Book" charset="0"/>
                      </a:endParaRPr>
                    </a:p>
                  </a:txBody>
                  <a:tcPr marL="81206" marR="81206" marT="40603" marB="4060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sz="2500" b="1" dirty="0">
                          <a:solidFill>
                            <a:schemeClr val="tx1"/>
                          </a:solidFill>
                          <a:latin typeface="Avenir Book" charset="0"/>
                          <a:ea typeface="Avenir Book" charset="0"/>
                          <a:cs typeface="Avenir Book" charset="0"/>
                        </a:rPr>
                        <a:t>Actual Label</a:t>
                      </a:r>
                    </a:p>
                  </a:txBody>
                  <a:tcPr marL="81206" marR="81206" marT="40603" marB="4060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hMerge="1">
                  <a:txBody>
                    <a:bodyPr/>
                    <a:lstStyle/>
                    <a:p>
                      <a:pPr algn="ctr"/>
                      <a:endParaRPr lang="en-US" sz="2800" b="0" dirty="0">
                        <a:latin typeface="Avenir Book" charset="0"/>
                        <a:ea typeface="Avenir Book" charset="0"/>
                        <a:cs typeface="Avenir Book"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3"/>
                  </a:ext>
                </a:extLst>
              </a:tr>
              <a:tr h="514350">
                <a:tc gridSpan="2"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500" b="1" dirty="0">
                          <a:solidFill>
                            <a:schemeClr val="tx1"/>
                          </a:solidFill>
                          <a:latin typeface="Avenir Book" charset="0"/>
                          <a:ea typeface="Avenir Book" charset="0"/>
                          <a:cs typeface="Avenir Book" charset="0"/>
                        </a:rPr>
                        <a:t>Positive</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dirty="0">
                          <a:solidFill>
                            <a:schemeClr val="tx1"/>
                          </a:solidFill>
                          <a:latin typeface="Avenir Book" charset="0"/>
                          <a:ea typeface="Avenir Book" charset="0"/>
                          <a:cs typeface="Avenir Book" charset="0"/>
                        </a:rPr>
                        <a:t>Negative</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0"/>
                  </a:ext>
                </a:extLst>
              </a:tr>
              <a:tr h="1009650">
                <a:tc rowSpan="2">
                  <a:txBody>
                    <a:bodyPr/>
                    <a:lstStyle/>
                    <a:p>
                      <a:pPr algn="ctr"/>
                      <a:r>
                        <a:rPr lang="en-US" sz="2500" b="1" kern="1200" dirty="0">
                          <a:solidFill>
                            <a:schemeClr val="tx1"/>
                          </a:solidFill>
                          <a:latin typeface="Avenir Book" charset="0"/>
                          <a:ea typeface="Avenir Book" charset="0"/>
                          <a:cs typeface="Avenir Book" charset="0"/>
                        </a:rPr>
                        <a:t>Predicted Label</a:t>
                      </a:r>
                    </a:p>
                  </a:txBody>
                  <a:tcPr marL="81206" marR="81206" marT="40603" marB="40603" vert="vert27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kern="1200" dirty="0">
                          <a:solidFill>
                            <a:schemeClr val="tx1"/>
                          </a:solidFill>
                          <a:latin typeface="Avenir Book" charset="0"/>
                          <a:ea typeface="Avenir Book" charset="0"/>
                          <a:cs typeface="Avenir Book" charset="0"/>
                        </a:rPr>
                        <a:t>Positive</a:t>
                      </a:r>
                      <a:br>
                        <a:rPr lang="en-US" sz="2500" b="1" kern="1200" dirty="0">
                          <a:solidFill>
                            <a:schemeClr val="tx1"/>
                          </a:solidFill>
                          <a:latin typeface="Avenir Book" charset="0"/>
                          <a:ea typeface="Avenir Book" charset="0"/>
                          <a:cs typeface="Avenir Book" charset="0"/>
                        </a:rPr>
                      </a:br>
                      <a:r>
                        <a:rPr lang="en-US" sz="2500" b="1" kern="1200" dirty="0">
                          <a:solidFill>
                            <a:schemeClr val="tx1"/>
                          </a:solidFill>
                          <a:latin typeface="Avenir Book" charset="0"/>
                          <a:ea typeface="Avenir Book" charset="0"/>
                          <a:cs typeface="Avenir Book" charset="0"/>
                        </a:rPr>
                        <a:t>(sick)</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100" b="0" u="none" dirty="0">
                          <a:latin typeface="Avenir Book" charset="0"/>
                          <a:ea typeface="Avenir Book" charset="0"/>
                          <a:cs typeface="Avenir Book" charset="0"/>
                        </a:rPr>
                        <a:t>True positive</a:t>
                      </a:r>
                    </a:p>
                    <a:p>
                      <a:pPr algn="ctr"/>
                      <a:r>
                        <a:rPr lang="en-US" sz="2100" b="0" u="none" dirty="0">
                          <a:latin typeface="Avenir Book" charset="0"/>
                          <a:ea typeface="Avenir Book" charset="0"/>
                          <a:cs typeface="Avenir Book" charset="0"/>
                        </a:rPr>
                        <a:t>(TP)</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100" b="0" u="none" dirty="0">
                          <a:latin typeface="Avenir Book" charset="0"/>
                          <a:ea typeface="Avenir Book" charset="0"/>
                          <a:cs typeface="Avenir Book" charset="0"/>
                        </a:rPr>
                        <a:t>False positive</a:t>
                      </a:r>
                    </a:p>
                    <a:p>
                      <a:pPr algn="ctr"/>
                      <a:r>
                        <a:rPr lang="en-US" sz="2100" b="0" u="none" dirty="0">
                          <a:latin typeface="Avenir Book" charset="0"/>
                          <a:ea typeface="Avenir Book" charset="0"/>
                          <a:cs typeface="Avenir Book" charset="0"/>
                        </a:rPr>
                        <a:t>(FP)</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1"/>
                  </a:ext>
                </a:extLst>
              </a:tr>
              <a:tr h="1009650">
                <a:tc vMerge="1">
                  <a:txBody>
                    <a:bodyPr/>
                    <a:lstStyle/>
                    <a:p>
                      <a:pPr algn="ctr"/>
                      <a:endParaRPr lang="en-US" sz="2800" b="0" kern="1200" dirty="0">
                        <a:solidFill>
                          <a:schemeClr val="lt1"/>
                        </a:solidFill>
                        <a:latin typeface="Avenir Book" charset="0"/>
                        <a:ea typeface="Avenir Book" charset="0"/>
                        <a:cs typeface="Avenir Book"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500" b="1" kern="1200" dirty="0">
                          <a:solidFill>
                            <a:schemeClr val="tx1"/>
                          </a:solidFill>
                          <a:latin typeface="Avenir Book" charset="0"/>
                          <a:ea typeface="Avenir Book" charset="0"/>
                          <a:cs typeface="Avenir Book" charset="0"/>
                        </a:rPr>
                        <a:t>Negative</a:t>
                      </a:r>
                    </a:p>
                    <a:p>
                      <a:pPr algn="ctr"/>
                      <a:r>
                        <a:rPr lang="en-US" sz="2500" b="1" kern="1200" dirty="0">
                          <a:solidFill>
                            <a:schemeClr val="tx1"/>
                          </a:solidFill>
                          <a:latin typeface="Avenir Book" charset="0"/>
                          <a:ea typeface="Avenir Book" charset="0"/>
                          <a:cs typeface="Avenir Book" charset="0"/>
                        </a:rPr>
                        <a:t>(healthy)</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100" b="0" u="none" dirty="0">
                          <a:latin typeface="Avenir Book" charset="0"/>
                          <a:ea typeface="Avenir Book" charset="0"/>
                          <a:cs typeface="Avenir Book" charset="0"/>
                        </a:rPr>
                        <a:t>False negative</a:t>
                      </a:r>
                    </a:p>
                    <a:p>
                      <a:pPr algn="ctr"/>
                      <a:r>
                        <a:rPr lang="en-US" sz="2100" b="0" u="none" dirty="0">
                          <a:latin typeface="Avenir Book" charset="0"/>
                          <a:ea typeface="Avenir Book" charset="0"/>
                          <a:cs typeface="Avenir Book" charset="0"/>
                        </a:rPr>
                        <a:t>(FN)</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100" b="0" u="none" dirty="0">
                          <a:latin typeface="Avenir Book" charset="0"/>
                          <a:ea typeface="Avenir Book" charset="0"/>
                          <a:cs typeface="Avenir Book" charset="0"/>
                        </a:rPr>
                        <a:t>True negative</a:t>
                      </a:r>
                    </a:p>
                    <a:p>
                      <a:pPr algn="ctr"/>
                      <a:r>
                        <a:rPr lang="en-US" sz="2100" b="0" u="none" dirty="0">
                          <a:latin typeface="Avenir Book" charset="0"/>
                          <a:ea typeface="Avenir Book" charset="0"/>
                          <a:cs typeface="Avenir Book" charset="0"/>
                        </a:rPr>
                        <a:t>(TN)</a:t>
                      </a:r>
                    </a:p>
                  </a:txBody>
                  <a:tcPr marL="81206" marR="81206" marT="40603" marB="406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DD23FF96-19F3-AAB6-8DBE-7C4EED193E51}"/>
              </a:ext>
            </a:extLst>
          </p:cNvPr>
          <p:cNvSpPr txBox="1"/>
          <p:nvPr/>
        </p:nvSpPr>
        <p:spPr>
          <a:xfrm>
            <a:off x="4267198" y="1596584"/>
            <a:ext cx="3122650" cy="492443"/>
          </a:xfrm>
          <a:prstGeom prst="rect">
            <a:avLst/>
          </a:prstGeom>
          <a:noFill/>
        </p:spPr>
        <p:txBody>
          <a:bodyPr wrap="none" lIns="0" tIns="0" rIns="0" bIns="0" rtlCol="0">
            <a:spAutoFit/>
          </a:bodyPr>
          <a:lstStyle/>
          <a:p>
            <a:r>
              <a:rPr lang="en-US" sz="3200" b="1" dirty="0">
                <a:latin typeface="Avenir Book" panose="02000503020000020003" pitchFamily="2" charset="0"/>
              </a:rPr>
              <a:t>Confusion Matrix</a:t>
            </a:r>
          </a:p>
        </p:txBody>
      </p:sp>
      <p:graphicFrame>
        <p:nvGraphicFramePr>
          <p:cNvPr id="10" name="Table 7">
            <a:extLst>
              <a:ext uri="{FF2B5EF4-FFF2-40B4-BE49-F238E27FC236}">
                <a16:creationId xmlns:a16="http://schemas.microsoft.com/office/drawing/2014/main" id="{AE8C1450-3F36-18C4-AB27-CFC0F12615A4}"/>
              </a:ext>
            </a:extLst>
          </p:cNvPr>
          <p:cNvGraphicFramePr>
            <a:graphicFrameLocks noGrp="1"/>
          </p:cNvGraphicFramePr>
          <p:nvPr>
            <p:extLst>
              <p:ext uri="{D42A27DB-BD31-4B8C-83A1-F6EECF244321}">
                <p14:modId xmlns:p14="http://schemas.microsoft.com/office/powerpoint/2010/main" val="2293558885"/>
              </p:ext>
            </p:extLst>
          </p:nvPr>
        </p:nvGraphicFramePr>
        <p:xfrm>
          <a:off x="457200" y="2028439"/>
          <a:ext cx="3352800" cy="3944124"/>
        </p:xfrm>
        <a:graphic>
          <a:graphicData uri="http://schemas.openxmlformats.org/drawingml/2006/table">
            <a:tbl>
              <a:tblPr firstRow="1" bandRow="1">
                <a:tableStyleId>{073A0DAA-6AF3-43AB-8588-CEC1D06C72B9}</a:tableStyleId>
              </a:tblPr>
              <a:tblGrid>
                <a:gridCol w="1676400">
                  <a:extLst>
                    <a:ext uri="{9D8B030D-6E8A-4147-A177-3AD203B41FA5}">
                      <a16:colId xmlns:a16="http://schemas.microsoft.com/office/drawing/2014/main" val="1571447975"/>
                    </a:ext>
                  </a:extLst>
                </a:gridCol>
                <a:gridCol w="1676400">
                  <a:extLst>
                    <a:ext uri="{9D8B030D-6E8A-4147-A177-3AD203B41FA5}">
                      <a16:colId xmlns:a16="http://schemas.microsoft.com/office/drawing/2014/main" val="1550805326"/>
                    </a:ext>
                  </a:extLst>
                </a:gridCol>
              </a:tblGrid>
              <a:tr h="657354">
                <a:tc>
                  <a:txBody>
                    <a:bodyPr/>
                    <a:lstStyle/>
                    <a:p>
                      <a:pPr algn="ctr"/>
                      <a:r>
                        <a:rPr lang="en-US" sz="2300" dirty="0"/>
                        <a:t>Actual</a:t>
                      </a:r>
                    </a:p>
                  </a:txBody>
                  <a:tcPr anchor="ctr"/>
                </a:tc>
                <a:tc>
                  <a:txBody>
                    <a:bodyPr/>
                    <a:lstStyle/>
                    <a:p>
                      <a:pPr algn="ctr"/>
                      <a:r>
                        <a:rPr lang="en-US" sz="2300" dirty="0"/>
                        <a:t>Predicted</a:t>
                      </a:r>
                    </a:p>
                  </a:txBody>
                  <a:tcPr anchor="ctr"/>
                </a:tc>
                <a:extLst>
                  <a:ext uri="{0D108BD9-81ED-4DB2-BD59-A6C34878D82A}">
                    <a16:rowId xmlns:a16="http://schemas.microsoft.com/office/drawing/2014/main" val="2668513280"/>
                  </a:ext>
                </a:extLst>
              </a:tr>
              <a:tr h="657354">
                <a:tc>
                  <a:txBody>
                    <a:bodyPr/>
                    <a:lstStyle/>
                    <a:p>
                      <a:pPr algn="ctr"/>
                      <a:r>
                        <a:rPr lang="en-US" sz="2300" dirty="0"/>
                        <a:t>healthy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300" dirty="0"/>
                        <a:t>healthy</a:t>
                      </a:r>
                    </a:p>
                  </a:txBody>
                  <a:tcPr anchor="ctr"/>
                </a:tc>
                <a:extLst>
                  <a:ext uri="{0D108BD9-81ED-4DB2-BD59-A6C34878D82A}">
                    <a16:rowId xmlns:a16="http://schemas.microsoft.com/office/drawing/2014/main" val="2796125423"/>
                  </a:ext>
                </a:extLst>
              </a:tr>
              <a:tr h="657354">
                <a:tc>
                  <a:txBody>
                    <a:bodyPr/>
                    <a:lstStyle/>
                    <a:p>
                      <a:pPr algn="ctr"/>
                      <a:r>
                        <a:rPr lang="en-US" sz="2300" dirty="0"/>
                        <a:t>sick</a:t>
                      </a:r>
                    </a:p>
                  </a:txBody>
                  <a:tcPr anchor="ctr"/>
                </a:tc>
                <a:tc>
                  <a:txBody>
                    <a:bodyPr/>
                    <a:lstStyle/>
                    <a:p>
                      <a:pPr algn="ctr"/>
                      <a:r>
                        <a:rPr lang="en-US" sz="2300" dirty="0"/>
                        <a:t>healthy</a:t>
                      </a:r>
                    </a:p>
                  </a:txBody>
                  <a:tcPr anchor="ctr"/>
                </a:tc>
                <a:extLst>
                  <a:ext uri="{0D108BD9-81ED-4DB2-BD59-A6C34878D82A}">
                    <a16:rowId xmlns:a16="http://schemas.microsoft.com/office/drawing/2014/main" val="3875812655"/>
                  </a:ext>
                </a:extLst>
              </a:tr>
              <a:tr h="657354">
                <a:tc>
                  <a:txBody>
                    <a:bodyPr/>
                    <a:lstStyle/>
                    <a:p>
                      <a:pPr algn="ctr"/>
                      <a:r>
                        <a:rPr lang="en-US" sz="2300" dirty="0"/>
                        <a:t>sick</a:t>
                      </a:r>
                    </a:p>
                  </a:txBody>
                  <a:tcPr anchor="ctr"/>
                </a:tc>
                <a:tc>
                  <a:txBody>
                    <a:bodyPr/>
                    <a:lstStyle/>
                    <a:p>
                      <a:pPr algn="ctr"/>
                      <a:r>
                        <a:rPr lang="en-US" sz="2300" dirty="0"/>
                        <a:t>sick</a:t>
                      </a:r>
                    </a:p>
                  </a:txBody>
                  <a:tcPr anchor="ctr"/>
                </a:tc>
                <a:extLst>
                  <a:ext uri="{0D108BD9-81ED-4DB2-BD59-A6C34878D82A}">
                    <a16:rowId xmlns:a16="http://schemas.microsoft.com/office/drawing/2014/main" val="783740732"/>
                  </a:ext>
                </a:extLst>
              </a:tr>
              <a:tr h="657354">
                <a:tc>
                  <a:txBody>
                    <a:bodyPr/>
                    <a:lstStyle/>
                    <a:p>
                      <a:pPr algn="ctr"/>
                      <a:r>
                        <a:rPr lang="en-US" sz="2300" dirty="0"/>
                        <a:t>sick</a:t>
                      </a:r>
                    </a:p>
                  </a:txBody>
                  <a:tcPr anchor="ctr"/>
                </a:tc>
                <a:tc>
                  <a:txBody>
                    <a:bodyPr/>
                    <a:lstStyle/>
                    <a:p>
                      <a:pPr algn="ctr"/>
                      <a:r>
                        <a:rPr lang="en-US" sz="2300" dirty="0"/>
                        <a:t>sick</a:t>
                      </a:r>
                    </a:p>
                  </a:txBody>
                  <a:tcPr anchor="ctr"/>
                </a:tc>
                <a:extLst>
                  <a:ext uri="{0D108BD9-81ED-4DB2-BD59-A6C34878D82A}">
                    <a16:rowId xmlns:a16="http://schemas.microsoft.com/office/drawing/2014/main" val="3690459075"/>
                  </a:ext>
                </a:extLst>
              </a:tr>
              <a:tr h="657354">
                <a:tc>
                  <a:txBody>
                    <a:bodyPr/>
                    <a:lstStyle/>
                    <a:p>
                      <a:pPr algn="ctr"/>
                      <a:r>
                        <a:rPr lang="en-US" sz="2300" dirty="0"/>
                        <a:t>healthy</a:t>
                      </a:r>
                    </a:p>
                  </a:txBody>
                  <a:tcPr anchor="ctr"/>
                </a:tc>
                <a:tc>
                  <a:txBody>
                    <a:bodyPr/>
                    <a:lstStyle/>
                    <a:p>
                      <a:pPr algn="ctr"/>
                      <a:r>
                        <a:rPr lang="en-US" sz="2300" dirty="0"/>
                        <a:t>sick</a:t>
                      </a:r>
                    </a:p>
                  </a:txBody>
                  <a:tcPr anchor="ctr"/>
                </a:tc>
                <a:extLst>
                  <a:ext uri="{0D108BD9-81ED-4DB2-BD59-A6C34878D82A}">
                    <a16:rowId xmlns:a16="http://schemas.microsoft.com/office/drawing/2014/main" val="4034280110"/>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2D3DC00-CE25-A8C5-ABB1-4A0D74CB35FC}"/>
                  </a:ext>
                </a:extLst>
              </p:cNvPr>
              <p:cNvSpPr txBox="1"/>
              <p:nvPr/>
            </p:nvSpPr>
            <p:spPr>
              <a:xfrm>
                <a:off x="4129547" y="4971878"/>
                <a:ext cx="2536079" cy="524374"/>
              </a:xfrm>
              <a:prstGeom prst="rect">
                <a:avLst/>
              </a:prstGeom>
              <a:noFill/>
            </p:spPr>
            <p:txBody>
              <a:bodyPr wrap="none" lIns="0" tIns="0" rIns="0" bIns="0" rtlCol="0">
                <a:spAutoFit/>
              </a:bodyPr>
              <a:lstStyle/>
              <a:p>
                <a:r>
                  <a:rPr lang="en-US" sz="2400" dirty="0">
                    <a:latin typeface="Avenir Book" panose="02000503020000020003" pitchFamily="2" charset="0"/>
                  </a:rPr>
                  <a:t>Sensitivity </a:t>
                </a:r>
                <a14:m>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𝑇𝑃</m:t>
                        </m:r>
                      </m:num>
                      <m:den>
                        <m:r>
                          <a:rPr lang="en-US" sz="2400" i="1">
                            <a:latin typeface="Cambria Math" panose="02040503050406030204" pitchFamily="18" charset="0"/>
                          </a:rPr>
                          <m:t>𝑇𝑃</m:t>
                        </m:r>
                        <m:r>
                          <a:rPr lang="en-US" sz="2400" i="1">
                            <a:latin typeface="Cambria Math" panose="02040503050406030204" pitchFamily="18" charset="0"/>
                          </a:rPr>
                          <m:t>+</m:t>
                        </m:r>
                        <m:r>
                          <a:rPr lang="en-US" sz="2400" i="1">
                            <a:latin typeface="Cambria Math" panose="02040503050406030204" pitchFamily="18" charset="0"/>
                          </a:rPr>
                          <m:t>𝐹𝑁</m:t>
                        </m:r>
                      </m:den>
                    </m:f>
                  </m:oMath>
                </a14:m>
                <a:endParaRPr lang="en-US" sz="2400" dirty="0">
                  <a:latin typeface="Avenir Book" panose="02000503020000020003" pitchFamily="2" charset="0"/>
                </a:endParaRPr>
              </a:p>
            </p:txBody>
          </p:sp>
        </mc:Choice>
        <mc:Fallback xmlns="">
          <p:sp>
            <p:nvSpPr>
              <p:cNvPr id="14" name="TextBox 13">
                <a:extLst>
                  <a:ext uri="{FF2B5EF4-FFF2-40B4-BE49-F238E27FC236}">
                    <a16:creationId xmlns:a16="http://schemas.microsoft.com/office/drawing/2014/main" id="{F2D3DC00-CE25-A8C5-ABB1-4A0D74CB35FC}"/>
                  </a:ext>
                </a:extLst>
              </p:cNvPr>
              <p:cNvSpPr txBox="1">
                <a:spLocks noRot="1" noChangeAspect="1" noMove="1" noResize="1" noEditPoints="1" noAdjustHandles="1" noChangeArrowheads="1" noChangeShapeType="1" noTextEdit="1"/>
              </p:cNvSpPr>
              <p:nvPr/>
            </p:nvSpPr>
            <p:spPr>
              <a:xfrm>
                <a:off x="4129547" y="4971878"/>
                <a:ext cx="2536079" cy="524374"/>
              </a:xfrm>
              <a:prstGeom prst="rect">
                <a:avLst/>
              </a:prstGeom>
              <a:blipFill>
                <a:blip r:embed="rId2"/>
                <a:stretch>
                  <a:fillRect l="-6965" r="-1990" b="-238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6BC7F5D-8798-BC82-0F1D-A9708493EEDF}"/>
                  </a:ext>
                </a:extLst>
              </p:cNvPr>
              <p:cNvSpPr txBox="1"/>
              <p:nvPr/>
            </p:nvSpPr>
            <p:spPr>
              <a:xfrm>
                <a:off x="4129546" y="5760408"/>
                <a:ext cx="2801318" cy="524374"/>
              </a:xfrm>
              <a:prstGeom prst="rect">
                <a:avLst/>
              </a:prstGeom>
              <a:noFill/>
            </p:spPr>
            <p:txBody>
              <a:bodyPr wrap="square" lIns="0" tIns="0" rIns="0" bIns="0" rtlCol="0">
                <a:spAutoFit/>
              </a:bodyPr>
              <a:lstStyle/>
              <a:p>
                <a:r>
                  <a:rPr lang="en-US" sz="2400" dirty="0">
                    <a:latin typeface="Avenir Book" panose="02000503020000020003" pitchFamily="2" charset="0"/>
                  </a:rPr>
                  <a:t>Specificity </a:t>
                </a:r>
                <a14:m>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𝑇𝑁</m:t>
                        </m:r>
                      </m:num>
                      <m:den>
                        <m:r>
                          <a:rPr lang="en-US" sz="2400" i="1">
                            <a:latin typeface="Cambria Math" panose="02040503050406030204" pitchFamily="18" charset="0"/>
                          </a:rPr>
                          <m:t>𝑇𝑁</m:t>
                        </m:r>
                        <m:r>
                          <a:rPr lang="en-US" sz="2400" i="1">
                            <a:latin typeface="Cambria Math" panose="02040503050406030204" pitchFamily="18" charset="0"/>
                          </a:rPr>
                          <m:t>+</m:t>
                        </m:r>
                        <m:r>
                          <a:rPr lang="en-US" sz="2400" i="1">
                            <a:latin typeface="Cambria Math" panose="02040503050406030204" pitchFamily="18" charset="0"/>
                          </a:rPr>
                          <m:t>𝐹𝑃</m:t>
                        </m:r>
                      </m:den>
                    </m:f>
                  </m:oMath>
                </a14:m>
                <a:endParaRPr lang="en-US" sz="2400" dirty="0">
                  <a:latin typeface="Avenir Book" panose="02000503020000020003" pitchFamily="2" charset="0"/>
                </a:endParaRPr>
              </a:p>
            </p:txBody>
          </p:sp>
        </mc:Choice>
        <mc:Fallback xmlns="">
          <p:sp>
            <p:nvSpPr>
              <p:cNvPr id="15" name="TextBox 14">
                <a:extLst>
                  <a:ext uri="{FF2B5EF4-FFF2-40B4-BE49-F238E27FC236}">
                    <a16:creationId xmlns:a16="http://schemas.microsoft.com/office/drawing/2014/main" id="{E6BC7F5D-8798-BC82-0F1D-A9708493EEDF}"/>
                  </a:ext>
                </a:extLst>
              </p:cNvPr>
              <p:cNvSpPr txBox="1">
                <a:spLocks noRot="1" noChangeAspect="1" noMove="1" noResize="1" noEditPoints="1" noAdjustHandles="1" noChangeArrowheads="1" noChangeShapeType="1" noTextEdit="1"/>
              </p:cNvSpPr>
              <p:nvPr/>
            </p:nvSpPr>
            <p:spPr>
              <a:xfrm>
                <a:off x="4129546" y="5760408"/>
                <a:ext cx="2801318" cy="524374"/>
              </a:xfrm>
              <a:prstGeom prst="rect">
                <a:avLst/>
              </a:prstGeom>
              <a:blipFill>
                <a:blip r:embed="rId3"/>
                <a:stretch>
                  <a:fillRect l="-6306" b="-23810"/>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EC662D0A-E837-6914-8B6B-25B4F85ED688}"/>
              </a:ext>
            </a:extLst>
          </p:cNvPr>
          <p:cNvSpPr txBox="1"/>
          <p:nvPr/>
        </p:nvSpPr>
        <p:spPr>
          <a:xfrm>
            <a:off x="7028330" y="4957066"/>
            <a:ext cx="5029200" cy="553998"/>
          </a:xfrm>
          <a:prstGeom prst="rect">
            <a:avLst/>
          </a:prstGeom>
          <a:noFill/>
        </p:spPr>
        <p:txBody>
          <a:bodyPr wrap="square" lIns="0" tIns="0" rIns="0" bIns="0" rtlCol="0">
            <a:spAutoFit/>
          </a:bodyPr>
          <a:lstStyle/>
          <a:p>
            <a:r>
              <a:rPr lang="en-US" dirty="0">
                <a:latin typeface="Avenir Book" panose="02000503020000020003" pitchFamily="2" charset="0"/>
              </a:rPr>
              <a:t>What fraction of people with the given health condition were given a positive test result?</a:t>
            </a:r>
          </a:p>
        </p:txBody>
      </p:sp>
      <p:sp>
        <p:nvSpPr>
          <p:cNvPr id="17" name="TextBox 16">
            <a:extLst>
              <a:ext uri="{FF2B5EF4-FFF2-40B4-BE49-F238E27FC236}">
                <a16:creationId xmlns:a16="http://schemas.microsoft.com/office/drawing/2014/main" id="{205D88E2-264B-40ED-CF96-C59BA4434B30}"/>
              </a:ext>
            </a:extLst>
          </p:cNvPr>
          <p:cNvSpPr txBox="1"/>
          <p:nvPr/>
        </p:nvSpPr>
        <p:spPr>
          <a:xfrm>
            <a:off x="7028331" y="5745596"/>
            <a:ext cx="5029200" cy="553998"/>
          </a:xfrm>
          <a:prstGeom prst="rect">
            <a:avLst/>
          </a:prstGeom>
          <a:noFill/>
        </p:spPr>
        <p:txBody>
          <a:bodyPr wrap="square" lIns="0" tIns="0" rIns="0" bIns="0" rtlCol="0">
            <a:spAutoFit/>
          </a:bodyPr>
          <a:lstStyle/>
          <a:p>
            <a:r>
              <a:rPr lang="en-US" dirty="0">
                <a:latin typeface="Avenir Book" panose="02000503020000020003" pitchFamily="2" charset="0"/>
              </a:rPr>
              <a:t>What fraction of people without the given health condition were given a negative test result?</a:t>
            </a:r>
          </a:p>
        </p:txBody>
      </p:sp>
    </p:spTree>
    <p:extLst>
      <p:ext uri="{BB962C8B-B14F-4D97-AF65-F5344CB8AC3E}">
        <p14:creationId xmlns:p14="http://schemas.microsoft.com/office/powerpoint/2010/main" val="259771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6357-3251-98A6-59D8-A9D32E3315AB}"/>
              </a:ext>
            </a:extLst>
          </p:cNvPr>
          <p:cNvSpPr>
            <a:spLocks noGrp="1"/>
          </p:cNvSpPr>
          <p:nvPr>
            <p:ph type="title"/>
          </p:nvPr>
        </p:nvSpPr>
        <p:spPr/>
        <p:txBody>
          <a:bodyPr>
            <a:normAutofit fontScale="90000"/>
          </a:bodyPr>
          <a:lstStyle/>
          <a:p>
            <a:r>
              <a:rPr lang="en-US" dirty="0"/>
              <a:t>Multi-Class Classification Evaluation Metrics: </a:t>
            </a:r>
            <a:br>
              <a:rPr lang="en-US" dirty="0"/>
            </a:br>
            <a:r>
              <a:rPr lang="en-US" dirty="0"/>
              <a:t>Overall Performance</a:t>
            </a:r>
          </a:p>
        </p:txBody>
      </p:sp>
      <p:graphicFrame>
        <p:nvGraphicFramePr>
          <p:cNvPr id="4" name="Content Placeholder 21">
            <a:extLst>
              <a:ext uri="{FF2B5EF4-FFF2-40B4-BE49-F238E27FC236}">
                <a16:creationId xmlns:a16="http://schemas.microsoft.com/office/drawing/2014/main" id="{24312039-FB5D-269A-D287-7B6EFFC4BA5E}"/>
              </a:ext>
            </a:extLst>
          </p:cNvPr>
          <p:cNvGraphicFramePr>
            <a:graphicFrameLocks/>
          </p:cNvGraphicFramePr>
          <p:nvPr>
            <p:extLst>
              <p:ext uri="{D42A27DB-BD31-4B8C-83A1-F6EECF244321}">
                <p14:modId xmlns:p14="http://schemas.microsoft.com/office/powerpoint/2010/main" val="2387300082"/>
              </p:ext>
            </p:extLst>
          </p:nvPr>
        </p:nvGraphicFramePr>
        <p:xfrm>
          <a:off x="609600" y="1471841"/>
          <a:ext cx="10972799" cy="3404959"/>
        </p:xfrm>
        <a:graphic>
          <a:graphicData uri="http://schemas.openxmlformats.org/drawingml/2006/table">
            <a:tbl>
              <a:tblPr firstRow="1" firstCol="1" bandRow="1">
                <a:tableStyleId>{5202B0CA-FC54-4496-8BCA-5EF66A818D29}</a:tableStyleId>
              </a:tblPr>
              <a:tblGrid>
                <a:gridCol w="1445519">
                  <a:extLst>
                    <a:ext uri="{9D8B030D-6E8A-4147-A177-3AD203B41FA5}">
                      <a16:colId xmlns:a16="http://schemas.microsoft.com/office/drawing/2014/main" val="20002"/>
                    </a:ext>
                  </a:extLst>
                </a:gridCol>
                <a:gridCol w="2381820">
                  <a:extLst>
                    <a:ext uri="{9D8B030D-6E8A-4147-A177-3AD203B41FA5}">
                      <a16:colId xmlns:a16="http://schemas.microsoft.com/office/drawing/2014/main" val="20003"/>
                    </a:ext>
                  </a:extLst>
                </a:gridCol>
                <a:gridCol w="2381820">
                  <a:extLst>
                    <a:ext uri="{9D8B030D-6E8A-4147-A177-3AD203B41FA5}">
                      <a16:colId xmlns:a16="http://schemas.microsoft.com/office/drawing/2014/main" val="20004"/>
                    </a:ext>
                  </a:extLst>
                </a:gridCol>
                <a:gridCol w="2381820">
                  <a:extLst>
                    <a:ext uri="{9D8B030D-6E8A-4147-A177-3AD203B41FA5}">
                      <a16:colId xmlns:a16="http://schemas.microsoft.com/office/drawing/2014/main" val="20000"/>
                    </a:ext>
                  </a:extLst>
                </a:gridCol>
                <a:gridCol w="2381820">
                  <a:extLst>
                    <a:ext uri="{9D8B030D-6E8A-4147-A177-3AD203B41FA5}">
                      <a16:colId xmlns:a16="http://schemas.microsoft.com/office/drawing/2014/main" val="20001"/>
                    </a:ext>
                  </a:extLst>
                </a:gridCol>
              </a:tblGrid>
              <a:tr h="505526">
                <a:tc rowSpan="2" gridSpan="2">
                  <a:txBody>
                    <a:bodyPr/>
                    <a:lstStyle/>
                    <a:p>
                      <a:pPr algn="ctr"/>
                      <a:endParaRPr lang="en-US" sz="2900" b="0" dirty="0">
                        <a:latin typeface="Avenir Book" charset="0"/>
                        <a:ea typeface="Avenir Book" charset="0"/>
                        <a:cs typeface="Avenir Book" charset="0"/>
                      </a:endParaRPr>
                    </a:p>
                  </a:txBody>
                  <a:tcPr marL="115724" marR="115724" marT="57862" marB="57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en-US" sz="2900" b="1" dirty="0">
                          <a:solidFill>
                            <a:schemeClr val="tx1"/>
                          </a:solidFill>
                          <a:latin typeface="Avenir Book" charset="0"/>
                          <a:ea typeface="Avenir Book" charset="0"/>
                          <a:cs typeface="Avenir Book" charset="0"/>
                        </a:rPr>
                        <a:t>Actual Label</a:t>
                      </a:r>
                    </a:p>
                  </a:txBody>
                  <a:tcPr marL="115724" marR="115724" marT="57862" marB="57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hMerge="1">
                  <a:txBody>
                    <a:bodyPr/>
                    <a:lstStyle/>
                    <a:p>
                      <a:pPr algn="ctr"/>
                      <a:endParaRPr lang="en-US" sz="2800" b="0" dirty="0">
                        <a:latin typeface="Avenir Book" charset="0"/>
                        <a:ea typeface="Avenir Book" charset="0"/>
                        <a:cs typeface="Avenir Book"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hMerge="1">
                  <a:txBody>
                    <a:bodyPr/>
                    <a:lstStyle/>
                    <a:p>
                      <a:pPr algn="ctr"/>
                      <a:endParaRPr lang="en-US" sz="2800" b="0" dirty="0">
                        <a:latin typeface="Avenir Book" charset="0"/>
                        <a:ea typeface="Avenir Book" charset="0"/>
                        <a:cs typeface="Avenir Book"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3"/>
                  </a:ext>
                </a:extLst>
              </a:tr>
              <a:tr h="669899">
                <a:tc gridSpan="2"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b="1" dirty="0">
                          <a:solidFill>
                            <a:schemeClr val="tx1"/>
                          </a:solidFill>
                          <a:latin typeface="Avenir Book" charset="0"/>
                          <a:ea typeface="Avenir Book" charset="0"/>
                          <a:cs typeface="Avenir Book" charset="0"/>
                        </a:rPr>
                        <a:t>Hypertensive</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dirty="0">
                          <a:solidFill>
                            <a:schemeClr val="tx1"/>
                          </a:solidFill>
                          <a:latin typeface="Avenir Book" charset="0"/>
                          <a:ea typeface="Avenir Book" charset="0"/>
                          <a:cs typeface="Avenir Book" charset="0"/>
                        </a:rPr>
                        <a:t>Hypotensive</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dirty="0">
                          <a:solidFill>
                            <a:schemeClr val="tx1"/>
                          </a:solidFill>
                          <a:latin typeface="Avenir Book" charset="0"/>
                          <a:ea typeface="Avenir Book" charset="0"/>
                          <a:cs typeface="Avenir Book" charset="0"/>
                        </a:rPr>
                        <a:t>Healthy</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0"/>
                  </a:ext>
                </a:extLst>
              </a:tr>
              <a:tr h="725792">
                <a:tc rowSpan="3">
                  <a:txBody>
                    <a:bodyPr/>
                    <a:lstStyle/>
                    <a:p>
                      <a:pPr algn="ctr"/>
                      <a:r>
                        <a:rPr lang="en-US" sz="2900" b="1" kern="1200" dirty="0">
                          <a:solidFill>
                            <a:schemeClr val="tx1"/>
                          </a:solidFill>
                          <a:latin typeface="Avenir Book" charset="0"/>
                          <a:ea typeface="Avenir Book" charset="0"/>
                          <a:cs typeface="Avenir Book" charset="0"/>
                        </a:rPr>
                        <a:t>Predicted Label</a:t>
                      </a:r>
                    </a:p>
                  </a:txBody>
                  <a:tcPr marL="115724" marR="115724" marT="57862" marB="57862" vert="vert27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kern="1200" dirty="0">
                          <a:solidFill>
                            <a:schemeClr val="tx1"/>
                          </a:solidFill>
                          <a:latin typeface="Avenir Book" charset="0"/>
                          <a:ea typeface="Avenir Book" charset="0"/>
                          <a:cs typeface="Avenir Book" charset="0"/>
                        </a:rPr>
                        <a:t>Hypertensive</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400" b="0" u="none" dirty="0">
                          <a:latin typeface="Avenir Book" charset="0"/>
                          <a:ea typeface="Avenir Book" charset="0"/>
                          <a:cs typeface="Avenir Book" charset="0"/>
                        </a:rPr>
                        <a:t>AA</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400" b="0" u="none" dirty="0">
                          <a:latin typeface="Avenir Book" charset="0"/>
                          <a:ea typeface="Avenir Book" charset="0"/>
                          <a:cs typeface="Avenir Book" charset="0"/>
                        </a:rPr>
                        <a:t>AB</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400" b="0" dirty="0">
                          <a:latin typeface="Avenir Book" charset="0"/>
                          <a:ea typeface="Avenir Book" charset="0"/>
                          <a:cs typeface="Avenir Book" charset="0"/>
                        </a:rPr>
                        <a:t>AC</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1"/>
                  </a:ext>
                </a:extLst>
              </a:tr>
              <a:tr h="725792">
                <a:tc vMerge="1">
                  <a:txBody>
                    <a:bodyPr/>
                    <a:lstStyle/>
                    <a:p>
                      <a:pPr algn="ctr"/>
                      <a:endParaRPr lang="en-US" sz="2800" b="0" kern="1200" dirty="0">
                        <a:solidFill>
                          <a:schemeClr val="lt1"/>
                        </a:solidFill>
                        <a:latin typeface="Avenir Book" charset="0"/>
                        <a:ea typeface="Avenir Book" charset="0"/>
                        <a:cs typeface="Avenir Book"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kern="1200" dirty="0">
                          <a:solidFill>
                            <a:schemeClr val="tx1"/>
                          </a:solidFill>
                          <a:latin typeface="Avenir Book" charset="0"/>
                          <a:ea typeface="Avenir Book" charset="0"/>
                          <a:cs typeface="Avenir Book" charset="0"/>
                        </a:rPr>
                        <a:t>Hypotensive</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400" b="0" u="none" dirty="0">
                          <a:latin typeface="Avenir Book" charset="0"/>
                          <a:ea typeface="Avenir Book" charset="0"/>
                          <a:cs typeface="Avenir Book" charset="0"/>
                        </a:rPr>
                        <a:t>BA</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400" b="0" u="none" dirty="0">
                          <a:latin typeface="Avenir Book" charset="0"/>
                          <a:ea typeface="Avenir Book" charset="0"/>
                          <a:cs typeface="Avenir Book" charset="0"/>
                        </a:rPr>
                        <a:t>BB</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400" b="0" u="none" dirty="0">
                          <a:latin typeface="Avenir Book" charset="0"/>
                          <a:ea typeface="Avenir Book" charset="0"/>
                          <a:cs typeface="Avenir Book" charset="0"/>
                        </a:rPr>
                        <a:t>BC</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2"/>
                  </a:ext>
                </a:extLst>
              </a:tr>
              <a:tr h="725792">
                <a:tc vMerge="1">
                  <a:txBody>
                    <a:bodyPr/>
                    <a:lstStyle/>
                    <a:p>
                      <a:pPr algn="ctr"/>
                      <a:endParaRPr lang="en-US" sz="2800" b="0" kern="1200" dirty="0">
                        <a:solidFill>
                          <a:schemeClr val="lt1"/>
                        </a:solidFill>
                        <a:latin typeface="Avenir Book" charset="0"/>
                        <a:ea typeface="Avenir Book" charset="0"/>
                        <a:cs typeface="Avenir Book"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kern="1200" dirty="0">
                          <a:solidFill>
                            <a:schemeClr val="tx1"/>
                          </a:solidFill>
                          <a:latin typeface="Avenir Book" charset="0"/>
                          <a:ea typeface="Avenir Book" charset="0"/>
                          <a:cs typeface="Avenir Book" charset="0"/>
                        </a:rPr>
                        <a:t>Healthy</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400" b="0" u="none" dirty="0">
                          <a:latin typeface="Avenir Book" charset="0"/>
                          <a:ea typeface="Avenir Book" charset="0"/>
                          <a:cs typeface="Avenir Book" charset="0"/>
                        </a:rPr>
                        <a:t>CA</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400" b="0" u="none" dirty="0">
                          <a:latin typeface="Avenir Book" charset="0"/>
                          <a:ea typeface="Avenir Book" charset="0"/>
                          <a:cs typeface="Avenir Book" charset="0"/>
                        </a:rPr>
                        <a:t>CB</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400" b="0" u="none" dirty="0">
                          <a:latin typeface="Avenir Book" charset="0"/>
                          <a:ea typeface="Avenir Book" charset="0"/>
                          <a:cs typeface="Avenir Book" charset="0"/>
                        </a:rPr>
                        <a:t>CC</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CE5248-FB5A-22B9-6EE4-5BCB6F60113A}"/>
                  </a:ext>
                </a:extLst>
              </p:cNvPr>
              <p:cNvSpPr txBox="1"/>
              <p:nvPr/>
            </p:nvSpPr>
            <p:spPr>
              <a:xfrm>
                <a:off x="419101" y="5410200"/>
                <a:ext cx="11353798" cy="790537"/>
              </a:xfrm>
              <a:prstGeom prst="rect">
                <a:avLst/>
              </a:prstGeom>
              <a:noFill/>
            </p:spPr>
            <p:txBody>
              <a:bodyPr wrap="square" lIns="0" tIns="0" rIns="0" bIns="0" rtlCol="0">
                <a:spAutoFit/>
              </a:bodyPr>
              <a:lstStyle/>
              <a:p>
                <a:pPr algn="ctr"/>
                <a:r>
                  <a:rPr lang="en-US" sz="2800" dirty="0">
                    <a:latin typeface="Avenir Book" panose="02000503020000020003" pitchFamily="2" charset="0"/>
                  </a:rPr>
                  <a:t>Overall Accuracy =</a:t>
                </a:r>
                <a:r>
                  <a:rPr lang="en-US" sz="2800" i="1" dirty="0">
                    <a:latin typeface="Avenir Book" panose="02000503020000020003" pitchFamily="2" charset="0"/>
                  </a:rPr>
                  <a:t> </a:t>
                </a:r>
                <a14:m>
                  <m:oMath xmlns:m="http://schemas.openxmlformats.org/officeDocument/2006/math">
                    <m:f>
                      <m:fPr>
                        <m:ctrlPr>
                          <a:rPr lang="en-US" sz="3600" i="1">
                            <a:latin typeface="Cambria Math" panose="02040503050406030204" pitchFamily="18" charset="0"/>
                          </a:rPr>
                        </m:ctrlPr>
                      </m:fPr>
                      <m:num>
                        <m:r>
                          <a:rPr lang="en-US" sz="3600" b="0" i="1" smtClean="0">
                            <a:latin typeface="Cambria Math" panose="02040503050406030204" pitchFamily="18" charset="0"/>
                          </a:rPr>
                          <m:t>𝐴𝐴</m:t>
                        </m:r>
                        <m:r>
                          <a:rPr lang="en-US" sz="3600" i="1">
                            <a:latin typeface="Cambria Math" panose="02040503050406030204" pitchFamily="18" charset="0"/>
                          </a:rPr>
                          <m:t>+</m:t>
                        </m:r>
                        <m:r>
                          <a:rPr lang="en-US" sz="3600" b="0" i="1" smtClean="0">
                            <a:latin typeface="Cambria Math" panose="02040503050406030204" pitchFamily="18" charset="0"/>
                          </a:rPr>
                          <m:t>𝐵𝐵</m:t>
                        </m:r>
                        <m:r>
                          <a:rPr lang="en-US" sz="3600" i="1">
                            <a:latin typeface="Cambria Math" panose="02040503050406030204" pitchFamily="18" charset="0"/>
                          </a:rPr>
                          <m:t>+</m:t>
                        </m:r>
                        <m:r>
                          <a:rPr lang="en-US" sz="3600" b="0" i="1" smtClean="0">
                            <a:latin typeface="Cambria Math" panose="02040503050406030204" pitchFamily="18" charset="0"/>
                          </a:rPr>
                          <m:t>𝐶𝐶</m:t>
                        </m:r>
                      </m:num>
                      <m:den>
                        <m:r>
                          <a:rPr lang="en-US" sz="3600" b="0" i="1" smtClean="0">
                            <a:latin typeface="Cambria Math" panose="02040503050406030204" pitchFamily="18" charset="0"/>
                          </a:rPr>
                          <m:t>𝐴𝐴</m:t>
                        </m:r>
                        <m:r>
                          <a:rPr lang="en-US" sz="3600" i="1">
                            <a:latin typeface="Cambria Math" panose="02040503050406030204" pitchFamily="18" charset="0"/>
                          </a:rPr>
                          <m:t>+</m:t>
                        </m:r>
                        <m:r>
                          <a:rPr lang="en-US" sz="3600" b="0" i="1" smtClean="0">
                            <a:latin typeface="Cambria Math" panose="02040503050406030204" pitchFamily="18" charset="0"/>
                          </a:rPr>
                          <m:t>𝐴𝐵</m:t>
                        </m:r>
                        <m:r>
                          <a:rPr lang="en-US" sz="3600" i="1">
                            <a:latin typeface="Cambria Math" panose="02040503050406030204" pitchFamily="18" charset="0"/>
                          </a:rPr>
                          <m:t>+</m:t>
                        </m:r>
                        <m:r>
                          <a:rPr lang="en-US" sz="3600" b="0" i="1" smtClean="0">
                            <a:latin typeface="Cambria Math" panose="02040503050406030204" pitchFamily="18" charset="0"/>
                          </a:rPr>
                          <m:t>𝐴𝐶</m:t>
                        </m:r>
                        <m:r>
                          <a:rPr lang="en-US" sz="3600" i="1">
                            <a:latin typeface="Cambria Math" panose="02040503050406030204" pitchFamily="18" charset="0"/>
                          </a:rPr>
                          <m:t>+</m:t>
                        </m:r>
                        <m:r>
                          <a:rPr lang="en-US" sz="3600" b="0" i="1" smtClean="0">
                            <a:latin typeface="Cambria Math" panose="02040503050406030204" pitchFamily="18" charset="0"/>
                          </a:rPr>
                          <m:t>𝐵𝐴</m:t>
                        </m:r>
                        <m:r>
                          <a:rPr lang="en-US" sz="3600" i="1">
                            <a:latin typeface="Cambria Math" panose="02040503050406030204" pitchFamily="18" charset="0"/>
                          </a:rPr>
                          <m:t>+</m:t>
                        </m:r>
                        <m:r>
                          <a:rPr lang="en-US" sz="3600" b="0" i="1" smtClean="0">
                            <a:latin typeface="Cambria Math" panose="02040503050406030204" pitchFamily="18" charset="0"/>
                          </a:rPr>
                          <m:t>𝐵𝐵</m:t>
                        </m:r>
                        <m:r>
                          <a:rPr lang="en-US" sz="3600" i="1">
                            <a:latin typeface="Cambria Math" panose="02040503050406030204" pitchFamily="18" charset="0"/>
                          </a:rPr>
                          <m:t>+</m:t>
                        </m:r>
                        <m:r>
                          <a:rPr lang="en-US" sz="3600" b="0" i="1" smtClean="0">
                            <a:latin typeface="Cambria Math" panose="02040503050406030204" pitchFamily="18" charset="0"/>
                          </a:rPr>
                          <m:t>𝐵𝐶</m:t>
                        </m:r>
                        <m:r>
                          <a:rPr lang="en-US" sz="3600" b="0" i="1" smtClean="0">
                            <a:latin typeface="Cambria Math" panose="02040503050406030204" pitchFamily="18" charset="0"/>
                          </a:rPr>
                          <m:t>+</m:t>
                        </m:r>
                        <m:r>
                          <a:rPr lang="en-US" sz="3600" b="0" i="1" smtClean="0">
                            <a:latin typeface="Cambria Math" panose="02040503050406030204" pitchFamily="18" charset="0"/>
                          </a:rPr>
                          <m:t>𝐶𝐴</m:t>
                        </m:r>
                        <m:r>
                          <a:rPr lang="en-US" sz="3600" b="0" i="1" smtClean="0">
                            <a:latin typeface="Cambria Math" panose="02040503050406030204" pitchFamily="18" charset="0"/>
                          </a:rPr>
                          <m:t>+</m:t>
                        </m:r>
                        <m:r>
                          <a:rPr lang="en-US" sz="3600" b="0" i="1" smtClean="0">
                            <a:latin typeface="Cambria Math" panose="02040503050406030204" pitchFamily="18" charset="0"/>
                          </a:rPr>
                          <m:t>𝐶𝐵</m:t>
                        </m:r>
                        <m:r>
                          <a:rPr lang="en-US" sz="3600" b="0" i="1" smtClean="0">
                            <a:latin typeface="Cambria Math" panose="02040503050406030204" pitchFamily="18" charset="0"/>
                          </a:rPr>
                          <m:t>+</m:t>
                        </m:r>
                        <m:r>
                          <a:rPr lang="en-US" sz="3600" b="0" i="1" smtClean="0">
                            <a:latin typeface="Cambria Math" panose="02040503050406030204" pitchFamily="18" charset="0"/>
                          </a:rPr>
                          <m:t>𝐶𝐶</m:t>
                        </m:r>
                      </m:den>
                    </m:f>
                  </m:oMath>
                </a14:m>
                <a:endParaRPr lang="en-US" sz="2800" dirty="0">
                  <a:latin typeface="Avenir Book" panose="02000503020000020003" pitchFamily="2" charset="0"/>
                </a:endParaRPr>
              </a:p>
            </p:txBody>
          </p:sp>
        </mc:Choice>
        <mc:Fallback xmlns="">
          <p:sp>
            <p:nvSpPr>
              <p:cNvPr id="5" name="TextBox 4">
                <a:extLst>
                  <a:ext uri="{FF2B5EF4-FFF2-40B4-BE49-F238E27FC236}">
                    <a16:creationId xmlns:a16="http://schemas.microsoft.com/office/drawing/2014/main" id="{8FCE5248-FB5A-22B9-6EE4-5BCB6F60113A}"/>
                  </a:ext>
                </a:extLst>
              </p:cNvPr>
              <p:cNvSpPr txBox="1">
                <a:spLocks noRot="1" noChangeAspect="1" noMove="1" noResize="1" noEditPoints="1" noAdjustHandles="1" noChangeArrowheads="1" noChangeShapeType="1" noTextEdit="1"/>
              </p:cNvSpPr>
              <p:nvPr/>
            </p:nvSpPr>
            <p:spPr>
              <a:xfrm>
                <a:off x="419101" y="5410200"/>
                <a:ext cx="11353798" cy="790537"/>
              </a:xfrm>
              <a:prstGeom prst="rect">
                <a:avLst/>
              </a:prstGeom>
              <a:blipFill>
                <a:blip r:embed="rId2"/>
                <a:stretch>
                  <a:fillRect b="-11111"/>
                </a:stretch>
              </a:blipFill>
            </p:spPr>
            <p:txBody>
              <a:bodyPr/>
              <a:lstStyle/>
              <a:p>
                <a:r>
                  <a:rPr lang="en-US">
                    <a:noFill/>
                  </a:rPr>
                  <a:t> </a:t>
                </a:r>
              </a:p>
            </p:txBody>
          </p:sp>
        </mc:Fallback>
      </mc:AlternateContent>
    </p:spTree>
    <p:extLst>
      <p:ext uri="{BB962C8B-B14F-4D97-AF65-F5344CB8AC3E}">
        <p14:creationId xmlns:p14="http://schemas.microsoft.com/office/powerpoint/2010/main" val="3823516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A0EBA-7363-39FF-49D9-1A314E2FD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BB52F-4574-4C77-B7A2-F41F78703958}"/>
              </a:ext>
            </a:extLst>
          </p:cNvPr>
          <p:cNvSpPr>
            <a:spLocks noGrp="1"/>
          </p:cNvSpPr>
          <p:nvPr>
            <p:ph type="title"/>
          </p:nvPr>
        </p:nvSpPr>
        <p:spPr/>
        <p:txBody>
          <a:bodyPr>
            <a:normAutofit fontScale="90000"/>
          </a:bodyPr>
          <a:lstStyle/>
          <a:p>
            <a:r>
              <a:rPr lang="en-US" dirty="0"/>
              <a:t>Multi-Class Classification Evaluation Metrics: </a:t>
            </a:r>
            <a:br>
              <a:rPr lang="en-US" dirty="0"/>
            </a:br>
            <a:r>
              <a:rPr lang="en-US" dirty="0"/>
              <a:t>Overall Performance</a:t>
            </a:r>
          </a:p>
        </p:txBody>
      </p:sp>
      <p:graphicFrame>
        <p:nvGraphicFramePr>
          <p:cNvPr id="4" name="Content Placeholder 21">
            <a:extLst>
              <a:ext uri="{FF2B5EF4-FFF2-40B4-BE49-F238E27FC236}">
                <a16:creationId xmlns:a16="http://schemas.microsoft.com/office/drawing/2014/main" id="{3C80756C-5D02-0CF0-D6F4-AD2D2E8A2693}"/>
              </a:ext>
            </a:extLst>
          </p:cNvPr>
          <p:cNvGraphicFramePr>
            <a:graphicFrameLocks/>
          </p:cNvGraphicFramePr>
          <p:nvPr>
            <p:extLst>
              <p:ext uri="{D42A27DB-BD31-4B8C-83A1-F6EECF244321}">
                <p14:modId xmlns:p14="http://schemas.microsoft.com/office/powerpoint/2010/main" val="1041399613"/>
              </p:ext>
            </p:extLst>
          </p:nvPr>
        </p:nvGraphicFramePr>
        <p:xfrm>
          <a:off x="609600" y="1471841"/>
          <a:ext cx="10972799" cy="3404959"/>
        </p:xfrm>
        <a:graphic>
          <a:graphicData uri="http://schemas.openxmlformats.org/drawingml/2006/table">
            <a:tbl>
              <a:tblPr firstRow="1" firstCol="1" bandRow="1">
                <a:tableStyleId>{5202B0CA-FC54-4496-8BCA-5EF66A818D29}</a:tableStyleId>
              </a:tblPr>
              <a:tblGrid>
                <a:gridCol w="1445519">
                  <a:extLst>
                    <a:ext uri="{9D8B030D-6E8A-4147-A177-3AD203B41FA5}">
                      <a16:colId xmlns:a16="http://schemas.microsoft.com/office/drawing/2014/main" val="20002"/>
                    </a:ext>
                  </a:extLst>
                </a:gridCol>
                <a:gridCol w="2381820">
                  <a:extLst>
                    <a:ext uri="{9D8B030D-6E8A-4147-A177-3AD203B41FA5}">
                      <a16:colId xmlns:a16="http://schemas.microsoft.com/office/drawing/2014/main" val="20003"/>
                    </a:ext>
                  </a:extLst>
                </a:gridCol>
                <a:gridCol w="2381820">
                  <a:extLst>
                    <a:ext uri="{9D8B030D-6E8A-4147-A177-3AD203B41FA5}">
                      <a16:colId xmlns:a16="http://schemas.microsoft.com/office/drawing/2014/main" val="20004"/>
                    </a:ext>
                  </a:extLst>
                </a:gridCol>
                <a:gridCol w="2381820">
                  <a:extLst>
                    <a:ext uri="{9D8B030D-6E8A-4147-A177-3AD203B41FA5}">
                      <a16:colId xmlns:a16="http://schemas.microsoft.com/office/drawing/2014/main" val="20000"/>
                    </a:ext>
                  </a:extLst>
                </a:gridCol>
                <a:gridCol w="2381820">
                  <a:extLst>
                    <a:ext uri="{9D8B030D-6E8A-4147-A177-3AD203B41FA5}">
                      <a16:colId xmlns:a16="http://schemas.microsoft.com/office/drawing/2014/main" val="20001"/>
                    </a:ext>
                  </a:extLst>
                </a:gridCol>
              </a:tblGrid>
              <a:tr h="505526">
                <a:tc rowSpan="2" gridSpan="2">
                  <a:txBody>
                    <a:bodyPr/>
                    <a:lstStyle/>
                    <a:p>
                      <a:pPr algn="ctr"/>
                      <a:endParaRPr lang="en-US" sz="2900" b="0" dirty="0">
                        <a:latin typeface="Avenir Book" charset="0"/>
                        <a:ea typeface="Avenir Book" charset="0"/>
                        <a:cs typeface="Avenir Book" charset="0"/>
                      </a:endParaRPr>
                    </a:p>
                  </a:txBody>
                  <a:tcPr marL="115724" marR="115724" marT="57862" marB="57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en-US" sz="2900" b="1" dirty="0">
                          <a:solidFill>
                            <a:schemeClr val="tx1"/>
                          </a:solidFill>
                          <a:latin typeface="Avenir Book" charset="0"/>
                          <a:ea typeface="Avenir Book" charset="0"/>
                          <a:cs typeface="Avenir Book" charset="0"/>
                        </a:rPr>
                        <a:t>Actual Label</a:t>
                      </a:r>
                    </a:p>
                  </a:txBody>
                  <a:tcPr marL="115724" marR="115724" marT="57862" marB="57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hMerge="1">
                  <a:txBody>
                    <a:bodyPr/>
                    <a:lstStyle/>
                    <a:p>
                      <a:pPr algn="ctr"/>
                      <a:endParaRPr lang="en-US" sz="2800" b="0" dirty="0">
                        <a:latin typeface="Avenir Book" charset="0"/>
                        <a:ea typeface="Avenir Book" charset="0"/>
                        <a:cs typeface="Avenir Book"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hMerge="1">
                  <a:txBody>
                    <a:bodyPr/>
                    <a:lstStyle/>
                    <a:p>
                      <a:pPr algn="ctr"/>
                      <a:endParaRPr lang="en-US" sz="2800" b="0" dirty="0">
                        <a:latin typeface="Avenir Book" charset="0"/>
                        <a:ea typeface="Avenir Book" charset="0"/>
                        <a:cs typeface="Avenir Book"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3"/>
                  </a:ext>
                </a:extLst>
              </a:tr>
              <a:tr h="669899">
                <a:tc gridSpan="2"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lang="en-US" sz="2800" b="0" dirty="0">
                        <a:latin typeface="Avenir Book" charset="0"/>
                        <a:ea typeface="Avenir Book" charset="0"/>
                        <a:cs typeface="Avenir Book"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b="1" dirty="0">
                          <a:solidFill>
                            <a:schemeClr val="tx1"/>
                          </a:solidFill>
                          <a:latin typeface="Avenir Book" charset="0"/>
                          <a:ea typeface="Avenir Book" charset="0"/>
                          <a:cs typeface="Avenir Book" charset="0"/>
                        </a:rPr>
                        <a:t>Hypertensive</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dirty="0">
                          <a:solidFill>
                            <a:schemeClr val="tx1"/>
                          </a:solidFill>
                          <a:latin typeface="Avenir Book" charset="0"/>
                          <a:ea typeface="Avenir Book" charset="0"/>
                          <a:cs typeface="Avenir Book" charset="0"/>
                        </a:rPr>
                        <a:t>Hypotensive</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dirty="0">
                          <a:solidFill>
                            <a:schemeClr val="tx1"/>
                          </a:solidFill>
                          <a:latin typeface="Avenir Book" charset="0"/>
                          <a:ea typeface="Avenir Book" charset="0"/>
                          <a:cs typeface="Avenir Book" charset="0"/>
                        </a:rPr>
                        <a:t>Healthy</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10000"/>
                  </a:ext>
                </a:extLst>
              </a:tr>
              <a:tr h="725792">
                <a:tc rowSpan="3">
                  <a:txBody>
                    <a:bodyPr/>
                    <a:lstStyle/>
                    <a:p>
                      <a:pPr algn="ctr"/>
                      <a:r>
                        <a:rPr lang="en-US" sz="2900" b="1" kern="1200" dirty="0">
                          <a:solidFill>
                            <a:schemeClr val="tx1"/>
                          </a:solidFill>
                          <a:latin typeface="Avenir Book" charset="0"/>
                          <a:ea typeface="Avenir Book" charset="0"/>
                          <a:cs typeface="Avenir Book" charset="0"/>
                        </a:rPr>
                        <a:t>Predicted Label</a:t>
                      </a:r>
                    </a:p>
                  </a:txBody>
                  <a:tcPr marL="115724" marR="115724" marT="57862" marB="57862" vert="vert27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kern="1200" dirty="0">
                          <a:solidFill>
                            <a:schemeClr val="tx1"/>
                          </a:solidFill>
                          <a:latin typeface="Avenir Book" charset="0"/>
                          <a:ea typeface="Avenir Book" charset="0"/>
                          <a:cs typeface="Avenir Book" charset="0"/>
                        </a:rPr>
                        <a:t>Hypertensive</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400" b="0" u="none" dirty="0">
                          <a:latin typeface="Avenir Book" charset="0"/>
                          <a:ea typeface="Avenir Book" charset="0"/>
                          <a:cs typeface="Avenir Book" charset="0"/>
                        </a:rPr>
                        <a:t>AA</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400" b="0" u="none" dirty="0">
                          <a:latin typeface="Avenir Book" charset="0"/>
                          <a:ea typeface="Avenir Book" charset="0"/>
                          <a:cs typeface="Avenir Book" charset="0"/>
                        </a:rPr>
                        <a:t>AB</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400" b="0" dirty="0">
                          <a:latin typeface="Avenir Book" charset="0"/>
                          <a:ea typeface="Avenir Book" charset="0"/>
                          <a:cs typeface="Avenir Book" charset="0"/>
                        </a:rPr>
                        <a:t>AC</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1"/>
                  </a:ext>
                </a:extLst>
              </a:tr>
              <a:tr h="725792">
                <a:tc vMerge="1">
                  <a:txBody>
                    <a:bodyPr/>
                    <a:lstStyle/>
                    <a:p>
                      <a:pPr algn="ctr"/>
                      <a:endParaRPr lang="en-US" sz="2800" b="0" kern="1200" dirty="0">
                        <a:solidFill>
                          <a:schemeClr val="lt1"/>
                        </a:solidFill>
                        <a:latin typeface="Avenir Book" charset="0"/>
                        <a:ea typeface="Avenir Book" charset="0"/>
                        <a:cs typeface="Avenir Book"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kern="1200" dirty="0">
                          <a:solidFill>
                            <a:schemeClr val="tx1"/>
                          </a:solidFill>
                          <a:latin typeface="Avenir Book" charset="0"/>
                          <a:ea typeface="Avenir Book" charset="0"/>
                          <a:cs typeface="Avenir Book" charset="0"/>
                        </a:rPr>
                        <a:t>Hypotensive</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400" b="0" u="none" dirty="0">
                          <a:latin typeface="Avenir Book" charset="0"/>
                          <a:ea typeface="Avenir Book" charset="0"/>
                          <a:cs typeface="Avenir Book" charset="0"/>
                        </a:rPr>
                        <a:t>BA</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400" b="0" u="none" dirty="0">
                          <a:latin typeface="Avenir Book" charset="0"/>
                          <a:ea typeface="Avenir Book" charset="0"/>
                          <a:cs typeface="Avenir Book" charset="0"/>
                        </a:rPr>
                        <a:t>BB</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sz="2400" b="0" u="none" dirty="0">
                          <a:latin typeface="Avenir Book" charset="0"/>
                          <a:ea typeface="Avenir Book" charset="0"/>
                          <a:cs typeface="Avenir Book" charset="0"/>
                        </a:rPr>
                        <a:t>BC</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2"/>
                  </a:ext>
                </a:extLst>
              </a:tr>
              <a:tr h="725792">
                <a:tc vMerge="1">
                  <a:txBody>
                    <a:bodyPr/>
                    <a:lstStyle/>
                    <a:p>
                      <a:pPr algn="ctr"/>
                      <a:endParaRPr lang="en-US" sz="2800" b="0" kern="1200" dirty="0">
                        <a:solidFill>
                          <a:schemeClr val="lt1"/>
                        </a:solidFill>
                        <a:latin typeface="Avenir Book" charset="0"/>
                        <a:ea typeface="Avenir Book" charset="0"/>
                        <a:cs typeface="Avenir Book"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800" b="1" kern="1200" dirty="0">
                          <a:solidFill>
                            <a:schemeClr val="tx1"/>
                          </a:solidFill>
                          <a:latin typeface="Avenir Book" charset="0"/>
                          <a:ea typeface="Avenir Book" charset="0"/>
                          <a:cs typeface="Avenir Book" charset="0"/>
                        </a:rPr>
                        <a:t>Healthy</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lumOff val="25000"/>
                      </a:schemeClr>
                    </a:solidFill>
                  </a:tcPr>
                </a:tc>
                <a:tc>
                  <a:txBody>
                    <a:bodyPr/>
                    <a:lstStyle/>
                    <a:p>
                      <a:pPr algn="ctr"/>
                      <a:r>
                        <a:rPr lang="en-US" sz="2400" b="0" u="none" dirty="0">
                          <a:latin typeface="Avenir Book" charset="0"/>
                          <a:ea typeface="Avenir Book" charset="0"/>
                          <a:cs typeface="Avenir Book" charset="0"/>
                        </a:rPr>
                        <a:t>CA</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400" b="0" u="none" dirty="0">
                          <a:latin typeface="Avenir Book" charset="0"/>
                          <a:ea typeface="Avenir Book" charset="0"/>
                          <a:cs typeface="Avenir Book" charset="0"/>
                        </a:rPr>
                        <a:t>CB</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2400" b="0" u="none" dirty="0">
                          <a:latin typeface="Avenir Book" charset="0"/>
                          <a:ea typeface="Avenir Book" charset="0"/>
                          <a:cs typeface="Avenir Book" charset="0"/>
                        </a:rPr>
                        <a:t>CC</a:t>
                      </a:r>
                    </a:p>
                  </a:txBody>
                  <a:tcPr marL="92692" marR="92692" marT="46345" marB="463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CEAC84CE-0FF0-00C5-EE97-C61819D4608D}"/>
              </a:ext>
            </a:extLst>
          </p:cNvPr>
          <p:cNvSpPr txBox="1"/>
          <p:nvPr/>
        </p:nvSpPr>
        <p:spPr>
          <a:xfrm>
            <a:off x="419101" y="5410200"/>
            <a:ext cx="11353798" cy="861774"/>
          </a:xfrm>
          <a:prstGeom prst="rect">
            <a:avLst/>
          </a:prstGeom>
          <a:noFill/>
        </p:spPr>
        <p:txBody>
          <a:bodyPr wrap="square" lIns="0" tIns="0" rIns="0" bIns="0" rtlCol="0">
            <a:spAutoFit/>
          </a:bodyPr>
          <a:lstStyle/>
          <a:p>
            <a:pPr algn="ctr"/>
            <a:r>
              <a:rPr lang="en-US" sz="2800" dirty="0">
                <a:latin typeface="Avenir Book" panose="02000503020000020003" pitchFamily="2" charset="0"/>
              </a:rPr>
              <a:t>Calculating other metrics is a matter of redefining the </a:t>
            </a:r>
            <a:br>
              <a:rPr lang="en-US" sz="2800" dirty="0">
                <a:latin typeface="Avenir Book" panose="02000503020000020003" pitchFamily="2" charset="0"/>
              </a:rPr>
            </a:br>
            <a:r>
              <a:rPr lang="en-US" sz="2800" dirty="0">
                <a:latin typeface="Avenir Book" panose="02000503020000020003" pitchFamily="2" charset="0"/>
              </a:rPr>
              <a:t>problem as a binary classification task</a:t>
            </a:r>
          </a:p>
        </p:txBody>
      </p:sp>
      <p:grpSp>
        <p:nvGrpSpPr>
          <p:cNvPr id="16" name="Group 15">
            <a:extLst>
              <a:ext uri="{FF2B5EF4-FFF2-40B4-BE49-F238E27FC236}">
                <a16:creationId xmlns:a16="http://schemas.microsoft.com/office/drawing/2014/main" id="{C35906CF-2EE2-4D93-FB80-A93AE343BFAD}"/>
              </a:ext>
            </a:extLst>
          </p:cNvPr>
          <p:cNvGrpSpPr/>
          <p:nvPr/>
        </p:nvGrpSpPr>
        <p:grpSpPr>
          <a:xfrm>
            <a:off x="9220200" y="4147930"/>
            <a:ext cx="2362198" cy="1098202"/>
            <a:chOff x="9220200" y="4147930"/>
            <a:chExt cx="2362198" cy="1098202"/>
          </a:xfrm>
        </p:grpSpPr>
        <p:sp>
          <p:nvSpPr>
            <p:cNvPr id="7" name="Rectangle 6">
              <a:extLst>
                <a:ext uri="{FF2B5EF4-FFF2-40B4-BE49-F238E27FC236}">
                  <a16:creationId xmlns:a16="http://schemas.microsoft.com/office/drawing/2014/main" id="{73597121-A6F3-23FD-7F6C-7A87B069CAF1}"/>
                </a:ext>
              </a:extLst>
            </p:cNvPr>
            <p:cNvSpPr/>
            <p:nvPr/>
          </p:nvSpPr>
          <p:spPr>
            <a:xfrm flipH="1" flipV="1">
              <a:off x="9220200" y="4147930"/>
              <a:ext cx="2362198" cy="728870"/>
            </a:xfrm>
            <a:prstGeom prst="rect">
              <a:avLst/>
            </a:prstGeom>
            <a:noFill/>
            <a:ln w="38100">
              <a:solidFill>
                <a:srgbClr val="01A8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9E97FD1-B59D-5793-548B-0C4DB31C16CF}"/>
                </a:ext>
              </a:extLst>
            </p:cNvPr>
            <p:cNvSpPr txBox="1"/>
            <p:nvPr/>
          </p:nvSpPr>
          <p:spPr>
            <a:xfrm>
              <a:off x="10147865" y="4876800"/>
              <a:ext cx="506870" cy="369332"/>
            </a:xfrm>
            <a:prstGeom prst="rect">
              <a:avLst/>
            </a:prstGeom>
            <a:noFill/>
          </p:spPr>
          <p:txBody>
            <a:bodyPr wrap="none" rtlCol="0">
              <a:spAutoFit/>
            </a:bodyPr>
            <a:lstStyle/>
            <a:p>
              <a:pPr algn="ctr"/>
              <a:r>
                <a:rPr lang="en-US" b="1" dirty="0">
                  <a:solidFill>
                    <a:srgbClr val="01A801"/>
                  </a:solidFill>
                </a:rPr>
                <a:t>TN</a:t>
              </a:r>
            </a:p>
          </p:txBody>
        </p:sp>
      </p:grpSp>
      <p:grpSp>
        <p:nvGrpSpPr>
          <p:cNvPr id="15" name="Group 14">
            <a:extLst>
              <a:ext uri="{FF2B5EF4-FFF2-40B4-BE49-F238E27FC236}">
                <a16:creationId xmlns:a16="http://schemas.microsoft.com/office/drawing/2014/main" id="{5AE5545A-6CC6-3227-133B-25A2713D00F2}"/>
              </a:ext>
            </a:extLst>
          </p:cNvPr>
          <p:cNvGrpSpPr/>
          <p:nvPr/>
        </p:nvGrpSpPr>
        <p:grpSpPr>
          <a:xfrm>
            <a:off x="4419600" y="4174435"/>
            <a:ext cx="4764157" cy="1105230"/>
            <a:chOff x="4419600" y="4174435"/>
            <a:chExt cx="4764157" cy="1105230"/>
          </a:xfrm>
        </p:grpSpPr>
        <p:sp>
          <p:nvSpPr>
            <p:cNvPr id="9" name="Rectangle 8">
              <a:extLst>
                <a:ext uri="{FF2B5EF4-FFF2-40B4-BE49-F238E27FC236}">
                  <a16:creationId xmlns:a16="http://schemas.microsoft.com/office/drawing/2014/main" id="{18CC485C-251C-5D0C-CEA6-0A2955F1E9C5}"/>
                </a:ext>
              </a:extLst>
            </p:cNvPr>
            <p:cNvSpPr/>
            <p:nvPr/>
          </p:nvSpPr>
          <p:spPr>
            <a:xfrm>
              <a:off x="4419600" y="4174435"/>
              <a:ext cx="4764157" cy="70236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1" name="TextBox 10">
              <a:extLst>
                <a:ext uri="{FF2B5EF4-FFF2-40B4-BE49-F238E27FC236}">
                  <a16:creationId xmlns:a16="http://schemas.microsoft.com/office/drawing/2014/main" id="{FB01D9AA-2F90-D4B5-6D13-67E6E3F113F6}"/>
                </a:ext>
              </a:extLst>
            </p:cNvPr>
            <p:cNvSpPr txBox="1"/>
            <p:nvPr/>
          </p:nvSpPr>
          <p:spPr>
            <a:xfrm>
              <a:off x="6568870" y="4910333"/>
              <a:ext cx="502062" cy="369332"/>
            </a:xfrm>
            <a:prstGeom prst="rect">
              <a:avLst/>
            </a:prstGeom>
            <a:noFill/>
          </p:spPr>
          <p:txBody>
            <a:bodyPr wrap="none" rtlCol="0">
              <a:spAutoFit/>
            </a:bodyPr>
            <a:lstStyle/>
            <a:p>
              <a:pPr algn="ctr"/>
              <a:r>
                <a:rPr lang="en-US" b="1" dirty="0">
                  <a:solidFill>
                    <a:srgbClr val="C00000"/>
                  </a:solidFill>
                </a:rPr>
                <a:t>FN</a:t>
              </a:r>
            </a:p>
          </p:txBody>
        </p:sp>
      </p:grpSp>
      <p:grpSp>
        <p:nvGrpSpPr>
          <p:cNvPr id="17" name="Group 16">
            <a:extLst>
              <a:ext uri="{FF2B5EF4-FFF2-40B4-BE49-F238E27FC236}">
                <a16:creationId xmlns:a16="http://schemas.microsoft.com/office/drawing/2014/main" id="{CD934FAA-F47A-B8F2-9D2A-17243651DD6A}"/>
              </a:ext>
            </a:extLst>
          </p:cNvPr>
          <p:cNvGrpSpPr/>
          <p:nvPr/>
        </p:nvGrpSpPr>
        <p:grpSpPr>
          <a:xfrm>
            <a:off x="9220200" y="2710070"/>
            <a:ext cx="2806231" cy="1411356"/>
            <a:chOff x="9220200" y="2710070"/>
            <a:chExt cx="2806231" cy="1411356"/>
          </a:xfrm>
        </p:grpSpPr>
        <p:sp>
          <p:nvSpPr>
            <p:cNvPr id="10" name="Rectangle 9">
              <a:extLst>
                <a:ext uri="{FF2B5EF4-FFF2-40B4-BE49-F238E27FC236}">
                  <a16:creationId xmlns:a16="http://schemas.microsoft.com/office/drawing/2014/main" id="{81EC219D-09ED-5C04-84E7-84A84F3045AA}"/>
                </a:ext>
              </a:extLst>
            </p:cNvPr>
            <p:cNvSpPr/>
            <p:nvPr/>
          </p:nvSpPr>
          <p:spPr>
            <a:xfrm>
              <a:off x="9220200" y="2710070"/>
              <a:ext cx="2375452" cy="141135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2" name="TextBox 11">
              <a:extLst>
                <a:ext uri="{FF2B5EF4-FFF2-40B4-BE49-F238E27FC236}">
                  <a16:creationId xmlns:a16="http://schemas.microsoft.com/office/drawing/2014/main" id="{BBB0A9CF-DF7A-20F7-9430-69441532B131}"/>
                </a:ext>
              </a:extLst>
            </p:cNvPr>
            <p:cNvSpPr txBox="1"/>
            <p:nvPr/>
          </p:nvSpPr>
          <p:spPr>
            <a:xfrm>
              <a:off x="11570857" y="3245198"/>
              <a:ext cx="455574" cy="369332"/>
            </a:xfrm>
            <a:prstGeom prst="rect">
              <a:avLst/>
            </a:prstGeom>
            <a:noFill/>
          </p:spPr>
          <p:txBody>
            <a:bodyPr wrap="none" rtlCol="0">
              <a:spAutoFit/>
            </a:bodyPr>
            <a:lstStyle/>
            <a:p>
              <a:pPr algn="ctr"/>
              <a:r>
                <a:rPr lang="en-US" b="1" dirty="0">
                  <a:solidFill>
                    <a:srgbClr val="C00000"/>
                  </a:solidFill>
                </a:rPr>
                <a:t>FP</a:t>
              </a:r>
            </a:p>
          </p:txBody>
        </p:sp>
      </p:grpSp>
      <p:grpSp>
        <p:nvGrpSpPr>
          <p:cNvPr id="14" name="Group 13">
            <a:extLst>
              <a:ext uri="{FF2B5EF4-FFF2-40B4-BE49-F238E27FC236}">
                <a16:creationId xmlns:a16="http://schemas.microsoft.com/office/drawing/2014/main" id="{A47C06B8-1BB2-EB61-374E-38F37CC187FD}"/>
              </a:ext>
            </a:extLst>
          </p:cNvPr>
          <p:cNvGrpSpPr/>
          <p:nvPr/>
        </p:nvGrpSpPr>
        <p:grpSpPr>
          <a:xfrm>
            <a:off x="3959218" y="2334111"/>
            <a:ext cx="5237791" cy="1813818"/>
            <a:chOff x="3959218" y="2334111"/>
            <a:chExt cx="5237791" cy="1813818"/>
          </a:xfrm>
        </p:grpSpPr>
        <p:sp>
          <p:nvSpPr>
            <p:cNvPr id="3" name="Rectangle 2">
              <a:extLst>
                <a:ext uri="{FF2B5EF4-FFF2-40B4-BE49-F238E27FC236}">
                  <a16:creationId xmlns:a16="http://schemas.microsoft.com/office/drawing/2014/main" id="{E1D7B28E-7744-C4DD-8137-5B752E4DC274}"/>
                </a:ext>
              </a:extLst>
            </p:cNvPr>
            <p:cNvSpPr/>
            <p:nvPr/>
          </p:nvSpPr>
          <p:spPr>
            <a:xfrm>
              <a:off x="4419600" y="2703442"/>
              <a:ext cx="4777409" cy="1444487"/>
            </a:xfrm>
            <a:prstGeom prst="rect">
              <a:avLst/>
            </a:prstGeom>
            <a:noFill/>
            <a:ln w="38100">
              <a:solidFill>
                <a:srgbClr val="01A8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BA1ADFE9-EFBC-B317-CA9D-384574ABC5BE}"/>
                </a:ext>
              </a:extLst>
            </p:cNvPr>
            <p:cNvSpPr txBox="1"/>
            <p:nvPr/>
          </p:nvSpPr>
          <p:spPr>
            <a:xfrm>
              <a:off x="3959218" y="2334111"/>
              <a:ext cx="460382" cy="369332"/>
            </a:xfrm>
            <a:prstGeom prst="rect">
              <a:avLst/>
            </a:prstGeom>
            <a:noFill/>
          </p:spPr>
          <p:txBody>
            <a:bodyPr wrap="none" rtlCol="0">
              <a:spAutoFit/>
            </a:bodyPr>
            <a:lstStyle/>
            <a:p>
              <a:pPr algn="ctr"/>
              <a:r>
                <a:rPr lang="en-US" b="1" dirty="0">
                  <a:solidFill>
                    <a:srgbClr val="01A801"/>
                  </a:solidFill>
                </a:rPr>
                <a:t>TP</a:t>
              </a:r>
            </a:p>
          </p:txBody>
        </p:sp>
      </p:grpSp>
    </p:spTree>
    <p:extLst>
      <p:ext uri="{BB962C8B-B14F-4D97-AF65-F5344CB8AC3E}">
        <p14:creationId xmlns:p14="http://schemas.microsoft.com/office/powerpoint/2010/main" val="160081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55FA3-A571-43E6-998D-80048160E60A}"/>
              </a:ext>
            </a:extLst>
          </p:cNvPr>
          <p:cNvSpPr>
            <a:spLocks noGrp="1"/>
          </p:cNvSpPr>
          <p:nvPr>
            <p:ph type="title"/>
          </p:nvPr>
        </p:nvSpPr>
        <p:spPr/>
        <p:txBody>
          <a:bodyPr>
            <a:normAutofit fontScale="90000"/>
          </a:bodyPr>
          <a:lstStyle/>
          <a:p>
            <a:r>
              <a:rPr lang="en-US" dirty="0"/>
              <a:t>Receiver Operating Characteristic (ROC) Curve</a:t>
            </a:r>
          </a:p>
        </p:txBody>
      </p:sp>
      <p:sp>
        <p:nvSpPr>
          <p:cNvPr id="3" name="Content Placeholder 2">
            <a:extLst>
              <a:ext uri="{FF2B5EF4-FFF2-40B4-BE49-F238E27FC236}">
                <a16:creationId xmlns:a16="http://schemas.microsoft.com/office/drawing/2014/main" id="{3BBFFBA2-E3C7-BAC8-095F-AA783478FC22}"/>
              </a:ext>
            </a:extLst>
          </p:cNvPr>
          <p:cNvSpPr>
            <a:spLocks noGrp="1"/>
          </p:cNvSpPr>
          <p:nvPr>
            <p:ph idx="1"/>
          </p:nvPr>
        </p:nvSpPr>
        <p:spPr>
          <a:xfrm>
            <a:off x="609600" y="1600201"/>
            <a:ext cx="10972800" cy="1810971"/>
          </a:xfrm>
        </p:spPr>
        <p:txBody>
          <a:bodyPr>
            <a:noAutofit/>
          </a:bodyPr>
          <a:lstStyle/>
          <a:p>
            <a:pPr>
              <a:spcAft>
                <a:spcPts val="1800"/>
              </a:spcAft>
            </a:pPr>
            <a:r>
              <a:rPr lang="en-US" sz="2400" dirty="0">
                <a:latin typeface="Avenir Book" panose="02000503020000020003" pitchFamily="2" charset="0"/>
              </a:rPr>
              <a:t>Shows how a classifier’s performance changes depending on whether it is more conservative or aggressive in detecting positive cases</a:t>
            </a:r>
          </a:p>
          <a:p>
            <a:r>
              <a:rPr lang="en-US" sz="2400" dirty="0">
                <a:latin typeface="Avenir Book" panose="02000503020000020003" pitchFamily="2" charset="0"/>
              </a:rPr>
              <a:t>Area Under the ROC Curve (AUROC) is an aggregate measure between </a:t>
            </a:r>
            <a:br>
              <a:rPr lang="en-US" sz="2400" dirty="0">
                <a:latin typeface="Avenir Book" panose="02000503020000020003" pitchFamily="2" charset="0"/>
              </a:rPr>
            </a:br>
            <a:r>
              <a:rPr lang="en-US" sz="2400" dirty="0">
                <a:latin typeface="Avenir Book" panose="02000503020000020003" pitchFamily="2" charset="0"/>
              </a:rPr>
              <a:t>0 and 1 that summarizes the performance of all possible configurations</a:t>
            </a:r>
          </a:p>
        </p:txBody>
      </p:sp>
      <p:grpSp>
        <p:nvGrpSpPr>
          <p:cNvPr id="4" name="Group 3">
            <a:extLst>
              <a:ext uri="{FF2B5EF4-FFF2-40B4-BE49-F238E27FC236}">
                <a16:creationId xmlns:a16="http://schemas.microsoft.com/office/drawing/2014/main" id="{611873BB-5039-BDA7-6430-2D8620C53993}"/>
              </a:ext>
            </a:extLst>
          </p:cNvPr>
          <p:cNvGrpSpPr/>
          <p:nvPr/>
        </p:nvGrpSpPr>
        <p:grpSpPr>
          <a:xfrm>
            <a:off x="1713546" y="6287140"/>
            <a:ext cx="3010854" cy="439571"/>
            <a:chOff x="-390887" y="5562600"/>
            <a:chExt cx="5378597" cy="573247"/>
          </a:xfrm>
        </p:grpSpPr>
        <p:cxnSp>
          <p:nvCxnSpPr>
            <p:cNvPr id="5" name="Straight Connector 4">
              <a:extLst>
                <a:ext uri="{FF2B5EF4-FFF2-40B4-BE49-F238E27FC236}">
                  <a16:creationId xmlns:a16="http://schemas.microsoft.com/office/drawing/2014/main" id="{5D0D300B-E4DF-9EE5-755A-6D3645B65E4E}"/>
                </a:ext>
              </a:extLst>
            </p:cNvPr>
            <p:cNvCxnSpPr>
              <a:cxnSpLocks/>
            </p:cNvCxnSpPr>
            <p:nvPr/>
          </p:nvCxnSpPr>
          <p:spPr>
            <a:xfrm flipH="1">
              <a:off x="20823" y="5562600"/>
              <a:ext cx="470689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9E0A8C-A5D7-3B50-FDE9-C6E1D750BA33}"/>
                </a:ext>
              </a:extLst>
            </p:cNvPr>
            <p:cNvSpPr txBox="1"/>
            <p:nvPr/>
          </p:nvSpPr>
          <p:spPr>
            <a:xfrm>
              <a:off x="-390887" y="5614061"/>
              <a:ext cx="5378597" cy="521786"/>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False positive rate </a:t>
              </a:r>
            </a:p>
          </p:txBody>
        </p:sp>
      </p:grpSp>
      <p:grpSp>
        <p:nvGrpSpPr>
          <p:cNvPr id="7" name="Group 6">
            <a:extLst>
              <a:ext uri="{FF2B5EF4-FFF2-40B4-BE49-F238E27FC236}">
                <a16:creationId xmlns:a16="http://schemas.microsoft.com/office/drawing/2014/main" id="{1827E541-11D4-C5B0-99CF-282A1212E8EF}"/>
              </a:ext>
            </a:extLst>
          </p:cNvPr>
          <p:cNvGrpSpPr/>
          <p:nvPr/>
        </p:nvGrpSpPr>
        <p:grpSpPr>
          <a:xfrm>
            <a:off x="1455052" y="3652618"/>
            <a:ext cx="488963" cy="2634843"/>
            <a:chOff x="3935661" y="1028845"/>
            <a:chExt cx="636339" cy="5063530"/>
          </a:xfrm>
        </p:grpSpPr>
        <p:cxnSp>
          <p:nvCxnSpPr>
            <p:cNvPr id="8" name="Straight Connector 7">
              <a:extLst>
                <a:ext uri="{FF2B5EF4-FFF2-40B4-BE49-F238E27FC236}">
                  <a16:creationId xmlns:a16="http://schemas.microsoft.com/office/drawing/2014/main" id="{2E2DABDB-E989-792E-B90C-20B3CCB61AB4}"/>
                </a:ext>
              </a:extLst>
            </p:cNvPr>
            <p:cNvCxnSpPr>
              <a:cxnSpLocks/>
            </p:cNvCxnSpPr>
            <p:nvPr/>
          </p:nvCxnSpPr>
          <p:spPr>
            <a:xfrm>
              <a:off x="4572000" y="1028846"/>
              <a:ext cx="0" cy="50635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11870F2-C95B-0763-4B96-8407EE71DD20}"/>
                </a:ext>
              </a:extLst>
            </p:cNvPr>
            <p:cNvSpPr txBox="1"/>
            <p:nvPr/>
          </p:nvSpPr>
          <p:spPr>
            <a:xfrm rot="16200000">
              <a:off x="1664482" y="3300024"/>
              <a:ext cx="5063064" cy="520705"/>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True positive rate</a:t>
              </a:r>
            </a:p>
          </p:txBody>
        </p:sp>
      </p:grpSp>
      <p:cxnSp>
        <p:nvCxnSpPr>
          <p:cNvPr id="10" name="Straight Connector 9">
            <a:extLst>
              <a:ext uri="{FF2B5EF4-FFF2-40B4-BE49-F238E27FC236}">
                <a16:creationId xmlns:a16="http://schemas.microsoft.com/office/drawing/2014/main" id="{A0840037-DFE9-CCEC-71BB-F459BEC47FC2}"/>
              </a:ext>
            </a:extLst>
          </p:cNvPr>
          <p:cNvCxnSpPr>
            <a:cxnSpLocks/>
            <a:endCxn id="14" idx="2"/>
          </p:cNvCxnSpPr>
          <p:nvPr/>
        </p:nvCxnSpPr>
        <p:spPr>
          <a:xfrm flipV="1">
            <a:off x="2012927" y="3657319"/>
            <a:ext cx="2619542" cy="2645091"/>
          </a:xfrm>
          <a:prstGeom prst="line">
            <a:avLst/>
          </a:prstGeom>
          <a:ln w="31750">
            <a:solidFill>
              <a:srgbClr val="FF0000"/>
            </a:solidFill>
            <a:prstDash val="soli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744F4091-2AA1-55D2-0B14-0FF161D94227}"/>
              </a:ext>
            </a:extLst>
          </p:cNvPr>
          <p:cNvGrpSpPr/>
          <p:nvPr/>
        </p:nvGrpSpPr>
        <p:grpSpPr>
          <a:xfrm>
            <a:off x="2013408" y="3598665"/>
            <a:ext cx="2638471" cy="2680325"/>
            <a:chOff x="1433285" y="1417636"/>
            <a:chExt cx="3433723" cy="3488192"/>
          </a:xfrm>
        </p:grpSpPr>
        <p:cxnSp>
          <p:nvCxnSpPr>
            <p:cNvPr id="12" name="Straight Connector 11">
              <a:extLst>
                <a:ext uri="{FF2B5EF4-FFF2-40B4-BE49-F238E27FC236}">
                  <a16:creationId xmlns:a16="http://schemas.microsoft.com/office/drawing/2014/main" id="{0B61B493-56E7-B24C-1A6D-ADA0FF5E8336}"/>
                </a:ext>
              </a:extLst>
            </p:cNvPr>
            <p:cNvCxnSpPr>
              <a:cxnSpLocks/>
            </p:cNvCxnSpPr>
            <p:nvPr/>
          </p:nvCxnSpPr>
          <p:spPr>
            <a:xfrm flipH="1" flipV="1">
              <a:off x="1433285" y="1418336"/>
              <a:ext cx="1" cy="3487492"/>
            </a:xfrm>
            <a:prstGeom prst="line">
              <a:avLst/>
            </a:prstGeom>
            <a:ln w="31750">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B98DDC4-994E-743F-DA37-49EF82ED4AB1}"/>
                </a:ext>
              </a:extLst>
            </p:cNvPr>
            <p:cNvCxnSpPr>
              <a:cxnSpLocks/>
            </p:cNvCxnSpPr>
            <p:nvPr/>
          </p:nvCxnSpPr>
          <p:spPr>
            <a:xfrm flipH="1">
              <a:off x="1433285" y="1417636"/>
              <a:ext cx="3433723" cy="0"/>
            </a:xfrm>
            <a:prstGeom prst="line">
              <a:avLst/>
            </a:prstGeom>
            <a:ln w="31750">
              <a:solidFill>
                <a:srgbClr val="00B050"/>
              </a:solidFill>
              <a:prstDash val="solid"/>
            </a:ln>
          </p:spPr>
          <p:style>
            <a:lnRef idx="1">
              <a:schemeClr val="accent1"/>
            </a:lnRef>
            <a:fillRef idx="0">
              <a:schemeClr val="accent1"/>
            </a:fillRef>
            <a:effectRef idx="0">
              <a:schemeClr val="accent1"/>
            </a:effectRef>
            <a:fontRef idx="minor">
              <a:schemeClr val="tx1"/>
            </a:fontRef>
          </p:style>
        </p:cxnSp>
      </p:grpSp>
      <p:sp>
        <p:nvSpPr>
          <p:cNvPr id="14" name="Freeform 13">
            <a:extLst>
              <a:ext uri="{FF2B5EF4-FFF2-40B4-BE49-F238E27FC236}">
                <a16:creationId xmlns:a16="http://schemas.microsoft.com/office/drawing/2014/main" id="{F619FAFE-D915-AF9F-666C-4B9559E08606}"/>
              </a:ext>
            </a:extLst>
          </p:cNvPr>
          <p:cNvSpPr/>
          <p:nvPr/>
        </p:nvSpPr>
        <p:spPr>
          <a:xfrm>
            <a:off x="2022721" y="3651807"/>
            <a:ext cx="2609748" cy="2635336"/>
          </a:xfrm>
          <a:custGeom>
            <a:avLst/>
            <a:gdLst>
              <a:gd name="connsiteX0" fmla="*/ 84963 w 3481306"/>
              <a:gd name="connsiteY0" fmla="*/ 3448808 h 3448808"/>
              <a:gd name="connsiteX1" fmla="*/ 437661 w 3481306"/>
              <a:gd name="connsiteY1" fmla="*/ 483539 h 3448808"/>
              <a:gd name="connsiteX2" fmla="*/ 3481306 w 3481306"/>
              <a:gd name="connsiteY2" fmla="*/ 26339 h 3448808"/>
              <a:gd name="connsiteX0" fmla="*/ 9180 w 3405523"/>
              <a:gd name="connsiteY0" fmla="*/ 3429643 h 3429643"/>
              <a:gd name="connsiteX1" fmla="*/ 1315466 w 3405523"/>
              <a:gd name="connsiteY1" fmla="*/ 647254 h 3429643"/>
              <a:gd name="connsiteX2" fmla="*/ 3405523 w 3405523"/>
              <a:gd name="connsiteY2" fmla="*/ 7174 h 3429643"/>
              <a:gd name="connsiteX0" fmla="*/ 0 w 3396343"/>
              <a:gd name="connsiteY0" fmla="*/ 3429643 h 3429643"/>
              <a:gd name="connsiteX1" fmla="*/ 1306286 w 3396343"/>
              <a:gd name="connsiteY1" fmla="*/ 647254 h 3429643"/>
              <a:gd name="connsiteX2" fmla="*/ 3396343 w 3396343"/>
              <a:gd name="connsiteY2" fmla="*/ 7174 h 3429643"/>
            </a:gdLst>
            <a:ahLst/>
            <a:cxnLst>
              <a:cxn ang="0">
                <a:pos x="connsiteX0" y="connsiteY0"/>
              </a:cxn>
              <a:cxn ang="0">
                <a:pos x="connsiteX1" y="connsiteY1"/>
              </a:cxn>
              <a:cxn ang="0">
                <a:pos x="connsiteX2" y="connsiteY2"/>
              </a:cxn>
            </a:cxnLst>
            <a:rect l="l" t="t" r="r" b="b"/>
            <a:pathLst>
              <a:path w="3396343" h="3429643">
                <a:moveTo>
                  <a:pt x="0" y="3429643"/>
                </a:moveTo>
                <a:cubicBezTo>
                  <a:pt x="376646" y="2258340"/>
                  <a:pt x="740229" y="1217665"/>
                  <a:pt x="1306286" y="647254"/>
                </a:cubicBezTo>
                <a:cubicBezTo>
                  <a:pt x="1872343" y="76842"/>
                  <a:pt x="3357155" y="-32015"/>
                  <a:pt x="3396343" y="7174"/>
                </a:cubicBezTo>
              </a:path>
            </a:pathLst>
          </a:cu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venir Book" panose="02000503020000020003" pitchFamily="2" charset="0"/>
            </a:endParaRPr>
          </a:p>
        </p:txBody>
      </p:sp>
      <p:grpSp>
        <p:nvGrpSpPr>
          <p:cNvPr id="15" name="Group 14">
            <a:extLst>
              <a:ext uri="{FF2B5EF4-FFF2-40B4-BE49-F238E27FC236}">
                <a16:creationId xmlns:a16="http://schemas.microsoft.com/office/drawing/2014/main" id="{ECE880CE-47D0-9F52-F8EA-ED624FEA3C9B}"/>
              </a:ext>
            </a:extLst>
          </p:cNvPr>
          <p:cNvGrpSpPr/>
          <p:nvPr/>
        </p:nvGrpSpPr>
        <p:grpSpPr>
          <a:xfrm>
            <a:off x="5240064" y="5704811"/>
            <a:ext cx="5684392" cy="461665"/>
            <a:chOff x="5715000" y="5300246"/>
            <a:chExt cx="5684392" cy="461665"/>
          </a:xfrm>
        </p:grpSpPr>
        <p:cxnSp>
          <p:nvCxnSpPr>
            <p:cNvPr id="16" name="Straight Connector 15">
              <a:extLst>
                <a:ext uri="{FF2B5EF4-FFF2-40B4-BE49-F238E27FC236}">
                  <a16:creationId xmlns:a16="http://schemas.microsoft.com/office/drawing/2014/main" id="{2EAABA73-71F3-039B-286C-E32116C2FC4C}"/>
                </a:ext>
              </a:extLst>
            </p:cNvPr>
            <p:cNvCxnSpPr/>
            <p:nvPr/>
          </p:nvCxnSpPr>
          <p:spPr>
            <a:xfrm>
              <a:off x="5715000" y="5447602"/>
              <a:ext cx="685800" cy="0"/>
            </a:xfrm>
            <a:prstGeom prst="line">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17" name="TextBox 16">
              <a:extLst>
                <a:ext uri="{FF2B5EF4-FFF2-40B4-BE49-F238E27FC236}">
                  <a16:creationId xmlns:a16="http://schemas.microsoft.com/office/drawing/2014/main" id="{BD9352C8-1818-D45B-7F58-1E72116AF413}"/>
                </a:ext>
              </a:extLst>
            </p:cNvPr>
            <p:cNvSpPr txBox="1"/>
            <p:nvPr/>
          </p:nvSpPr>
          <p:spPr>
            <a:xfrm>
              <a:off x="6400799" y="5300246"/>
              <a:ext cx="4998593" cy="461665"/>
            </a:xfrm>
            <a:prstGeom prst="rect">
              <a:avLst/>
            </a:prstGeom>
            <a:noFill/>
          </p:spPr>
          <p:txBody>
            <a:bodyPr wrap="square" rtlCol="0">
              <a:spAutoFit/>
            </a:bodyPr>
            <a:lstStyle/>
            <a:p>
              <a:r>
                <a:rPr lang="en-US" sz="2400" dirty="0">
                  <a:latin typeface="Avenir Book" panose="02000503020000020003" pitchFamily="2" charset="0"/>
                  <a:ea typeface="Avenir Book" charset="0"/>
                  <a:cs typeface="Avenir Book" charset="0"/>
                </a:rPr>
                <a:t>Random chance (AUROC = 0.5)</a:t>
              </a:r>
            </a:p>
          </p:txBody>
        </p:sp>
      </p:grpSp>
      <p:grpSp>
        <p:nvGrpSpPr>
          <p:cNvPr id="18" name="Group 17">
            <a:extLst>
              <a:ext uri="{FF2B5EF4-FFF2-40B4-BE49-F238E27FC236}">
                <a16:creationId xmlns:a16="http://schemas.microsoft.com/office/drawing/2014/main" id="{89D75F7A-4FD0-D563-2EE5-3B900B67E94B}"/>
              </a:ext>
            </a:extLst>
          </p:cNvPr>
          <p:cNvGrpSpPr/>
          <p:nvPr/>
        </p:nvGrpSpPr>
        <p:grpSpPr>
          <a:xfrm>
            <a:off x="5240064" y="5228871"/>
            <a:ext cx="5684392" cy="461665"/>
            <a:chOff x="5715000" y="5300246"/>
            <a:chExt cx="5684392" cy="461665"/>
          </a:xfrm>
        </p:grpSpPr>
        <p:cxnSp>
          <p:nvCxnSpPr>
            <p:cNvPr id="19" name="Straight Connector 18">
              <a:extLst>
                <a:ext uri="{FF2B5EF4-FFF2-40B4-BE49-F238E27FC236}">
                  <a16:creationId xmlns:a16="http://schemas.microsoft.com/office/drawing/2014/main" id="{86FDB192-3E9C-7E55-C63B-79ED7C2F5241}"/>
                </a:ext>
              </a:extLst>
            </p:cNvPr>
            <p:cNvCxnSpPr/>
            <p:nvPr/>
          </p:nvCxnSpPr>
          <p:spPr>
            <a:xfrm>
              <a:off x="5715000" y="5447602"/>
              <a:ext cx="685800" cy="0"/>
            </a:xfrm>
            <a:prstGeom prst="line">
              <a:avLst/>
            </a:prstGeom>
            <a:noFill/>
            <a:ln>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20" name="TextBox 19">
              <a:extLst>
                <a:ext uri="{FF2B5EF4-FFF2-40B4-BE49-F238E27FC236}">
                  <a16:creationId xmlns:a16="http://schemas.microsoft.com/office/drawing/2014/main" id="{3CEBC935-6478-3D87-F581-1DF12712E820}"/>
                </a:ext>
              </a:extLst>
            </p:cNvPr>
            <p:cNvSpPr txBox="1"/>
            <p:nvPr/>
          </p:nvSpPr>
          <p:spPr>
            <a:xfrm>
              <a:off x="6400799" y="5300246"/>
              <a:ext cx="4998593" cy="461665"/>
            </a:xfrm>
            <a:prstGeom prst="rect">
              <a:avLst/>
            </a:prstGeom>
            <a:noFill/>
          </p:spPr>
          <p:txBody>
            <a:bodyPr wrap="square" rtlCol="0">
              <a:spAutoFit/>
            </a:bodyPr>
            <a:lstStyle/>
            <a:p>
              <a:r>
                <a:rPr lang="en-US" sz="2400" dirty="0">
                  <a:latin typeface="Avenir Book" panose="02000503020000020003" pitchFamily="2" charset="0"/>
                  <a:ea typeface="Avenir Book" charset="0"/>
                  <a:cs typeface="Avenir Book" charset="0"/>
                </a:rPr>
                <a:t>Perfect (AUROC = 1)</a:t>
              </a:r>
            </a:p>
          </p:txBody>
        </p:sp>
      </p:grpSp>
      <p:grpSp>
        <p:nvGrpSpPr>
          <p:cNvPr id="21" name="Group 20">
            <a:extLst>
              <a:ext uri="{FF2B5EF4-FFF2-40B4-BE49-F238E27FC236}">
                <a16:creationId xmlns:a16="http://schemas.microsoft.com/office/drawing/2014/main" id="{E6023775-F97D-10E6-B43F-43917B416DA5}"/>
              </a:ext>
            </a:extLst>
          </p:cNvPr>
          <p:cNvGrpSpPr/>
          <p:nvPr/>
        </p:nvGrpSpPr>
        <p:grpSpPr>
          <a:xfrm>
            <a:off x="5240064" y="6180751"/>
            <a:ext cx="5684392" cy="461665"/>
            <a:chOff x="5715000" y="5300246"/>
            <a:chExt cx="5684392" cy="461665"/>
          </a:xfrm>
        </p:grpSpPr>
        <p:cxnSp>
          <p:nvCxnSpPr>
            <p:cNvPr id="22" name="Straight Connector 21">
              <a:extLst>
                <a:ext uri="{FF2B5EF4-FFF2-40B4-BE49-F238E27FC236}">
                  <a16:creationId xmlns:a16="http://schemas.microsoft.com/office/drawing/2014/main" id="{5F775037-1059-72D4-60BF-A329CE1C0E15}"/>
                </a:ext>
              </a:extLst>
            </p:cNvPr>
            <p:cNvCxnSpPr/>
            <p:nvPr/>
          </p:nvCxnSpPr>
          <p:spPr>
            <a:xfrm>
              <a:off x="5715000" y="5447602"/>
              <a:ext cx="685800" cy="0"/>
            </a:xfrm>
            <a:prstGeom prst="line">
              <a:avLst/>
            </a:prstGeom>
            <a:noFill/>
            <a:ln>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BC680EC2-B9B2-8959-5483-AA0CFAE72189}"/>
                </a:ext>
              </a:extLst>
            </p:cNvPr>
            <p:cNvSpPr txBox="1"/>
            <p:nvPr/>
          </p:nvSpPr>
          <p:spPr>
            <a:xfrm>
              <a:off x="6400799" y="5300246"/>
              <a:ext cx="4998593" cy="461665"/>
            </a:xfrm>
            <a:prstGeom prst="rect">
              <a:avLst/>
            </a:prstGeom>
            <a:noFill/>
          </p:spPr>
          <p:txBody>
            <a:bodyPr wrap="square" rtlCol="0">
              <a:spAutoFit/>
            </a:bodyPr>
            <a:lstStyle/>
            <a:p>
              <a:r>
                <a:rPr lang="en-US" sz="2400" dirty="0">
                  <a:latin typeface="Avenir Book" panose="02000503020000020003" pitchFamily="2" charset="0"/>
                  <a:ea typeface="Avenir Book" charset="0"/>
                  <a:cs typeface="Avenir Book" charset="0"/>
                </a:rPr>
                <a:t>Okay curve</a:t>
              </a:r>
            </a:p>
          </p:txBody>
        </p:sp>
      </p:grpSp>
      <p:grpSp>
        <p:nvGrpSpPr>
          <p:cNvPr id="24" name="Group 23">
            <a:extLst>
              <a:ext uri="{FF2B5EF4-FFF2-40B4-BE49-F238E27FC236}">
                <a16:creationId xmlns:a16="http://schemas.microsoft.com/office/drawing/2014/main" id="{5E725E7D-38DB-9188-76C7-720C65640BB3}"/>
              </a:ext>
            </a:extLst>
          </p:cNvPr>
          <p:cNvGrpSpPr/>
          <p:nvPr/>
        </p:nvGrpSpPr>
        <p:grpSpPr>
          <a:xfrm>
            <a:off x="2262649" y="5196842"/>
            <a:ext cx="478545" cy="307444"/>
            <a:chOff x="1634988" y="3672293"/>
            <a:chExt cx="622782" cy="400110"/>
          </a:xfrm>
        </p:grpSpPr>
        <p:grpSp>
          <p:nvGrpSpPr>
            <p:cNvPr id="25" name="Group 24">
              <a:extLst>
                <a:ext uri="{FF2B5EF4-FFF2-40B4-BE49-F238E27FC236}">
                  <a16:creationId xmlns:a16="http://schemas.microsoft.com/office/drawing/2014/main" id="{57989979-4EF1-4ED4-4320-9718CDF16261}"/>
                </a:ext>
              </a:extLst>
            </p:cNvPr>
            <p:cNvGrpSpPr/>
            <p:nvPr/>
          </p:nvGrpSpPr>
          <p:grpSpPr>
            <a:xfrm>
              <a:off x="1634988" y="3832515"/>
              <a:ext cx="179005" cy="169666"/>
              <a:chOff x="6305964" y="4800600"/>
              <a:chExt cx="179005" cy="169666"/>
            </a:xfrm>
          </p:grpSpPr>
          <p:cxnSp>
            <p:nvCxnSpPr>
              <p:cNvPr id="27" name="Straight Connector 26">
                <a:extLst>
                  <a:ext uri="{FF2B5EF4-FFF2-40B4-BE49-F238E27FC236}">
                    <a16:creationId xmlns:a16="http://schemas.microsoft.com/office/drawing/2014/main" id="{3F005BDA-35D4-1F94-1DC0-56B93088B0BD}"/>
                  </a:ext>
                </a:extLst>
              </p:cNvPr>
              <p:cNvCxnSpPr>
                <a:cxnSpLocks/>
              </p:cNvCxnSpPr>
              <p:nvPr/>
            </p:nvCxnSpPr>
            <p:spPr>
              <a:xfrm flipV="1">
                <a:off x="6315304" y="4800600"/>
                <a:ext cx="169665" cy="169666"/>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AE94C83-18BF-377C-AE90-8513F259CA55}"/>
                  </a:ext>
                </a:extLst>
              </p:cNvPr>
              <p:cNvCxnSpPr>
                <a:cxnSpLocks/>
              </p:cNvCxnSpPr>
              <p:nvPr/>
            </p:nvCxnSpPr>
            <p:spPr>
              <a:xfrm>
                <a:off x="6305964" y="4800600"/>
                <a:ext cx="169665" cy="169666"/>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A2A87175-9562-3075-0881-9AEE0C609B5E}"/>
                </a:ext>
              </a:extLst>
            </p:cNvPr>
            <p:cNvSpPr txBox="1"/>
            <p:nvPr/>
          </p:nvSpPr>
          <p:spPr>
            <a:xfrm>
              <a:off x="1833942" y="3672293"/>
              <a:ext cx="423828"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A</a:t>
              </a:r>
            </a:p>
          </p:txBody>
        </p:sp>
      </p:grpSp>
      <p:grpSp>
        <p:nvGrpSpPr>
          <p:cNvPr id="29" name="Group 28">
            <a:extLst>
              <a:ext uri="{FF2B5EF4-FFF2-40B4-BE49-F238E27FC236}">
                <a16:creationId xmlns:a16="http://schemas.microsoft.com/office/drawing/2014/main" id="{F1F8CC06-7325-CF7A-7EE2-DD08983A5996}"/>
              </a:ext>
            </a:extLst>
          </p:cNvPr>
          <p:cNvGrpSpPr/>
          <p:nvPr/>
        </p:nvGrpSpPr>
        <p:grpSpPr>
          <a:xfrm>
            <a:off x="3749838" y="3676622"/>
            <a:ext cx="325669" cy="468950"/>
            <a:chOff x="3057429" y="1643850"/>
            <a:chExt cx="423828" cy="610295"/>
          </a:xfrm>
        </p:grpSpPr>
        <p:grpSp>
          <p:nvGrpSpPr>
            <p:cNvPr id="30" name="Group 29">
              <a:extLst>
                <a:ext uri="{FF2B5EF4-FFF2-40B4-BE49-F238E27FC236}">
                  <a16:creationId xmlns:a16="http://schemas.microsoft.com/office/drawing/2014/main" id="{10DBAB04-1914-A8DD-3135-2A79DAC2BA87}"/>
                </a:ext>
              </a:extLst>
            </p:cNvPr>
            <p:cNvGrpSpPr/>
            <p:nvPr/>
          </p:nvGrpSpPr>
          <p:grpSpPr>
            <a:xfrm>
              <a:off x="3179840" y="1643850"/>
              <a:ext cx="179005" cy="169666"/>
              <a:chOff x="6305964" y="4800600"/>
              <a:chExt cx="179005" cy="169666"/>
            </a:xfrm>
          </p:grpSpPr>
          <p:cxnSp>
            <p:nvCxnSpPr>
              <p:cNvPr id="32" name="Straight Connector 31">
                <a:extLst>
                  <a:ext uri="{FF2B5EF4-FFF2-40B4-BE49-F238E27FC236}">
                    <a16:creationId xmlns:a16="http://schemas.microsoft.com/office/drawing/2014/main" id="{729F6F5C-0AD9-C4C4-FE00-6F18E7241C75}"/>
                  </a:ext>
                </a:extLst>
              </p:cNvPr>
              <p:cNvCxnSpPr>
                <a:cxnSpLocks/>
              </p:cNvCxnSpPr>
              <p:nvPr/>
            </p:nvCxnSpPr>
            <p:spPr>
              <a:xfrm flipV="1">
                <a:off x="6315304" y="4800600"/>
                <a:ext cx="169665" cy="169666"/>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CB4DDC-A86A-6878-88DC-5800CF7F91AA}"/>
                  </a:ext>
                </a:extLst>
              </p:cNvPr>
              <p:cNvCxnSpPr>
                <a:cxnSpLocks/>
              </p:cNvCxnSpPr>
              <p:nvPr/>
            </p:nvCxnSpPr>
            <p:spPr>
              <a:xfrm>
                <a:off x="6305964" y="4800600"/>
                <a:ext cx="169665" cy="169666"/>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F50FC1D7-4986-851E-6492-64F3F261E124}"/>
                </a:ext>
              </a:extLst>
            </p:cNvPr>
            <p:cNvSpPr txBox="1"/>
            <p:nvPr/>
          </p:nvSpPr>
          <p:spPr>
            <a:xfrm>
              <a:off x="3057429" y="1854035"/>
              <a:ext cx="423828"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B</a:t>
              </a:r>
            </a:p>
          </p:txBody>
        </p:sp>
      </p:grpSp>
      <p:grpSp>
        <p:nvGrpSpPr>
          <p:cNvPr id="34" name="Group 33">
            <a:extLst>
              <a:ext uri="{FF2B5EF4-FFF2-40B4-BE49-F238E27FC236}">
                <a16:creationId xmlns:a16="http://schemas.microsoft.com/office/drawing/2014/main" id="{62BAAE86-E6D2-2ACB-FD53-AD24D4935C5A}"/>
              </a:ext>
            </a:extLst>
          </p:cNvPr>
          <p:cNvGrpSpPr/>
          <p:nvPr/>
        </p:nvGrpSpPr>
        <p:grpSpPr>
          <a:xfrm>
            <a:off x="5334000" y="3588603"/>
            <a:ext cx="5167907" cy="830997"/>
            <a:chOff x="5312586" y="2900442"/>
            <a:chExt cx="5167907" cy="830997"/>
          </a:xfrm>
        </p:grpSpPr>
        <p:sp>
          <p:nvSpPr>
            <p:cNvPr id="35" name="TextBox 34">
              <a:extLst>
                <a:ext uri="{FF2B5EF4-FFF2-40B4-BE49-F238E27FC236}">
                  <a16:creationId xmlns:a16="http://schemas.microsoft.com/office/drawing/2014/main" id="{611EF485-4217-1C5C-8FA9-ACFD9B4F14E2}"/>
                </a:ext>
              </a:extLst>
            </p:cNvPr>
            <p:cNvSpPr txBox="1"/>
            <p:nvPr/>
          </p:nvSpPr>
          <p:spPr>
            <a:xfrm>
              <a:off x="5710359" y="2900442"/>
              <a:ext cx="4770134" cy="830997"/>
            </a:xfrm>
            <a:prstGeom prst="rect">
              <a:avLst/>
            </a:prstGeom>
            <a:noFill/>
          </p:spPr>
          <p:txBody>
            <a:bodyPr wrap="square" rtlCol="0">
              <a:spAutoFit/>
            </a:bodyPr>
            <a:lstStyle/>
            <a:p>
              <a:r>
                <a:rPr lang="en-US" sz="2400" dirty="0">
                  <a:latin typeface="Avenir Book" panose="02000503020000020003" pitchFamily="2" charset="0"/>
                  <a:ea typeface="Avenir Book" charset="0"/>
                  <a:cs typeface="Avenir Book" charset="0"/>
                </a:rPr>
                <a:t>Conservative configuration </a:t>
              </a:r>
              <a:br>
                <a:rPr lang="en-US" sz="2400" dirty="0">
                  <a:latin typeface="Avenir Book" panose="02000503020000020003" pitchFamily="2" charset="0"/>
                  <a:ea typeface="Avenir Book" charset="0"/>
                  <a:cs typeface="Avenir Book" charset="0"/>
                </a:rPr>
              </a:br>
              <a:r>
                <a:rPr lang="en-US" sz="2400" dirty="0">
                  <a:latin typeface="Avenir Book" panose="02000503020000020003" pitchFamily="2" charset="0"/>
                  <a:ea typeface="Avenir Book" charset="0"/>
                  <a:cs typeface="Avenir Book" charset="0"/>
                </a:rPr>
                <a:t>(lower recall, higher precision)</a:t>
              </a:r>
            </a:p>
          </p:txBody>
        </p:sp>
        <p:grpSp>
          <p:nvGrpSpPr>
            <p:cNvPr id="36" name="Group 35">
              <a:extLst>
                <a:ext uri="{FF2B5EF4-FFF2-40B4-BE49-F238E27FC236}">
                  <a16:creationId xmlns:a16="http://schemas.microsoft.com/office/drawing/2014/main" id="{76EF5715-DF97-0C31-6F30-0E208A235077}"/>
                </a:ext>
              </a:extLst>
            </p:cNvPr>
            <p:cNvGrpSpPr/>
            <p:nvPr/>
          </p:nvGrpSpPr>
          <p:grpSpPr>
            <a:xfrm>
              <a:off x="5312586" y="2949945"/>
              <a:ext cx="423828" cy="535224"/>
              <a:chOff x="1517246" y="3466957"/>
              <a:chExt cx="423828" cy="535224"/>
            </a:xfrm>
          </p:grpSpPr>
          <p:grpSp>
            <p:nvGrpSpPr>
              <p:cNvPr id="37" name="Group 36">
                <a:extLst>
                  <a:ext uri="{FF2B5EF4-FFF2-40B4-BE49-F238E27FC236}">
                    <a16:creationId xmlns:a16="http://schemas.microsoft.com/office/drawing/2014/main" id="{2E829FAD-9BFB-FB7E-7CE0-E7C8E6C1769D}"/>
                  </a:ext>
                </a:extLst>
              </p:cNvPr>
              <p:cNvGrpSpPr/>
              <p:nvPr/>
            </p:nvGrpSpPr>
            <p:grpSpPr>
              <a:xfrm>
                <a:off x="1634988" y="3832515"/>
                <a:ext cx="179005" cy="169666"/>
                <a:chOff x="6305964" y="4800600"/>
                <a:chExt cx="179005" cy="169666"/>
              </a:xfrm>
            </p:grpSpPr>
            <p:cxnSp>
              <p:nvCxnSpPr>
                <p:cNvPr id="39" name="Straight Connector 38">
                  <a:extLst>
                    <a:ext uri="{FF2B5EF4-FFF2-40B4-BE49-F238E27FC236}">
                      <a16:creationId xmlns:a16="http://schemas.microsoft.com/office/drawing/2014/main" id="{5A4791EC-7EB3-DAA1-799C-885FBF831154}"/>
                    </a:ext>
                  </a:extLst>
                </p:cNvPr>
                <p:cNvCxnSpPr>
                  <a:cxnSpLocks/>
                </p:cNvCxnSpPr>
                <p:nvPr/>
              </p:nvCxnSpPr>
              <p:spPr>
                <a:xfrm flipV="1">
                  <a:off x="6315304" y="4800600"/>
                  <a:ext cx="169665" cy="169666"/>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CA8D6ED-4307-A93D-71FC-AC885C4B260F}"/>
                    </a:ext>
                  </a:extLst>
                </p:cNvPr>
                <p:cNvCxnSpPr>
                  <a:cxnSpLocks/>
                </p:cNvCxnSpPr>
                <p:nvPr/>
              </p:nvCxnSpPr>
              <p:spPr>
                <a:xfrm>
                  <a:off x="6305964" y="4800600"/>
                  <a:ext cx="169665" cy="169666"/>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3F0ADDB3-A589-8A1E-FDD3-7C7B8E026F92}"/>
                  </a:ext>
                </a:extLst>
              </p:cNvPr>
              <p:cNvSpPr txBox="1"/>
              <p:nvPr/>
            </p:nvSpPr>
            <p:spPr>
              <a:xfrm>
                <a:off x="1517246" y="3466957"/>
                <a:ext cx="423828"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A</a:t>
                </a:r>
              </a:p>
            </p:txBody>
          </p:sp>
        </p:grpSp>
      </p:grpSp>
      <p:grpSp>
        <p:nvGrpSpPr>
          <p:cNvPr id="41" name="Group 40">
            <a:extLst>
              <a:ext uri="{FF2B5EF4-FFF2-40B4-BE49-F238E27FC236}">
                <a16:creationId xmlns:a16="http://schemas.microsoft.com/office/drawing/2014/main" id="{4F811CE0-73E0-87D0-6E66-CF20152F1020}"/>
              </a:ext>
            </a:extLst>
          </p:cNvPr>
          <p:cNvGrpSpPr/>
          <p:nvPr/>
        </p:nvGrpSpPr>
        <p:grpSpPr>
          <a:xfrm>
            <a:off x="5334000" y="4357443"/>
            <a:ext cx="5167908" cy="830997"/>
            <a:chOff x="5312586" y="4013944"/>
            <a:chExt cx="5167908" cy="830997"/>
          </a:xfrm>
        </p:grpSpPr>
        <p:sp>
          <p:nvSpPr>
            <p:cNvPr id="42" name="TextBox 41">
              <a:extLst>
                <a:ext uri="{FF2B5EF4-FFF2-40B4-BE49-F238E27FC236}">
                  <a16:creationId xmlns:a16="http://schemas.microsoft.com/office/drawing/2014/main" id="{8FF4043F-DC85-44C6-9DF3-35C9E4DB25D1}"/>
                </a:ext>
              </a:extLst>
            </p:cNvPr>
            <p:cNvSpPr txBox="1"/>
            <p:nvPr/>
          </p:nvSpPr>
          <p:spPr>
            <a:xfrm>
              <a:off x="5710360" y="4013944"/>
              <a:ext cx="4770134" cy="830997"/>
            </a:xfrm>
            <a:prstGeom prst="rect">
              <a:avLst/>
            </a:prstGeom>
            <a:noFill/>
          </p:spPr>
          <p:txBody>
            <a:bodyPr wrap="square" rtlCol="0">
              <a:spAutoFit/>
            </a:bodyPr>
            <a:lstStyle/>
            <a:p>
              <a:r>
                <a:rPr lang="en-US" sz="2400" dirty="0">
                  <a:latin typeface="Avenir Book" panose="02000503020000020003" pitchFamily="2" charset="0"/>
                  <a:ea typeface="Avenir Book" charset="0"/>
                  <a:cs typeface="Avenir Book" charset="0"/>
                </a:rPr>
                <a:t>Aggressive configuration </a:t>
              </a:r>
              <a:br>
                <a:rPr lang="en-US" sz="2400" dirty="0">
                  <a:latin typeface="Avenir Book" panose="02000503020000020003" pitchFamily="2" charset="0"/>
                  <a:ea typeface="Avenir Book" charset="0"/>
                  <a:cs typeface="Avenir Book" charset="0"/>
                </a:rPr>
              </a:br>
              <a:r>
                <a:rPr lang="en-US" sz="2400" dirty="0">
                  <a:latin typeface="Avenir Book" panose="02000503020000020003" pitchFamily="2" charset="0"/>
                  <a:ea typeface="Avenir Book" charset="0"/>
                  <a:cs typeface="Avenir Book" charset="0"/>
                </a:rPr>
                <a:t>(higher recall, lower precision)</a:t>
              </a:r>
            </a:p>
          </p:txBody>
        </p:sp>
        <p:grpSp>
          <p:nvGrpSpPr>
            <p:cNvPr id="43" name="Group 42">
              <a:extLst>
                <a:ext uri="{FF2B5EF4-FFF2-40B4-BE49-F238E27FC236}">
                  <a16:creationId xmlns:a16="http://schemas.microsoft.com/office/drawing/2014/main" id="{AB984792-7CFF-B733-B2E2-5245354D48B3}"/>
                </a:ext>
              </a:extLst>
            </p:cNvPr>
            <p:cNvGrpSpPr/>
            <p:nvPr/>
          </p:nvGrpSpPr>
          <p:grpSpPr>
            <a:xfrm>
              <a:off x="5312586" y="4074551"/>
              <a:ext cx="423828" cy="535224"/>
              <a:chOff x="1517246" y="3466957"/>
              <a:chExt cx="423828" cy="535224"/>
            </a:xfrm>
          </p:grpSpPr>
          <p:grpSp>
            <p:nvGrpSpPr>
              <p:cNvPr id="44" name="Group 43">
                <a:extLst>
                  <a:ext uri="{FF2B5EF4-FFF2-40B4-BE49-F238E27FC236}">
                    <a16:creationId xmlns:a16="http://schemas.microsoft.com/office/drawing/2014/main" id="{678C8718-2B50-4285-86F6-9B1D3EFE5B28}"/>
                  </a:ext>
                </a:extLst>
              </p:cNvPr>
              <p:cNvGrpSpPr/>
              <p:nvPr/>
            </p:nvGrpSpPr>
            <p:grpSpPr>
              <a:xfrm>
                <a:off x="1634988" y="3832515"/>
                <a:ext cx="179005" cy="169666"/>
                <a:chOff x="6305964" y="4800600"/>
                <a:chExt cx="179005" cy="169666"/>
              </a:xfrm>
            </p:grpSpPr>
            <p:cxnSp>
              <p:nvCxnSpPr>
                <p:cNvPr id="46" name="Straight Connector 45">
                  <a:extLst>
                    <a:ext uri="{FF2B5EF4-FFF2-40B4-BE49-F238E27FC236}">
                      <a16:creationId xmlns:a16="http://schemas.microsoft.com/office/drawing/2014/main" id="{346E1023-2F7F-4ECE-ED1A-822A60A4CCDE}"/>
                    </a:ext>
                  </a:extLst>
                </p:cNvPr>
                <p:cNvCxnSpPr>
                  <a:cxnSpLocks/>
                </p:cNvCxnSpPr>
                <p:nvPr/>
              </p:nvCxnSpPr>
              <p:spPr>
                <a:xfrm flipV="1">
                  <a:off x="6315304" y="4800600"/>
                  <a:ext cx="169665" cy="169666"/>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593C901-8E83-AE2F-00EC-BA9B10DA6A46}"/>
                    </a:ext>
                  </a:extLst>
                </p:cNvPr>
                <p:cNvCxnSpPr>
                  <a:cxnSpLocks/>
                </p:cNvCxnSpPr>
                <p:nvPr/>
              </p:nvCxnSpPr>
              <p:spPr>
                <a:xfrm>
                  <a:off x="6305964" y="4800600"/>
                  <a:ext cx="169665" cy="169666"/>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A2618B83-5799-15BD-963D-EE4C1E856856}"/>
                  </a:ext>
                </a:extLst>
              </p:cNvPr>
              <p:cNvSpPr txBox="1"/>
              <p:nvPr/>
            </p:nvSpPr>
            <p:spPr>
              <a:xfrm>
                <a:off x="1517246" y="3466957"/>
                <a:ext cx="423828" cy="400110"/>
              </a:xfrm>
              <a:prstGeom prst="rect">
                <a:avLst/>
              </a:prstGeom>
              <a:noFill/>
            </p:spPr>
            <p:txBody>
              <a:bodyPr wrap="square" rtlCol="0">
                <a:spAutoFit/>
              </a:bodyPr>
              <a:lstStyle/>
              <a:p>
                <a:pPr algn="ctr"/>
                <a:r>
                  <a:rPr lang="en-US" sz="2000" dirty="0">
                    <a:latin typeface="Avenir Book" panose="02000503020000020003" pitchFamily="2" charset="0"/>
                    <a:ea typeface="Avenir Book" charset="0"/>
                    <a:cs typeface="Avenir Book" charset="0"/>
                  </a:rPr>
                  <a:t>B</a:t>
                </a:r>
              </a:p>
            </p:txBody>
          </p:sp>
        </p:grpSp>
      </p:grpSp>
    </p:spTree>
    <p:extLst>
      <p:ext uri="{BB962C8B-B14F-4D97-AF65-F5344CB8AC3E}">
        <p14:creationId xmlns:p14="http://schemas.microsoft.com/office/powerpoint/2010/main" val="4172313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1" end="1"/>
                                            </p:txEl>
                                          </p:spTgt>
                                        </p:tgtEl>
                                        <p:attrNameLst>
                                          <p:attrName>style.visibility</p:attrName>
                                        </p:attrNameLst>
                                      </p:cBhvr>
                                      <p:to>
                                        <p:strVal val="visible"/>
                                      </p:to>
                                    </p:set>
                                    <p:animEffect transition="in" filter="fade">
                                      <p:cBhvr>
                                        <p:cTn id="36" dur="500"/>
                                        <p:tgtEl>
                                          <p:spTgt spid="3">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00"/>
                                        <p:tgtEl>
                                          <p:spTgt spid="11"/>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left)">
                                      <p:cBhvr>
                                        <p:cTn id="49" dur="500"/>
                                        <p:tgtEl>
                                          <p:spTgt spid="10"/>
                                        </p:tgtEl>
                                      </p:cBhvr>
                                    </p:animEffect>
                                  </p:childTnLst>
                                </p:cTn>
                              </p:par>
                              <p:par>
                                <p:cTn id="50" presetID="10"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43F0F-4423-AC45-171E-32E1FC333817}"/>
              </a:ext>
            </a:extLst>
          </p:cNvPr>
          <p:cNvSpPr>
            <a:spLocks noGrp="1"/>
          </p:cNvSpPr>
          <p:nvPr>
            <p:ph type="title"/>
          </p:nvPr>
        </p:nvSpPr>
        <p:spPr/>
        <p:txBody>
          <a:bodyPr>
            <a:normAutofit/>
          </a:bodyPr>
          <a:lstStyle/>
          <a:p>
            <a:r>
              <a:rPr lang="en-US" dirty="0"/>
              <a:t>Step-By-Step Process for Machine Learning</a:t>
            </a:r>
          </a:p>
        </p:txBody>
      </p:sp>
      <p:sp>
        <p:nvSpPr>
          <p:cNvPr id="3" name="Content Placeholder 2">
            <a:extLst>
              <a:ext uri="{FF2B5EF4-FFF2-40B4-BE49-F238E27FC236}">
                <a16:creationId xmlns:a16="http://schemas.microsoft.com/office/drawing/2014/main" id="{DEDD22C4-0E86-DC65-9A28-81C25B2EE829}"/>
              </a:ext>
            </a:extLst>
          </p:cNvPr>
          <p:cNvSpPr>
            <a:spLocks noGrp="1"/>
          </p:cNvSpPr>
          <p:nvPr>
            <p:ph idx="1"/>
          </p:nvPr>
        </p:nvSpPr>
        <p:spPr>
          <a:xfrm>
            <a:off x="609600" y="1600201"/>
            <a:ext cx="10972800" cy="4724399"/>
          </a:xfrm>
        </p:spPr>
        <p:txBody>
          <a:bodyPr>
            <a:normAutofit lnSpcReduction="10000"/>
          </a:bodyPr>
          <a:lstStyle/>
          <a:p>
            <a:pPr marL="514350" indent="-514350">
              <a:buAutoNum type="arabicPeriod"/>
            </a:pPr>
            <a:r>
              <a:rPr lang="en-US" sz="3000" dirty="0"/>
              <a:t>Define the </a:t>
            </a:r>
            <a:r>
              <a:rPr lang="en-US" sz="3000"/>
              <a:t>problem you </a:t>
            </a:r>
            <a:r>
              <a:rPr lang="en-US" sz="3000" dirty="0"/>
              <a:t>are trying to solve</a:t>
            </a:r>
          </a:p>
          <a:p>
            <a:pPr marL="514350" indent="-514350">
              <a:buAutoNum type="arabicPeriod"/>
            </a:pPr>
            <a:r>
              <a:rPr lang="en-US" sz="3000" dirty="0"/>
              <a:t>Create your features and labels</a:t>
            </a:r>
          </a:p>
          <a:p>
            <a:pPr marL="514350" indent="-514350">
              <a:buAutoNum type="arabicPeriod"/>
            </a:pPr>
            <a:r>
              <a:rPr lang="en-US" sz="3000" dirty="0"/>
              <a:t>Decide how the data should be split for training and testing</a:t>
            </a:r>
          </a:p>
          <a:p>
            <a:pPr marL="514350" indent="-514350">
              <a:buFont typeface="Arial" pitchFamily="34" charset="0"/>
              <a:buAutoNum type="arabicPeriod"/>
            </a:pPr>
            <a:r>
              <a:rPr lang="en-US" sz="3000" dirty="0"/>
              <a:t>(Optional) Add feature selection</a:t>
            </a:r>
          </a:p>
          <a:p>
            <a:pPr marL="514350" indent="-514350">
              <a:buFont typeface="Arial" pitchFamily="34" charset="0"/>
              <a:buAutoNum type="arabicPeriod"/>
            </a:pPr>
            <a:r>
              <a:rPr lang="en-US" sz="3000" dirty="0"/>
              <a:t>(Optional) Balance your dataset</a:t>
            </a:r>
          </a:p>
          <a:p>
            <a:pPr marL="514350" indent="-514350">
              <a:buAutoNum type="arabicPeriod"/>
            </a:pPr>
            <a:r>
              <a:rPr lang="en-US" sz="3000" dirty="0"/>
              <a:t>Select an appropriate model</a:t>
            </a:r>
          </a:p>
          <a:p>
            <a:pPr marL="514350" indent="-514350">
              <a:buFont typeface="Arial" pitchFamily="34" charset="0"/>
              <a:buAutoNum type="arabicPeriod"/>
            </a:pPr>
            <a:r>
              <a:rPr lang="en-US" sz="3000" dirty="0"/>
              <a:t>(Optional) Select your hyperparameters</a:t>
            </a:r>
          </a:p>
          <a:p>
            <a:pPr marL="514350" indent="-514350">
              <a:buFont typeface="Arial" pitchFamily="34" charset="0"/>
              <a:buAutoNum type="arabicPeriod"/>
            </a:pPr>
            <a:r>
              <a:rPr lang="en-US" sz="3000" dirty="0"/>
              <a:t>Train and test your model</a:t>
            </a:r>
          </a:p>
          <a:p>
            <a:pPr marL="514350" indent="-514350">
              <a:buAutoNum type="arabicPeriod"/>
            </a:pPr>
            <a:r>
              <a:rPr lang="en-US" sz="3000" dirty="0"/>
              <a:t>Use an appropriate method for interpreting results</a:t>
            </a:r>
          </a:p>
        </p:txBody>
      </p:sp>
    </p:spTree>
    <p:extLst>
      <p:ext uri="{BB962C8B-B14F-4D97-AF65-F5344CB8AC3E}">
        <p14:creationId xmlns:p14="http://schemas.microsoft.com/office/powerpoint/2010/main" val="4636606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3DA30-D3DD-BB46-9FA5-CD1CA6B2C7B8}"/>
              </a:ext>
            </a:extLst>
          </p:cNvPr>
          <p:cNvSpPr>
            <a:spLocks noGrp="1"/>
          </p:cNvSpPr>
          <p:nvPr>
            <p:ph type="title"/>
          </p:nvPr>
        </p:nvSpPr>
        <p:spPr/>
        <p:txBody>
          <a:bodyPr/>
          <a:lstStyle/>
          <a:p>
            <a:r>
              <a:rPr lang="en-US" dirty="0"/>
              <a:t>Notes On Data Quantity</a:t>
            </a:r>
          </a:p>
        </p:txBody>
      </p:sp>
      <p:sp>
        <p:nvSpPr>
          <p:cNvPr id="3" name="Content Placeholder 2">
            <a:extLst>
              <a:ext uri="{FF2B5EF4-FFF2-40B4-BE49-F238E27FC236}">
                <a16:creationId xmlns:a16="http://schemas.microsoft.com/office/drawing/2014/main" id="{E60E8AA1-1129-09DE-C6F3-752C8D3E5812}"/>
              </a:ext>
            </a:extLst>
          </p:cNvPr>
          <p:cNvSpPr>
            <a:spLocks noGrp="1"/>
          </p:cNvSpPr>
          <p:nvPr>
            <p:ph idx="1"/>
          </p:nvPr>
        </p:nvSpPr>
        <p:spPr/>
        <p:txBody>
          <a:bodyPr>
            <a:normAutofit fontScale="92500" lnSpcReduction="10000"/>
          </a:bodyPr>
          <a:lstStyle/>
          <a:p>
            <a:r>
              <a:rPr lang="en-US" dirty="0"/>
              <a:t>There is no notion of a “power analysis” for machine learning</a:t>
            </a:r>
          </a:p>
          <a:p>
            <a:endParaRPr lang="en-US" dirty="0"/>
          </a:p>
          <a:p>
            <a:r>
              <a:rPr lang="en-US" dirty="0"/>
              <a:t>The amount of data needed to train a machine learning model depends on many factors, including...</a:t>
            </a:r>
          </a:p>
          <a:p>
            <a:pPr marL="457200" indent="-457200">
              <a:buFont typeface="Arial" panose="020B0604020202020204" pitchFamily="34" charset="0"/>
              <a:buChar char="•"/>
            </a:pPr>
            <a:r>
              <a:rPr lang="en-US" dirty="0"/>
              <a:t>Problem complexity</a:t>
            </a:r>
          </a:p>
          <a:p>
            <a:pPr marL="457200" indent="-457200">
              <a:buFont typeface="Arial" panose="020B0604020202020204" pitchFamily="34" charset="0"/>
              <a:buChar char="•"/>
            </a:pPr>
            <a:r>
              <a:rPr lang="en-US" dirty="0"/>
              <a:t>Data quality </a:t>
            </a:r>
          </a:p>
          <a:p>
            <a:pPr marL="457200" indent="-457200">
              <a:buFont typeface="Arial" panose="020B0604020202020204" pitchFamily="34" charset="0"/>
              <a:buChar char="•"/>
            </a:pPr>
            <a:r>
              <a:rPr lang="en-US" dirty="0"/>
              <a:t>Number of features</a:t>
            </a:r>
          </a:p>
          <a:p>
            <a:pPr marL="457200" indent="-457200">
              <a:buFont typeface="Arial" panose="020B0604020202020204" pitchFamily="34" charset="0"/>
              <a:buChar char="•"/>
            </a:pPr>
            <a:r>
              <a:rPr lang="en-US" dirty="0"/>
              <a:t>Representation of outcomes</a:t>
            </a:r>
          </a:p>
          <a:p>
            <a:pPr marL="457200" indent="-457200">
              <a:buFont typeface="Arial" panose="020B0604020202020204" pitchFamily="34" charset="0"/>
              <a:buChar char="•"/>
            </a:pPr>
            <a:r>
              <a:rPr lang="en-US" dirty="0"/>
              <a:t>Model architecture</a:t>
            </a:r>
          </a:p>
        </p:txBody>
      </p:sp>
    </p:spTree>
    <p:extLst>
      <p:ext uri="{BB962C8B-B14F-4D97-AF65-F5344CB8AC3E}">
        <p14:creationId xmlns:p14="http://schemas.microsoft.com/office/powerpoint/2010/main" val="3985445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3DA30-D3DD-BB46-9FA5-CD1CA6B2C7B8}"/>
              </a:ext>
            </a:extLst>
          </p:cNvPr>
          <p:cNvSpPr>
            <a:spLocks noGrp="1"/>
          </p:cNvSpPr>
          <p:nvPr>
            <p:ph type="title"/>
          </p:nvPr>
        </p:nvSpPr>
        <p:spPr/>
        <p:txBody>
          <a:bodyPr/>
          <a:lstStyle/>
          <a:p>
            <a:r>
              <a:rPr lang="en-US" dirty="0"/>
              <a:t>Notes On Data Quantity</a:t>
            </a:r>
          </a:p>
        </p:txBody>
      </p:sp>
      <p:sp>
        <p:nvSpPr>
          <p:cNvPr id="3" name="Content Placeholder 2">
            <a:extLst>
              <a:ext uri="{FF2B5EF4-FFF2-40B4-BE49-F238E27FC236}">
                <a16:creationId xmlns:a16="http://schemas.microsoft.com/office/drawing/2014/main" id="{E60E8AA1-1129-09DE-C6F3-752C8D3E5812}"/>
              </a:ext>
            </a:extLst>
          </p:cNvPr>
          <p:cNvSpPr>
            <a:spLocks noGrp="1"/>
          </p:cNvSpPr>
          <p:nvPr>
            <p:ph idx="1"/>
          </p:nvPr>
        </p:nvSpPr>
        <p:spPr/>
        <p:txBody>
          <a:bodyPr>
            <a:normAutofit fontScale="92500" lnSpcReduction="10000"/>
          </a:bodyPr>
          <a:lstStyle/>
          <a:p>
            <a:r>
              <a:rPr lang="en-US" dirty="0"/>
              <a:t>Some people say that you should have at least 10 times the number of samples as you do “degrees of freedom” in your model (e.g., linear regression coefficients, decisions tree branches)</a:t>
            </a:r>
          </a:p>
          <a:p>
            <a:pPr marL="457200" indent="-457200">
              <a:buFont typeface="Arial" panose="020B0604020202020204" pitchFamily="34" charset="0"/>
              <a:buChar char="•"/>
            </a:pPr>
            <a:r>
              <a:rPr lang="en-US" dirty="0"/>
              <a:t>Traditional machine learning models: Hundreds of samples</a:t>
            </a:r>
          </a:p>
          <a:p>
            <a:pPr marL="457200" indent="-457200">
              <a:buFont typeface="Arial" panose="020B0604020202020204" pitchFamily="34" charset="0"/>
              <a:buChar char="•"/>
            </a:pPr>
            <a:r>
              <a:rPr lang="en-US" dirty="0"/>
              <a:t>Deep learning models: Thousands of samples</a:t>
            </a:r>
          </a:p>
          <a:p>
            <a:endParaRPr lang="en-US" dirty="0"/>
          </a:p>
          <a:p>
            <a:r>
              <a:rPr lang="en-US" dirty="0"/>
              <a:t>Simple models on large datasets often outperform complex models on small datasets</a:t>
            </a:r>
          </a:p>
        </p:txBody>
      </p:sp>
    </p:spTree>
    <p:extLst>
      <p:ext uri="{BB962C8B-B14F-4D97-AF65-F5344CB8AC3E}">
        <p14:creationId xmlns:p14="http://schemas.microsoft.com/office/powerpoint/2010/main" val="195848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3DA30-D3DD-BB46-9FA5-CD1CA6B2C7B8}"/>
              </a:ext>
            </a:extLst>
          </p:cNvPr>
          <p:cNvSpPr>
            <a:spLocks noGrp="1"/>
          </p:cNvSpPr>
          <p:nvPr>
            <p:ph type="title"/>
          </p:nvPr>
        </p:nvSpPr>
        <p:spPr/>
        <p:txBody>
          <a:bodyPr/>
          <a:lstStyle/>
          <a:p>
            <a:r>
              <a:rPr lang="en-US" dirty="0"/>
              <a:t>Parting Words</a:t>
            </a:r>
          </a:p>
        </p:txBody>
      </p:sp>
      <p:sp>
        <p:nvSpPr>
          <p:cNvPr id="3" name="Content Placeholder 2">
            <a:extLst>
              <a:ext uri="{FF2B5EF4-FFF2-40B4-BE49-F238E27FC236}">
                <a16:creationId xmlns:a16="http://schemas.microsoft.com/office/drawing/2014/main" id="{E60E8AA1-1129-09DE-C6F3-752C8D3E5812}"/>
              </a:ext>
            </a:extLst>
          </p:cNvPr>
          <p:cNvSpPr>
            <a:spLocks noGrp="1"/>
          </p:cNvSpPr>
          <p:nvPr>
            <p:ph idx="1"/>
          </p:nvPr>
        </p:nvSpPr>
        <p:spPr/>
        <p:txBody>
          <a:bodyPr/>
          <a:lstStyle/>
          <a:p>
            <a:r>
              <a:rPr lang="en-US" dirty="0"/>
              <a:t>We have covered a lot of concepts and terminology; </a:t>
            </a:r>
            <a:br>
              <a:rPr lang="en-US" dirty="0"/>
            </a:br>
            <a:r>
              <a:rPr lang="en-US" dirty="0"/>
              <a:t>don’t worry if it’s overwhelming</a:t>
            </a:r>
          </a:p>
          <a:p>
            <a:endParaRPr lang="en-US" dirty="0"/>
          </a:p>
          <a:p>
            <a:r>
              <a:rPr lang="en-US" dirty="0"/>
              <a:t>We will go over this step-by-step process over the next few sessions to see how it translates to code</a:t>
            </a:r>
          </a:p>
        </p:txBody>
      </p:sp>
    </p:spTree>
    <p:extLst>
      <p:ext uri="{BB962C8B-B14F-4D97-AF65-F5344CB8AC3E}">
        <p14:creationId xmlns:p14="http://schemas.microsoft.com/office/powerpoint/2010/main" val="1020393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17EB1-35F9-51A1-9DB6-977EF9B89F97}"/>
              </a:ext>
            </a:extLst>
          </p:cNvPr>
          <p:cNvSpPr>
            <a:spLocks noGrp="1"/>
          </p:cNvSpPr>
          <p:nvPr>
            <p:ph type="title"/>
          </p:nvPr>
        </p:nvSpPr>
        <p:spPr/>
        <p:txBody>
          <a:bodyPr/>
          <a:lstStyle/>
          <a:p>
            <a:r>
              <a:rPr lang="en-US" dirty="0"/>
              <a:t>Resources</a:t>
            </a:r>
          </a:p>
        </p:txBody>
      </p:sp>
      <p:graphicFrame>
        <p:nvGraphicFramePr>
          <p:cNvPr id="4" name="Table 4">
            <a:extLst>
              <a:ext uri="{FF2B5EF4-FFF2-40B4-BE49-F238E27FC236}">
                <a16:creationId xmlns:a16="http://schemas.microsoft.com/office/drawing/2014/main" id="{094D2FC0-A0CE-7549-C718-D6320C080C89}"/>
              </a:ext>
            </a:extLst>
          </p:cNvPr>
          <p:cNvGraphicFramePr>
            <a:graphicFrameLocks/>
          </p:cNvGraphicFramePr>
          <p:nvPr>
            <p:extLst>
              <p:ext uri="{D42A27DB-BD31-4B8C-83A1-F6EECF244321}">
                <p14:modId xmlns:p14="http://schemas.microsoft.com/office/powerpoint/2010/main" val="3229115195"/>
              </p:ext>
            </p:extLst>
          </p:nvPr>
        </p:nvGraphicFramePr>
        <p:xfrm>
          <a:off x="609600" y="1600200"/>
          <a:ext cx="10972800" cy="2072640"/>
        </p:xfrm>
        <a:graphic>
          <a:graphicData uri="http://schemas.openxmlformats.org/drawingml/2006/table">
            <a:tbl>
              <a:tblPr firstRow="1" bandRow="1">
                <a:tableStyleId>{073A0DAA-6AF3-43AB-8588-CEC1D06C72B9}</a:tableStyleId>
              </a:tblPr>
              <a:tblGrid>
                <a:gridCol w="6705600">
                  <a:extLst>
                    <a:ext uri="{9D8B030D-6E8A-4147-A177-3AD203B41FA5}">
                      <a16:colId xmlns:a16="http://schemas.microsoft.com/office/drawing/2014/main" val="37771912"/>
                    </a:ext>
                  </a:extLst>
                </a:gridCol>
                <a:gridCol w="4267200">
                  <a:extLst>
                    <a:ext uri="{9D8B030D-6E8A-4147-A177-3AD203B41FA5}">
                      <a16:colId xmlns:a16="http://schemas.microsoft.com/office/drawing/2014/main" val="4132938451"/>
                    </a:ext>
                  </a:extLst>
                </a:gridCol>
              </a:tblGrid>
              <a:tr h="370840">
                <a:tc gridSpan="2">
                  <a:txBody>
                    <a:bodyPr/>
                    <a:lstStyle/>
                    <a:p>
                      <a:r>
                        <a:rPr lang="en-US" sz="2800" dirty="0"/>
                        <a:t>Overviews of Machine Learning</a:t>
                      </a:r>
                    </a:p>
                  </a:txBody>
                  <a:tcPr/>
                </a:tc>
                <a:tc hMerge="1">
                  <a:txBody>
                    <a:bodyPr/>
                    <a:lstStyle/>
                    <a:p>
                      <a:endParaRPr lang="en-US" dirty="0"/>
                    </a:p>
                  </a:txBody>
                  <a:tcPr/>
                </a:tc>
                <a:extLst>
                  <a:ext uri="{0D108BD9-81ED-4DB2-BD59-A6C34878D82A}">
                    <a16:rowId xmlns:a16="http://schemas.microsoft.com/office/drawing/2014/main" val="403678424"/>
                  </a:ext>
                </a:extLst>
              </a:tr>
              <a:tr h="370840">
                <a:tc>
                  <a:txBody>
                    <a:bodyPr/>
                    <a:lstStyle/>
                    <a:p>
                      <a:r>
                        <a:rPr lang="en-US" sz="2400" dirty="0"/>
                        <a:t>“Glossary of Machine Learning Terms”</a:t>
                      </a:r>
                    </a:p>
                  </a:txBody>
                  <a:tcPr/>
                </a:tc>
                <a:tc>
                  <a:txBody>
                    <a:bodyPr/>
                    <a:lstStyle/>
                    <a:p>
                      <a:r>
                        <a:rPr lang="en-US" sz="2800" dirty="0">
                          <a:hlinkClick r:id="rId2"/>
                        </a:rPr>
                        <a:t>Google</a:t>
                      </a:r>
                      <a:endParaRPr lang="en-US" sz="2800" dirty="0"/>
                    </a:p>
                  </a:txBody>
                  <a:tcPr/>
                </a:tc>
                <a:extLst>
                  <a:ext uri="{0D108BD9-81ED-4DB2-BD59-A6C34878D82A}">
                    <a16:rowId xmlns:a16="http://schemas.microsoft.com/office/drawing/2014/main" val="374077233"/>
                  </a:ext>
                </a:extLst>
              </a:tr>
              <a:tr h="370840">
                <a:tc gridSpan="2">
                  <a:txBody>
                    <a:bodyPr/>
                    <a:lstStyle/>
                    <a:p>
                      <a:r>
                        <a:rPr lang="en-US" sz="2800" b="1" dirty="0">
                          <a:solidFill>
                            <a:schemeClr val="bg1"/>
                          </a:solidFill>
                        </a:rPr>
                        <a:t>Coding Examples</a:t>
                      </a:r>
                    </a:p>
                  </a:txBody>
                  <a:tcPr>
                    <a:solidFill>
                      <a:schemeClr val="tx1"/>
                    </a:solidFill>
                  </a:tcPr>
                </a:tc>
                <a:tc hMerge="1">
                  <a:txBody>
                    <a:bodyPr/>
                    <a:lstStyle/>
                    <a:p>
                      <a:endParaRPr lang="en-US" sz="2800" dirty="0"/>
                    </a:p>
                  </a:txBody>
                  <a:tcPr/>
                </a:tc>
                <a:extLst>
                  <a:ext uri="{0D108BD9-81ED-4DB2-BD59-A6C34878D82A}">
                    <a16:rowId xmlns:a16="http://schemas.microsoft.com/office/drawing/2014/main" val="3603349514"/>
                  </a:ext>
                </a:extLst>
              </a:tr>
              <a:tr h="370840">
                <a:tc>
                  <a:txBody>
                    <a:bodyPr/>
                    <a:lstStyle/>
                    <a:p>
                      <a:r>
                        <a:rPr lang="en-US" sz="2400" dirty="0"/>
                        <a:t>“Machine Learning Mastery”</a:t>
                      </a:r>
                    </a:p>
                  </a:txBody>
                  <a:tcPr/>
                </a:tc>
                <a:tc>
                  <a:txBody>
                    <a:bodyPr/>
                    <a:lstStyle/>
                    <a:p>
                      <a:r>
                        <a:rPr lang="en-US" sz="2800" dirty="0">
                          <a:hlinkClick r:id="rId3"/>
                        </a:rPr>
                        <a:t>Jason Brownlee</a:t>
                      </a:r>
                      <a:endParaRPr lang="en-US" sz="2800" dirty="0"/>
                    </a:p>
                  </a:txBody>
                  <a:tcPr/>
                </a:tc>
                <a:extLst>
                  <a:ext uri="{0D108BD9-81ED-4DB2-BD59-A6C34878D82A}">
                    <a16:rowId xmlns:a16="http://schemas.microsoft.com/office/drawing/2014/main" val="893249977"/>
                  </a:ext>
                </a:extLst>
              </a:tr>
            </a:tbl>
          </a:graphicData>
        </a:graphic>
      </p:graphicFrame>
    </p:spTree>
    <p:extLst>
      <p:ext uri="{BB962C8B-B14F-4D97-AF65-F5344CB8AC3E}">
        <p14:creationId xmlns:p14="http://schemas.microsoft.com/office/powerpoint/2010/main" val="29031357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 Font">
      <a:majorFont>
        <a:latin typeface="Avenir Book"/>
        <a:ea typeface=""/>
        <a:cs typeface=""/>
      </a:majorFont>
      <a:minorFont>
        <a:latin typeface="Avenir Boo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109676</TotalTime>
  <Words>4571</Words>
  <Application>Microsoft Macintosh PowerPoint</Application>
  <PresentationFormat>Widescreen</PresentationFormat>
  <Paragraphs>887</Paragraphs>
  <Slides>70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System Font Regular</vt:lpstr>
      <vt:lpstr>Arial</vt:lpstr>
      <vt:lpstr>Avenir</vt:lpstr>
      <vt:lpstr>Avenir Book</vt:lpstr>
      <vt:lpstr>Calibri</vt:lpstr>
      <vt:lpstr>Cambria Math</vt:lpstr>
      <vt:lpstr>Office Theme</vt:lpstr>
      <vt:lpstr>Crash Course on Machine Learning</vt:lpstr>
      <vt:lpstr>Outline</vt:lpstr>
      <vt:lpstr>What Is Machine Learning?</vt:lpstr>
      <vt:lpstr>What is Machine Learning?</vt:lpstr>
      <vt:lpstr>Step-By-Step Process for Machine Learning</vt:lpstr>
      <vt:lpstr>Types of Learning</vt:lpstr>
      <vt:lpstr>Types of Supervised Learning</vt:lpstr>
      <vt:lpstr>Example of Unsupervised Learning</vt:lpstr>
      <vt:lpstr>What We Will Cover</vt:lpstr>
      <vt:lpstr>Step-By-Step Process for Machine Learning</vt:lpstr>
      <vt:lpstr>Identifying Features</vt:lpstr>
      <vt:lpstr>Structure of Our Dataset</vt:lpstr>
      <vt:lpstr>Structure of Our Dataset</vt:lpstr>
      <vt:lpstr>Structure of Our Dataset</vt:lpstr>
      <vt:lpstr>Step-By-Step Process for Machine Learning</vt:lpstr>
      <vt:lpstr>Analogy To Human Learning</vt:lpstr>
      <vt:lpstr>Splitting A Dataset</vt:lpstr>
      <vt:lpstr>Standard Methods of Dataset Splitting</vt:lpstr>
      <vt:lpstr>Standard Methods of Dataset Splitting</vt:lpstr>
      <vt:lpstr>Standard Methods of Dataset Splitting</vt:lpstr>
      <vt:lpstr>Picking a Dataset Splitting Approach</vt:lpstr>
      <vt:lpstr>More on Cross-Validation</vt:lpstr>
      <vt:lpstr>More on Cross-Validation</vt:lpstr>
      <vt:lpstr>Step-By-Step Process for Machine Learning</vt:lpstr>
      <vt:lpstr>Why Use Feature Selection?</vt:lpstr>
      <vt:lpstr>Why Use Feature Selection?</vt:lpstr>
      <vt:lpstr>Why Use Feature Selection?</vt:lpstr>
      <vt:lpstr>How to Select the Best Features</vt:lpstr>
      <vt:lpstr>Example of Label-Agnostic Feature Selection: Variance Threshold</vt:lpstr>
      <vt:lpstr>Example of Label-Aware Feature Selection: Univariate Feature Selection</vt:lpstr>
      <vt:lpstr>Step-By-Step Process for Machine Learning</vt:lpstr>
      <vt:lpstr>What Is Wrong with Imbalanced Data?</vt:lpstr>
      <vt:lpstr>Potential Solutions for Handling  Imbalanced Data</vt:lpstr>
      <vt:lpstr>How To Create A Balanced Dataset: Random Undersampling</vt:lpstr>
      <vt:lpstr>How To Create A Balanced Dataset: Random Oversampling</vt:lpstr>
      <vt:lpstr>How To Create A Balanced Dataset: Synthetic Minority Oversampling Technique (SMOTE)</vt:lpstr>
      <vt:lpstr>How Balanced Should The Dataset Be?</vt:lpstr>
      <vt:lpstr>When Should We Balance The Dataset?</vt:lpstr>
      <vt:lpstr>Step-By-Step Process for Machine Learning</vt:lpstr>
      <vt:lpstr>Regression: Linear Regression</vt:lpstr>
      <vt:lpstr>Regression: Logistic Regression</vt:lpstr>
      <vt:lpstr>Regression: K-Nearest Neighbor</vt:lpstr>
      <vt:lpstr>Classification: Support Vector Machine (SVM)</vt:lpstr>
      <vt:lpstr>Classification: Support Vector Machine (SVM)</vt:lpstr>
      <vt:lpstr>Classification: Decision Tree</vt:lpstr>
      <vt:lpstr>Classification: Random Forest</vt:lpstr>
      <vt:lpstr>Missing Data</vt:lpstr>
      <vt:lpstr>Step-By-Step Process for Machine Learning</vt:lpstr>
      <vt:lpstr>Hyperparameters</vt:lpstr>
      <vt:lpstr>Setting Hyperparameters</vt:lpstr>
      <vt:lpstr>Step-By-Step Process for Machine Learning</vt:lpstr>
      <vt:lpstr>Training and Testing Your Model</vt:lpstr>
      <vt:lpstr>Overfitting</vt:lpstr>
      <vt:lpstr>Overfitting: Not Enough Representative Training Data</vt:lpstr>
      <vt:lpstr>Overfitting: Too Many Features</vt:lpstr>
      <vt:lpstr>Overfitting: Too Much Model Flexibility</vt:lpstr>
      <vt:lpstr>Step-By-Step Process for Machine Learning</vt:lpstr>
      <vt:lpstr>Regression Evaluation Metrics</vt:lpstr>
      <vt:lpstr>Regression Evaluation Metrics</vt:lpstr>
      <vt:lpstr>Binary Classification Evaluation Metrics:  Overall Performance</vt:lpstr>
      <vt:lpstr>Binary Classification Evaluation Metrics:  Information Retrieval</vt:lpstr>
      <vt:lpstr>Binary Classification Evaluation Metrics:  Diagnostics</vt:lpstr>
      <vt:lpstr>Multi-Class Classification Evaluation Metrics:  Overall Performance</vt:lpstr>
      <vt:lpstr>Multi-Class Classification Evaluation Metrics:  Overall Performance</vt:lpstr>
      <vt:lpstr>Receiver Operating Characteristic (ROC) Curve</vt:lpstr>
      <vt:lpstr>Step-By-Step Process for Machine Learning</vt:lpstr>
      <vt:lpstr>Notes On Data Quantity</vt:lpstr>
      <vt:lpstr>Notes On Data Quantity</vt:lpstr>
      <vt:lpstr>Parting Words</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Sensing for  Health and Public Safety</dc:title>
  <dc:creator>Alex T Mariakakis</dc:creator>
  <cp:lastModifiedBy>Alex Mariakakis</cp:lastModifiedBy>
  <cp:revision>1402</cp:revision>
  <dcterms:created xsi:type="dcterms:W3CDTF">2019-01-31T00:55:19Z</dcterms:created>
  <dcterms:modified xsi:type="dcterms:W3CDTF">2026-04-22T20:52:31Z</dcterms:modified>
</cp:coreProperties>
</file>